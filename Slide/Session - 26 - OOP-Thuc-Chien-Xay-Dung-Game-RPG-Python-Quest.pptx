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embeddedFontLst>
    <p:embeddedFont>
      <p:font typeface="Consolas" panose="020B0609020204030204" pitchFamily="49" charset="0"/>
      <p:regular r:id="rId23"/>
      <p:bold r:id="rId24"/>
      <p:italic r:id="rId25"/>
      <p:boldItalic r:id="rId26"/>
    </p:embeddedFont>
    <p:embeddedFont>
      <p:font typeface="Montserrat" panose="00000500000000000000" pitchFamily="2" charset="0"/>
      <p:regular r:id="rId27"/>
      <p:bold r:id="rId28"/>
      <p:italic r:id="rId29"/>
    </p:embeddedFont>
    <p:embeddedFont>
      <p:font typeface="Montserrat Bold" panose="00000800000000000000" charset="0"/>
      <p:regular r:id="rId30"/>
    </p:embeddedFont>
    <p:embeddedFont>
      <p:font typeface="Montserrat Light" panose="00000400000000000000" pitchFamily="2" charset="0"/>
      <p:regular r:id="rId31"/>
      <p:italic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4740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txBody>
          <a:bodyPr/>
          <a:lstStyle/>
          <a:p>
            <a:endParaRPr lang="vi-VN"/>
          </a:p>
        </p:txBody>
      </p:sp>
      <p:sp>
        <p:nvSpPr>
          <p:cNvPr id="3" name="Shape 1"/>
          <p:cNvSpPr/>
          <p:nvPr/>
        </p:nvSpPr>
        <p:spPr>
          <a:xfrm>
            <a:off x="0" y="0"/>
            <a:ext cx="9144000" cy="5143500"/>
          </a:xfrm>
          <a:prstGeom prst="rect">
            <a:avLst/>
          </a:prstGeom>
          <a:solidFill>
            <a:srgbClr val="FFFFFF"/>
          </a:solidFill>
          <a:ln/>
        </p:spPr>
        <p:txBody>
          <a:bodyPr/>
          <a:lstStyle/>
          <a:p>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701552"/>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OOP Thực Chiến: Xây Dựng Game RPG "Python Quest"</a:t>
            </a:r>
            <a:endParaRPr lang="en-US" sz="2400" dirty="0"/>
          </a:p>
        </p:txBody>
      </p:sp>
      <p:sp>
        <p:nvSpPr>
          <p:cNvPr id="4" name="Text 1"/>
          <p:cNvSpPr/>
          <p:nvPr/>
        </p:nvSpPr>
        <p:spPr>
          <a:xfrm>
            <a:off x="3925119" y="2662684"/>
            <a:ext cx="4722763"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Xây dựng một hệ thống Game RPG thực tế</a:t>
            </a:r>
            <a:r>
              <a:rPr lang="en-US" sz="950" dirty="0">
                <a:solidFill>
                  <a:srgbClr val="000000"/>
                </a:solidFill>
                <a:latin typeface="Montserrat" pitchFamily="34" charset="0"/>
                <a:ea typeface="Montserrat" pitchFamily="34" charset="-122"/>
                <a:cs typeface="Montserrat" pitchFamily="34" charset="-120"/>
              </a:rPr>
              <a:t> từ đầu, và qua đó mổ xẻ 4 tính chất cốt lõi của Lập trình hướng đối tượng (OOP) ⚔️</a:t>
            </a:r>
            <a:endParaRPr lang="en-US" sz="950" dirty="0"/>
          </a:p>
        </p:txBody>
      </p:sp>
      <p:sp>
        <p:nvSpPr>
          <p:cNvPr id="5" name="Shape 2"/>
          <p:cNvSpPr/>
          <p:nvPr/>
        </p:nvSpPr>
        <p:spPr>
          <a:xfrm>
            <a:off x="3925119" y="3203897"/>
            <a:ext cx="846683" cy="233214"/>
          </a:xfrm>
          <a:prstGeom prst="roundRect">
            <a:avLst>
              <a:gd name="adj" fmla="val 38297"/>
            </a:avLst>
          </a:prstGeom>
          <a:solidFill>
            <a:srgbClr val="FFCCCC"/>
          </a:solidFill>
          <a:ln/>
        </p:spPr>
        <p:txBody>
          <a:bodyPr/>
          <a:lstStyle/>
          <a:p>
            <a:endParaRPr lang="vi-VN"/>
          </a:p>
        </p:txBody>
      </p:sp>
      <p:sp>
        <p:nvSpPr>
          <p:cNvPr id="6" name="Text 3"/>
          <p:cNvSpPr/>
          <p:nvPr/>
        </p:nvSpPr>
        <p:spPr>
          <a:xfrm>
            <a:off x="3999533" y="3241104"/>
            <a:ext cx="1155055" cy="158800"/>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PYTHON OOP</a:t>
            </a:r>
            <a:endParaRPr lang="en-US" sz="750" dirty="0"/>
          </a:p>
        </p:txBody>
      </p:sp>
      <p:sp>
        <p:nvSpPr>
          <p:cNvPr id="7" name="Shape 4"/>
          <p:cNvSpPr/>
          <p:nvPr/>
        </p:nvSpPr>
        <p:spPr>
          <a:xfrm>
            <a:off x="4833789" y="3199135"/>
            <a:ext cx="959346" cy="242739"/>
          </a:xfrm>
          <a:prstGeom prst="roundRect">
            <a:avLst>
              <a:gd name="adj" fmla="val 36794"/>
            </a:avLst>
          </a:prstGeom>
          <a:noFill/>
          <a:ln w="4763">
            <a:solidFill>
              <a:srgbClr val="C00000"/>
            </a:solidFill>
            <a:prstDash val="solid"/>
          </a:ln>
        </p:spPr>
        <p:txBody>
          <a:bodyPr/>
          <a:lstStyle/>
          <a:p>
            <a:endParaRPr lang="vi-VN"/>
          </a:p>
        </p:txBody>
      </p:sp>
      <p:sp>
        <p:nvSpPr>
          <p:cNvPr id="8" name="Text 5"/>
          <p:cNvSpPr/>
          <p:nvPr/>
        </p:nvSpPr>
        <p:spPr>
          <a:xfrm>
            <a:off x="4912965" y="3241104"/>
            <a:ext cx="1258193" cy="158800"/>
          </a:xfrm>
          <a:prstGeom prst="rect">
            <a:avLst/>
          </a:prstGeom>
          <a:noFill/>
          <a:ln/>
        </p:spPr>
        <p:txBody>
          <a:bodyPr wrap="none" lIns="0" tIns="0" rIns="0" bIns="0" rtlCol="0" anchor="t"/>
          <a:lstStyle/>
          <a:p>
            <a:pPr marL="0" indent="0" algn="l">
              <a:lnSpc>
                <a:spcPct val="133000"/>
              </a:lnSpc>
              <a:buNone/>
            </a:pPr>
            <a:r>
              <a:rPr lang="en-US" sz="750" dirty="0">
                <a:solidFill>
                  <a:srgbClr val="C00000"/>
                </a:solidFill>
                <a:latin typeface="Montserrat" pitchFamily="34" charset="0"/>
                <a:ea typeface="Montserrat" pitchFamily="34" charset="-122"/>
                <a:cs typeface="Montserrat" pitchFamily="34" charset="-120"/>
              </a:rPr>
              <a:t>DỰ ÁN THỰC TẾ</a:t>
            </a:r>
            <a:endParaRPr lang="en-US" sz="750" dirty="0"/>
          </a:p>
        </p:txBody>
      </p:sp>
      <p:sp>
        <p:nvSpPr>
          <p:cNvPr id="9" name="Shape 6"/>
          <p:cNvSpPr/>
          <p:nvPr/>
        </p:nvSpPr>
        <p:spPr>
          <a:xfrm>
            <a:off x="5855122" y="3199135"/>
            <a:ext cx="712887" cy="242739"/>
          </a:xfrm>
          <a:prstGeom prst="roundRect">
            <a:avLst>
              <a:gd name="adj" fmla="val 36794"/>
            </a:avLst>
          </a:prstGeom>
          <a:noFill/>
          <a:ln w="4763">
            <a:solidFill>
              <a:srgbClr val="C00000"/>
            </a:solidFill>
            <a:prstDash val="solid"/>
          </a:ln>
        </p:spPr>
        <p:txBody>
          <a:bodyPr/>
          <a:lstStyle/>
          <a:p>
            <a:endParaRPr lang="vi-VN"/>
          </a:p>
        </p:txBody>
      </p:sp>
      <p:sp>
        <p:nvSpPr>
          <p:cNvPr id="10" name="Text 7"/>
          <p:cNvSpPr/>
          <p:nvPr/>
        </p:nvSpPr>
        <p:spPr>
          <a:xfrm>
            <a:off x="5934298" y="3241104"/>
            <a:ext cx="1011734" cy="158800"/>
          </a:xfrm>
          <a:prstGeom prst="rect">
            <a:avLst/>
          </a:prstGeom>
          <a:noFill/>
          <a:ln/>
        </p:spPr>
        <p:txBody>
          <a:bodyPr wrap="none" lIns="0" tIns="0" rIns="0" bIns="0" rtlCol="0" anchor="t"/>
          <a:lstStyle/>
          <a:p>
            <a:pPr marL="0" indent="0" algn="l">
              <a:lnSpc>
                <a:spcPct val="133000"/>
              </a:lnSpc>
              <a:buNone/>
            </a:pPr>
            <a:r>
              <a:rPr lang="en-US" sz="750" dirty="0">
                <a:solidFill>
                  <a:srgbClr val="C00000"/>
                </a:solidFill>
                <a:latin typeface="Montserrat" pitchFamily="34" charset="0"/>
                <a:ea typeface="Montserrat" pitchFamily="34" charset="-122"/>
                <a:cs typeface="Montserrat" pitchFamily="34" charset="-120"/>
              </a:rPr>
              <a:t>GAME RPG</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196504"/>
            <a:ext cx="6351612"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Ý Tưởng Dự Án: "Python Quest" RPG</a:t>
            </a:r>
            <a:endParaRPr lang="en-US" sz="2400" dirty="0"/>
          </a:p>
        </p:txBody>
      </p:sp>
      <p:sp>
        <p:nvSpPr>
          <p:cNvPr id="3" name="Text 1"/>
          <p:cNvSpPr/>
          <p:nvPr/>
        </p:nvSpPr>
        <p:spPr>
          <a:xfrm>
            <a:off x="496119" y="1832074"/>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Xuyên suốt buổi học, chúng ta sẽ xây dựng một hệ thống game nhập vai hoàn chỉnh. Từ một dòng code thô sơ, ta sẽ từng bước </a:t>
            </a:r>
            <a:r>
              <a:rPr lang="en-US" sz="950" b="1" dirty="0">
                <a:solidFill>
                  <a:srgbClr val="000000"/>
                </a:solidFill>
                <a:latin typeface="Montserrat" pitchFamily="34" charset="0"/>
                <a:ea typeface="Montserrat" pitchFamily="34" charset="-122"/>
                <a:cs typeface="Montserrat" pitchFamily="34" charset="-120"/>
              </a:rPr>
              <a:t>tiến hóa</a:t>
            </a:r>
            <a:r>
              <a:rPr lang="en-US" sz="950" dirty="0">
                <a:solidFill>
                  <a:srgbClr val="000000"/>
                </a:solidFill>
                <a:latin typeface="Montserrat" pitchFamily="34" charset="0"/>
                <a:ea typeface="Montserrat" pitchFamily="34" charset="-122"/>
                <a:cs typeface="Montserrat" pitchFamily="34" charset="-120"/>
              </a:rPr>
              <a:t> nó thành một hệ thống game cực xịn — áp dụng đúng 4 tính chất OOP.</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368525"/>
            <a:ext cx="310083" cy="310083"/>
          </a:xfrm>
          <a:prstGeom prst="rect">
            <a:avLst/>
          </a:prstGeom>
        </p:spPr>
      </p:pic>
      <p:sp>
        <p:nvSpPr>
          <p:cNvPr id="5" name="Text 2"/>
          <p:cNvSpPr/>
          <p:nvPr/>
        </p:nvSpPr>
        <p:spPr>
          <a:xfrm>
            <a:off x="961206" y="2368525"/>
            <a:ext cx="1573337"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Nhiều loại nhân vật</a:t>
            </a:r>
            <a:endParaRPr lang="en-US" sz="1200" dirty="0"/>
          </a:p>
        </p:txBody>
      </p:sp>
      <p:sp>
        <p:nvSpPr>
          <p:cNvPr id="6" name="Text 3"/>
          <p:cNvSpPr/>
          <p:nvPr/>
        </p:nvSpPr>
        <p:spPr>
          <a:xfrm>
            <a:off x="961206" y="2636788"/>
            <a:ext cx="35332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Chiến binh (Warrior), Pháp sư (Mage), Sát thủ (Assassin) — mỗi loại có chiêu thức riêng.</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9465" y="2368525"/>
            <a:ext cx="310083" cy="310083"/>
          </a:xfrm>
          <a:prstGeom prst="rect">
            <a:avLst/>
          </a:prstGeom>
        </p:spPr>
      </p:pic>
      <p:sp>
        <p:nvSpPr>
          <p:cNvPr id="8" name="Text 4"/>
          <p:cNvSpPr/>
          <p:nvPr/>
        </p:nvSpPr>
        <p:spPr>
          <a:xfrm>
            <a:off x="5114553" y="2368525"/>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Quái vật &amp; Boss</a:t>
            </a:r>
            <a:endParaRPr lang="en-US" sz="1200" dirty="0"/>
          </a:p>
        </p:txBody>
      </p:sp>
      <p:sp>
        <p:nvSpPr>
          <p:cNvPr id="9" name="Text 5"/>
          <p:cNvSpPr/>
          <p:nvPr/>
        </p:nvSpPr>
        <p:spPr>
          <a:xfrm>
            <a:off x="5114553" y="2636788"/>
            <a:ext cx="3533329"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Các kẻ địch từ quái thường đến Boss Rồng hung hãn, sẵn sàng nghênh chiến.</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281735"/>
            <a:ext cx="310083" cy="310083"/>
          </a:xfrm>
          <a:prstGeom prst="rect">
            <a:avLst/>
          </a:prstGeom>
        </p:spPr>
      </p:pic>
      <p:sp>
        <p:nvSpPr>
          <p:cNvPr id="11" name="Text 6"/>
          <p:cNvSpPr/>
          <p:nvPr/>
        </p:nvSpPr>
        <p:spPr>
          <a:xfrm>
            <a:off x="961206" y="3281735"/>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Hệ thống trang bị</a:t>
            </a:r>
            <a:endParaRPr lang="en-US" sz="1200" dirty="0"/>
          </a:p>
        </p:txBody>
      </p:sp>
      <p:sp>
        <p:nvSpPr>
          <p:cNvPr id="12" name="Text 7"/>
          <p:cNvSpPr/>
          <p:nvPr/>
        </p:nvSpPr>
        <p:spPr>
          <a:xfrm>
            <a:off x="961206" y="3549997"/>
            <a:ext cx="35332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Nhân vật có thể trang bị vũ khí, áo giáp để tăng sức chiến đấu.</a:t>
            </a:r>
            <a:endParaRPr lang="en-US" sz="9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9465" y="3281735"/>
            <a:ext cx="310083" cy="310083"/>
          </a:xfrm>
          <a:prstGeom prst="rect">
            <a:avLst/>
          </a:prstGeom>
        </p:spPr>
      </p:pic>
      <p:sp>
        <p:nvSpPr>
          <p:cNvPr id="14" name="Text 8"/>
          <p:cNvSpPr/>
          <p:nvPr/>
        </p:nvSpPr>
        <p:spPr>
          <a:xfrm>
            <a:off x="5114553" y="3281735"/>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Chiến đấu thực tế</a:t>
            </a:r>
            <a:endParaRPr lang="en-US" sz="1200" dirty="0"/>
          </a:p>
        </p:txBody>
      </p:sp>
      <p:sp>
        <p:nvSpPr>
          <p:cNvPr id="15" name="Text 9"/>
          <p:cNvSpPr/>
          <p:nvPr/>
        </p:nvSpPr>
        <p:spPr>
          <a:xfrm>
            <a:off x="5114553" y="3549997"/>
            <a:ext cx="3533329"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Các nhân vật có HP, Attack, có thể giao chiến với nhau qua hệ thống combat.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76151"/>
            <a:ext cx="4689574"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Lộ Trình Bài Học Hôm Nay</a:t>
            </a:r>
            <a:endParaRPr lang="en-US" sz="2400" dirty="0"/>
          </a:p>
        </p:txBody>
      </p:sp>
      <p:sp>
        <p:nvSpPr>
          <p:cNvPr id="3" name="Text 1"/>
          <p:cNvSpPr/>
          <p:nvPr/>
        </p:nvSpPr>
        <p:spPr>
          <a:xfrm>
            <a:off x="496119" y="151172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4 tính chất OOP sẽ được khám phá qua từng tầng của dự án. Mỗi tính chất giải quyết một bài toán thực tế trong quá trình xây dựng game.</a:t>
            </a:r>
            <a:endParaRPr lang="en-US" sz="950" dirty="0"/>
          </a:p>
        </p:txBody>
      </p:sp>
      <p:sp>
        <p:nvSpPr>
          <p:cNvPr id="4" name="Text 2"/>
          <p:cNvSpPr/>
          <p:nvPr/>
        </p:nvSpPr>
        <p:spPr>
          <a:xfrm>
            <a:off x="496119" y="204817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01</a:t>
            </a:r>
            <a:endParaRPr lang="en-US" sz="950" dirty="0"/>
          </a:p>
        </p:txBody>
      </p:sp>
      <p:sp>
        <p:nvSpPr>
          <p:cNvPr id="5" name="Shape 3"/>
          <p:cNvSpPr/>
          <p:nvPr/>
        </p:nvSpPr>
        <p:spPr>
          <a:xfrm>
            <a:off x="496119" y="2244626"/>
            <a:ext cx="4013895" cy="14288"/>
          </a:xfrm>
          <a:prstGeom prst="rect">
            <a:avLst/>
          </a:prstGeom>
          <a:solidFill>
            <a:srgbClr val="C00000"/>
          </a:solidFill>
          <a:ln/>
        </p:spPr>
        <p:txBody>
          <a:bodyPr/>
          <a:lstStyle/>
          <a:p>
            <a:endParaRPr lang="vi-VN"/>
          </a:p>
        </p:txBody>
      </p:sp>
      <p:sp>
        <p:nvSpPr>
          <p:cNvPr id="6" name="Text 4"/>
          <p:cNvSpPr/>
          <p:nvPr/>
        </p:nvSpPr>
        <p:spPr>
          <a:xfrm>
            <a:off x="496119" y="2335188"/>
            <a:ext cx="1745977"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Kế Thừa (Inheritance)</a:t>
            </a:r>
            <a:endParaRPr lang="en-US" sz="1200" dirty="0"/>
          </a:p>
        </p:txBody>
      </p:sp>
      <p:sp>
        <p:nvSpPr>
          <p:cNvPr id="7" name="Text 5"/>
          <p:cNvSpPr/>
          <p:nvPr/>
        </p:nvSpPr>
        <p:spPr>
          <a:xfrm>
            <a:off x="496119" y="2603450"/>
            <a:ext cx="4013895"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"Cha truyền con nối" — Tái sử dụng code thông minh với lớp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 chung.</a:t>
            </a:r>
            <a:endParaRPr lang="en-US" sz="950" dirty="0"/>
          </a:p>
        </p:txBody>
      </p:sp>
      <p:sp>
        <p:nvSpPr>
          <p:cNvPr id="8" name="Text 6"/>
          <p:cNvSpPr/>
          <p:nvPr/>
        </p:nvSpPr>
        <p:spPr>
          <a:xfrm>
            <a:off x="4633987" y="204817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02</a:t>
            </a:r>
            <a:endParaRPr lang="en-US" sz="950" dirty="0"/>
          </a:p>
        </p:txBody>
      </p:sp>
      <p:sp>
        <p:nvSpPr>
          <p:cNvPr id="9" name="Shape 7"/>
          <p:cNvSpPr/>
          <p:nvPr/>
        </p:nvSpPr>
        <p:spPr>
          <a:xfrm>
            <a:off x="4633987" y="2244626"/>
            <a:ext cx="4013895" cy="14288"/>
          </a:xfrm>
          <a:prstGeom prst="rect">
            <a:avLst/>
          </a:prstGeom>
          <a:solidFill>
            <a:srgbClr val="C00000"/>
          </a:solidFill>
          <a:ln/>
        </p:spPr>
        <p:txBody>
          <a:bodyPr/>
          <a:lstStyle/>
          <a:p>
            <a:endParaRPr lang="vi-VN"/>
          </a:p>
        </p:txBody>
      </p:sp>
      <p:sp>
        <p:nvSpPr>
          <p:cNvPr id="10" name="Text 8"/>
          <p:cNvSpPr/>
          <p:nvPr/>
        </p:nvSpPr>
        <p:spPr>
          <a:xfrm>
            <a:off x="4633987" y="2335188"/>
            <a:ext cx="1999580"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Đa Hình (Polymorphism)</a:t>
            </a:r>
            <a:endParaRPr lang="en-US" sz="1200" dirty="0"/>
          </a:p>
        </p:txBody>
      </p:sp>
      <p:sp>
        <p:nvSpPr>
          <p:cNvPr id="11" name="Text 9"/>
          <p:cNvSpPr/>
          <p:nvPr/>
        </p:nvSpPr>
        <p:spPr>
          <a:xfrm>
            <a:off x="4633987" y="2603450"/>
            <a:ext cx="4013895"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"Một lệnh, muôn cách phản hồi" — Cùng lệnh </a:t>
            </a: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mỗi hệ phái ra chiêu khác nhau.</a:t>
            </a:r>
            <a:endParaRPr lang="en-US" sz="950" dirty="0"/>
          </a:p>
        </p:txBody>
      </p:sp>
      <p:sp>
        <p:nvSpPr>
          <p:cNvPr id="12" name="Text 10"/>
          <p:cNvSpPr/>
          <p:nvPr/>
        </p:nvSpPr>
        <p:spPr>
          <a:xfrm>
            <a:off x="496119" y="322212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03</a:t>
            </a:r>
            <a:endParaRPr lang="en-US" sz="950" dirty="0"/>
          </a:p>
        </p:txBody>
      </p:sp>
      <p:sp>
        <p:nvSpPr>
          <p:cNvPr id="13" name="Shape 11"/>
          <p:cNvSpPr/>
          <p:nvPr/>
        </p:nvSpPr>
        <p:spPr>
          <a:xfrm>
            <a:off x="496119" y="3418582"/>
            <a:ext cx="4013895" cy="14288"/>
          </a:xfrm>
          <a:prstGeom prst="rect">
            <a:avLst/>
          </a:prstGeom>
          <a:solidFill>
            <a:srgbClr val="231651"/>
          </a:solidFill>
          <a:ln/>
        </p:spPr>
        <p:txBody>
          <a:bodyPr/>
          <a:lstStyle/>
          <a:p>
            <a:endParaRPr lang="vi-VN"/>
          </a:p>
        </p:txBody>
      </p:sp>
      <p:sp>
        <p:nvSpPr>
          <p:cNvPr id="14" name="Text 12"/>
          <p:cNvSpPr/>
          <p:nvPr/>
        </p:nvSpPr>
        <p:spPr>
          <a:xfrm>
            <a:off x="496119" y="3509144"/>
            <a:ext cx="3511972"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Nạp Chồng Toán Tử (Operator Overloading)</a:t>
            </a:r>
            <a:endParaRPr lang="en-US" sz="1200" dirty="0"/>
          </a:p>
        </p:txBody>
      </p:sp>
      <p:sp>
        <p:nvSpPr>
          <p:cNvPr id="15" name="Text 13"/>
          <p:cNvSpPr/>
          <p:nvPr/>
        </p:nvSpPr>
        <p:spPr>
          <a:xfrm>
            <a:off x="496119" y="3777407"/>
            <a:ext cx="401389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"Phép thuật Dunder Methods" — Làm phép tính Nhân vật + Vũ khí cực kỳ tự nhiên.</a:t>
            </a:r>
            <a:endParaRPr lang="en-US" sz="950" dirty="0"/>
          </a:p>
        </p:txBody>
      </p:sp>
      <p:sp>
        <p:nvSpPr>
          <p:cNvPr id="16" name="Text 14"/>
          <p:cNvSpPr/>
          <p:nvPr/>
        </p:nvSpPr>
        <p:spPr>
          <a:xfrm>
            <a:off x="4633987" y="322212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000000"/>
                </a:solidFill>
                <a:latin typeface="Montserrat Light" pitchFamily="34" charset="0"/>
                <a:ea typeface="Montserrat Light" pitchFamily="34" charset="-122"/>
                <a:cs typeface="Montserrat Light" pitchFamily="34" charset="-120"/>
              </a:rPr>
              <a:t>04</a:t>
            </a:r>
            <a:endParaRPr lang="en-US" sz="950" dirty="0"/>
          </a:p>
        </p:txBody>
      </p:sp>
      <p:sp>
        <p:nvSpPr>
          <p:cNvPr id="17" name="Shape 15"/>
          <p:cNvSpPr/>
          <p:nvPr/>
        </p:nvSpPr>
        <p:spPr>
          <a:xfrm>
            <a:off x="4633987" y="3418582"/>
            <a:ext cx="4013895" cy="14288"/>
          </a:xfrm>
          <a:prstGeom prst="rect">
            <a:avLst/>
          </a:prstGeom>
          <a:solidFill>
            <a:srgbClr val="8F8E8E"/>
          </a:solidFill>
          <a:ln/>
        </p:spPr>
        <p:txBody>
          <a:bodyPr/>
          <a:lstStyle/>
          <a:p>
            <a:endParaRPr lang="vi-VN"/>
          </a:p>
        </p:txBody>
      </p:sp>
      <p:sp>
        <p:nvSpPr>
          <p:cNvPr id="18" name="Text 16"/>
          <p:cNvSpPr/>
          <p:nvPr/>
        </p:nvSpPr>
        <p:spPr>
          <a:xfrm>
            <a:off x="4633987" y="3509144"/>
            <a:ext cx="1785491"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Lớp Trừu Tượng (ABC)</a:t>
            </a:r>
            <a:endParaRPr lang="en-US" sz="1200" dirty="0"/>
          </a:p>
        </p:txBody>
      </p:sp>
      <p:sp>
        <p:nvSpPr>
          <p:cNvPr id="19" name="Text 17"/>
          <p:cNvSpPr/>
          <p:nvPr/>
        </p:nvSpPr>
        <p:spPr>
          <a:xfrm>
            <a:off x="4633987" y="3777407"/>
            <a:ext cx="401389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"Bản thiết kế tối cao" — Ép buộc mọi dev phải tuân thủ khế ước thiết kế.</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19003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Tính Chất #1: Kế Thừa (Inheritance)</a:t>
            </a:r>
            <a:endParaRPr lang="en-US" sz="2400" dirty="0"/>
          </a:p>
        </p:txBody>
      </p:sp>
      <p:sp>
        <p:nvSpPr>
          <p:cNvPr id="4" name="Shape 1"/>
          <p:cNvSpPr/>
          <p:nvPr/>
        </p:nvSpPr>
        <p:spPr>
          <a:xfrm>
            <a:off x="496119" y="2151162"/>
            <a:ext cx="850032" cy="233214"/>
          </a:xfrm>
          <a:prstGeom prst="roundRect">
            <a:avLst>
              <a:gd name="adj" fmla="val 38297"/>
            </a:avLst>
          </a:prstGeom>
          <a:solidFill>
            <a:srgbClr val="FFCCCC"/>
          </a:solidFill>
          <a:ln/>
        </p:spPr>
        <p:txBody>
          <a:bodyPr/>
          <a:lstStyle/>
          <a:p>
            <a:endParaRPr lang="vi-VN"/>
          </a:p>
        </p:txBody>
      </p:sp>
      <p:sp>
        <p:nvSpPr>
          <p:cNvPr id="5" name="Text 2"/>
          <p:cNvSpPr/>
          <p:nvPr/>
        </p:nvSpPr>
        <p:spPr>
          <a:xfrm>
            <a:off x="570533" y="2188369"/>
            <a:ext cx="1158404" cy="158800"/>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INHERITANCE</a:t>
            </a:r>
            <a:endParaRPr lang="en-US" sz="750" dirty="0"/>
          </a:p>
        </p:txBody>
      </p:sp>
      <p:sp>
        <p:nvSpPr>
          <p:cNvPr id="6" name="Text 3"/>
          <p:cNvSpPr/>
          <p:nvPr/>
        </p:nvSpPr>
        <p:spPr>
          <a:xfrm>
            <a:off x="496119" y="2433935"/>
            <a:ext cx="5070202" cy="534888"/>
          </a:xfrm>
          <a:prstGeom prst="rect">
            <a:avLst/>
          </a:prstGeom>
          <a:noFill/>
          <a:ln/>
        </p:spPr>
        <p:txBody>
          <a:bodyPr wrap="none" lIns="0" tIns="0" rIns="0" bIns="0" rtlCol="0" anchor="t"/>
          <a:lstStyle/>
          <a:p>
            <a:pPr marL="0" indent="0" algn="l">
              <a:lnSpc>
                <a:spcPct val="104000"/>
              </a:lnSpc>
              <a:buNone/>
            </a:pPr>
            <a:r>
              <a:rPr lang="en-US" sz="3350" b="1" dirty="0">
                <a:solidFill>
                  <a:srgbClr val="C00000"/>
                </a:solidFill>
                <a:latin typeface="Montserrat Bold" pitchFamily="34" charset="0"/>
                <a:ea typeface="Montserrat Bold" pitchFamily="34" charset="-122"/>
                <a:cs typeface="Montserrat Bold" pitchFamily="34" charset="-120"/>
              </a:rPr>
              <a:t>"Cha truyền con nối"</a:t>
            </a:r>
            <a:endParaRPr lang="en-US" sz="3350" dirty="0"/>
          </a:p>
        </p:txBody>
      </p:sp>
      <p:sp>
        <p:nvSpPr>
          <p:cNvPr id="7" name="Text 4"/>
          <p:cNvSpPr/>
          <p:nvPr/>
        </p:nvSpPr>
        <p:spPr>
          <a:xfrm>
            <a:off x="496119" y="3154859"/>
            <a:ext cx="4722763" cy="7986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Trong game, dù là Chiến binh hay Pháp sư thì đều là </a:t>
            </a:r>
            <a:r>
              <a:rPr lang="en-US" sz="950" b="1" dirty="0">
                <a:solidFill>
                  <a:srgbClr val="000000"/>
                </a:solidFill>
                <a:latin typeface="Montserrat" pitchFamily="34" charset="0"/>
                <a:ea typeface="Montserrat" pitchFamily="34" charset="-122"/>
                <a:cs typeface="Montserrat" pitchFamily="34" charset="-120"/>
              </a:rPr>
              <a:t>Nhân vật</a:t>
            </a:r>
            <a:r>
              <a:rPr lang="en-US" sz="950" dirty="0">
                <a:solidFill>
                  <a:srgbClr val="000000"/>
                </a:solidFill>
                <a:latin typeface="Montserrat" pitchFamily="34" charset="0"/>
                <a:ea typeface="Montserrat" pitchFamily="34" charset="-122"/>
                <a:cs typeface="Montserrat" pitchFamily="34" charset="-120"/>
              </a:rPr>
              <a:t>. Thay vì ngồi viết lại đống thuộc tính </a:t>
            </a:r>
            <a:r>
              <a:rPr lang="en-US" sz="950" dirty="0">
                <a:solidFill>
                  <a:srgbClr val="000000"/>
                </a:solidFill>
                <a:highlight>
                  <a:srgbClr val="F2F2F2"/>
                </a:highlight>
                <a:latin typeface="Consolas" pitchFamily="34" charset="0"/>
                <a:ea typeface="Consolas" pitchFamily="34" charset="-122"/>
                <a:cs typeface="Consolas" pitchFamily="34" charset="-120"/>
              </a:rPr>
              <a:t>name</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hp</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base_damage</a:t>
            </a:r>
            <a:r>
              <a:rPr lang="en-US" sz="950" dirty="0">
                <a:solidFill>
                  <a:srgbClr val="000000"/>
                </a:solidFill>
                <a:latin typeface="Montserrat" pitchFamily="34" charset="0"/>
                <a:ea typeface="Montserrat" pitchFamily="34" charset="-122"/>
                <a:cs typeface="Montserrat" pitchFamily="34" charset="-120"/>
              </a:rPr>
              <a:t> cho từng class — ta gom hết vào một </a:t>
            </a:r>
            <a:r>
              <a:rPr lang="en-US" sz="950" b="1" dirty="0">
                <a:solidFill>
                  <a:srgbClr val="000000"/>
                </a:solidFill>
                <a:latin typeface="Montserrat" pitchFamily="34" charset="0"/>
                <a:ea typeface="Montserrat" pitchFamily="34" charset="-122"/>
                <a:cs typeface="Montserrat" pitchFamily="34" charset="-120"/>
              </a:rPr>
              <a:t>Lớp cha (Parent Class)</a:t>
            </a:r>
            <a:r>
              <a:rPr lang="en-US" sz="950" dirty="0">
                <a:solidFill>
                  <a:srgbClr val="000000"/>
                </a:solidFill>
                <a:latin typeface="Montserrat" pitchFamily="34" charset="0"/>
                <a:ea typeface="Montserrat" pitchFamily="34" charset="-122"/>
                <a:cs typeface="Montserrat" pitchFamily="34" charset="-120"/>
              </a:rPr>
              <a:t>. Đúng tinh thần lập trình viên: </a:t>
            </a:r>
            <a:r>
              <a:rPr lang="en-US" sz="950" i="1" dirty="0">
                <a:solidFill>
                  <a:srgbClr val="000000"/>
                </a:solidFill>
                <a:latin typeface="Montserrat" pitchFamily="34" charset="0"/>
                <a:ea typeface="Montserrat" pitchFamily="34" charset="-122"/>
                <a:cs typeface="Montserrat" pitchFamily="34" charset="-120"/>
              </a:rPr>
              <a:t>Lười một cách thông minh!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79363"/>
            <a:ext cx="4887367" cy="397073"/>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Kế Thừa: Lớp Cha </a:t>
            </a:r>
            <a:r>
              <a:rPr lang="en-US" sz="2400" b="1" dirty="0">
                <a:solidFill>
                  <a:srgbClr val="000000"/>
                </a:solidFill>
                <a:highlight>
                  <a:srgbClr val="F2F2F2"/>
                </a:highlight>
                <a:latin typeface="Consolas" pitchFamily="34" charset="0"/>
                <a:ea typeface="Consolas" pitchFamily="34" charset="-122"/>
                <a:cs typeface="Consolas" pitchFamily="34" charset="-120"/>
              </a:rPr>
              <a:t>Character</a:t>
            </a:r>
            <a:endParaRPr lang="en-US" sz="2400" dirty="0"/>
          </a:p>
        </p:txBody>
      </p:sp>
      <p:sp>
        <p:nvSpPr>
          <p:cNvPr id="3" name="Text 1"/>
          <p:cNvSpPr/>
          <p:nvPr/>
        </p:nvSpPr>
        <p:spPr>
          <a:xfrm>
            <a:off x="496119" y="102445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Đây là nền tảng của toàn bộ hệ thống nhân vật. Mọi nhân vật trong game đều có chung các thuộc tính này — ta chỉ cần định nghĩa </a:t>
            </a:r>
            <a:r>
              <a:rPr lang="en-US" sz="950" b="1" dirty="0">
                <a:solidFill>
                  <a:srgbClr val="000000"/>
                </a:solidFill>
                <a:latin typeface="Montserrat" pitchFamily="34" charset="0"/>
                <a:ea typeface="Montserrat" pitchFamily="34" charset="-122"/>
                <a:cs typeface="Montserrat" pitchFamily="34" charset="-120"/>
              </a:rPr>
              <a:t>một lần duy nhất</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4" name="Shape 2"/>
          <p:cNvSpPr/>
          <p:nvPr/>
        </p:nvSpPr>
        <p:spPr>
          <a:xfrm>
            <a:off x="496119" y="1560909"/>
            <a:ext cx="8151763" cy="2232571"/>
          </a:xfrm>
          <a:prstGeom prst="roundRect">
            <a:avLst>
              <a:gd name="adj" fmla="val 5001"/>
            </a:avLst>
          </a:prstGeom>
          <a:solidFill>
            <a:srgbClr val="F2F2F2"/>
          </a:solidFill>
          <a:ln/>
        </p:spPr>
        <p:txBody>
          <a:bodyPr/>
          <a:lstStyle/>
          <a:p>
            <a:endParaRPr lang="vi-VN"/>
          </a:p>
        </p:txBody>
      </p:sp>
      <p:sp>
        <p:nvSpPr>
          <p:cNvPr id="5" name="Shape 3"/>
          <p:cNvSpPr/>
          <p:nvPr/>
        </p:nvSpPr>
        <p:spPr>
          <a:xfrm>
            <a:off x="489942" y="1560909"/>
            <a:ext cx="8164116" cy="2232571"/>
          </a:xfrm>
          <a:prstGeom prst="roundRect">
            <a:avLst>
              <a:gd name="adj" fmla="val 833"/>
            </a:avLst>
          </a:prstGeom>
          <a:solidFill>
            <a:srgbClr val="F2F2F2"/>
          </a:solidFill>
          <a:ln/>
        </p:spPr>
        <p:txBody>
          <a:bodyPr/>
          <a:lstStyle/>
          <a:p>
            <a:endParaRPr lang="vi-VN"/>
          </a:p>
        </p:txBody>
      </p:sp>
      <p:sp>
        <p:nvSpPr>
          <p:cNvPr id="6" name="Text 4"/>
          <p:cNvSpPr/>
          <p:nvPr/>
        </p:nvSpPr>
        <p:spPr>
          <a:xfrm>
            <a:off x="644947" y="1684883"/>
            <a:ext cx="7854107" cy="1984623"/>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6A737D"/>
                </a:solidFill>
                <a:highlight>
                  <a:srgbClr val="F2F2F2"/>
                </a:highlight>
                <a:latin typeface="Consolas" pitchFamily="34" charset="0"/>
                <a:ea typeface="Consolas" pitchFamily="34" charset="-122"/>
                <a:cs typeface="Consolas" pitchFamily="34" charset="-120"/>
              </a:rPr>
              <a:t># Lớp cha (Parent Class)
class Character:
    def __init__(self, name: str, hp: int, base_damage: int):
        self.name = name
        self.hp = hp
        self.base_damage = base_damage
    def introduce(self):
        return f"Ta là {self.name}, lượng máu: {self.hp} HP."
</a:t>
            </a:r>
            <a:endParaRPr lang="en-US" sz="950" dirty="0"/>
          </a:p>
        </p:txBody>
      </p:sp>
      <p:sp>
        <p:nvSpPr>
          <p:cNvPr id="7" name="Shape 5"/>
          <p:cNvSpPr/>
          <p:nvPr/>
        </p:nvSpPr>
        <p:spPr>
          <a:xfrm>
            <a:off x="496119" y="3933006"/>
            <a:ext cx="8151763" cy="691604"/>
          </a:xfrm>
          <a:prstGeom prst="roundRect">
            <a:avLst>
              <a:gd name="adj" fmla="val 16142"/>
            </a:avLst>
          </a:prstGeom>
          <a:solidFill>
            <a:srgbClr val="B6D6FC"/>
          </a:solidFill>
          <a:ln/>
        </p:spPr>
        <p:txBody>
          <a:bodyPr/>
          <a:lstStyle/>
          <a:p>
            <a:endParaRPr lang="vi-VN"/>
          </a:p>
        </p:txBody>
      </p:sp>
      <p:pic>
        <p:nvPicPr>
          <p:cNvPr id="8" name="Image 0" descr="preencoded.png"/>
          <p:cNvPicPr>
            <a:picLocks noChangeAspect="1"/>
          </p:cNvPicPr>
          <p:nvPr/>
        </p:nvPicPr>
        <p:blipFill>
          <a:blip r:embed="rId3"/>
          <a:stretch>
            <a:fillRect/>
          </a:stretch>
        </p:blipFill>
        <p:spPr>
          <a:xfrm>
            <a:off x="620092" y="4112791"/>
            <a:ext cx="155004" cy="123974"/>
          </a:xfrm>
          <a:prstGeom prst="rect">
            <a:avLst/>
          </a:prstGeom>
        </p:spPr>
      </p:pic>
      <p:sp>
        <p:nvSpPr>
          <p:cNvPr id="9" name="Text 6"/>
          <p:cNvSpPr/>
          <p:nvPr/>
        </p:nvSpPr>
        <p:spPr>
          <a:xfrm>
            <a:off x="899071" y="4075584"/>
            <a:ext cx="7624837" cy="406450"/>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Lớp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 đóng vai trò là "khuôn đúc chung" cho mọi nhân vật trong game. Bất kỳ ai kế thừa từ đây đều tự động có </a:t>
            </a:r>
            <a:r>
              <a:rPr lang="en-US" sz="950" dirty="0">
                <a:solidFill>
                  <a:srgbClr val="000000"/>
                </a:solidFill>
                <a:highlight>
                  <a:srgbClr val="F2F2F2"/>
                </a:highlight>
                <a:latin typeface="Consolas" pitchFamily="34" charset="0"/>
                <a:ea typeface="Consolas" pitchFamily="34" charset="-122"/>
                <a:cs typeface="Consolas" pitchFamily="34" charset="-120"/>
              </a:rPr>
              <a:t>name</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hp</a:t>
            </a:r>
            <a:r>
              <a:rPr lang="en-US" sz="950" dirty="0">
                <a:solidFill>
                  <a:srgbClr val="000000"/>
                </a:solidFill>
                <a:latin typeface="Montserrat" pitchFamily="34" charset="0"/>
                <a:ea typeface="Montserrat" pitchFamily="34" charset="-122"/>
                <a:cs typeface="Montserrat" pitchFamily="34" charset="-120"/>
              </a:rPr>
              <a:t> và </a:t>
            </a:r>
            <a:r>
              <a:rPr lang="en-US" sz="950" dirty="0">
                <a:solidFill>
                  <a:srgbClr val="000000"/>
                </a:solidFill>
                <a:highlight>
                  <a:srgbClr val="F2F2F2"/>
                </a:highlight>
                <a:latin typeface="Consolas" pitchFamily="34" charset="0"/>
                <a:ea typeface="Consolas" pitchFamily="34" charset="-122"/>
                <a:cs typeface="Consolas" pitchFamily="34" charset="-120"/>
              </a:rPr>
              <a:t>base_damage</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71996"/>
            <a:ext cx="3977357" cy="342602"/>
          </a:xfrm>
          <a:prstGeom prst="rect">
            <a:avLst/>
          </a:prstGeom>
          <a:noFill/>
          <a:ln/>
        </p:spPr>
        <p:txBody>
          <a:bodyPr wrap="none" lIns="0" tIns="0" rIns="0" bIns="0" rtlCol="0" anchor="t"/>
          <a:lstStyle/>
          <a:p>
            <a:pPr marL="0" indent="0" algn="l">
              <a:lnSpc>
                <a:spcPct val="104000"/>
              </a:lnSpc>
              <a:buNone/>
            </a:pPr>
            <a:r>
              <a:rPr lang="en-US" sz="2050" b="1" dirty="0">
                <a:solidFill>
                  <a:srgbClr val="C00000"/>
                </a:solidFill>
                <a:latin typeface="Montserrat Bold" pitchFamily="34" charset="0"/>
                <a:ea typeface="Montserrat Bold" pitchFamily="34" charset="-122"/>
                <a:cs typeface="Montserrat Bold" pitchFamily="34" charset="-120"/>
              </a:rPr>
              <a:t>Kế Thừa: Lớp Con </a:t>
            </a:r>
            <a:r>
              <a:rPr lang="en-US" sz="2050" b="1" dirty="0">
                <a:solidFill>
                  <a:srgbClr val="000000"/>
                </a:solidFill>
                <a:highlight>
                  <a:srgbClr val="F2F2F2"/>
                </a:highlight>
                <a:latin typeface="Consolas" pitchFamily="34" charset="0"/>
                <a:ea typeface="Consolas" pitchFamily="34" charset="-122"/>
                <a:cs typeface="Consolas" pitchFamily="34" charset="-120"/>
              </a:rPr>
              <a:t>Warrior</a:t>
            </a:r>
            <a:endParaRPr lang="en-US" sz="2050" dirty="0"/>
          </a:p>
        </p:txBody>
      </p:sp>
      <p:sp>
        <p:nvSpPr>
          <p:cNvPr id="3" name="Text 1"/>
          <p:cNvSpPr/>
          <p:nvPr/>
        </p:nvSpPr>
        <p:spPr>
          <a:xfrm>
            <a:off x="496119" y="897806"/>
            <a:ext cx="8608963" cy="163339"/>
          </a:xfrm>
          <a:prstGeom prst="rect">
            <a:avLst/>
          </a:prstGeom>
          <a:noFill/>
          <a:ln/>
        </p:spPr>
        <p:txBody>
          <a:bodyPr wrap="none" lIns="0" tIns="0" rIns="0" bIns="0" rtlCol="0" anchor="t"/>
          <a:lstStyle/>
          <a:p>
            <a:pPr marL="0" indent="0" algn="l">
              <a:lnSpc>
                <a:spcPct val="124000"/>
              </a:lnSpc>
              <a:buNone/>
            </a:pPr>
            <a:r>
              <a:rPr lang="en-US" sz="800" dirty="0">
                <a:solidFill>
                  <a:srgbClr val="000000"/>
                </a:solidFill>
                <a:latin typeface="Montserrat" pitchFamily="34" charset="0"/>
                <a:ea typeface="Montserrat" pitchFamily="34" charset="-122"/>
                <a:cs typeface="Montserrat" pitchFamily="34" charset="-120"/>
              </a:rPr>
              <a:t>Lớp con kế thừa toàn bộ từ lớp cha và </a:t>
            </a:r>
            <a:r>
              <a:rPr lang="en-US" sz="800" b="1" dirty="0">
                <a:solidFill>
                  <a:srgbClr val="000000"/>
                </a:solidFill>
                <a:latin typeface="Montserrat" pitchFamily="34" charset="0"/>
                <a:ea typeface="Montserrat" pitchFamily="34" charset="-122"/>
                <a:cs typeface="Montserrat" pitchFamily="34" charset="-120"/>
              </a:rPr>
              <a:t>mở rộng thêm</a:t>
            </a:r>
            <a:r>
              <a:rPr lang="en-US" sz="800" dirty="0">
                <a:solidFill>
                  <a:srgbClr val="000000"/>
                </a:solidFill>
                <a:latin typeface="Montserrat" pitchFamily="34" charset="0"/>
                <a:ea typeface="Montserrat" pitchFamily="34" charset="-122"/>
                <a:cs typeface="Montserrat" pitchFamily="34" charset="-120"/>
              </a:rPr>
              <a:t> những gì riêng biệt. Hàm </a:t>
            </a:r>
            <a:r>
              <a:rPr lang="en-US" sz="800" dirty="0">
                <a:solidFill>
                  <a:srgbClr val="000000"/>
                </a:solidFill>
                <a:highlight>
                  <a:srgbClr val="F2F2F2"/>
                </a:highlight>
                <a:latin typeface="Consolas" pitchFamily="34" charset="0"/>
                <a:ea typeface="Consolas" pitchFamily="34" charset="-122"/>
                <a:cs typeface="Consolas" pitchFamily="34" charset="-120"/>
              </a:rPr>
              <a:t>super()</a:t>
            </a:r>
            <a:r>
              <a:rPr lang="en-US" sz="800" dirty="0">
                <a:solidFill>
                  <a:srgbClr val="000000"/>
                </a:solidFill>
                <a:latin typeface="Montserrat" pitchFamily="34" charset="0"/>
                <a:ea typeface="Montserrat" pitchFamily="34" charset="-122"/>
                <a:cs typeface="Montserrat" pitchFamily="34" charset="-120"/>
              </a:rPr>
              <a:t> chính là "chìa khóa" để gọi lại constructor của lớp cha.</a:t>
            </a:r>
            <a:endParaRPr lang="en-US" sz="800" dirty="0"/>
          </a:p>
        </p:txBody>
      </p:sp>
      <p:sp>
        <p:nvSpPr>
          <p:cNvPr id="4" name="Shape 2"/>
          <p:cNvSpPr/>
          <p:nvPr/>
        </p:nvSpPr>
        <p:spPr>
          <a:xfrm>
            <a:off x="496119" y="1164134"/>
            <a:ext cx="8151763" cy="2750344"/>
          </a:xfrm>
          <a:prstGeom prst="roundRect">
            <a:avLst>
              <a:gd name="adj" fmla="val 3488"/>
            </a:avLst>
          </a:prstGeom>
          <a:solidFill>
            <a:srgbClr val="F2F2F2"/>
          </a:solidFill>
          <a:ln/>
        </p:spPr>
        <p:txBody>
          <a:bodyPr/>
          <a:lstStyle/>
          <a:p>
            <a:endParaRPr lang="vi-VN"/>
          </a:p>
        </p:txBody>
      </p:sp>
      <p:sp>
        <p:nvSpPr>
          <p:cNvPr id="5" name="Shape 3"/>
          <p:cNvSpPr/>
          <p:nvPr/>
        </p:nvSpPr>
        <p:spPr>
          <a:xfrm>
            <a:off x="490835" y="1164134"/>
            <a:ext cx="8162330" cy="2750344"/>
          </a:xfrm>
          <a:prstGeom prst="roundRect">
            <a:avLst>
              <a:gd name="adj" fmla="val 581"/>
            </a:avLst>
          </a:prstGeom>
          <a:solidFill>
            <a:srgbClr val="F2F2F2"/>
          </a:solidFill>
          <a:ln/>
        </p:spPr>
        <p:txBody>
          <a:bodyPr/>
          <a:lstStyle/>
          <a:p>
            <a:endParaRPr lang="vi-VN"/>
          </a:p>
        </p:txBody>
      </p:sp>
      <p:sp>
        <p:nvSpPr>
          <p:cNvPr id="6" name="Text 4"/>
          <p:cNvSpPr/>
          <p:nvPr/>
        </p:nvSpPr>
        <p:spPr>
          <a:xfrm>
            <a:off x="624036" y="1270695"/>
            <a:ext cx="7895927" cy="2537222"/>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class Warrior(Character):
    def __init__(self, name: str, hp: int, base_damage: int, shield: int):
        # super() mang toàn bộ tài sản của lớp cha về
        super().__init__(name, hp, base_damage)
        # Mở rộng: Thêm thuộc tính khiên riêng của Chiến binh
        self.shield = shield
    def iron_defense(self):
        self.shield += 20
        return f"{self.name} kích hoạt Phòng Thủ Sắt! Khiên: {self.shield}."
# --- Chạy thử ---
arthur = Warrior(name="Arthur", hp=150, base_damage=25, shield=50)
print(arthur.introduce())    # Từ lớp cha
print(arthur.iron_defense()) # Riêng của Warrior
</a:t>
            </a:r>
            <a:endParaRPr lang="en-US" sz="800" dirty="0"/>
          </a:p>
        </p:txBody>
      </p:sp>
      <p:sp>
        <p:nvSpPr>
          <p:cNvPr id="7" name="Shape 5"/>
          <p:cNvSpPr/>
          <p:nvPr/>
        </p:nvSpPr>
        <p:spPr>
          <a:xfrm>
            <a:off x="419398" y="4017466"/>
            <a:ext cx="4099322" cy="754038"/>
          </a:xfrm>
          <a:prstGeom prst="roundRect">
            <a:avLst>
              <a:gd name="adj" fmla="val 20358"/>
            </a:avLst>
          </a:prstGeom>
          <a:solidFill>
            <a:srgbClr val="C00000"/>
          </a:solidFill>
          <a:ln/>
        </p:spPr>
        <p:txBody>
          <a:bodyPr/>
          <a:lstStyle/>
          <a:p>
            <a:endParaRPr lang="vi-VN"/>
          </a:p>
        </p:txBody>
      </p:sp>
      <p:sp>
        <p:nvSpPr>
          <p:cNvPr id="8" name="Text 6"/>
          <p:cNvSpPr/>
          <p:nvPr/>
        </p:nvSpPr>
        <p:spPr>
          <a:xfrm>
            <a:off x="525959" y="4109070"/>
            <a:ext cx="1789658" cy="166539"/>
          </a:xfrm>
          <a:prstGeom prst="rect">
            <a:avLst/>
          </a:prstGeom>
          <a:noFill/>
          <a:ln/>
        </p:spPr>
        <p:txBody>
          <a:bodyPr wrap="none" lIns="0" tIns="0" rIns="0" bIns="0" rtlCol="0" anchor="t"/>
          <a:lstStyle/>
          <a:p>
            <a:pPr marL="0" indent="0" algn="l">
              <a:lnSpc>
                <a:spcPct val="104000"/>
              </a:lnSpc>
              <a:buNone/>
            </a:pPr>
            <a:r>
              <a:rPr lang="en-US" sz="1000" b="1" dirty="0">
                <a:solidFill>
                  <a:srgbClr val="FFFFFF"/>
                </a:solidFill>
                <a:latin typeface="Montserrat Bold" pitchFamily="34" charset="0"/>
                <a:ea typeface="Montserrat Bold" pitchFamily="34" charset="-122"/>
                <a:cs typeface="Montserrat Bold" pitchFamily="34" charset="-120"/>
              </a:rPr>
              <a:t>super().__init__()</a:t>
            </a:r>
            <a:endParaRPr lang="en-US" sz="1000" dirty="0"/>
          </a:p>
        </p:txBody>
      </p:sp>
      <p:sp>
        <p:nvSpPr>
          <p:cNvPr id="9" name="Text 7"/>
          <p:cNvSpPr/>
          <p:nvPr/>
        </p:nvSpPr>
        <p:spPr>
          <a:xfrm>
            <a:off x="525959" y="4367213"/>
            <a:ext cx="3886200"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FFFFFF"/>
                </a:solidFill>
                <a:latin typeface="Montserrat" pitchFamily="34" charset="0"/>
                <a:ea typeface="Montserrat" pitchFamily="34" charset="-122"/>
                <a:cs typeface="Montserrat" pitchFamily="34" charset="-120"/>
              </a:rPr>
              <a:t>Gọi shipper mang toàn bộ tài sản của "ông già" (lớp cha) về cho bạn dùng ngay lập tức.</a:t>
            </a:r>
            <a:endParaRPr lang="en-US" sz="800" dirty="0"/>
          </a:p>
        </p:txBody>
      </p:sp>
      <p:sp>
        <p:nvSpPr>
          <p:cNvPr id="10" name="Text 8"/>
          <p:cNvSpPr/>
          <p:nvPr/>
        </p:nvSpPr>
        <p:spPr>
          <a:xfrm>
            <a:off x="4706764" y="4109070"/>
            <a:ext cx="1789658" cy="166539"/>
          </a:xfrm>
          <a:prstGeom prst="rect">
            <a:avLst/>
          </a:prstGeom>
          <a:noFill/>
          <a:ln/>
        </p:spPr>
        <p:txBody>
          <a:bodyPr wrap="none" lIns="0" tIns="0" rIns="0" bIns="0" rtlCol="0" anchor="t"/>
          <a:lstStyle/>
          <a:p>
            <a:pPr marL="0" indent="0" algn="l">
              <a:lnSpc>
                <a:spcPct val="104000"/>
              </a:lnSpc>
              <a:buNone/>
            </a:pPr>
            <a:r>
              <a:rPr lang="en-US" sz="1000" b="1" dirty="0">
                <a:solidFill>
                  <a:srgbClr val="C00000"/>
                </a:solidFill>
                <a:latin typeface="Montserrat Bold" pitchFamily="34" charset="0"/>
                <a:ea typeface="Montserrat Bold" pitchFamily="34" charset="-122"/>
                <a:cs typeface="Montserrat Bold" pitchFamily="34" charset="-120"/>
              </a:rPr>
              <a:t>Mở rộng lớp con</a:t>
            </a:r>
            <a:endParaRPr lang="en-US" sz="1000" dirty="0"/>
          </a:p>
        </p:txBody>
      </p:sp>
      <p:sp>
        <p:nvSpPr>
          <p:cNvPr id="11" name="Text 9"/>
          <p:cNvSpPr/>
          <p:nvPr/>
        </p:nvSpPr>
        <p:spPr>
          <a:xfrm>
            <a:off x="4706764" y="4367213"/>
            <a:ext cx="3945880" cy="321915"/>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000000"/>
                </a:solidFill>
                <a:latin typeface="Montserrat" pitchFamily="34" charset="0"/>
                <a:ea typeface="Montserrat" pitchFamily="34" charset="-122"/>
                <a:cs typeface="Montserrat" pitchFamily="34" charset="-120"/>
              </a:rPr>
              <a:t>Lớp con không chỉ thừa hưởng mà còn có thể "giàu hơn" nhờ thêm thuộc tính (</a:t>
            </a:r>
            <a:r>
              <a:rPr lang="en-US" sz="800" dirty="0">
                <a:solidFill>
                  <a:srgbClr val="000000"/>
                </a:solidFill>
                <a:highlight>
                  <a:srgbClr val="F2F2F2"/>
                </a:highlight>
                <a:latin typeface="Consolas" pitchFamily="34" charset="0"/>
                <a:ea typeface="Consolas" pitchFamily="34" charset="-122"/>
                <a:cs typeface="Consolas" pitchFamily="34" charset="-120"/>
              </a:rPr>
              <a:t>shield</a:t>
            </a:r>
            <a:r>
              <a:rPr lang="en-US" sz="800" dirty="0">
                <a:solidFill>
                  <a:srgbClr val="000000"/>
                </a:solidFill>
                <a:latin typeface="Montserrat" pitchFamily="34" charset="0"/>
                <a:ea typeface="Montserrat" pitchFamily="34" charset="-122"/>
                <a:cs typeface="Montserrat" pitchFamily="34" charset="-120"/>
              </a:rPr>
              <a:t>) và phương thức (</a:t>
            </a:r>
            <a:r>
              <a:rPr lang="en-US" sz="800" dirty="0">
                <a:solidFill>
                  <a:srgbClr val="000000"/>
                </a:solidFill>
                <a:highlight>
                  <a:srgbClr val="F2F2F2"/>
                </a:highlight>
                <a:latin typeface="Consolas" pitchFamily="34" charset="0"/>
                <a:ea typeface="Consolas" pitchFamily="34" charset="-122"/>
                <a:cs typeface="Consolas" pitchFamily="34" charset="-120"/>
              </a:rPr>
              <a:t>iron_defense</a:t>
            </a:r>
            <a:r>
              <a:rPr lang="en-US" sz="800" dirty="0">
                <a:solidFill>
                  <a:srgbClr val="000000"/>
                </a:solidFill>
                <a:latin typeface="Montserrat" pitchFamily="34" charset="0"/>
                <a:ea typeface="Montserrat" pitchFamily="34" charset="-122"/>
                <a:cs typeface="Montserrat" pitchFamily="34" charset="-120"/>
              </a:rPr>
              <a:t>) riêng.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56605" y="342602"/>
            <a:ext cx="3289474" cy="278532"/>
          </a:xfrm>
          <a:prstGeom prst="rect">
            <a:avLst/>
          </a:prstGeom>
          <a:noFill/>
          <a:ln/>
        </p:spPr>
        <p:txBody>
          <a:bodyPr wrap="none" lIns="0" tIns="0" rIns="0" bIns="0" rtlCol="0" anchor="t"/>
          <a:lstStyle/>
          <a:p>
            <a:pPr marL="0" indent="0" algn="l">
              <a:lnSpc>
                <a:spcPct val="104000"/>
              </a:lnSpc>
              <a:buNone/>
            </a:pPr>
            <a:r>
              <a:rPr lang="en-US" sz="1750" b="1" dirty="0">
                <a:solidFill>
                  <a:srgbClr val="C00000"/>
                </a:solidFill>
                <a:latin typeface="Montserrat Bold" pitchFamily="34" charset="0"/>
                <a:ea typeface="Montserrat Bold" pitchFamily="34" charset="-122"/>
                <a:cs typeface="Montserrat Bold" pitchFamily="34" charset="-120"/>
              </a:rPr>
              <a:t>Kế Thừa: Sơ Đồ Quan Hệ</a:t>
            </a:r>
            <a:endParaRPr lang="en-US" sz="1750" dirty="0"/>
          </a:p>
        </p:txBody>
      </p:sp>
      <p:sp>
        <p:nvSpPr>
          <p:cNvPr id="3" name="Text 1"/>
          <p:cNvSpPr/>
          <p:nvPr/>
        </p:nvSpPr>
        <p:spPr>
          <a:xfrm>
            <a:off x="1056605" y="749275"/>
            <a:ext cx="7487915" cy="122560"/>
          </a:xfrm>
          <a:prstGeom prst="rect">
            <a:avLst/>
          </a:prstGeom>
          <a:noFill/>
          <a:ln/>
        </p:spPr>
        <p:txBody>
          <a:bodyPr wrap="none" lIns="0" tIns="0" rIns="0" bIns="0" rtlCol="0" anchor="t"/>
          <a:lstStyle/>
          <a:p>
            <a:pPr marL="0" indent="0" algn="l">
              <a:lnSpc>
                <a:spcPct val="115000"/>
              </a:lnSpc>
              <a:buNone/>
            </a:pPr>
            <a:r>
              <a:rPr lang="en-US" sz="700" dirty="0">
                <a:solidFill>
                  <a:srgbClr val="000000"/>
                </a:solidFill>
                <a:latin typeface="Montserrat" pitchFamily="34" charset="0"/>
                <a:ea typeface="Montserrat" pitchFamily="34" charset="-122"/>
                <a:cs typeface="Montserrat" pitchFamily="34" charset="-120"/>
              </a:rPr>
              <a:t>Hãy nhìn vào sơ đồ dưới đây để thấy rõ cách các lớp con kế thừa từ lớp cha, đồng thời mỗi lớp con tự bổ sung những gì đặc biệt của riêng mình.</a:t>
            </a:r>
            <a:endParaRPr lang="en-US" sz="700" dirty="0"/>
          </a:p>
        </p:txBody>
      </p:sp>
      <p:pic>
        <p:nvPicPr>
          <p:cNvPr id="4" name="Image 0" descr="preencoded.png"/>
          <p:cNvPicPr>
            <a:picLocks noChangeAspect="1"/>
          </p:cNvPicPr>
          <p:nvPr/>
        </p:nvPicPr>
        <p:blipFill>
          <a:blip r:embed="rId3"/>
          <a:stretch>
            <a:fillRect/>
          </a:stretch>
        </p:blipFill>
        <p:spPr>
          <a:xfrm>
            <a:off x="1056605" y="943868"/>
            <a:ext cx="6553200" cy="3657600"/>
          </a:xfrm>
          <a:prstGeom prst="rect">
            <a:avLst/>
          </a:prstGeom>
        </p:spPr>
      </p:pic>
      <p:sp>
        <p:nvSpPr>
          <p:cNvPr id="5" name="Text 2"/>
          <p:cNvSpPr/>
          <p:nvPr/>
        </p:nvSpPr>
        <p:spPr>
          <a:xfrm>
            <a:off x="1056605" y="4673501"/>
            <a:ext cx="7487915" cy="127322"/>
          </a:xfrm>
          <a:prstGeom prst="rect">
            <a:avLst/>
          </a:prstGeom>
          <a:noFill/>
          <a:ln/>
        </p:spPr>
        <p:txBody>
          <a:bodyPr wrap="none" lIns="0" tIns="0" rIns="0" bIns="0" rtlCol="0" anchor="t"/>
          <a:lstStyle/>
          <a:p>
            <a:pPr marL="0" indent="0" algn="l">
              <a:lnSpc>
                <a:spcPct val="115000"/>
              </a:lnSpc>
              <a:buNone/>
            </a:pPr>
            <a:r>
              <a:rPr lang="en-US" sz="700" dirty="0">
                <a:solidFill>
                  <a:srgbClr val="000000"/>
                </a:solidFill>
                <a:latin typeface="Montserrat" pitchFamily="34" charset="0"/>
                <a:ea typeface="Montserrat" pitchFamily="34" charset="-122"/>
                <a:cs typeface="Montserrat" pitchFamily="34" charset="-120"/>
              </a:rPr>
              <a:t>Lớp cha </a:t>
            </a:r>
            <a:r>
              <a:rPr lang="en-US" sz="700" dirty="0">
                <a:solidFill>
                  <a:srgbClr val="000000"/>
                </a:solidFill>
                <a:highlight>
                  <a:srgbClr val="F2F2F2"/>
                </a:highlight>
                <a:latin typeface="Consolas" pitchFamily="34" charset="0"/>
                <a:ea typeface="Consolas" pitchFamily="34" charset="-122"/>
                <a:cs typeface="Consolas" pitchFamily="34" charset="-120"/>
              </a:rPr>
              <a:t>Character</a:t>
            </a:r>
            <a:r>
              <a:rPr lang="en-US" sz="700" dirty="0">
                <a:solidFill>
                  <a:srgbClr val="000000"/>
                </a:solidFill>
                <a:latin typeface="Montserrat" pitchFamily="34" charset="0"/>
                <a:ea typeface="Montserrat" pitchFamily="34" charset="-122"/>
                <a:cs typeface="Montserrat" pitchFamily="34" charset="-120"/>
              </a:rPr>
              <a:t> là </a:t>
            </a:r>
            <a:r>
              <a:rPr lang="en-US" sz="700" b="1" dirty="0">
                <a:solidFill>
                  <a:srgbClr val="000000"/>
                </a:solidFill>
                <a:latin typeface="Montserrat" pitchFamily="34" charset="0"/>
                <a:ea typeface="Montserrat" pitchFamily="34" charset="-122"/>
                <a:cs typeface="Montserrat" pitchFamily="34" charset="-120"/>
              </a:rPr>
              <a:t>gốc rễ</a:t>
            </a:r>
            <a:r>
              <a:rPr lang="en-US" sz="700" dirty="0">
                <a:solidFill>
                  <a:srgbClr val="000000"/>
                </a:solidFill>
                <a:latin typeface="Montserrat" pitchFamily="34" charset="0"/>
                <a:ea typeface="Montserrat" pitchFamily="34" charset="-122"/>
                <a:cs typeface="Montserrat" pitchFamily="34" charset="-120"/>
              </a:rPr>
              <a:t> của cây kế thừa. Warrior và Mage đều "uống chung nguồn nước" từ gốc đó, nhưng mỗi người lại phát triển theo hướng riêng.</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116285"/>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Tính Chất #2: Đa Hình (Polymorphism)</a:t>
            </a:r>
            <a:endParaRPr lang="en-US" sz="2400" dirty="0"/>
          </a:p>
        </p:txBody>
      </p:sp>
      <p:sp>
        <p:nvSpPr>
          <p:cNvPr id="4" name="Shape 1"/>
          <p:cNvSpPr/>
          <p:nvPr/>
        </p:nvSpPr>
        <p:spPr>
          <a:xfrm>
            <a:off x="496119" y="2082180"/>
            <a:ext cx="1002134" cy="233214"/>
          </a:xfrm>
          <a:prstGeom prst="roundRect">
            <a:avLst>
              <a:gd name="adj" fmla="val 38297"/>
            </a:avLst>
          </a:prstGeom>
          <a:solidFill>
            <a:srgbClr val="FFCCCC"/>
          </a:solidFill>
          <a:ln/>
        </p:spPr>
        <p:txBody>
          <a:bodyPr/>
          <a:lstStyle/>
          <a:p>
            <a:endParaRPr lang="vi-VN"/>
          </a:p>
        </p:txBody>
      </p:sp>
      <p:sp>
        <p:nvSpPr>
          <p:cNvPr id="5" name="Text 2"/>
          <p:cNvSpPr/>
          <p:nvPr/>
        </p:nvSpPr>
        <p:spPr>
          <a:xfrm>
            <a:off x="570533" y="2119387"/>
            <a:ext cx="1310506" cy="158800"/>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POLYMORPHISM</a:t>
            </a:r>
            <a:endParaRPr lang="en-US" sz="750" dirty="0"/>
          </a:p>
        </p:txBody>
      </p:sp>
      <p:sp>
        <p:nvSpPr>
          <p:cNvPr id="6" name="Shape 3"/>
          <p:cNvSpPr/>
          <p:nvPr/>
        </p:nvSpPr>
        <p:spPr>
          <a:xfrm>
            <a:off x="1560240" y="2077417"/>
            <a:ext cx="861194" cy="242739"/>
          </a:xfrm>
          <a:prstGeom prst="roundRect">
            <a:avLst>
              <a:gd name="adj" fmla="val 36794"/>
            </a:avLst>
          </a:prstGeom>
          <a:noFill/>
          <a:ln w="4763">
            <a:solidFill>
              <a:srgbClr val="C00000"/>
            </a:solidFill>
            <a:prstDash val="solid"/>
          </a:ln>
        </p:spPr>
        <p:txBody>
          <a:bodyPr/>
          <a:lstStyle/>
          <a:p>
            <a:endParaRPr lang="vi-VN"/>
          </a:p>
        </p:txBody>
      </p:sp>
      <p:sp>
        <p:nvSpPr>
          <p:cNvPr id="7" name="Text 4"/>
          <p:cNvSpPr/>
          <p:nvPr/>
        </p:nvSpPr>
        <p:spPr>
          <a:xfrm>
            <a:off x="1639416" y="2119387"/>
            <a:ext cx="1160041" cy="158800"/>
          </a:xfrm>
          <a:prstGeom prst="rect">
            <a:avLst/>
          </a:prstGeom>
          <a:noFill/>
          <a:ln/>
        </p:spPr>
        <p:txBody>
          <a:bodyPr wrap="none" lIns="0" tIns="0" rIns="0" bIns="0" rtlCol="0" anchor="t"/>
          <a:lstStyle/>
          <a:p>
            <a:pPr marL="0" indent="0" algn="l">
              <a:lnSpc>
                <a:spcPct val="133000"/>
              </a:lnSpc>
              <a:buNone/>
            </a:pPr>
            <a:r>
              <a:rPr lang="en-US" sz="750" dirty="0">
                <a:solidFill>
                  <a:srgbClr val="C00000"/>
                </a:solidFill>
                <a:latin typeface="Montserrat" pitchFamily="34" charset="0"/>
                <a:ea typeface="Montserrat" pitchFamily="34" charset="-122"/>
                <a:cs typeface="Montserrat" pitchFamily="34" charset="-120"/>
              </a:rPr>
              <a:t>DUCK TYPING</a:t>
            </a:r>
            <a:endParaRPr lang="en-US" sz="750" dirty="0"/>
          </a:p>
        </p:txBody>
      </p:sp>
      <p:sp>
        <p:nvSpPr>
          <p:cNvPr id="8" name="Text 5"/>
          <p:cNvSpPr/>
          <p:nvPr/>
        </p:nvSpPr>
        <p:spPr>
          <a:xfrm>
            <a:off x="496119" y="2369716"/>
            <a:ext cx="4722763" cy="1069777"/>
          </a:xfrm>
          <a:prstGeom prst="rect">
            <a:avLst/>
          </a:prstGeom>
          <a:noFill/>
          <a:ln/>
        </p:spPr>
        <p:txBody>
          <a:bodyPr wrap="square" lIns="0" tIns="0" rIns="0" bIns="0" rtlCol="0" anchor="t">
            <a:normAutofit/>
          </a:bodyPr>
          <a:lstStyle/>
          <a:p>
            <a:pPr marL="0" indent="0" algn="l">
              <a:lnSpc>
                <a:spcPct val="104000"/>
              </a:lnSpc>
              <a:buNone/>
            </a:pPr>
            <a:r>
              <a:rPr lang="en-US" sz="3350" b="1" dirty="0">
                <a:solidFill>
                  <a:srgbClr val="C00000"/>
                </a:solidFill>
                <a:latin typeface="Montserrat Bold" pitchFamily="34" charset="0"/>
                <a:ea typeface="Montserrat Bold" pitchFamily="34" charset="-122"/>
                <a:cs typeface="Montserrat Bold" pitchFamily="34" charset="-120"/>
              </a:rPr>
              <a:t>"Một lệnh, muôn cách phản hồi"</a:t>
            </a:r>
            <a:endParaRPr lang="en-US" sz="3350" dirty="0"/>
          </a:p>
        </p:txBody>
      </p:sp>
      <p:sp>
        <p:nvSpPr>
          <p:cNvPr id="9" name="Text 6"/>
          <p:cNvSpPr/>
          <p:nvPr/>
        </p:nvSpPr>
        <p:spPr>
          <a:xfrm>
            <a:off x="496119" y="3625528"/>
            <a:ext cx="4722763"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Cùng một câu lệnh </a:t>
            </a: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nhưng Chiến binh thì </a:t>
            </a:r>
            <a:r>
              <a:rPr lang="en-US" sz="950" b="1" dirty="0">
                <a:solidFill>
                  <a:srgbClr val="000000"/>
                </a:solidFill>
                <a:latin typeface="Montserrat" pitchFamily="34" charset="0"/>
                <a:ea typeface="Montserrat" pitchFamily="34" charset="-122"/>
                <a:cs typeface="Montserrat" pitchFamily="34" charset="-120"/>
              </a:rPr>
              <a:t>vung kiếm</a:t>
            </a:r>
            <a:r>
              <a:rPr lang="en-US" sz="950" dirty="0">
                <a:solidFill>
                  <a:srgbClr val="000000"/>
                </a:solidFill>
                <a:latin typeface="Montserrat" pitchFamily="34" charset="0"/>
                <a:ea typeface="Montserrat" pitchFamily="34" charset="-122"/>
                <a:cs typeface="Montserrat" pitchFamily="34" charset="-120"/>
              </a:rPr>
              <a:t>, Pháp sư thì </a:t>
            </a:r>
            <a:r>
              <a:rPr lang="en-US" sz="950" b="1" dirty="0">
                <a:solidFill>
                  <a:srgbClr val="000000"/>
                </a:solidFill>
                <a:latin typeface="Montserrat" pitchFamily="34" charset="0"/>
                <a:ea typeface="Montserrat" pitchFamily="34" charset="-122"/>
                <a:cs typeface="Montserrat" pitchFamily="34" charset="-120"/>
              </a:rPr>
              <a:t>niệm chú</a:t>
            </a:r>
            <a:r>
              <a:rPr lang="en-US" sz="950" dirty="0">
                <a:solidFill>
                  <a:srgbClr val="000000"/>
                </a:solidFill>
                <a:latin typeface="Montserrat" pitchFamily="34" charset="0"/>
                <a:ea typeface="Montserrat" pitchFamily="34" charset="-122"/>
                <a:cs typeface="Montserrat" pitchFamily="34" charset="-120"/>
              </a:rPr>
              <a:t>, còn Boss Rồng thì </a:t>
            </a:r>
            <a:r>
              <a:rPr lang="en-US" sz="950" b="1" dirty="0">
                <a:solidFill>
                  <a:srgbClr val="000000"/>
                </a:solidFill>
                <a:latin typeface="Montserrat" pitchFamily="34" charset="0"/>
                <a:ea typeface="Montserrat" pitchFamily="34" charset="-122"/>
                <a:cs typeface="Montserrat" pitchFamily="34" charset="-120"/>
              </a:rPr>
              <a:t>phun lửa</a:t>
            </a:r>
            <a:r>
              <a:rPr lang="en-US" sz="950" dirty="0">
                <a:solidFill>
                  <a:srgbClr val="000000"/>
                </a:solidFill>
                <a:latin typeface="Montserrat" pitchFamily="34" charset="0"/>
                <a:ea typeface="Montserrat" pitchFamily="34" charset="-122"/>
                <a:cs typeface="Montserrat" pitchFamily="34" charset="-120"/>
              </a:rPr>
              <a:t>. Đây chính là sức mạnh của Đa hình!</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43346"/>
            <a:ext cx="6216104" cy="381521"/>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Đa Hình: Duck Typing Trong Python</a:t>
            </a:r>
            <a:endParaRPr lang="en-US" sz="2400" dirty="0"/>
          </a:p>
        </p:txBody>
      </p:sp>
      <p:sp>
        <p:nvSpPr>
          <p:cNvPr id="3" name="Text 1"/>
          <p:cNvSpPr/>
          <p:nvPr/>
        </p:nvSpPr>
        <p:spPr>
          <a:xfrm>
            <a:off x="679252" y="1100435"/>
            <a:ext cx="8425830"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"Nếu nó đi như một con vịt, quác như một con vịt — thì nó là một con vịt." 🦆</a:t>
            </a:r>
            <a:endParaRPr lang="en-US" sz="950" dirty="0"/>
          </a:p>
        </p:txBody>
      </p:sp>
      <p:sp>
        <p:nvSpPr>
          <p:cNvPr id="4" name="Text 2"/>
          <p:cNvSpPr/>
          <p:nvPr/>
        </p:nvSpPr>
        <p:spPr>
          <a:xfrm>
            <a:off x="496119" y="1564704"/>
            <a:ext cx="8151763"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Python không quan tâm đối tượng thuộc </a:t>
            </a:r>
            <a:r>
              <a:rPr lang="en-US" sz="950" dirty="0">
                <a:solidFill>
                  <a:srgbClr val="000000"/>
                </a:solidFill>
                <a:highlight>
                  <a:srgbClr val="F2F2F2"/>
                </a:highlight>
                <a:latin typeface="Consolas" pitchFamily="34" charset="0"/>
                <a:ea typeface="Consolas" pitchFamily="34" charset="-122"/>
                <a:cs typeface="Consolas" pitchFamily="34" charset="-120"/>
              </a:rPr>
              <a:t>class</a:t>
            </a:r>
            <a:r>
              <a:rPr lang="en-US" sz="950" dirty="0">
                <a:solidFill>
                  <a:srgbClr val="000000"/>
                </a:solidFill>
                <a:latin typeface="Montserrat" pitchFamily="34" charset="0"/>
                <a:ea typeface="Montserrat" pitchFamily="34" charset="-122"/>
                <a:cs typeface="Montserrat" pitchFamily="34" charset="-120"/>
              </a:rPr>
              <a:t> nào. Chỉ cần tại thời điểm chạy (runtime), đối tượng đó </a:t>
            </a:r>
            <a:r>
              <a:rPr lang="en-US" sz="950" b="1" dirty="0">
                <a:solidFill>
                  <a:srgbClr val="000000"/>
                </a:solidFill>
                <a:latin typeface="Montserrat" pitchFamily="34" charset="0"/>
                <a:ea typeface="Montserrat" pitchFamily="34" charset="-122"/>
                <a:cs typeface="Montserrat" pitchFamily="34" charset="-120"/>
              </a:rPr>
              <a:t>có phương thức ta cần</a:t>
            </a:r>
            <a:r>
              <a:rPr lang="en-US" sz="950" dirty="0">
                <a:solidFill>
                  <a:srgbClr val="000000"/>
                </a:solidFill>
                <a:latin typeface="Montserrat" pitchFamily="34" charset="0"/>
                <a:ea typeface="Montserrat" pitchFamily="34" charset="-122"/>
                <a:cs typeface="Montserrat" pitchFamily="34" charset="-120"/>
              </a:rPr>
              <a:t> là đủ. Đây là điểm khác biệt cực mạnh so với Java hay C++.</a:t>
            </a:r>
            <a:endParaRPr lang="en-US" sz="950" dirty="0"/>
          </a:p>
        </p:txBody>
      </p:sp>
      <p:sp>
        <p:nvSpPr>
          <p:cNvPr id="5" name="Shape 3"/>
          <p:cNvSpPr/>
          <p:nvPr/>
        </p:nvSpPr>
        <p:spPr>
          <a:xfrm>
            <a:off x="496119" y="2087612"/>
            <a:ext cx="2637086" cy="1363935"/>
          </a:xfrm>
          <a:prstGeom prst="roundRect">
            <a:avLst>
              <a:gd name="adj" fmla="val 8057"/>
            </a:avLst>
          </a:prstGeom>
          <a:solidFill>
            <a:srgbClr val="FFFFFF"/>
          </a:solidFill>
          <a:ln w="4763">
            <a:solidFill>
              <a:srgbClr val="C00000"/>
            </a:solidFill>
            <a:prstDash val="solid"/>
          </a:ln>
        </p:spPr>
        <p:txBody>
          <a:bodyPr/>
          <a:lstStyle/>
          <a:p>
            <a:endParaRPr lang="vi-VN"/>
          </a:p>
        </p:txBody>
      </p:sp>
      <p:sp>
        <p:nvSpPr>
          <p:cNvPr id="6" name="Text 4"/>
          <p:cNvSpPr/>
          <p:nvPr/>
        </p:nvSpPr>
        <p:spPr>
          <a:xfrm>
            <a:off x="622920" y="2214414"/>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Warrior ⚔️</a:t>
            </a:r>
            <a:endParaRPr lang="en-US" sz="1200" dirty="0"/>
          </a:p>
        </p:txBody>
      </p:sp>
      <p:sp>
        <p:nvSpPr>
          <p:cNvPr id="7" name="Text 5"/>
          <p:cNvSpPr/>
          <p:nvPr/>
        </p:nvSpPr>
        <p:spPr>
          <a:xfrm>
            <a:off x="622920" y="2477244"/>
            <a:ext cx="2383482" cy="653653"/>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trả về thông điệp vung kiếm, gây </a:t>
            </a:r>
            <a:r>
              <a:rPr lang="en-US" sz="950" dirty="0">
                <a:solidFill>
                  <a:srgbClr val="000000"/>
                </a:solidFill>
                <a:highlight>
                  <a:srgbClr val="F2F2F2"/>
                </a:highlight>
                <a:latin typeface="Consolas" pitchFamily="34" charset="0"/>
                <a:ea typeface="Consolas" pitchFamily="34" charset="-122"/>
                <a:cs typeface="Consolas" pitchFamily="34" charset="-120"/>
              </a:rPr>
              <a:t>base_damage</a:t>
            </a:r>
            <a:r>
              <a:rPr lang="en-US" sz="950" dirty="0">
                <a:solidFill>
                  <a:srgbClr val="000000"/>
                </a:solidFill>
                <a:latin typeface="Montserrat" pitchFamily="34" charset="0"/>
                <a:ea typeface="Montserrat" pitchFamily="34" charset="-122"/>
                <a:cs typeface="Montserrat" pitchFamily="34" charset="-120"/>
              </a:rPr>
              <a:t>.</a:t>
            </a:r>
            <a:endParaRPr lang="en-US" sz="950" dirty="0"/>
          </a:p>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Inherits from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8" name="Shape 6"/>
          <p:cNvSpPr/>
          <p:nvPr/>
        </p:nvSpPr>
        <p:spPr>
          <a:xfrm>
            <a:off x="3253383" y="2087612"/>
            <a:ext cx="2637160" cy="1363935"/>
          </a:xfrm>
          <a:prstGeom prst="roundRect">
            <a:avLst>
              <a:gd name="adj" fmla="val 8057"/>
            </a:avLst>
          </a:prstGeom>
          <a:solidFill>
            <a:srgbClr val="FFFFFF"/>
          </a:solidFill>
          <a:ln w="4763">
            <a:solidFill>
              <a:srgbClr val="C00000"/>
            </a:solidFill>
            <a:prstDash val="solid"/>
          </a:ln>
        </p:spPr>
        <p:txBody>
          <a:bodyPr/>
          <a:lstStyle/>
          <a:p>
            <a:endParaRPr lang="vi-VN"/>
          </a:p>
        </p:txBody>
      </p:sp>
      <p:sp>
        <p:nvSpPr>
          <p:cNvPr id="9" name="Text 7"/>
          <p:cNvSpPr/>
          <p:nvPr/>
        </p:nvSpPr>
        <p:spPr>
          <a:xfrm>
            <a:off x="3380184" y="2214414"/>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Mage 🔮</a:t>
            </a:r>
            <a:endParaRPr lang="en-US" sz="1200" dirty="0"/>
          </a:p>
        </p:txBody>
      </p:sp>
      <p:sp>
        <p:nvSpPr>
          <p:cNvPr id="10" name="Text 8"/>
          <p:cNvSpPr/>
          <p:nvPr/>
        </p:nvSpPr>
        <p:spPr>
          <a:xfrm>
            <a:off x="3380184" y="2477244"/>
            <a:ext cx="2383557" cy="653653"/>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trả về thông điệp niệm chú, gây </a:t>
            </a:r>
            <a:r>
              <a:rPr lang="en-US" sz="950" dirty="0">
                <a:solidFill>
                  <a:srgbClr val="000000"/>
                </a:solidFill>
                <a:highlight>
                  <a:srgbClr val="F2F2F2"/>
                </a:highlight>
                <a:latin typeface="Consolas" pitchFamily="34" charset="0"/>
                <a:ea typeface="Consolas" pitchFamily="34" charset="-122"/>
                <a:cs typeface="Consolas" pitchFamily="34" charset="-120"/>
              </a:rPr>
              <a:t>base_damage x2</a:t>
            </a:r>
            <a:r>
              <a:rPr lang="en-US" sz="950" dirty="0">
                <a:solidFill>
                  <a:srgbClr val="000000"/>
                </a:solidFill>
                <a:latin typeface="Montserrat" pitchFamily="34" charset="0"/>
                <a:ea typeface="Montserrat" pitchFamily="34" charset="-122"/>
                <a:cs typeface="Montserrat" pitchFamily="34" charset="-120"/>
              </a:rPr>
              <a:t>.</a:t>
            </a:r>
            <a:endParaRPr lang="en-US" sz="950" dirty="0"/>
          </a:p>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Inherits from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11" name="Shape 9"/>
          <p:cNvSpPr/>
          <p:nvPr/>
        </p:nvSpPr>
        <p:spPr>
          <a:xfrm>
            <a:off x="6010721" y="2087612"/>
            <a:ext cx="2637160" cy="1363935"/>
          </a:xfrm>
          <a:prstGeom prst="roundRect">
            <a:avLst>
              <a:gd name="adj" fmla="val 8057"/>
            </a:avLst>
          </a:prstGeom>
          <a:solidFill>
            <a:srgbClr val="FFFFFF"/>
          </a:solidFill>
          <a:ln w="4763">
            <a:solidFill>
              <a:srgbClr val="231651"/>
            </a:solidFill>
            <a:prstDash val="solid"/>
          </a:ln>
        </p:spPr>
        <p:txBody>
          <a:bodyPr/>
          <a:lstStyle/>
          <a:p>
            <a:endParaRPr lang="vi-VN"/>
          </a:p>
        </p:txBody>
      </p:sp>
      <p:sp>
        <p:nvSpPr>
          <p:cNvPr id="12" name="Text 10"/>
          <p:cNvSpPr/>
          <p:nvPr/>
        </p:nvSpPr>
        <p:spPr>
          <a:xfrm>
            <a:off x="6137523" y="2214414"/>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BossMonster 🐉</a:t>
            </a:r>
            <a:endParaRPr lang="en-US" sz="1200" dirty="0"/>
          </a:p>
        </p:txBody>
      </p:sp>
      <p:sp>
        <p:nvSpPr>
          <p:cNvPr id="13" name="Text 11"/>
          <p:cNvSpPr/>
          <p:nvPr/>
        </p:nvSpPr>
        <p:spPr>
          <a:xfrm>
            <a:off x="6137523" y="2477244"/>
            <a:ext cx="2383557" cy="847502"/>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trả về thông điệp phun lửa, gây </a:t>
            </a:r>
            <a:r>
              <a:rPr lang="en-US" sz="950" dirty="0">
                <a:solidFill>
                  <a:srgbClr val="000000"/>
                </a:solidFill>
                <a:highlight>
                  <a:srgbClr val="F2F2F2"/>
                </a:highlight>
                <a:latin typeface="Consolas" pitchFamily="34" charset="0"/>
                <a:ea typeface="Consolas" pitchFamily="34" charset="-122"/>
                <a:cs typeface="Consolas" pitchFamily="34" charset="-120"/>
              </a:rPr>
              <a:t>999 damage</a:t>
            </a:r>
            <a:r>
              <a:rPr lang="en-US" sz="950" dirty="0">
                <a:solidFill>
                  <a:srgbClr val="000000"/>
                </a:solidFill>
                <a:latin typeface="Montserrat" pitchFamily="34" charset="0"/>
                <a:ea typeface="Montserrat" pitchFamily="34" charset="-122"/>
                <a:cs typeface="Montserrat" pitchFamily="34" charset="-120"/>
              </a:rPr>
              <a:t>.</a:t>
            </a:r>
            <a:endParaRPr lang="en-US" sz="950" dirty="0"/>
          </a:p>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Không kế thừa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 — nhưng vẫn hoạt động nhờ Duck Typing!</a:t>
            </a:r>
            <a:endParaRPr lang="en-US" sz="950" dirty="0"/>
          </a:p>
        </p:txBody>
      </p:sp>
      <p:sp>
        <p:nvSpPr>
          <p:cNvPr id="14" name="Shape 12"/>
          <p:cNvSpPr/>
          <p:nvPr/>
        </p:nvSpPr>
        <p:spPr>
          <a:xfrm>
            <a:off x="496119" y="3586758"/>
            <a:ext cx="8151763" cy="1213321"/>
          </a:xfrm>
          <a:prstGeom prst="roundRect">
            <a:avLst>
              <a:gd name="adj" fmla="val 9058"/>
            </a:avLst>
          </a:prstGeom>
          <a:solidFill>
            <a:srgbClr val="F2F2F2"/>
          </a:solidFill>
          <a:ln/>
        </p:spPr>
        <p:txBody>
          <a:bodyPr/>
          <a:lstStyle/>
          <a:p>
            <a:endParaRPr lang="vi-VN"/>
          </a:p>
        </p:txBody>
      </p:sp>
      <p:sp>
        <p:nvSpPr>
          <p:cNvPr id="15" name="Shape 13"/>
          <p:cNvSpPr/>
          <p:nvPr/>
        </p:nvSpPr>
        <p:spPr>
          <a:xfrm>
            <a:off x="490017" y="3586758"/>
            <a:ext cx="8163967" cy="1213321"/>
          </a:xfrm>
          <a:prstGeom prst="roundRect">
            <a:avLst>
              <a:gd name="adj" fmla="val 1510"/>
            </a:avLst>
          </a:prstGeom>
          <a:solidFill>
            <a:srgbClr val="F2F2F2"/>
          </a:solidFill>
          <a:ln/>
        </p:spPr>
        <p:txBody>
          <a:bodyPr/>
          <a:lstStyle/>
          <a:p>
            <a:endParaRPr lang="vi-VN"/>
          </a:p>
        </p:txBody>
      </p:sp>
      <p:sp>
        <p:nvSpPr>
          <p:cNvPr id="16" name="Text 14"/>
          <p:cNvSpPr/>
          <p:nvPr/>
        </p:nvSpPr>
        <p:spPr>
          <a:xfrm>
            <a:off x="642640" y="3708797"/>
            <a:ext cx="7858720" cy="969243"/>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class BossMonster:</a:t>
            </a:r>
            <a:endParaRPr lang="en-US" sz="950" dirty="0"/>
          </a:p>
          <a:p>
            <a:pPr marL="0" indent="0" algn="l">
              <a:lnSpc>
                <a:spcPct val="132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def attack(self):</a:t>
            </a:r>
            <a:endParaRPr lang="en-US" sz="950" dirty="0"/>
          </a:p>
          <a:p>
            <a:pPr marL="0" indent="0" algn="l">
              <a:lnSpc>
                <a:spcPct val="132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return "BossMonster breathes fire"</a:t>
            </a:r>
            <a:endParaRPr lang="en-US" sz="950" dirty="0"/>
          </a:p>
          <a:p>
            <a:pPr marL="0" indent="0" algn="l">
              <a:lnSpc>
                <a:spcPct val="132000"/>
              </a:lnSpc>
              <a:buNone/>
            </a:pPr>
            <a:endParaRPr lang="en-US" sz="950" dirty="0"/>
          </a:p>
          <a:p>
            <a:pPr marL="0" indent="0" algn="l">
              <a:lnSpc>
                <a:spcPct val="132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Works without inheriting Character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7697"/>
            <a:ext cx="8519220" cy="385018"/>
          </a:xfrm>
          <a:prstGeom prst="rect">
            <a:avLst/>
          </a:prstGeom>
          <a:noFill/>
          <a:ln/>
        </p:spPr>
        <p:txBody>
          <a:bodyPr wrap="none" lIns="0" tIns="0" rIns="0" bIns="0" rtlCol="0" anchor="t"/>
          <a:lstStyle/>
          <a:p>
            <a:pPr marL="0" indent="0" algn="l">
              <a:lnSpc>
                <a:spcPct val="104000"/>
              </a:lnSpc>
              <a:buNone/>
            </a:pPr>
            <a:r>
              <a:rPr lang="en-US" sz="2350" b="1" dirty="0">
                <a:solidFill>
                  <a:srgbClr val="C00000"/>
                </a:solidFill>
                <a:latin typeface="Montserrat Bold" pitchFamily="34" charset="0"/>
                <a:ea typeface="Montserrat Bold" pitchFamily="34" charset="-122"/>
                <a:cs typeface="Montserrat Bold" pitchFamily="34" charset="-120"/>
              </a:rPr>
              <a:t>Đa Hình: Hàm </a:t>
            </a:r>
            <a:r>
              <a:rPr lang="en-US" sz="2350" b="1" dirty="0">
                <a:solidFill>
                  <a:srgbClr val="000000"/>
                </a:solidFill>
                <a:highlight>
                  <a:srgbClr val="F2F2F2"/>
                </a:highlight>
                <a:latin typeface="Consolas" pitchFamily="34" charset="0"/>
                <a:ea typeface="Consolas" pitchFamily="34" charset="-122"/>
                <a:cs typeface="Consolas" pitchFamily="34" charset="-120"/>
              </a:rPr>
              <a:t>start_combat()</a:t>
            </a:r>
            <a:r>
              <a:rPr lang="en-US" sz="2350" b="1" dirty="0">
                <a:solidFill>
                  <a:srgbClr val="C00000"/>
                </a:solidFill>
                <a:latin typeface="Montserrat Bold" pitchFamily="34" charset="0"/>
                <a:ea typeface="Montserrat Bold" pitchFamily="34" charset="-122"/>
                <a:cs typeface="Montserrat Bold" pitchFamily="34" charset="-120"/>
              </a:rPr>
              <a:t> — Trái Tim Của Cơ Chế</a:t>
            </a:r>
            <a:endParaRPr lang="en-US" sz="2350" dirty="0"/>
          </a:p>
        </p:txBody>
      </p:sp>
      <p:sp>
        <p:nvSpPr>
          <p:cNvPr id="3" name="Text 1"/>
          <p:cNvSpPr/>
          <p:nvPr/>
        </p:nvSpPr>
        <p:spPr>
          <a:xfrm>
            <a:off x="496119" y="1005483"/>
            <a:ext cx="8608963" cy="193997"/>
          </a:xfrm>
          <a:prstGeom prst="rect">
            <a:avLst/>
          </a:prstGeom>
          <a:noFill/>
          <a:ln/>
        </p:spPr>
        <p:txBody>
          <a:bodyPr wrap="none" lIns="0" tIns="0" rIns="0" bIns="0" rtlCol="0" anchor="t"/>
          <a:lstStyle/>
          <a:p>
            <a:pPr marL="0" indent="0" algn="l">
              <a:lnSpc>
                <a:spcPct val="131000"/>
              </a:lnSpc>
              <a:buNone/>
            </a:pPr>
            <a:r>
              <a:rPr lang="en-US" sz="900" dirty="0">
                <a:solidFill>
                  <a:srgbClr val="000000"/>
                </a:solidFill>
                <a:latin typeface="Montserrat" pitchFamily="34" charset="0"/>
                <a:ea typeface="Montserrat" pitchFamily="34" charset="-122"/>
                <a:cs typeface="Montserrat" pitchFamily="34" charset="-120"/>
              </a:rPr>
              <a:t>Một hàm duy nhất, truyền vào bất kỳ đối tượng nào có </a:t>
            </a:r>
            <a:r>
              <a:rPr lang="en-US" sz="900" dirty="0">
                <a:solidFill>
                  <a:srgbClr val="000000"/>
                </a:solidFill>
                <a:highlight>
                  <a:srgbClr val="F2F2F2"/>
                </a:highlight>
                <a:latin typeface="Consolas" pitchFamily="34" charset="0"/>
                <a:ea typeface="Consolas" pitchFamily="34" charset="-122"/>
                <a:cs typeface="Consolas" pitchFamily="34" charset="-120"/>
              </a:rPr>
              <a:t>attack()</a:t>
            </a:r>
            <a:r>
              <a:rPr lang="en-US" sz="900" dirty="0">
                <a:solidFill>
                  <a:srgbClr val="000000"/>
                </a:solidFill>
                <a:latin typeface="Montserrat" pitchFamily="34" charset="0"/>
                <a:ea typeface="Montserrat" pitchFamily="34" charset="-122"/>
                <a:cs typeface="Montserrat" pitchFamily="34" charset="-120"/>
              </a:rPr>
              <a:t> là hoạt động — dù có kế thừa từ </a:t>
            </a:r>
            <a:r>
              <a:rPr lang="en-US" sz="900" dirty="0">
                <a:solidFill>
                  <a:srgbClr val="000000"/>
                </a:solidFill>
                <a:highlight>
                  <a:srgbClr val="F2F2F2"/>
                </a:highlight>
                <a:latin typeface="Consolas" pitchFamily="34" charset="0"/>
                <a:ea typeface="Consolas" pitchFamily="34" charset="-122"/>
                <a:cs typeface="Consolas" pitchFamily="34" charset="-120"/>
              </a:rPr>
              <a:t>Character</a:t>
            </a:r>
            <a:r>
              <a:rPr lang="en-US" sz="900" dirty="0">
                <a:solidFill>
                  <a:srgbClr val="000000"/>
                </a:solidFill>
                <a:latin typeface="Montserrat" pitchFamily="34" charset="0"/>
                <a:ea typeface="Montserrat" pitchFamily="34" charset="-122"/>
                <a:cs typeface="Montserrat" pitchFamily="34" charset="-120"/>
              </a:rPr>
              <a:t> hay không!</a:t>
            </a:r>
            <a:endParaRPr lang="en-US" sz="900" dirty="0"/>
          </a:p>
        </p:txBody>
      </p:sp>
      <p:sp>
        <p:nvSpPr>
          <p:cNvPr id="4" name="Shape 2"/>
          <p:cNvSpPr/>
          <p:nvPr/>
        </p:nvSpPr>
        <p:spPr>
          <a:xfrm>
            <a:off x="496119" y="1330375"/>
            <a:ext cx="8151763" cy="2511028"/>
          </a:xfrm>
          <a:prstGeom prst="roundRect">
            <a:avLst>
              <a:gd name="adj" fmla="val 4307"/>
            </a:avLst>
          </a:prstGeom>
          <a:solidFill>
            <a:srgbClr val="F2F2F2"/>
          </a:solidFill>
          <a:ln/>
        </p:spPr>
        <p:txBody>
          <a:bodyPr/>
          <a:lstStyle/>
          <a:p>
            <a:endParaRPr lang="vi-VN"/>
          </a:p>
        </p:txBody>
      </p:sp>
      <p:sp>
        <p:nvSpPr>
          <p:cNvPr id="5" name="Shape 3"/>
          <p:cNvSpPr/>
          <p:nvPr/>
        </p:nvSpPr>
        <p:spPr>
          <a:xfrm>
            <a:off x="490165" y="1330375"/>
            <a:ext cx="8163669" cy="2511028"/>
          </a:xfrm>
          <a:prstGeom prst="roundRect">
            <a:avLst>
              <a:gd name="adj" fmla="val 718"/>
            </a:avLst>
          </a:prstGeom>
          <a:solidFill>
            <a:srgbClr val="F2F2F2"/>
          </a:solidFill>
          <a:ln/>
        </p:spPr>
        <p:txBody>
          <a:bodyPr/>
          <a:lstStyle/>
          <a:p>
            <a:endParaRPr lang="vi-VN"/>
          </a:p>
        </p:txBody>
      </p:sp>
      <p:sp>
        <p:nvSpPr>
          <p:cNvPr id="6" name="Text 4"/>
          <p:cNvSpPr/>
          <p:nvPr/>
        </p:nvSpPr>
        <p:spPr>
          <a:xfrm>
            <a:off x="640333" y="1450479"/>
            <a:ext cx="7863334" cy="227082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def start_combat(entity):</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    # Python kiểm tra attack() lúc runtime (Duck Typing)</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    print(entity.attack())</a:t>
            </a:r>
            <a:endParaRPr lang="en-US" sz="900" dirty="0"/>
          </a:p>
          <a:p>
            <a:pPr marL="0" indent="0" algn="l">
              <a:lnSpc>
                <a:spcPct val="131000"/>
              </a:lnSpc>
              <a:buNone/>
            </a:pP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 --- Chạy thử ---</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gandalf = Mage("Gandalf", 100, 30)</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thor = Warrior("Thor", 180, 20)</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dragon = BossMonster()</a:t>
            </a:r>
            <a:endParaRPr lang="en-US" sz="900" dirty="0"/>
          </a:p>
          <a:p>
            <a:pPr marL="0" indent="0" algn="l">
              <a:lnSpc>
                <a:spcPct val="131000"/>
              </a:lnSpc>
              <a:buNone/>
            </a:pP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start_combat(gandalf)  # Gandalf tấn công bằng phép thuật</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start_combat(thor)     # Thor tấn công bằng rìu</a:t>
            </a:r>
            <a:endParaRPr lang="en-US" sz="900" dirty="0"/>
          </a:p>
          <a:p>
            <a:pPr marL="0" indent="0" algn="l">
              <a:lnSpc>
                <a:spcPct val="131000"/>
              </a:lnSpc>
              <a:buNone/>
            </a:pPr>
            <a:r>
              <a:rPr lang="en-US" sz="900" dirty="0">
                <a:solidFill>
                  <a:srgbClr val="000000"/>
                </a:solidFill>
                <a:latin typeface="Consolas" pitchFamily="34" charset="0"/>
                <a:ea typeface="Consolas" pitchFamily="34" charset="-122"/>
                <a:cs typeface="Consolas" pitchFamily="34" charset="-120"/>
              </a:rPr>
              <a:t>start_combat(dragon)   # BossMonster tấn công cực mạnh</a:t>
            </a:r>
            <a:endParaRPr lang="en-US" sz="900" dirty="0"/>
          </a:p>
        </p:txBody>
      </p:sp>
      <p:sp>
        <p:nvSpPr>
          <p:cNvPr id="7" name="Shape 5"/>
          <p:cNvSpPr/>
          <p:nvPr/>
        </p:nvSpPr>
        <p:spPr>
          <a:xfrm>
            <a:off x="496119" y="3972297"/>
            <a:ext cx="8151763" cy="652611"/>
          </a:xfrm>
          <a:prstGeom prst="roundRect">
            <a:avLst>
              <a:gd name="adj" fmla="val 16572"/>
            </a:avLst>
          </a:prstGeom>
          <a:solidFill>
            <a:srgbClr val="B6D6FC"/>
          </a:solidFill>
          <a:ln/>
        </p:spPr>
        <p:txBody>
          <a:bodyPr/>
          <a:lstStyle/>
          <a:p>
            <a:endParaRPr lang="vi-VN"/>
          </a:p>
        </p:txBody>
      </p:sp>
      <p:pic>
        <p:nvPicPr>
          <p:cNvPr id="8" name="Image 0" descr="preencoded.png"/>
          <p:cNvPicPr>
            <a:picLocks noChangeAspect="1"/>
          </p:cNvPicPr>
          <p:nvPr/>
        </p:nvPicPr>
        <p:blipFill>
          <a:blip r:embed="rId3"/>
          <a:stretch>
            <a:fillRect/>
          </a:stretch>
        </p:blipFill>
        <p:spPr>
          <a:xfrm>
            <a:off x="616223" y="4141068"/>
            <a:ext cx="150168" cy="120104"/>
          </a:xfrm>
          <a:prstGeom prst="rect">
            <a:avLst/>
          </a:prstGeom>
        </p:spPr>
      </p:pic>
      <p:sp>
        <p:nvSpPr>
          <p:cNvPr id="9" name="Text 6"/>
          <p:cNvSpPr/>
          <p:nvPr/>
        </p:nvSpPr>
        <p:spPr>
          <a:xfrm>
            <a:off x="886495" y="4106987"/>
            <a:ext cx="7641282" cy="383232"/>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Montserrat" pitchFamily="34" charset="0"/>
                <a:ea typeface="Montserrat" pitchFamily="34" charset="-122"/>
                <a:cs typeface="Montserrat" pitchFamily="34" charset="-120"/>
              </a:rPr>
              <a:t>start_combat không cần biết </a:t>
            </a:r>
            <a:r>
              <a:rPr lang="en-US" sz="900" b="1" dirty="0">
                <a:solidFill>
                  <a:srgbClr val="000000"/>
                </a:solidFill>
                <a:latin typeface="Montserrat" pitchFamily="34" charset="0"/>
                <a:ea typeface="Montserrat" pitchFamily="34" charset="-122"/>
                <a:cs typeface="Montserrat" pitchFamily="34" charset="-120"/>
              </a:rPr>
              <a:t>entity</a:t>
            </a:r>
            <a:r>
              <a:rPr lang="en-US" sz="900" dirty="0">
                <a:solidFill>
                  <a:srgbClr val="000000"/>
                </a:solidFill>
                <a:latin typeface="Montserrat" pitchFamily="34" charset="0"/>
                <a:ea typeface="Montserrat" pitchFamily="34" charset="-122"/>
                <a:cs typeface="Montserrat" pitchFamily="34" charset="-120"/>
              </a:rPr>
              <a:t> là kiểu gì — chỉ cần đối tượng đó có </a:t>
            </a:r>
            <a:r>
              <a:rPr lang="en-US" sz="900" dirty="0">
                <a:solidFill>
                  <a:srgbClr val="000000"/>
                </a:solidFill>
                <a:highlight>
                  <a:srgbClr val="F2F2F2"/>
                </a:highlight>
                <a:latin typeface="Consolas" pitchFamily="34" charset="0"/>
                <a:ea typeface="Consolas" pitchFamily="34" charset="-122"/>
                <a:cs typeface="Consolas" pitchFamily="34" charset="-120"/>
              </a:rPr>
              <a:t>attack()</a:t>
            </a:r>
            <a:r>
              <a:rPr lang="en-US" sz="900" dirty="0">
                <a:solidFill>
                  <a:srgbClr val="000000"/>
                </a:solidFill>
                <a:latin typeface="Montserrat" pitchFamily="34" charset="0"/>
                <a:ea typeface="Montserrat" pitchFamily="34" charset="-122"/>
                <a:cs typeface="Montserrat" pitchFamily="34" charset="-120"/>
              </a:rPr>
              <a:t> thì hàm vẫn hoạt động bình thường. Đây chính là </a:t>
            </a:r>
            <a:r>
              <a:rPr lang="en-US" sz="900" b="1" dirty="0">
                <a:solidFill>
                  <a:srgbClr val="000000"/>
                </a:solidFill>
                <a:latin typeface="Montserrat" pitchFamily="34" charset="0"/>
                <a:ea typeface="Montserrat" pitchFamily="34" charset="-122"/>
                <a:cs typeface="Montserrat" pitchFamily="34" charset="-120"/>
              </a:rPr>
              <a:t>Duck Typing</a:t>
            </a:r>
            <a:r>
              <a:rPr lang="en-US" sz="900" dirty="0">
                <a:solidFill>
                  <a:srgbClr val="000000"/>
                </a:solidFill>
                <a:latin typeface="Montserrat" pitchFamily="34" charset="0"/>
                <a:ea typeface="Montserrat" pitchFamily="34" charset="-122"/>
                <a:cs typeface="Montserrat" pitchFamily="34" charset="-120"/>
              </a:rPr>
              <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014636"/>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Tính Chất #3: Nạp Chồng Toán Tử</a:t>
            </a:r>
            <a:endParaRPr lang="en-US" sz="2400" dirty="0"/>
          </a:p>
        </p:txBody>
      </p:sp>
      <p:sp>
        <p:nvSpPr>
          <p:cNvPr id="4" name="Shape 1"/>
          <p:cNvSpPr/>
          <p:nvPr/>
        </p:nvSpPr>
        <p:spPr>
          <a:xfrm>
            <a:off x="3925119" y="1980530"/>
            <a:ext cx="1511498" cy="233214"/>
          </a:xfrm>
          <a:prstGeom prst="roundRect">
            <a:avLst>
              <a:gd name="adj" fmla="val 38297"/>
            </a:avLst>
          </a:prstGeom>
          <a:solidFill>
            <a:srgbClr val="FFCCCC"/>
          </a:solidFill>
          <a:ln/>
        </p:spPr>
        <p:txBody>
          <a:bodyPr/>
          <a:lstStyle/>
          <a:p>
            <a:endParaRPr lang="vi-VN"/>
          </a:p>
        </p:txBody>
      </p:sp>
      <p:sp>
        <p:nvSpPr>
          <p:cNvPr id="5" name="Text 2"/>
          <p:cNvSpPr/>
          <p:nvPr/>
        </p:nvSpPr>
        <p:spPr>
          <a:xfrm>
            <a:off x="3999533" y="2017737"/>
            <a:ext cx="1819870" cy="158800"/>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OPERATOR OVERLOADING</a:t>
            </a:r>
            <a:endParaRPr lang="en-US" sz="750" dirty="0"/>
          </a:p>
        </p:txBody>
      </p:sp>
      <p:sp>
        <p:nvSpPr>
          <p:cNvPr id="6" name="Shape 3"/>
          <p:cNvSpPr/>
          <p:nvPr/>
        </p:nvSpPr>
        <p:spPr>
          <a:xfrm>
            <a:off x="5498604" y="1975768"/>
            <a:ext cx="1170384" cy="242739"/>
          </a:xfrm>
          <a:prstGeom prst="roundRect">
            <a:avLst>
              <a:gd name="adj" fmla="val 36794"/>
            </a:avLst>
          </a:prstGeom>
          <a:noFill/>
          <a:ln w="4763">
            <a:solidFill>
              <a:srgbClr val="C00000"/>
            </a:solidFill>
            <a:prstDash val="solid"/>
          </a:ln>
        </p:spPr>
        <p:txBody>
          <a:bodyPr/>
          <a:lstStyle/>
          <a:p>
            <a:endParaRPr lang="vi-VN"/>
          </a:p>
        </p:txBody>
      </p:sp>
      <p:sp>
        <p:nvSpPr>
          <p:cNvPr id="7" name="Text 4"/>
          <p:cNvSpPr/>
          <p:nvPr/>
        </p:nvSpPr>
        <p:spPr>
          <a:xfrm>
            <a:off x="5577780" y="2017737"/>
            <a:ext cx="1469231" cy="158800"/>
          </a:xfrm>
          <a:prstGeom prst="rect">
            <a:avLst/>
          </a:prstGeom>
          <a:noFill/>
          <a:ln/>
        </p:spPr>
        <p:txBody>
          <a:bodyPr wrap="none" lIns="0" tIns="0" rIns="0" bIns="0" rtlCol="0" anchor="t"/>
          <a:lstStyle/>
          <a:p>
            <a:pPr marL="0" indent="0" algn="l">
              <a:lnSpc>
                <a:spcPct val="133000"/>
              </a:lnSpc>
              <a:buNone/>
            </a:pPr>
            <a:r>
              <a:rPr lang="en-US" sz="750" dirty="0">
                <a:solidFill>
                  <a:srgbClr val="C00000"/>
                </a:solidFill>
                <a:latin typeface="Montserrat" pitchFamily="34" charset="0"/>
                <a:ea typeface="Montserrat" pitchFamily="34" charset="-122"/>
                <a:cs typeface="Montserrat" pitchFamily="34" charset="-120"/>
              </a:rPr>
              <a:t>DUNDER METHODS</a:t>
            </a:r>
            <a:endParaRPr lang="en-US" sz="750" dirty="0"/>
          </a:p>
        </p:txBody>
      </p:sp>
      <p:sp>
        <p:nvSpPr>
          <p:cNvPr id="8" name="Text 5"/>
          <p:cNvSpPr/>
          <p:nvPr/>
        </p:nvSpPr>
        <p:spPr>
          <a:xfrm>
            <a:off x="3925119" y="2268066"/>
            <a:ext cx="4722763" cy="1069777"/>
          </a:xfrm>
          <a:prstGeom prst="rect">
            <a:avLst/>
          </a:prstGeom>
          <a:noFill/>
          <a:ln/>
        </p:spPr>
        <p:txBody>
          <a:bodyPr wrap="square" lIns="0" tIns="0" rIns="0" bIns="0" rtlCol="0" anchor="t">
            <a:normAutofit/>
          </a:bodyPr>
          <a:lstStyle/>
          <a:p>
            <a:pPr marL="0" indent="0" algn="l">
              <a:lnSpc>
                <a:spcPct val="104000"/>
              </a:lnSpc>
              <a:buNone/>
            </a:pPr>
            <a:r>
              <a:rPr lang="en-US" sz="3350" b="1" dirty="0">
                <a:solidFill>
                  <a:srgbClr val="C00000"/>
                </a:solidFill>
                <a:latin typeface="Montserrat Bold" pitchFamily="34" charset="0"/>
                <a:ea typeface="Montserrat Bold" pitchFamily="34" charset="-122"/>
                <a:cs typeface="Montserrat Bold" pitchFamily="34" charset="-120"/>
              </a:rPr>
              <a:t>"Phép thuật Dunder Methods"</a:t>
            </a:r>
            <a:endParaRPr lang="en-US" sz="3350" dirty="0"/>
          </a:p>
        </p:txBody>
      </p:sp>
      <p:sp>
        <p:nvSpPr>
          <p:cNvPr id="9" name="Text 6"/>
          <p:cNvSpPr/>
          <p:nvPr/>
        </p:nvSpPr>
        <p:spPr>
          <a:xfrm>
            <a:off x="3925119" y="3523878"/>
            <a:ext cx="4722763"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Bình thường </a:t>
            </a:r>
            <a:r>
              <a:rPr lang="en-US" sz="950" dirty="0">
                <a:solidFill>
                  <a:srgbClr val="000000"/>
                </a:solidFill>
                <a:highlight>
                  <a:srgbClr val="F2F2F2"/>
                </a:highlight>
                <a:latin typeface="Consolas" pitchFamily="34" charset="0"/>
                <a:ea typeface="Consolas" pitchFamily="34" charset="-122"/>
                <a:cs typeface="Consolas" pitchFamily="34" charset="-120"/>
              </a:rPr>
              <a:t>+</a:t>
            </a:r>
            <a:r>
              <a:rPr lang="en-US" sz="950" dirty="0">
                <a:solidFill>
                  <a:srgbClr val="000000"/>
                </a:solidFill>
                <a:latin typeface="Montserrat" pitchFamily="34" charset="0"/>
                <a:ea typeface="Montserrat" pitchFamily="34" charset="-122"/>
                <a:cs typeface="Montserrat" pitchFamily="34" charset="-120"/>
              </a:rPr>
              <a:t> dùng để cộng 2 số. Nhưng trong game, thầy muốn viết </a:t>
            </a:r>
            <a:r>
              <a:rPr lang="en-US" sz="950" dirty="0">
                <a:solidFill>
                  <a:srgbClr val="000000"/>
                </a:solidFill>
                <a:highlight>
                  <a:srgbClr val="F2F2F2"/>
                </a:highlight>
                <a:latin typeface="Consolas" pitchFamily="34" charset="0"/>
                <a:ea typeface="Consolas" pitchFamily="34" charset="-122"/>
                <a:cs typeface="Consolas" pitchFamily="34" charset="-120"/>
              </a:rPr>
              <a:t>Chiến binh + Vũ khí</a:t>
            </a:r>
            <a:r>
              <a:rPr lang="en-US" sz="950" dirty="0">
                <a:solidFill>
                  <a:srgbClr val="000000"/>
                </a:solidFill>
                <a:latin typeface="Montserrat" pitchFamily="34" charset="0"/>
                <a:ea typeface="Montserrat" pitchFamily="34" charset="-122"/>
                <a:cs typeface="Montserrat" pitchFamily="34" charset="-120"/>
              </a:rPr>
              <a:t> thì sức tấn công tăng lên. Đây chính là Nạp chồng toán tử — biến code thành ngôn ngữ tự nhiên! ✨</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1420416"/>
            <a:ext cx="6439049"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Dunder Methods: Bộ Ba Quyền Năng</a:t>
            </a:r>
            <a:endParaRPr lang="en-US" sz="2400" dirty="0"/>
          </a:p>
        </p:txBody>
      </p:sp>
      <p:sp>
        <p:nvSpPr>
          <p:cNvPr id="3" name="Text 1"/>
          <p:cNvSpPr/>
          <p:nvPr/>
        </p:nvSpPr>
        <p:spPr>
          <a:xfrm>
            <a:off x="496119" y="2055986"/>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Python âm thầm biến các toán tử thành lời gọi hàm đặc biệt — gọi là </a:t>
            </a:r>
            <a:r>
              <a:rPr lang="en-US" sz="950" b="1" dirty="0">
                <a:solidFill>
                  <a:srgbClr val="000000"/>
                </a:solidFill>
                <a:latin typeface="Montserrat" pitchFamily="34" charset="0"/>
                <a:ea typeface="Montserrat" pitchFamily="34" charset="-122"/>
                <a:cs typeface="Montserrat" pitchFamily="34" charset="-120"/>
              </a:rPr>
              <a:t>Dunder Methods</a:t>
            </a:r>
            <a:r>
              <a:rPr lang="en-US" sz="950" dirty="0">
                <a:solidFill>
                  <a:srgbClr val="000000"/>
                </a:solidFill>
                <a:latin typeface="Montserrat" pitchFamily="34" charset="0"/>
                <a:ea typeface="Montserrat" pitchFamily="34" charset="-122"/>
                <a:cs typeface="Montserrat" pitchFamily="34" charset="-120"/>
              </a:rPr>
              <a:t> (Double Underscore). Ta chỉ cần định nghĩa chúng trong class.</a:t>
            </a:r>
            <a:endParaRPr lang="en-US" sz="950" dirty="0"/>
          </a:p>
        </p:txBody>
      </p:sp>
      <p:sp>
        <p:nvSpPr>
          <p:cNvPr id="4" name="Shape 2"/>
          <p:cNvSpPr/>
          <p:nvPr/>
        </p:nvSpPr>
        <p:spPr>
          <a:xfrm>
            <a:off x="496119" y="2592437"/>
            <a:ext cx="2634555" cy="1130647"/>
          </a:xfrm>
          <a:prstGeom prst="roundRect">
            <a:avLst>
              <a:gd name="adj" fmla="val 9874"/>
            </a:avLst>
          </a:prstGeom>
          <a:solidFill>
            <a:srgbClr val="FFFFFF"/>
          </a:solidFill>
          <a:ln w="4763">
            <a:solidFill>
              <a:srgbClr val="C00000"/>
            </a:solidFill>
            <a:prstDash val="solid"/>
          </a:ln>
        </p:spPr>
        <p:txBody>
          <a:bodyPr/>
          <a:lstStyle/>
          <a:p>
            <a:endParaRPr lang="vi-VN"/>
          </a:p>
        </p:txBody>
      </p:sp>
      <p:sp>
        <p:nvSpPr>
          <p:cNvPr id="5" name="Text 3"/>
          <p:cNvSpPr/>
          <p:nvPr/>
        </p:nvSpPr>
        <p:spPr>
          <a:xfrm>
            <a:off x="624855" y="2721173"/>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__str__()</a:t>
            </a:r>
            <a:endParaRPr lang="en-US" sz="1200" dirty="0"/>
          </a:p>
        </p:txBody>
      </p:sp>
      <p:sp>
        <p:nvSpPr>
          <p:cNvPr id="6" name="Text 4"/>
          <p:cNvSpPr/>
          <p:nvPr/>
        </p:nvSpPr>
        <p:spPr>
          <a:xfrm>
            <a:off x="624855" y="2989436"/>
            <a:ext cx="2377083"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Kích hoạt khi dùng </a:t>
            </a:r>
            <a:r>
              <a:rPr lang="en-US" sz="950" dirty="0">
                <a:solidFill>
                  <a:srgbClr val="000000"/>
                </a:solidFill>
                <a:highlight>
                  <a:srgbClr val="F2F2F2"/>
                </a:highlight>
                <a:latin typeface="Consolas" pitchFamily="34" charset="0"/>
                <a:ea typeface="Consolas" pitchFamily="34" charset="-122"/>
                <a:cs typeface="Consolas" pitchFamily="34" charset="-120"/>
              </a:rPr>
              <a:t>print(obj)</a:t>
            </a:r>
            <a:r>
              <a:rPr lang="en-US" sz="950" dirty="0">
                <a:solidFill>
                  <a:srgbClr val="000000"/>
                </a:solidFill>
                <a:latin typeface="Montserrat" pitchFamily="34" charset="0"/>
                <a:ea typeface="Montserrat" pitchFamily="34" charset="-122"/>
                <a:cs typeface="Montserrat" pitchFamily="34" charset="-120"/>
              </a:rPr>
              <a:t>. Trả về chuỗi mô tả đẹp thay vì địa chỉ bộ nhớ xấu xí.</a:t>
            </a:r>
            <a:endParaRPr lang="en-US" sz="950" dirty="0"/>
          </a:p>
        </p:txBody>
      </p:sp>
      <p:sp>
        <p:nvSpPr>
          <p:cNvPr id="7" name="Shape 5"/>
          <p:cNvSpPr/>
          <p:nvPr/>
        </p:nvSpPr>
        <p:spPr>
          <a:xfrm>
            <a:off x="3254648" y="2592437"/>
            <a:ext cx="2634630" cy="1130647"/>
          </a:xfrm>
          <a:prstGeom prst="roundRect">
            <a:avLst>
              <a:gd name="adj" fmla="val 9874"/>
            </a:avLst>
          </a:prstGeom>
          <a:solidFill>
            <a:srgbClr val="FFFFFF"/>
          </a:solidFill>
          <a:ln w="4763">
            <a:solidFill>
              <a:srgbClr val="C00000"/>
            </a:solidFill>
            <a:prstDash val="solid"/>
          </a:ln>
        </p:spPr>
        <p:txBody>
          <a:bodyPr/>
          <a:lstStyle/>
          <a:p>
            <a:endParaRPr lang="vi-VN"/>
          </a:p>
        </p:txBody>
      </p:sp>
      <p:sp>
        <p:nvSpPr>
          <p:cNvPr id="8" name="Text 6"/>
          <p:cNvSpPr/>
          <p:nvPr/>
        </p:nvSpPr>
        <p:spPr>
          <a:xfrm>
            <a:off x="3383384" y="2721173"/>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__add__()</a:t>
            </a:r>
            <a:endParaRPr lang="en-US" sz="1200" dirty="0"/>
          </a:p>
        </p:txBody>
      </p:sp>
      <p:sp>
        <p:nvSpPr>
          <p:cNvPr id="9" name="Text 7"/>
          <p:cNvSpPr/>
          <p:nvPr/>
        </p:nvSpPr>
        <p:spPr>
          <a:xfrm>
            <a:off x="3383384" y="2989436"/>
            <a:ext cx="2377157"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Kích hoạt khi dùng toán tử </a:t>
            </a:r>
            <a:r>
              <a:rPr lang="en-US" sz="950" dirty="0">
                <a:solidFill>
                  <a:srgbClr val="000000"/>
                </a:solidFill>
                <a:highlight>
                  <a:srgbClr val="F2F2F2"/>
                </a:highlight>
                <a:latin typeface="Consolas" pitchFamily="34" charset="0"/>
                <a:ea typeface="Consolas" pitchFamily="34" charset="-122"/>
                <a:cs typeface="Consolas" pitchFamily="34" charset="-120"/>
              </a:rPr>
              <a:t>+</a:t>
            </a:r>
            <a:r>
              <a:rPr lang="en-US" sz="950" dirty="0">
                <a:solidFill>
                  <a:srgbClr val="000000"/>
                </a:solidFill>
                <a:latin typeface="Montserrat" pitchFamily="34" charset="0"/>
                <a:ea typeface="Montserrat" pitchFamily="34" charset="-122"/>
                <a:cs typeface="Montserrat" pitchFamily="34" charset="-120"/>
              </a:rPr>
              <a:t>. Cho phép viết </a:t>
            </a:r>
            <a:r>
              <a:rPr lang="en-US" sz="950" dirty="0">
                <a:solidFill>
                  <a:srgbClr val="000000"/>
                </a:solidFill>
                <a:highlight>
                  <a:srgbClr val="F2F2F2"/>
                </a:highlight>
                <a:latin typeface="Consolas" pitchFamily="34" charset="0"/>
                <a:ea typeface="Consolas" pitchFamily="34" charset="-122"/>
                <a:cs typeface="Consolas" pitchFamily="34" charset="-120"/>
              </a:rPr>
              <a:t>hero + excalibur</a:t>
            </a:r>
            <a:r>
              <a:rPr lang="en-US" sz="950" dirty="0">
                <a:solidFill>
                  <a:srgbClr val="000000"/>
                </a:solidFill>
                <a:latin typeface="Montserrat" pitchFamily="34" charset="0"/>
                <a:ea typeface="Montserrat" pitchFamily="34" charset="-122"/>
                <a:cs typeface="Montserrat" pitchFamily="34" charset="-120"/>
              </a:rPr>
              <a:t> để trang bị vũ khí.</a:t>
            </a:r>
            <a:endParaRPr lang="en-US" sz="950" dirty="0"/>
          </a:p>
        </p:txBody>
      </p:sp>
      <p:sp>
        <p:nvSpPr>
          <p:cNvPr id="10" name="Shape 8"/>
          <p:cNvSpPr/>
          <p:nvPr/>
        </p:nvSpPr>
        <p:spPr>
          <a:xfrm>
            <a:off x="6013252" y="2592437"/>
            <a:ext cx="2634555" cy="1130647"/>
          </a:xfrm>
          <a:prstGeom prst="roundRect">
            <a:avLst>
              <a:gd name="adj" fmla="val 9874"/>
            </a:avLst>
          </a:prstGeom>
          <a:solidFill>
            <a:srgbClr val="FFFFFF"/>
          </a:solidFill>
          <a:ln w="4763">
            <a:solidFill>
              <a:srgbClr val="231651"/>
            </a:solidFill>
            <a:prstDash val="solid"/>
          </a:ln>
        </p:spPr>
        <p:txBody>
          <a:bodyPr/>
          <a:lstStyle/>
          <a:p>
            <a:endParaRPr lang="vi-VN"/>
          </a:p>
        </p:txBody>
      </p:sp>
      <p:sp>
        <p:nvSpPr>
          <p:cNvPr id="11" name="Text 9"/>
          <p:cNvSpPr/>
          <p:nvPr/>
        </p:nvSpPr>
        <p:spPr>
          <a:xfrm>
            <a:off x="6141988" y="2721173"/>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__gt__()</a:t>
            </a:r>
            <a:endParaRPr lang="en-US" sz="1200" dirty="0"/>
          </a:p>
        </p:txBody>
      </p:sp>
      <p:sp>
        <p:nvSpPr>
          <p:cNvPr id="12" name="Text 10"/>
          <p:cNvSpPr/>
          <p:nvPr/>
        </p:nvSpPr>
        <p:spPr>
          <a:xfrm>
            <a:off x="6141988" y="2989436"/>
            <a:ext cx="2377083"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Kích hoạt khi dùng toán tử </a:t>
            </a:r>
            <a:r>
              <a:rPr lang="en-US" sz="950" dirty="0">
                <a:solidFill>
                  <a:srgbClr val="000000"/>
                </a:solidFill>
                <a:highlight>
                  <a:srgbClr val="F2F2F2"/>
                </a:highlight>
                <a:latin typeface="Consolas" pitchFamily="34" charset="0"/>
                <a:ea typeface="Consolas" pitchFamily="34" charset="-122"/>
                <a:cs typeface="Consolas" pitchFamily="34" charset="-120"/>
              </a:rPr>
              <a:t>&gt;</a:t>
            </a:r>
            <a:r>
              <a:rPr lang="en-US" sz="950" dirty="0">
                <a:solidFill>
                  <a:srgbClr val="000000"/>
                </a:solidFill>
                <a:latin typeface="Montserrat" pitchFamily="34" charset="0"/>
                <a:ea typeface="Montserrat" pitchFamily="34" charset="-122"/>
                <a:cs typeface="Montserrat" pitchFamily="34" charset="-120"/>
              </a:rPr>
              <a:t>. Cho phép so sánh hai nhân vật theo HP một cách tự nhiên.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389930"/>
            <a:ext cx="5122292" cy="327050"/>
          </a:xfrm>
          <a:prstGeom prst="rect">
            <a:avLst/>
          </a:prstGeom>
          <a:noFill/>
          <a:ln/>
        </p:spPr>
        <p:txBody>
          <a:bodyPr wrap="none" lIns="0" tIns="0" rIns="0" bIns="0" rtlCol="0" anchor="t"/>
          <a:lstStyle/>
          <a:p>
            <a:pPr marL="0" indent="0" algn="l">
              <a:lnSpc>
                <a:spcPct val="104000"/>
              </a:lnSpc>
              <a:buNone/>
            </a:pPr>
            <a:r>
              <a:rPr lang="en-US" sz="2050" b="1" dirty="0">
                <a:solidFill>
                  <a:srgbClr val="C00000"/>
                </a:solidFill>
                <a:latin typeface="Montserrat Bold" pitchFamily="34" charset="0"/>
                <a:ea typeface="Montserrat Bold" pitchFamily="34" charset="-122"/>
                <a:cs typeface="Montserrat Bold" pitchFamily="34" charset="-120"/>
              </a:rPr>
              <a:t>Nạp Chồng Toán Tử: Code Thực Tế</a:t>
            </a:r>
            <a:endParaRPr lang="en-US" sz="2050" dirty="0"/>
          </a:p>
        </p:txBody>
      </p:sp>
      <p:sp>
        <p:nvSpPr>
          <p:cNvPr id="3" name="Text 1"/>
          <p:cNvSpPr/>
          <p:nvPr/>
        </p:nvSpPr>
        <p:spPr>
          <a:xfrm>
            <a:off x="496119" y="893564"/>
            <a:ext cx="8608963" cy="154409"/>
          </a:xfrm>
          <a:prstGeom prst="rect">
            <a:avLst/>
          </a:prstGeom>
          <a:noFill/>
          <a:ln/>
        </p:spPr>
        <p:txBody>
          <a:bodyPr wrap="none" lIns="0" tIns="0" rIns="0" bIns="0" rtlCol="0" anchor="t"/>
          <a:lstStyle/>
          <a:p>
            <a:pPr marL="0" indent="0" algn="l">
              <a:lnSpc>
                <a:spcPct val="123000"/>
              </a:lnSpc>
              <a:buNone/>
            </a:pPr>
            <a:r>
              <a:rPr lang="en-US" sz="800" dirty="0">
                <a:solidFill>
                  <a:srgbClr val="000000"/>
                </a:solidFill>
                <a:latin typeface="Montserrat" pitchFamily="34" charset="0"/>
                <a:ea typeface="Montserrat" pitchFamily="34" charset="-122"/>
                <a:cs typeface="Montserrat" pitchFamily="34" charset="-120"/>
              </a:rPr>
              <a:t>Ví dụ dưới đây minh họa cách nạp chồng toán tử để trang bị vật phẩm, hiển thị thông tin nhân vật, và so sánh sức mạnh theo HP một cách tự nhiên.</a:t>
            </a:r>
            <a:endParaRPr lang="en-US" sz="800" dirty="0"/>
          </a:p>
        </p:txBody>
      </p:sp>
      <p:sp>
        <p:nvSpPr>
          <p:cNvPr id="4" name="Shape 2"/>
          <p:cNvSpPr/>
          <p:nvPr/>
        </p:nvSpPr>
        <p:spPr>
          <a:xfrm>
            <a:off x="496119" y="1147316"/>
            <a:ext cx="8151763" cy="3606254"/>
          </a:xfrm>
          <a:prstGeom prst="roundRect">
            <a:avLst>
              <a:gd name="adj" fmla="val 2612"/>
            </a:avLst>
          </a:prstGeom>
          <a:solidFill>
            <a:srgbClr val="F2F2F2"/>
          </a:solidFill>
          <a:ln/>
        </p:spPr>
        <p:txBody>
          <a:bodyPr/>
          <a:lstStyle/>
          <a:p>
            <a:endParaRPr lang="vi-VN"/>
          </a:p>
        </p:txBody>
      </p:sp>
      <p:sp>
        <p:nvSpPr>
          <p:cNvPr id="5" name="Shape 3"/>
          <p:cNvSpPr/>
          <p:nvPr/>
        </p:nvSpPr>
        <p:spPr>
          <a:xfrm>
            <a:off x="490910" y="1147316"/>
            <a:ext cx="8162181" cy="3606254"/>
          </a:xfrm>
          <a:prstGeom prst="roundRect">
            <a:avLst>
              <a:gd name="adj" fmla="val 435"/>
            </a:avLst>
          </a:prstGeom>
          <a:solidFill>
            <a:srgbClr val="F2F2F2"/>
          </a:solidFill>
          <a:ln/>
        </p:spPr>
        <p:txBody>
          <a:bodyPr/>
          <a:lstStyle/>
          <a:p>
            <a:endParaRPr lang="vi-VN"/>
          </a:p>
        </p:txBody>
      </p:sp>
      <p:sp>
        <p:nvSpPr>
          <p:cNvPr id="6" name="Text 4"/>
          <p:cNvSpPr/>
          <p:nvPr/>
        </p:nvSpPr>
        <p:spPr>
          <a:xfrm>
            <a:off x="621729" y="1251942"/>
            <a:ext cx="7900541" cy="3397002"/>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class Item:</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def __init__(self, name: str, bonus_damage: int):</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self.name = name</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self.bonus_damage = bonus_damage</a:t>
            </a:r>
            <a:endParaRPr lang="en-US" sz="800" dirty="0"/>
          </a:p>
          <a:p>
            <a:pPr marL="0" indent="0" algn="l">
              <a:lnSpc>
                <a:spcPct val="123000"/>
              </a:lnSpc>
              <a:buNone/>
            </a:pPr>
            <a:endParaRPr lang="en-US" sz="800" dirty="0"/>
          </a:p>
          <a:p>
            <a:pPr marL="0" indent="0" algn="l">
              <a:lnSpc>
                <a:spcPct val="123000"/>
              </a:lnSpc>
              <a:buNone/>
            </a:pP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class PlayableCharacter(Character):</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def __init__(self, name, hp, base_damage):</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super().__init__(name, hp, base_damage)</a:t>
            </a:r>
            <a:endParaRPr lang="en-US" sz="800" dirty="0"/>
          </a:p>
          <a:p>
            <a:pPr marL="0" indent="0" algn="l">
              <a:lnSpc>
                <a:spcPct val="123000"/>
              </a:lnSpc>
              <a:buNone/>
            </a:pP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def __str__(self):</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return f"[Anh hùng {self.name} - HP:{self.hp} - ATK:{self.base_damage}]"</a:t>
            </a:r>
            <a:endParaRPr lang="en-US" sz="800" dirty="0"/>
          </a:p>
          <a:p>
            <a:pPr marL="0" indent="0" algn="l">
              <a:lnSpc>
                <a:spcPct val="123000"/>
              </a:lnSpc>
              <a:buNone/>
            </a:pP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def __add__(self, other):</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if not isinstance(other, Item):</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return NotImplemented</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print(f"{self.name} trang bi {other.name}!")</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self.base_damage += other.bonus_damage</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return self</a:t>
            </a:r>
            <a:endParaRPr lang="en-US" sz="800" dirty="0"/>
          </a:p>
          <a:p>
            <a:pPr marL="0" indent="0" algn="l">
              <a:lnSpc>
                <a:spcPct val="123000"/>
              </a:lnSpc>
              <a:buNone/>
            </a:pP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def __gt__(self, other):</a:t>
            </a:r>
            <a:endParaRPr lang="en-US" sz="800" dirty="0"/>
          </a:p>
          <a:p>
            <a:pPr marL="0" indent="0" algn="l">
              <a:lnSpc>
                <a:spcPct val="123000"/>
              </a:lnSpc>
              <a:buNone/>
            </a:pPr>
            <a:r>
              <a:rPr lang="en-US" sz="800" dirty="0">
                <a:solidFill>
                  <a:srgbClr val="D73A49"/>
                </a:solidFill>
                <a:highlight>
                  <a:srgbClr val="F2F2F2"/>
                </a:highlight>
                <a:latin typeface="Consolas" pitchFamily="34" charset="0"/>
                <a:ea typeface="Consolas" pitchFamily="34" charset="-122"/>
                <a:cs typeface="Consolas" pitchFamily="34" charset="-120"/>
              </a:rPr>
              <a:t>        return self.hp &gt; other.hp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050107" y="341114"/>
            <a:ext cx="3148161" cy="199876"/>
          </a:xfrm>
          <a:prstGeom prst="rect">
            <a:avLst/>
          </a:prstGeom>
          <a:noFill/>
          <a:ln/>
        </p:spPr>
        <p:txBody>
          <a:bodyPr wrap="none" lIns="0" tIns="0" rIns="0" bIns="0" rtlCol="0" anchor="t"/>
          <a:lstStyle/>
          <a:p>
            <a:pPr marL="0" indent="0" algn="l">
              <a:lnSpc>
                <a:spcPct val="104000"/>
              </a:lnSpc>
              <a:buNone/>
            </a:pPr>
            <a:r>
              <a:rPr lang="en-US" sz="1250" b="1" dirty="0">
                <a:solidFill>
                  <a:srgbClr val="C00000"/>
                </a:solidFill>
                <a:latin typeface="Montserrat Bold" pitchFamily="34" charset="0"/>
                <a:ea typeface="Montserrat Bold" pitchFamily="34" charset="-122"/>
                <a:cs typeface="Montserrat Bold" pitchFamily="34" charset="-120"/>
              </a:rPr>
              <a:t>Nạp Chồng: Chạy Thử &amp; Kết Quả</a:t>
            </a:r>
            <a:endParaRPr lang="en-US" sz="1250" dirty="0"/>
          </a:p>
        </p:txBody>
      </p:sp>
      <p:sp>
        <p:nvSpPr>
          <p:cNvPr id="3" name="Text 1"/>
          <p:cNvSpPr/>
          <p:nvPr/>
        </p:nvSpPr>
        <p:spPr>
          <a:xfrm>
            <a:off x="2050107" y="606921"/>
            <a:ext cx="5500985" cy="77539"/>
          </a:xfrm>
          <a:prstGeom prst="rect">
            <a:avLst/>
          </a:prstGeom>
          <a:noFill/>
          <a:ln/>
        </p:spPr>
        <p:txBody>
          <a:bodyPr wrap="none" lIns="0" tIns="0" rIns="0" bIns="0" rtlCol="0" anchor="t"/>
          <a:lstStyle/>
          <a:p>
            <a:pPr marL="0" indent="0" algn="l">
              <a:lnSpc>
                <a:spcPct val="101000"/>
              </a:lnSpc>
              <a:buNone/>
            </a:pPr>
            <a:r>
              <a:rPr lang="en-US" sz="500" dirty="0">
                <a:solidFill>
                  <a:srgbClr val="000000"/>
                </a:solidFill>
                <a:latin typeface="Montserrat" pitchFamily="34" charset="0"/>
                <a:ea typeface="Montserrat" pitchFamily="34" charset="-122"/>
                <a:cs typeface="Montserrat" pitchFamily="34" charset="-120"/>
              </a:rPr>
              <a:t>Đoạn ví dụ dưới đây minh họa cách nạp chồng toán tử trong Python: cộng vật phẩm để tăng sức mạnh và so sánh hai nhân vật theo HP.</a:t>
            </a:r>
            <a:endParaRPr lang="en-US" sz="500" dirty="0"/>
          </a:p>
        </p:txBody>
      </p:sp>
      <p:sp>
        <p:nvSpPr>
          <p:cNvPr id="4" name="Shape 2"/>
          <p:cNvSpPr/>
          <p:nvPr/>
        </p:nvSpPr>
        <p:spPr>
          <a:xfrm>
            <a:off x="2050107" y="721519"/>
            <a:ext cx="5043785" cy="3694658"/>
          </a:xfrm>
          <a:prstGeom prst="roundRect">
            <a:avLst>
              <a:gd name="adj" fmla="val 1558"/>
            </a:avLst>
          </a:prstGeom>
          <a:solidFill>
            <a:srgbClr val="F2F2F2"/>
          </a:solidFill>
          <a:ln/>
        </p:spPr>
        <p:txBody>
          <a:bodyPr/>
          <a:lstStyle/>
          <a:p>
            <a:endParaRPr lang="vi-VN"/>
          </a:p>
        </p:txBody>
      </p:sp>
      <p:sp>
        <p:nvSpPr>
          <p:cNvPr id="5" name="Shape 3"/>
          <p:cNvSpPr/>
          <p:nvPr/>
        </p:nvSpPr>
        <p:spPr>
          <a:xfrm>
            <a:off x="2046982" y="721519"/>
            <a:ext cx="5050036" cy="3694658"/>
          </a:xfrm>
          <a:prstGeom prst="roundRect">
            <a:avLst>
              <a:gd name="adj" fmla="val 260"/>
            </a:avLst>
          </a:prstGeom>
          <a:solidFill>
            <a:srgbClr val="F2F2F2"/>
          </a:solidFill>
          <a:ln/>
        </p:spPr>
        <p:txBody>
          <a:bodyPr/>
          <a:lstStyle/>
          <a:p>
            <a:endParaRPr lang="vi-VN"/>
          </a:p>
        </p:txBody>
      </p:sp>
      <p:sp>
        <p:nvSpPr>
          <p:cNvPr id="6" name="Text 4"/>
          <p:cNvSpPr/>
          <p:nvPr/>
        </p:nvSpPr>
        <p:spPr>
          <a:xfrm>
            <a:off x="2126903" y="785440"/>
            <a:ext cx="4890195" cy="3566815"/>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class Item:</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__init__(self, name: str, bonus_damage: int):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self.name = name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self.bonus_damage = bonus_damage</a:t>
            </a:r>
            <a:endParaRPr lang="en-US" sz="500" dirty="0"/>
          </a:p>
          <a:p>
            <a:pPr marL="0" indent="0" algn="l">
              <a:lnSpc>
                <a:spcPct val="101000"/>
              </a:lnSpc>
              <a:buNone/>
            </a:pP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class Character: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__init__(self, name: str, hp: int, base_damage: int):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self.name = name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self.hp = hp</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self.base_damage = base_damage</a:t>
            </a:r>
            <a:endParaRPr lang="en-US" sz="500" dirty="0"/>
          </a:p>
          <a:p>
            <a:pPr marL="0" indent="0" algn="l">
              <a:lnSpc>
                <a:spcPct val="101000"/>
              </a:lnSpc>
              <a:buNone/>
            </a:pP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class PlayableCharacter(Character):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__init__(self, name, hp, base_damage):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super().__init__(name, hp, base_damage)</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__str__(self):</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return f"[Anh hùng {self.name} - HP:{self.hp} - ATK:{self.base_damage}]"</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__add__(self, other):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if not isinstance(other, Item):</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return NotImplemented</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print(f"{self.name} trang bị {other.name}!")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self.base_damage += other.bonus_damage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return self</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__gt__(self, other):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return self.hp &gt; other.hp</a:t>
            </a:r>
            <a:endParaRPr lang="en-US" sz="500" dirty="0"/>
          </a:p>
          <a:p>
            <a:pPr marL="0" indent="0" algn="l">
              <a:lnSpc>
                <a:spcPct val="101000"/>
              </a:lnSpc>
              <a:buNone/>
            </a:pP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hero = PlayableCharacter("Lancelot", 120, 25)</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excalibur = Item("Kiếm Excalibur", 15)</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print(hero)</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Output: [Anh hùng Lancelot - HP:120 - ATK:25]</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hero_upgraded = hero + </a:t>
            </a:r>
            <a:r>
              <a:rPr lang="en-US" sz="500" dirty="0" err="1">
                <a:solidFill>
                  <a:srgbClr val="D73A49"/>
                </a:solidFill>
                <a:highlight>
                  <a:srgbClr val="F2F2F2"/>
                </a:highlight>
                <a:latin typeface="Consolas" pitchFamily="34" charset="0"/>
                <a:ea typeface="Consolas" pitchFamily="34" charset="-122"/>
                <a:cs typeface="Consolas" pitchFamily="34" charset="-120"/>
              </a:rPr>
              <a:t>excalibur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Output: Lancelot trang </a:t>
            </a:r>
            <a:r>
              <a:rPr lang="en-US" sz="500" dirty="0" err="1">
                <a:solidFill>
                  <a:srgbClr val="D73A49"/>
                </a:solidFill>
                <a:highlight>
                  <a:srgbClr val="F2F2F2"/>
                </a:highlight>
                <a:latin typeface="Consolas" pitchFamily="34" charset="0"/>
                <a:ea typeface="Consolas" pitchFamily="34" charset="-122"/>
                <a:cs typeface="Consolas" pitchFamily="34" charset="-120"/>
              </a:rPr>
              <a:t>bị</a:t>
            </a:r>
            <a:r>
              <a:rPr lang="en-US" sz="500" dirty="0">
                <a:solidFill>
                  <a:srgbClr val="D73A49"/>
                </a:solidFill>
                <a:highlight>
                  <a:srgbClr val="F2F2F2"/>
                </a:highlight>
                <a:latin typeface="Consolas" pitchFamily="34" charset="0"/>
                <a:ea typeface="Consolas" pitchFamily="34" charset="-122"/>
                <a:cs typeface="Consolas" pitchFamily="34" charset="-120"/>
              </a:rPr>
              <a:t> Kiếm Excalibur!</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print(hero_upgraded)</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Output: [Anh hùng Lancelot - HP:120 - ATK:40]</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rival = PlayableCharacter("Mordred", 90, 30)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print(hero &gt; rival)</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Output: True  (120 HP &gt; 90 HP)</a:t>
            </a:r>
            <a:endParaRPr lang="en-US" sz="500" dirty="0"/>
          </a:p>
        </p:txBody>
      </p:sp>
      <p:sp>
        <p:nvSpPr>
          <p:cNvPr id="7" name="Text 5"/>
          <p:cNvSpPr/>
          <p:nvPr/>
        </p:nvSpPr>
        <p:spPr>
          <a:xfrm>
            <a:off x="2050107" y="4486201"/>
            <a:ext cx="1256705" cy="99864"/>
          </a:xfrm>
          <a:prstGeom prst="rect">
            <a:avLst/>
          </a:prstGeom>
          <a:noFill/>
          <a:ln/>
        </p:spPr>
        <p:txBody>
          <a:bodyPr wrap="none" lIns="0" tIns="0" rIns="0" bIns="0" rtlCol="0" anchor="t"/>
          <a:lstStyle/>
          <a:p>
            <a:pPr marL="0" indent="0" algn="l">
              <a:lnSpc>
                <a:spcPct val="104000"/>
              </a:lnSpc>
              <a:buNone/>
            </a:pPr>
            <a:r>
              <a:rPr lang="en-US" sz="600" b="1" dirty="0">
                <a:solidFill>
                  <a:srgbClr val="C00000"/>
                </a:solidFill>
                <a:latin typeface="Montserrat Bold" pitchFamily="34" charset="0"/>
                <a:ea typeface="Montserrat Bold" pitchFamily="34" charset="-122"/>
                <a:cs typeface="Montserrat Bold" pitchFamily="34" charset="-120"/>
              </a:rPr>
              <a:t>Kết quả __add__</a:t>
            </a:r>
            <a:endParaRPr lang="en-US" sz="600" dirty="0"/>
          </a:p>
        </p:txBody>
      </p:sp>
      <p:sp>
        <p:nvSpPr>
          <p:cNvPr id="8" name="Text 6"/>
          <p:cNvSpPr/>
          <p:nvPr/>
        </p:nvSpPr>
        <p:spPr>
          <a:xfrm>
            <a:off x="2050107" y="4619030"/>
            <a:ext cx="2443907" cy="155079"/>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000000"/>
                </a:solidFill>
                <a:latin typeface="Montserrat" pitchFamily="34" charset="0"/>
                <a:ea typeface="Montserrat" pitchFamily="34" charset="-122"/>
                <a:cs typeface="Montserrat" pitchFamily="34" charset="-120"/>
              </a:rPr>
              <a:t>hero + excalibur tăng ATK từ 25 lên 40, đồng thời in ra thông báo trang bị khi toán tử </a:t>
            </a:r>
            <a:r>
              <a:rPr lang="en-US" sz="500" dirty="0">
                <a:solidFill>
                  <a:srgbClr val="000000"/>
                </a:solidFill>
                <a:highlight>
                  <a:srgbClr val="F2F2F2"/>
                </a:highlight>
                <a:latin typeface="Consolas" pitchFamily="34" charset="0"/>
                <a:ea typeface="Consolas" pitchFamily="34" charset="-122"/>
                <a:cs typeface="Consolas" pitchFamily="34" charset="-120"/>
              </a:rPr>
              <a:t>+</a:t>
            </a:r>
            <a:r>
              <a:rPr lang="en-US" sz="500" dirty="0">
                <a:solidFill>
                  <a:srgbClr val="000000"/>
                </a:solidFill>
                <a:latin typeface="Montserrat" pitchFamily="34" charset="0"/>
                <a:ea typeface="Montserrat" pitchFamily="34" charset="-122"/>
                <a:cs typeface="Montserrat" pitchFamily="34" charset="-120"/>
              </a:rPr>
              <a:t> được gọi.</a:t>
            </a:r>
            <a:endParaRPr lang="en-US" sz="500" dirty="0"/>
          </a:p>
        </p:txBody>
      </p:sp>
      <p:sp>
        <p:nvSpPr>
          <p:cNvPr id="9" name="Text 7"/>
          <p:cNvSpPr/>
          <p:nvPr/>
        </p:nvSpPr>
        <p:spPr>
          <a:xfrm>
            <a:off x="4654748" y="4486201"/>
            <a:ext cx="1256705" cy="99864"/>
          </a:xfrm>
          <a:prstGeom prst="rect">
            <a:avLst/>
          </a:prstGeom>
          <a:noFill/>
          <a:ln/>
        </p:spPr>
        <p:txBody>
          <a:bodyPr wrap="none" lIns="0" tIns="0" rIns="0" bIns="0" rtlCol="0" anchor="t"/>
          <a:lstStyle/>
          <a:p>
            <a:pPr marL="0" indent="0" algn="l">
              <a:lnSpc>
                <a:spcPct val="104000"/>
              </a:lnSpc>
              <a:buNone/>
            </a:pPr>
            <a:r>
              <a:rPr lang="en-US" sz="600" b="1" dirty="0">
                <a:solidFill>
                  <a:srgbClr val="C00000"/>
                </a:solidFill>
                <a:latin typeface="Montserrat Bold" pitchFamily="34" charset="0"/>
                <a:ea typeface="Montserrat Bold" pitchFamily="34" charset="-122"/>
                <a:cs typeface="Montserrat Bold" pitchFamily="34" charset="-120"/>
              </a:rPr>
              <a:t>Kết quả __gt__</a:t>
            </a:r>
            <a:endParaRPr lang="en-US" sz="600" dirty="0"/>
          </a:p>
        </p:txBody>
      </p:sp>
      <p:sp>
        <p:nvSpPr>
          <p:cNvPr id="10" name="Text 8"/>
          <p:cNvSpPr/>
          <p:nvPr/>
        </p:nvSpPr>
        <p:spPr>
          <a:xfrm>
            <a:off x="4654748" y="4619030"/>
            <a:ext cx="2443907" cy="155079"/>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000000"/>
                </a:solidFill>
                <a:latin typeface="Montserrat" pitchFamily="34" charset="0"/>
                <a:ea typeface="Montserrat" pitchFamily="34" charset="-122"/>
                <a:cs typeface="Montserrat" pitchFamily="34" charset="-120"/>
              </a:rPr>
              <a:t>So sánh HP: Lancelot (120) &gt; Mordred (90) trả về </a:t>
            </a:r>
            <a:r>
              <a:rPr lang="en-US" sz="500" b="1" dirty="0">
                <a:solidFill>
                  <a:srgbClr val="000000"/>
                </a:solidFill>
                <a:latin typeface="Montserrat" pitchFamily="34" charset="0"/>
                <a:ea typeface="Montserrat" pitchFamily="34" charset="-122"/>
                <a:cs typeface="Montserrat" pitchFamily="34" charset="-120"/>
              </a:rPr>
              <a:t>True</a:t>
            </a:r>
            <a:r>
              <a:rPr lang="en-US" sz="500" dirty="0">
                <a:solidFill>
                  <a:srgbClr val="000000"/>
                </a:solidFill>
                <a:latin typeface="Montserrat" pitchFamily="34" charset="0"/>
                <a:ea typeface="Montserrat" pitchFamily="34" charset="-122"/>
                <a:cs typeface="Montserrat" pitchFamily="34" charset="-120"/>
              </a:rPr>
              <a:t>, vì phương thức </a:t>
            </a:r>
            <a:r>
              <a:rPr lang="en-US" sz="500" dirty="0">
                <a:solidFill>
                  <a:srgbClr val="000000"/>
                </a:solidFill>
                <a:highlight>
                  <a:srgbClr val="F2F2F2"/>
                </a:highlight>
                <a:latin typeface="Consolas" pitchFamily="34" charset="0"/>
                <a:ea typeface="Consolas" pitchFamily="34" charset="-122"/>
                <a:cs typeface="Consolas" pitchFamily="34" charset="-120"/>
              </a:rPr>
              <a:t>__gt__</a:t>
            </a:r>
            <a:r>
              <a:rPr lang="en-US" sz="500" dirty="0">
                <a:solidFill>
                  <a:srgbClr val="000000"/>
                </a:solidFill>
                <a:latin typeface="Montserrat" pitchFamily="34" charset="0"/>
                <a:ea typeface="Montserrat" pitchFamily="34" charset="-122"/>
                <a:cs typeface="Montserrat" pitchFamily="34" charset="-120"/>
              </a:rPr>
              <a:t> so sánh theo chỉ số HP.</a:t>
            </a:r>
            <a:endParaRPr lang="en-US" sz="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021779"/>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Tính Chất #4: Lớp Trừu Tượng (ABC)</a:t>
            </a:r>
            <a:endParaRPr lang="en-US" sz="2400" dirty="0"/>
          </a:p>
        </p:txBody>
      </p:sp>
      <p:sp>
        <p:nvSpPr>
          <p:cNvPr id="4" name="Shape 1"/>
          <p:cNvSpPr/>
          <p:nvPr/>
        </p:nvSpPr>
        <p:spPr>
          <a:xfrm>
            <a:off x="3925119" y="1982912"/>
            <a:ext cx="1326059" cy="233214"/>
          </a:xfrm>
          <a:prstGeom prst="roundRect">
            <a:avLst>
              <a:gd name="adj" fmla="val 38297"/>
            </a:avLst>
          </a:prstGeom>
          <a:solidFill>
            <a:srgbClr val="FFCCCC"/>
          </a:solidFill>
          <a:ln/>
        </p:spPr>
        <p:txBody>
          <a:bodyPr/>
          <a:lstStyle/>
          <a:p>
            <a:endParaRPr lang="vi-VN"/>
          </a:p>
        </p:txBody>
      </p:sp>
      <p:sp>
        <p:nvSpPr>
          <p:cNvPr id="5" name="Text 2"/>
          <p:cNvSpPr/>
          <p:nvPr/>
        </p:nvSpPr>
        <p:spPr>
          <a:xfrm>
            <a:off x="3999533" y="2020119"/>
            <a:ext cx="1634430" cy="158800"/>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ABSTRACT BASE CLASS</a:t>
            </a:r>
            <a:endParaRPr lang="en-US" sz="750" dirty="0"/>
          </a:p>
        </p:txBody>
      </p:sp>
      <p:sp>
        <p:nvSpPr>
          <p:cNvPr id="6" name="Text 3"/>
          <p:cNvSpPr/>
          <p:nvPr/>
        </p:nvSpPr>
        <p:spPr>
          <a:xfrm>
            <a:off x="3925119" y="2265685"/>
            <a:ext cx="4722763" cy="1069777"/>
          </a:xfrm>
          <a:prstGeom prst="rect">
            <a:avLst/>
          </a:prstGeom>
          <a:noFill/>
          <a:ln/>
        </p:spPr>
        <p:txBody>
          <a:bodyPr wrap="square" lIns="0" tIns="0" rIns="0" bIns="0" rtlCol="0" anchor="t">
            <a:normAutofit/>
          </a:bodyPr>
          <a:lstStyle/>
          <a:p>
            <a:pPr marL="0" indent="0" algn="l">
              <a:lnSpc>
                <a:spcPct val="104000"/>
              </a:lnSpc>
              <a:buNone/>
            </a:pPr>
            <a:r>
              <a:rPr lang="en-US" sz="3350" b="1" dirty="0">
                <a:solidFill>
                  <a:srgbClr val="C00000"/>
                </a:solidFill>
                <a:latin typeface="Montserrat Bold" pitchFamily="34" charset="0"/>
                <a:ea typeface="Montserrat Bold" pitchFamily="34" charset="-122"/>
                <a:cs typeface="Montserrat Bold" pitchFamily="34" charset="-120"/>
              </a:rPr>
              <a:t>"Bản thiết kế tối cao"</a:t>
            </a:r>
            <a:endParaRPr lang="en-US" sz="3350" dirty="0"/>
          </a:p>
        </p:txBody>
      </p:sp>
      <p:sp>
        <p:nvSpPr>
          <p:cNvPr id="7" name="Text 4"/>
          <p:cNvSpPr/>
          <p:nvPr/>
        </p:nvSpPr>
        <p:spPr>
          <a:xfrm>
            <a:off x="3925119" y="3521497"/>
            <a:ext cx="4722763"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Dự án game phình to, thầy thuê thêm 10 dev về làm. Làm sao </a:t>
            </a:r>
            <a:r>
              <a:rPr lang="en-US" sz="950" b="1" dirty="0">
                <a:solidFill>
                  <a:srgbClr val="000000"/>
                </a:solidFill>
                <a:latin typeface="Montserrat" pitchFamily="34" charset="0"/>
                <a:ea typeface="Montserrat" pitchFamily="34" charset="-122"/>
                <a:cs typeface="Montserrat" pitchFamily="34" charset="-120"/>
              </a:rPr>
              <a:t>bắt buộc</a:t>
            </a:r>
            <a:r>
              <a:rPr lang="en-US" sz="950" dirty="0">
                <a:solidFill>
                  <a:srgbClr val="000000"/>
                </a:solidFill>
                <a:latin typeface="Montserrat" pitchFamily="34" charset="0"/>
                <a:ea typeface="Montserrat" pitchFamily="34" charset="-122"/>
                <a:cs typeface="Montserrat" pitchFamily="34" charset="-120"/>
              </a:rPr>
              <a:t> mỗi dev khi tạo nhân vật mới đều phải viết hàm </a:t>
            </a:r>
            <a:r>
              <a:rPr lang="en-US" sz="950" dirty="0">
                <a:solidFill>
                  <a:srgbClr val="000000"/>
                </a:solidFill>
                <a:highlight>
                  <a:srgbClr val="F2F2F2"/>
                </a:highlight>
                <a:latin typeface="Consolas" pitchFamily="34" charset="0"/>
                <a:ea typeface="Consolas" pitchFamily="34" charset="-122"/>
                <a:cs typeface="Consolas" pitchFamily="34" charset="-120"/>
              </a:rPr>
              <a:t>skill_ultimate()</a:t>
            </a:r>
            <a:r>
              <a:rPr lang="en-US" sz="950" dirty="0">
                <a:solidFill>
                  <a:srgbClr val="000000"/>
                </a:solidFill>
                <a:latin typeface="Montserrat" pitchFamily="34" charset="0"/>
                <a:ea typeface="Montserrat" pitchFamily="34" charset="-122"/>
                <a:cs typeface="Montserrat" pitchFamily="34" charset="-120"/>
              </a:rPr>
              <a:t>? Nếu không ép buộc, dev hay quên sẽ bỏ sót — vào game bấm nút chiêu cuối là crash! </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03759" y="398859"/>
            <a:ext cx="4982989" cy="290736"/>
          </a:xfrm>
          <a:prstGeom prst="rect">
            <a:avLst/>
          </a:prstGeom>
          <a:noFill/>
          <a:ln/>
        </p:spPr>
        <p:txBody>
          <a:bodyPr wrap="none" lIns="0" tIns="0" rIns="0" bIns="0" rtlCol="0" anchor="t"/>
          <a:lstStyle/>
          <a:p>
            <a:pPr marL="0" indent="0" algn="l">
              <a:lnSpc>
                <a:spcPct val="104000"/>
              </a:lnSpc>
              <a:buNone/>
            </a:pPr>
            <a:r>
              <a:rPr lang="en-US" sz="1800" b="1" dirty="0">
                <a:solidFill>
                  <a:srgbClr val="C00000"/>
                </a:solidFill>
                <a:latin typeface="Montserrat Bold" pitchFamily="34" charset="0"/>
                <a:ea typeface="Montserrat Bold" pitchFamily="34" charset="-122"/>
                <a:cs typeface="Montserrat Bold" pitchFamily="34" charset="-120"/>
              </a:rPr>
              <a:t>ABC: Khế Ước Bắt Buộc Giữa Các Dev</a:t>
            </a:r>
            <a:endParaRPr lang="en-US" sz="1800" dirty="0"/>
          </a:p>
        </p:txBody>
      </p:sp>
      <p:sp>
        <p:nvSpPr>
          <p:cNvPr id="3" name="Text 1"/>
          <p:cNvSpPr/>
          <p:nvPr/>
        </p:nvSpPr>
        <p:spPr>
          <a:xfrm>
            <a:off x="903759" y="829121"/>
            <a:ext cx="7336408" cy="265212"/>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highlight>
                  <a:srgbClr val="F2F2F2"/>
                </a:highlight>
                <a:latin typeface="Consolas" pitchFamily="34" charset="0"/>
                <a:ea typeface="Consolas" pitchFamily="34" charset="-122"/>
                <a:cs typeface="Consolas" pitchFamily="34" charset="-120"/>
              </a:rPr>
              <a:t>Abstract Base Class</a:t>
            </a:r>
            <a:r>
              <a:rPr lang="en-US" sz="700" dirty="0">
                <a:solidFill>
                  <a:srgbClr val="000000"/>
                </a:solidFill>
                <a:latin typeface="Montserrat" pitchFamily="34" charset="0"/>
                <a:ea typeface="Montserrat" pitchFamily="34" charset="-122"/>
                <a:cs typeface="Montserrat" pitchFamily="34" charset="-120"/>
              </a:rPr>
              <a:t> hoạt động như một "bản khế ước". Lớp trừu tượng định ra cái khung, lớp con </a:t>
            </a:r>
            <a:r>
              <a:rPr lang="en-US" sz="700" b="1" dirty="0">
                <a:solidFill>
                  <a:srgbClr val="000000"/>
                </a:solidFill>
                <a:latin typeface="Montserrat" pitchFamily="34" charset="0"/>
                <a:ea typeface="Montserrat" pitchFamily="34" charset="-122"/>
                <a:cs typeface="Montserrat" pitchFamily="34" charset="-120"/>
              </a:rPr>
              <a:t>bắt buộc phải hoàn thiện</a:t>
            </a:r>
            <a:r>
              <a:rPr lang="en-US" sz="700" dirty="0">
                <a:solidFill>
                  <a:srgbClr val="000000"/>
                </a:solidFill>
                <a:latin typeface="Montserrat" pitchFamily="34" charset="0"/>
                <a:ea typeface="Montserrat" pitchFamily="34" charset="-122"/>
                <a:cs typeface="Montserrat" pitchFamily="34" charset="-120"/>
              </a:rPr>
              <a:t> nó — không thì đừng hòng khởi tạo được đối tượng.</a:t>
            </a:r>
            <a:endParaRPr lang="en-US" sz="700" dirty="0"/>
          </a:p>
        </p:txBody>
      </p:sp>
      <p:sp>
        <p:nvSpPr>
          <p:cNvPr id="4" name="Shape 2"/>
          <p:cNvSpPr/>
          <p:nvPr/>
        </p:nvSpPr>
        <p:spPr>
          <a:xfrm>
            <a:off x="903759" y="1172766"/>
            <a:ext cx="7336408" cy="3571875"/>
          </a:xfrm>
          <a:prstGeom prst="roundRect">
            <a:avLst>
              <a:gd name="adj" fmla="val 2344"/>
            </a:avLst>
          </a:prstGeom>
          <a:solidFill>
            <a:srgbClr val="F2F2F2"/>
          </a:solidFill>
          <a:ln/>
        </p:spPr>
        <p:txBody>
          <a:bodyPr/>
          <a:lstStyle/>
          <a:p>
            <a:endParaRPr lang="vi-VN"/>
          </a:p>
        </p:txBody>
      </p:sp>
      <p:sp>
        <p:nvSpPr>
          <p:cNvPr id="5" name="Shape 3"/>
          <p:cNvSpPr/>
          <p:nvPr/>
        </p:nvSpPr>
        <p:spPr>
          <a:xfrm>
            <a:off x="899145" y="1172766"/>
            <a:ext cx="7345635" cy="3571875"/>
          </a:xfrm>
          <a:prstGeom prst="roundRect">
            <a:avLst>
              <a:gd name="adj" fmla="val 391"/>
            </a:avLst>
          </a:prstGeom>
          <a:solidFill>
            <a:srgbClr val="F2F2F2"/>
          </a:solidFill>
          <a:ln/>
        </p:spPr>
        <p:txBody>
          <a:bodyPr/>
          <a:lstStyle/>
          <a:p>
            <a:endParaRPr lang="vi-VN"/>
          </a:p>
        </p:txBody>
      </p:sp>
      <p:sp>
        <p:nvSpPr>
          <p:cNvPr id="6" name="Text 4"/>
          <p:cNvSpPr/>
          <p:nvPr/>
        </p:nvSpPr>
        <p:spPr>
          <a:xfrm>
            <a:off x="1015380" y="1265783"/>
            <a:ext cx="7113166" cy="3385840"/>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from abc import ABC, abstractmethod</a:t>
            </a: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Lớp cha trừu tượng - Không thể tạo object trực tiếp!</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class GameEntity(ABC):</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def __init__(self, name: str):</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self.name = name</a:t>
            </a: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@abstractmethod</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def skill_ultimate(self):</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"""Mọi lớp con BẮT BUỘC phải override phương thức này"""</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pass</a:t>
            </a:r>
            <a:endParaRPr lang="en-US" sz="700" dirty="0"/>
          </a:p>
          <a:p>
            <a:pPr marL="0" indent="0" algn="l">
              <a:lnSpc>
                <a:spcPct val="117000"/>
              </a:lnSpc>
              <a:buNone/>
            </a:pP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class Warrior(GameEntity):</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def skill_ultimate(self):</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return f"{self.name} unleashes a sword storm!"</a:t>
            </a: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class Mage(GameEntity):</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def skill_ultimate(self):</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return f"{self.name} calls down a thunder strike!"</a:t>
            </a: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arthur = Warrior("Arthur")</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merlin = Mage("Merlin")</a:t>
            </a:r>
            <a:endParaRPr lang="en-US" sz="700" dirty="0"/>
          </a:p>
          <a:p>
            <a:pPr marL="0" indent="0" algn="l">
              <a:lnSpc>
                <a:spcPct val="117000"/>
              </a:lnSpc>
              <a:buNone/>
            </a:pP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print(arthur.skill_ultimate())  # Arthur unleashes a sword storm!</a:t>
            </a:r>
            <a:endParaRPr lang="en-US" sz="700" dirty="0"/>
          </a:p>
          <a:p>
            <a:pPr marL="0" indent="0" algn="l">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print(merlin.skill_ultimate())   # Merlin calls down a thunder strike!</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897261" y="366564"/>
            <a:ext cx="3422377" cy="211931"/>
          </a:xfrm>
          <a:prstGeom prst="rect">
            <a:avLst/>
          </a:prstGeom>
          <a:noFill/>
          <a:ln/>
        </p:spPr>
        <p:txBody>
          <a:bodyPr wrap="none" lIns="0" tIns="0" rIns="0" bIns="0" rtlCol="0" anchor="t"/>
          <a:lstStyle/>
          <a:p>
            <a:pPr marL="0" indent="0" algn="l">
              <a:lnSpc>
                <a:spcPct val="104000"/>
              </a:lnSpc>
              <a:buNone/>
            </a:pPr>
            <a:r>
              <a:rPr lang="en-US" sz="1300" b="1" dirty="0">
                <a:solidFill>
                  <a:srgbClr val="C00000"/>
                </a:solidFill>
                <a:latin typeface="Montserrat Bold" pitchFamily="34" charset="0"/>
                <a:ea typeface="Montserrat Bold" pitchFamily="34" charset="-122"/>
                <a:cs typeface="Montserrat Bold" pitchFamily="34" charset="-120"/>
              </a:rPr>
              <a:t>ABC: Hệ Thống Tự Động Chặn Lỗi</a:t>
            </a:r>
            <a:endParaRPr lang="en-US" sz="1300" dirty="0"/>
          </a:p>
        </p:txBody>
      </p:sp>
      <p:sp>
        <p:nvSpPr>
          <p:cNvPr id="3" name="Text 1"/>
          <p:cNvSpPr/>
          <p:nvPr/>
        </p:nvSpPr>
        <p:spPr>
          <a:xfrm>
            <a:off x="1897261" y="652686"/>
            <a:ext cx="5349478" cy="172641"/>
          </a:xfrm>
          <a:prstGeom prst="rect">
            <a:avLst/>
          </a:prstGeom>
          <a:noFill/>
          <a:ln/>
        </p:spPr>
        <p:txBody>
          <a:bodyPr wrap="square" lIns="0" tIns="0" rIns="0" bIns="0" rtlCol="0" anchor="t">
            <a:normAutofit/>
          </a:bodyPr>
          <a:lstStyle/>
          <a:p>
            <a:pPr marL="0" indent="0" algn="l">
              <a:lnSpc>
                <a:spcPct val="103000"/>
              </a:lnSpc>
              <a:buNone/>
            </a:pPr>
            <a:r>
              <a:rPr lang="en-US" sz="500" dirty="0">
                <a:solidFill>
                  <a:srgbClr val="000000"/>
                </a:solidFill>
                <a:latin typeface="Montserrat" pitchFamily="34" charset="0"/>
                <a:ea typeface="Montserrat" pitchFamily="34" charset="-122"/>
                <a:cs typeface="Montserrat" pitchFamily="34" charset="-120"/>
              </a:rPr>
              <a:t>Python tự động ném ra </a:t>
            </a:r>
            <a:r>
              <a:rPr lang="en-US" sz="500" b="1" dirty="0">
                <a:solidFill>
                  <a:srgbClr val="000000"/>
                </a:solidFill>
                <a:latin typeface="Montserrat" pitchFamily="34" charset="0"/>
                <a:ea typeface="Montserrat" pitchFamily="34" charset="-122"/>
                <a:cs typeface="Montserrat" pitchFamily="34" charset="-120"/>
              </a:rPr>
              <a:t>TypeError</a:t>
            </a:r>
            <a:r>
              <a:rPr lang="en-US" sz="500" dirty="0">
                <a:solidFill>
                  <a:srgbClr val="000000"/>
                </a:solidFill>
                <a:latin typeface="Montserrat" pitchFamily="34" charset="0"/>
                <a:ea typeface="Montserrat" pitchFamily="34" charset="-122"/>
                <a:cs typeface="Montserrat" pitchFamily="34" charset="-120"/>
              </a:rPr>
              <a:t> nếu lớp con không implement đủ các </a:t>
            </a:r>
            <a:r>
              <a:rPr lang="en-US" sz="500" dirty="0">
                <a:solidFill>
                  <a:srgbClr val="000000"/>
                </a:solidFill>
                <a:highlight>
                  <a:srgbClr val="F2F2F2"/>
                </a:highlight>
                <a:latin typeface="Consolas" pitchFamily="34" charset="0"/>
                <a:ea typeface="Consolas" pitchFamily="34" charset="-122"/>
                <a:cs typeface="Consolas" pitchFamily="34" charset="-120"/>
              </a:rPr>
              <a:t>abstractmethod</a:t>
            </a:r>
            <a:r>
              <a:rPr lang="en-US" sz="500" dirty="0">
                <a:solidFill>
                  <a:srgbClr val="000000"/>
                </a:solidFill>
                <a:latin typeface="Montserrat" pitchFamily="34" charset="0"/>
                <a:ea typeface="Montserrat" pitchFamily="34" charset="-122"/>
                <a:cs typeface="Montserrat" pitchFamily="34" charset="-120"/>
              </a:rPr>
              <a:t> — không thể tạo object từ lớp đó. Đây chính là cơ chế "khế ước bắt buộc" hoạt động trong thực tế.</a:t>
            </a:r>
            <a:endParaRPr lang="en-US" sz="500" dirty="0"/>
          </a:p>
        </p:txBody>
      </p:sp>
      <p:sp>
        <p:nvSpPr>
          <p:cNvPr id="4" name="Shape 2"/>
          <p:cNvSpPr/>
          <p:nvPr/>
        </p:nvSpPr>
        <p:spPr>
          <a:xfrm>
            <a:off x="1897261" y="866998"/>
            <a:ext cx="5349478" cy="1646486"/>
          </a:xfrm>
          <a:prstGeom prst="roundRect">
            <a:avLst>
              <a:gd name="adj" fmla="val 3708"/>
            </a:avLst>
          </a:prstGeom>
          <a:solidFill>
            <a:srgbClr val="F2F2F2"/>
          </a:solidFill>
          <a:ln/>
        </p:spPr>
        <p:txBody>
          <a:bodyPr/>
          <a:lstStyle/>
          <a:p>
            <a:endParaRPr lang="vi-VN"/>
          </a:p>
        </p:txBody>
      </p:sp>
      <p:sp>
        <p:nvSpPr>
          <p:cNvPr id="5" name="Shape 3"/>
          <p:cNvSpPr/>
          <p:nvPr/>
        </p:nvSpPr>
        <p:spPr>
          <a:xfrm>
            <a:off x="1893912" y="866998"/>
            <a:ext cx="5356175" cy="1646486"/>
          </a:xfrm>
          <a:prstGeom prst="roundRect">
            <a:avLst>
              <a:gd name="adj" fmla="val 618"/>
            </a:avLst>
          </a:prstGeom>
          <a:solidFill>
            <a:srgbClr val="F2F2F2"/>
          </a:solidFill>
          <a:ln/>
        </p:spPr>
        <p:txBody>
          <a:bodyPr/>
          <a:lstStyle/>
          <a:p>
            <a:endParaRPr lang="vi-VN"/>
          </a:p>
        </p:txBody>
      </p:sp>
      <p:sp>
        <p:nvSpPr>
          <p:cNvPr id="6" name="Text 4"/>
          <p:cNvSpPr/>
          <p:nvPr/>
        </p:nvSpPr>
        <p:spPr>
          <a:xfrm>
            <a:off x="1978670" y="934789"/>
            <a:ext cx="5186660" cy="1510903"/>
          </a:xfrm>
          <a:prstGeom prst="rect">
            <a:avLst/>
          </a:prstGeom>
          <a:noFill/>
          <a:ln/>
        </p:spPr>
        <p:txBody>
          <a:bodyPr wrap="square" lIns="0" tIns="0" rIns="0" bIns="0" rtlCol="0" anchor="t">
            <a:normAutofit/>
          </a:bodyPr>
          <a:lstStyle/>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Trường hợp SAI: Quên implement</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from abc import ABC, abstractmethod</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class GameEntity(ABC):</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def __init__(self, name: str):</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self.name = name</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@abstractmethod</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def skill_ultimate(self):</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pass</a:t>
            </a:r>
            <a:endParaRPr lang="en-US" sz="500" dirty="0"/>
          </a:p>
          <a:p>
            <a:pPr marL="0" indent="0" algn="l">
              <a:lnSpc>
                <a:spcPct val="103000"/>
              </a:lnSpc>
              <a:buNone/>
            </a:pP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class BrokenHero(GameEntity):</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pass</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broken = BrokenHero("Broken Hero")</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TypeError: Can't instantiate abstract class BrokenHero with abstract method skill_ultimate</a:t>
            </a:r>
            <a:endParaRPr lang="en-US" sz="500" dirty="0"/>
          </a:p>
        </p:txBody>
      </p:sp>
      <p:sp>
        <p:nvSpPr>
          <p:cNvPr id="7" name="Shape 5"/>
          <p:cNvSpPr/>
          <p:nvPr/>
        </p:nvSpPr>
        <p:spPr>
          <a:xfrm>
            <a:off x="1897261" y="2555156"/>
            <a:ext cx="5349478" cy="1730425"/>
          </a:xfrm>
          <a:prstGeom prst="roundRect">
            <a:avLst>
              <a:gd name="adj" fmla="val 3528"/>
            </a:avLst>
          </a:prstGeom>
          <a:solidFill>
            <a:srgbClr val="F2F2F2"/>
          </a:solidFill>
          <a:ln/>
        </p:spPr>
        <p:txBody>
          <a:bodyPr/>
          <a:lstStyle/>
          <a:p>
            <a:endParaRPr lang="vi-VN"/>
          </a:p>
        </p:txBody>
      </p:sp>
      <p:sp>
        <p:nvSpPr>
          <p:cNvPr id="8" name="Shape 6"/>
          <p:cNvSpPr/>
          <p:nvPr/>
        </p:nvSpPr>
        <p:spPr>
          <a:xfrm>
            <a:off x="1893912" y="2555156"/>
            <a:ext cx="5356175" cy="1730425"/>
          </a:xfrm>
          <a:prstGeom prst="roundRect">
            <a:avLst>
              <a:gd name="adj" fmla="val 588"/>
            </a:avLst>
          </a:prstGeom>
          <a:solidFill>
            <a:srgbClr val="F2F2F2"/>
          </a:solidFill>
          <a:ln/>
        </p:spPr>
        <p:txBody>
          <a:bodyPr/>
          <a:lstStyle/>
          <a:p>
            <a:endParaRPr lang="vi-VN"/>
          </a:p>
        </p:txBody>
      </p:sp>
      <p:sp>
        <p:nvSpPr>
          <p:cNvPr id="9" name="Text 7"/>
          <p:cNvSpPr/>
          <p:nvPr/>
        </p:nvSpPr>
        <p:spPr>
          <a:xfrm>
            <a:off x="1978670" y="2622947"/>
            <a:ext cx="5186660" cy="1594842"/>
          </a:xfrm>
          <a:prstGeom prst="rect">
            <a:avLst/>
          </a:prstGeom>
          <a:noFill/>
          <a:ln/>
        </p:spPr>
        <p:txBody>
          <a:bodyPr wrap="square" lIns="0" tIns="0" rIns="0" bIns="0" rtlCol="0" anchor="t">
            <a:normAutofit/>
          </a:bodyPr>
          <a:lstStyle/>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Trường hợp ĐÚNG: Implement đầy đủ</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from abc import ABC, abstractmethod</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class GameEntity(ABC):</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def __init__(self, name: str):</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self.name = name</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@abstractmethod</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def skill_ultimate(self):</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pass</a:t>
            </a:r>
            <a:endParaRPr lang="en-US" sz="500" dirty="0"/>
          </a:p>
          <a:p>
            <a:pPr marL="0" indent="0" algn="l">
              <a:lnSpc>
                <a:spcPct val="103000"/>
              </a:lnSpc>
              <a:buNone/>
            </a:pP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class Assassin(GameEntity):</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def skill_ultimate(self):</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return f"{self.name} vanishes into the shadows and strikes!"</a:t>
            </a:r>
            <a:endParaRPr lang="en-US" sz="500" dirty="0"/>
          </a:p>
          <a:p>
            <a:pPr marL="0" indent="0" algn="l">
              <a:lnSpc>
                <a:spcPct val="103000"/>
              </a:lnSpc>
              <a:buNone/>
            </a:pP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shadow = Assassin("Shadow")</a:t>
            </a:r>
            <a:endParaRPr lang="en-US" sz="500" dirty="0"/>
          </a:p>
          <a:p>
            <a:pPr marL="0" indent="0" algn="l">
              <a:lnSpc>
                <a:spcPct val="103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print(shadow.skill_ultimate())  # Shadow vanishes into the shadows and strikes!</a:t>
            </a:r>
            <a:endParaRPr lang="en-US" sz="500" dirty="0"/>
          </a:p>
        </p:txBody>
      </p:sp>
      <p:sp>
        <p:nvSpPr>
          <p:cNvPr id="10" name="Text 8"/>
          <p:cNvSpPr/>
          <p:nvPr/>
        </p:nvSpPr>
        <p:spPr>
          <a:xfrm>
            <a:off x="1897261" y="4364310"/>
            <a:ext cx="1813917" cy="174278"/>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C00000"/>
                </a:solidFill>
                <a:latin typeface="Montserrat Bold" pitchFamily="34" charset="0"/>
                <a:ea typeface="Montserrat Bold" pitchFamily="34" charset="-122"/>
                <a:cs typeface="Montserrat Bold" pitchFamily="34" charset="-120"/>
              </a:rPr>
              <a:t> BrokenHero</a:t>
            </a:r>
            <a:endParaRPr lang="en-US" sz="1050" dirty="0"/>
          </a:p>
        </p:txBody>
      </p:sp>
      <p:sp>
        <p:nvSpPr>
          <p:cNvPr id="11" name="Text 9"/>
          <p:cNvSpPr/>
          <p:nvPr/>
        </p:nvSpPr>
        <p:spPr>
          <a:xfrm>
            <a:off x="1897261" y="4575646"/>
            <a:ext cx="2591991" cy="167878"/>
          </a:xfrm>
          <a:prstGeom prst="rect">
            <a:avLst/>
          </a:prstGeom>
          <a:noFill/>
          <a:ln/>
        </p:spPr>
        <p:txBody>
          <a:bodyPr wrap="square" lIns="0" tIns="0" rIns="0" bIns="0" rtlCol="0" anchor="t">
            <a:normAutofit/>
          </a:bodyPr>
          <a:lstStyle/>
          <a:p>
            <a:pPr marL="0" indent="0" algn="l">
              <a:lnSpc>
                <a:spcPct val="103000"/>
              </a:lnSpc>
              <a:buNone/>
            </a:pPr>
            <a:r>
              <a:rPr lang="en-US" sz="500" dirty="0">
                <a:solidFill>
                  <a:srgbClr val="000000"/>
                </a:solidFill>
                <a:latin typeface="Montserrat" pitchFamily="34" charset="0"/>
                <a:ea typeface="Montserrat" pitchFamily="34" charset="-122"/>
                <a:cs typeface="Montserrat" pitchFamily="34" charset="-120"/>
              </a:rPr>
              <a:t>Python chặn việc khởi tạo ngay từ đầu và ném ra </a:t>
            </a:r>
            <a:r>
              <a:rPr lang="en-US" sz="500" b="1" dirty="0">
                <a:solidFill>
                  <a:srgbClr val="000000"/>
                </a:solidFill>
                <a:latin typeface="Montserrat" pitchFamily="34" charset="0"/>
                <a:ea typeface="Montserrat" pitchFamily="34" charset="-122"/>
                <a:cs typeface="Montserrat" pitchFamily="34" charset="-120"/>
              </a:rPr>
              <a:t>TypeError</a:t>
            </a:r>
            <a:r>
              <a:rPr lang="en-US" sz="500" dirty="0">
                <a:solidFill>
                  <a:srgbClr val="000000"/>
                </a:solidFill>
                <a:latin typeface="Montserrat" pitchFamily="34" charset="0"/>
                <a:ea typeface="Montserrat" pitchFamily="34" charset="-122"/>
                <a:cs typeface="Montserrat" pitchFamily="34" charset="-120"/>
              </a:rPr>
              <a:t>, nên lỗi được phát hiện trước khi game kịp chạy.</a:t>
            </a:r>
            <a:endParaRPr lang="en-US" sz="500" dirty="0"/>
          </a:p>
        </p:txBody>
      </p:sp>
      <p:sp>
        <p:nvSpPr>
          <p:cNvPr id="12" name="Text 10"/>
          <p:cNvSpPr/>
          <p:nvPr/>
        </p:nvSpPr>
        <p:spPr>
          <a:xfrm>
            <a:off x="4659511" y="4364310"/>
            <a:ext cx="1813917" cy="174278"/>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Montserrat Bold" pitchFamily="34" charset="0"/>
                <a:ea typeface="Montserrat Bold" pitchFamily="34" charset="-122"/>
                <a:cs typeface="Montserrat Bold" pitchFamily="34" charset="-120"/>
              </a:rPr>
              <a:t>✅</a:t>
            </a:r>
            <a:r>
              <a:rPr lang="en-US" sz="1050" b="1" dirty="0">
                <a:solidFill>
                  <a:srgbClr val="C00000"/>
                </a:solidFill>
                <a:latin typeface="Montserrat Bold" pitchFamily="34" charset="0"/>
                <a:ea typeface="Montserrat Bold" pitchFamily="34" charset="-122"/>
                <a:cs typeface="Montserrat Bold" pitchFamily="34" charset="-120"/>
              </a:rPr>
              <a:t> Assassin</a:t>
            </a:r>
            <a:endParaRPr lang="en-US" sz="1050" dirty="0"/>
          </a:p>
        </p:txBody>
      </p:sp>
      <p:sp>
        <p:nvSpPr>
          <p:cNvPr id="13" name="Text 11"/>
          <p:cNvSpPr/>
          <p:nvPr/>
        </p:nvSpPr>
        <p:spPr>
          <a:xfrm>
            <a:off x="4659511" y="4575646"/>
            <a:ext cx="2591991" cy="167878"/>
          </a:xfrm>
          <a:prstGeom prst="rect">
            <a:avLst/>
          </a:prstGeom>
          <a:noFill/>
          <a:ln/>
        </p:spPr>
        <p:txBody>
          <a:bodyPr wrap="square" lIns="0" tIns="0" rIns="0" bIns="0" rtlCol="0" anchor="t">
            <a:normAutofit/>
          </a:bodyPr>
          <a:lstStyle/>
          <a:p>
            <a:pPr marL="0" indent="0" algn="l">
              <a:lnSpc>
                <a:spcPct val="103000"/>
              </a:lnSpc>
              <a:buNone/>
            </a:pPr>
            <a:r>
              <a:rPr lang="en-US" sz="500" dirty="0">
                <a:solidFill>
                  <a:srgbClr val="000000"/>
                </a:solidFill>
                <a:latin typeface="Montserrat" pitchFamily="34" charset="0"/>
                <a:ea typeface="Montserrat" pitchFamily="34" charset="-122"/>
                <a:cs typeface="Montserrat" pitchFamily="34" charset="-120"/>
              </a:rPr>
              <a:t>Khế ước đã được hoàn thành đầy đủ, nên object được tạo bình thường và có thể dùng ngay trong chương trình.</a:t>
            </a:r>
            <a:endParaRPr lang="en-US" sz="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6119" y="765051"/>
            <a:ext cx="7421389"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So Sánh 4 Tính Chất OOP Trong Game RPG</a:t>
            </a:r>
            <a:endParaRPr lang="en-US" sz="2400" dirty="0"/>
          </a:p>
        </p:txBody>
      </p:sp>
      <p:sp>
        <p:nvSpPr>
          <p:cNvPr id="3" name="Text 1"/>
          <p:cNvSpPr/>
          <p:nvPr/>
        </p:nvSpPr>
        <p:spPr>
          <a:xfrm>
            <a:off x="496119" y="1400621"/>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Nhìn lại toàn cảnh — mỗi tính chất OOP giải quyết một bài toán cụ thể trong quá trình phát triển game của chúng ta.</a:t>
            </a:r>
            <a:endParaRPr lang="en-US" sz="950" dirty="0"/>
          </a:p>
        </p:txBody>
      </p:sp>
      <p:sp>
        <p:nvSpPr>
          <p:cNvPr id="4" name="Shape 2"/>
          <p:cNvSpPr/>
          <p:nvPr/>
        </p:nvSpPr>
        <p:spPr>
          <a:xfrm>
            <a:off x="496119" y="1738610"/>
            <a:ext cx="8151763" cy="2639839"/>
          </a:xfrm>
          <a:prstGeom prst="roundRect">
            <a:avLst>
              <a:gd name="adj" fmla="val 4229"/>
            </a:avLst>
          </a:prstGeom>
          <a:noFill/>
          <a:ln w="4763">
            <a:solidFill>
              <a:srgbClr val="000000">
                <a:alpha val="8000"/>
              </a:srgbClr>
            </a:solidFill>
            <a:prstDash val="solid"/>
          </a:ln>
        </p:spPr>
        <p:txBody>
          <a:bodyPr/>
          <a:lstStyle/>
          <a:p>
            <a:endParaRPr lang="vi-VN"/>
          </a:p>
        </p:txBody>
      </p:sp>
      <p:sp>
        <p:nvSpPr>
          <p:cNvPr id="5" name="Shape 3"/>
          <p:cNvSpPr/>
          <p:nvPr/>
        </p:nvSpPr>
        <p:spPr>
          <a:xfrm>
            <a:off x="501030" y="1743373"/>
            <a:ext cx="1791221" cy="359197"/>
          </a:xfrm>
          <a:prstGeom prst="rect">
            <a:avLst/>
          </a:prstGeom>
          <a:solidFill>
            <a:srgbClr val="231651"/>
          </a:solidFill>
          <a:ln/>
        </p:spPr>
        <p:txBody>
          <a:bodyPr/>
          <a:lstStyle/>
          <a:p>
            <a:endParaRPr lang="vi-VN"/>
          </a:p>
        </p:txBody>
      </p:sp>
      <p:sp>
        <p:nvSpPr>
          <p:cNvPr id="6" name="Text 4"/>
          <p:cNvSpPr/>
          <p:nvPr/>
        </p:nvSpPr>
        <p:spPr>
          <a:xfrm>
            <a:off x="625004" y="1822549"/>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Montserrat" pitchFamily="34" charset="0"/>
                <a:ea typeface="Montserrat" pitchFamily="34" charset="-122"/>
                <a:cs typeface="Montserrat" pitchFamily="34" charset="-120"/>
              </a:rPr>
              <a:t>Tính chất</a:t>
            </a:r>
            <a:endParaRPr lang="en-US" sz="950" dirty="0"/>
          </a:p>
        </p:txBody>
      </p:sp>
      <p:sp>
        <p:nvSpPr>
          <p:cNvPr id="7" name="Shape 5"/>
          <p:cNvSpPr/>
          <p:nvPr/>
        </p:nvSpPr>
        <p:spPr>
          <a:xfrm>
            <a:off x="2292251" y="1743373"/>
            <a:ext cx="2035522" cy="359197"/>
          </a:xfrm>
          <a:prstGeom prst="rect">
            <a:avLst/>
          </a:prstGeom>
          <a:solidFill>
            <a:srgbClr val="231651"/>
          </a:solidFill>
          <a:ln/>
        </p:spPr>
        <p:txBody>
          <a:bodyPr/>
          <a:lstStyle/>
          <a:p>
            <a:endParaRPr lang="vi-VN"/>
          </a:p>
        </p:txBody>
      </p:sp>
      <p:sp>
        <p:nvSpPr>
          <p:cNvPr id="8" name="Text 6"/>
          <p:cNvSpPr/>
          <p:nvPr/>
        </p:nvSpPr>
        <p:spPr>
          <a:xfrm>
            <a:off x="2416225" y="1822549"/>
            <a:ext cx="2244775"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Montserrat" pitchFamily="34" charset="0"/>
                <a:ea typeface="Montserrat" pitchFamily="34" charset="-122"/>
                <a:cs typeface="Montserrat" pitchFamily="34" charset="-120"/>
              </a:rPr>
              <a:t>Từ khóa Python</a:t>
            </a:r>
            <a:endParaRPr lang="en-US" sz="950" dirty="0"/>
          </a:p>
        </p:txBody>
      </p:sp>
      <p:sp>
        <p:nvSpPr>
          <p:cNvPr id="9" name="Shape 7"/>
          <p:cNvSpPr/>
          <p:nvPr/>
        </p:nvSpPr>
        <p:spPr>
          <a:xfrm>
            <a:off x="4327773" y="1743373"/>
            <a:ext cx="2279824" cy="359197"/>
          </a:xfrm>
          <a:prstGeom prst="rect">
            <a:avLst/>
          </a:prstGeom>
          <a:solidFill>
            <a:srgbClr val="231651"/>
          </a:solidFill>
          <a:ln/>
        </p:spPr>
        <p:txBody>
          <a:bodyPr/>
          <a:lstStyle/>
          <a:p>
            <a:endParaRPr lang="vi-VN"/>
          </a:p>
        </p:txBody>
      </p:sp>
      <p:sp>
        <p:nvSpPr>
          <p:cNvPr id="10" name="Text 8"/>
          <p:cNvSpPr/>
          <p:nvPr/>
        </p:nvSpPr>
        <p:spPr>
          <a:xfrm>
            <a:off x="4451747" y="1822549"/>
            <a:ext cx="2489076"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Montserrat" pitchFamily="34" charset="0"/>
                <a:ea typeface="Montserrat" pitchFamily="34" charset="-122"/>
                <a:cs typeface="Montserrat" pitchFamily="34" charset="-120"/>
              </a:rPr>
              <a:t>Ý nghĩa trong Game RPG</a:t>
            </a:r>
            <a:endParaRPr lang="en-US" sz="950" dirty="0"/>
          </a:p>
        </p:txBody>
      </p:sp>
      <p:sp>
        <p:nvSpPr>
          <p:cNvPr id="11" name="Shape 9"/>
          <p:cNvSpPr/>
          <p:nvPr/>
        </p:nvSpPr>
        <p:spPr>
          <a:xfrm>
            <a:off x="6607597" y="1743373"/>
            <a:ext cx="2035522" cy="359197"/>
          </a:xfrm>
          <a:prstGeom prst="rect">
            <a:avLst/>
          </a:prstGeom>
          <a:solidFill>
            <a:srgbClr val="231651"/>
          </a:solidFill>
          <a:ln/>
        </p:spPr>
        <p:txBody>
          <a:bodyPr/>
          <a:lstStyle/>
          <a:p>
            <a:endParaRPr lang="vi-VN"/>
          </a:p>
        </p:txBody>
      </p:sp>
      <p:sp>
        <p:nvSpPr>
          <p:cNvPr id="12" name="Text 10"/>
          <p:cNvSpPr/>
          <p:nvPr/>
        </p:nvSpPr>
        <p:spPr>
          <a:xfrm>
            <a:off x="6731571" y="1822549"/>
            <a:ext cx="2244775"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Montserrat" pitchFamily="34" charset="0"/>
                <a:ea typeface="Montserrat" pitchFamily="34" charset="-122"/>
                <a:cs typeface="Montserrat" pitchFamily="34" charset="-120"/>
              </a:rPr>
              <a:t>Lợi ích chính</a:t>
            </a:r>
            <a:endParaRPr lang="en-US" sz="950" dirty="0"/>
          </a:p>
        </p:txBody>
      </p:sp>
      <p:sp>
        <p:nvSpPr>
          <p:cNvPr id="13" name="Text 11"/>
          <p:cNvSpPr/>
          <p:nvPr/>
        </p:nvSpPr>
        <p:spPr>
          <a:xfrm>
            <a:off x="625004" y="2184127"/>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Kế thừa</a:t>
            </a:r>
            <a:endParaRPr lang="en-US" sz="950" dirty="0"/>
          </a:p>
        </p:txBody>
      </p:sp>
      <p:sp>
        <p:nvSpPr>
          <p:cNvPr id="14" name="Text 12"/>
          <p:cNvSpPr/>
          <p:nvPr/>
        </p:nvSpPr>
        <p:spPr>
          <a:xfrm>
            <a:off x="2416225" y="2184127"/>
            <a:ext cx="2244775" cy="203225"/>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class Child(Parent)</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super()</a:t>
            </a:r>
            <a:endParaRPr lang="en-US" sz="950" dirty="0"/>
          </a:p>
        </p:txBody>
      </p:sp>
      <p:sp>
        <p:nvSpPr>
          <p:cNvPr id="15" name="Text 13"/>
          <p:cNvSpPr/>
          <p:nvPr/>
        </p:nvSpPr>
        <p:spPr>
          <a:xfrm>
            <a:off x="4451747" y="2184127"/>
            <a:ext cx="2031876" cy="406450"/>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Tái sử dụng code từ </a:t>
            </a:r>
            <a:r>
              <a:rPr lang="en-US" sz="950" dirty="0">
                <a:solidFill>
                  <a:srgbClr val="000000"/>
                </a:solidFill>
                <a:highlight>
                  <a:srgbClr val="F2F2F2"/>
                </a:highlight>
                <a:latin typeface="Consolas" pitchFamily="34" charset="0"/>
                <a:ea typeface="Consolas" pitchFamily="34" charset="-122"/>
                <a:cs typeface="Consolas" pitchFamily="34" charset="-120"/>
              </a:rPr>
              <a:t>Character</a:t>
            </a:r>
            <a:r>
              <a:rPr lang="en-US" sz="950" dirty="0">
                <a:solidFill>
                  <a:srgbClr val="000000"/>
                </a:solidFill>
                <a:latin typeface="Montserrat" pitchFamily="34" charset="0"/>
                <a:ea typeface="Montserrat" pitchFamily="34" charset="-122"/>
                <a:cs typeface="Montserrat" pitchFamily="34" charset="-120"/>
              </a:rPr>
              <a:t> chung sang </a:t>
            </a:r>
            <a:r>
              <a:rPr lang="en-US" sz="950" dirty="0">
                <a:solidFill>
                  <a:srgbClr val="000000"/>
                </a:solidFill>
                <a:highlight>
                  <a:srgbClr val="F2F2F2"/>
                </a:highlight>
                <a:latin typeface="Consolas" pitchFamily="34" charset="0"/>
                <a:ea typeface="Consolas" pitchFamily="34" charset="-122"/>
                <a:cs typeface="Consolas" pitchFamily="34" charset="-120"/>
              </a:rPr>
              <a:t>Warrior</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Mage</a:t>
            </a:r>
            <a:endParaRPr lang="en-US" sz="950" dirty="0"/>
          </a:p>
        </p:txBody>
      </p:sp>
      <p:sp>
        <p:nvSpPr>
          <p:cNvPr id="16" name="Text 14"/>
          <p:cNvSpPr/>
          <p:nvPr/>
        </p:nvSpPr>
        <p:spPr>
          <a:xfrm>
            <a:off x="6731571" y="2184127"/>
            <a:ext cx="2244775"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Tránh viết lại code trùng lặp</a:t>
            </a:r>
            <a:endParaRPr lang="en-US" sz="950" dirty="0"/>
          </a:p>
        </p:txBody>
      </p:sp>
      <p:sp>
        <p:nvSpPr>
          <p:cNvPr id="17" name="Text 15"/>
          <p:cNvSpPr/>
          <p:nvPr/>
        </p:nvSpPr>
        <p:spPr>
          <a:xfrm>
            <a:off x="625004" y="2753692"/>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Đa hình</a:t>
            </a:r>
            <a:endParaRPr lang="en-US" sz="950" dirty="0"/>
          </a:p>
        </p:txBody>
      </p:sp>
      <p:sp>
        <p:nvSpPr>
          <p:cNvPr id="18" name="Text 16"/>
          <p:cNvSpPr/>
          <p:nvPr/>
        </p:nvSpPr>
        <p:spPr>
          <a:xfrm>
            <a:off x="2416225" y="2753692"/>
            <a:ext cx="17875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Duck Typing, Runtime Check</a:t>
            </a:r>
            <a:endParaRPr lang="en-US" sz="950" dirty="0"/>
          </a:p>
        </p:txBody>
      </p:sp>
      <p:sp>
        <p:nvSpPr>
          <p:cNvPr id="19" name="Text 17"/>
          <p:cNvSpPr/>
          <p:nvPr/>
        </p:nvSpPr>
        <p:spPr>
          <a:xfrm>
            <a:off x="4451747" y="2753692"/>
            <a:ext cx="2031876"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Cùng lệnh </a:t>
            </a:r>
            <a:r>
              <a:rPr lang="en-US" sz="950" dirty="0">
                <a:solidFill>
                  <a:srgbClr val="000000"/>
                </a:solidFill>
                <a:highlight>
                  <a:srgbClr val="F2F2F2"/>
                </a:highlight>
                <a:latin typeface="Consolas" pitchFamily="34" charset="0"/>
                <a:ea typeface="Consolas" pitchFamily="34" charset="-122"/>
                <a:cs typeface="Consolas" pitchFamily="34" charset="-120"/>
              </a:rPr>
              <a:t>attack()</a:t>
            </a:r>
            <a:r>
              <a:rPr lang="en-US" sz="950" dirty="0">
                <a:solidFill>
                  <a:srgbClr val="000000"/>
                </a:solidFill>
                <a:latin typeface="Montserrat" pitchFamily="34" charset="0"/>
                <a:ea typeface="Montserrat" pitchFamily="34" charset="-122"/>
                <a:cs typeface="Montserrat" pitchFamily="34" charset="-120"/>
              </a:rPr>
              <a:t>, mỗi hệ phái tự ra chiêu riêng</a:t>
            </a:r>
            <a:endParaRPr lang="en-US" sz="950" dirty="0"/>
          </a:p>
        </p:txBody>
      </p:sp>
      <p:sp>
        <p:nvSpPr>
          <p:cNvPr id="20" name="Text 18"/>
          <p:cNvSpPr/>
          <p:nvPr/>
        </p:nvSpPr>
        <p:spPr>
          <a:xfrm>
            <a:off x="6731571" y="2753692"/>
            <a:ext cx="2244775"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Code linh hoạt, dễ mở rộng</a:t>
            </a:r>
            <a:endParaRPr lang="en-US" sz="950" dirty="0"/>
          </a:p>
        </p:txBody>
      </p:sp>
      <p:sp>
        <p:nvSpPr>
          <p:cNvPr id="21" name="Text 19"/>
          <p:cNvSpPr/>
          <p:nvPr/>
        </p:nvSpPr>
        <p:spPr>
          <a:xfrm>
            <a:off x="625004" y="3318495"/>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Nạp chồng</a:t>
            </a:r>
            <a:endParaRPr lang="en-US" sz="950" dirty="0"/>
          </a:p>
        </p:txBody>
      </p:sp>
      <p:sp>
        <p:nvSpPr>
          <p:cNvPr id="22" name="Text 20"/>
          <p:cNvSpPr/>
          <p:nvPr/>
        </p:nvSpPr>
        <p:spPr>
          <a:xfrm>
            <a:off x="2416225" y="3318495"/>
            <a:ext cx="1787575" cy="406450"/>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Dunder Methods (</a:t>
            </a:r>
            <a:r>
              <a:rPr lang="en-US" sz="950" dirty="0">
                <a:solidFill>
                  <a:srgbClr val="000000"/>
                </a:solidFill>
                <a:highlight>
                  <a:srgbClr val="F2F2F2"/>
                </a:highlight>
                <a:latin typeface="Consolas" pitchFamily="34" charset="0"/>
                <a:ea typeface="Consolas" pitchFamily="34" charset="-122"/>
                <a:cs typeface="Consolas" pitchFamily="34" charset="-120"/>
              </a:rPr>
              <a:t>__add__</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__gt__</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23" name="Text 21"/>
          <p:cNvSpPr/>
          <p:nvPr/>
        </p:nvSpPr>
        <p:spPr>
          <a:xfrm>
            <a:off x="4451747" y="3318495"/>
            <a:ext cx="2031876"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Làm phép tính Nhân vật + Vũ khí, so sánh HP anh hùng</a:t>
            </a:r>
            <a:endParaRPr lang="en-US" sz="950" dirty="0"/>
          </a:p>
        </p:txBody>
      </p:sp>
      <p:sp>
        <p:nvSpPr>
          <p:cNvPr id="24" name="Text 22"/>
          <p:cNvSpPr/>
          <p:nvPr/>
        </p:nvSpPr>
        <p:spPr>
          <a:xfrm>
            <a:off x="6731571" y="3318495"/>
            <a:ext cx="2244775"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Code tự nhiên, dễ đọc</a:t>
            </a:r>
            <a:endParaRPr lang="en-US" sz="950" dirty="0"/>
          </a:p>
        </p:txBody>
      </p:sp>
      <p:sp>
        <p:nvSpPr>
          <p:cNvPr id="25" name="Text 23"/>
          <p:cNvSpPr/>
          <p:nvPr/>
        </p:nvSpPr>
        <p:spPr>
          <a:xfrm>
            <a:off x="625004" y="3888060"/>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Trừu tượng</a:t>
            </a:r>
            <a:endParaRPr lang="en-US" sz="950" dirty="0"/>
          </a:p>
        </p:txBody>
      </p:sp>
      <p:sp>
        <p:nvSpPr>
          <p:cNvPr id="26" name="Text 24"/>
          <p:cNvSpPr/>
          <p:nvPr/>
        </p:nvSpPr>
        <p:spPr>
          <a:xfrm>
            <a:off x="2416225" y="3888060"/>
            <a:ext cx="1787575" cy="406450"/>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from abc import ABC, abstractmethod</a:t>
            </a:r>
            <a:endParaRPr lang="en-US" sz="950" dirty="0"/>
          </a:p>
        </p:txBody>
      </p:sp>
      <p:sp>
        <p:nvSpPr>
          <p:cNvPr id="27" name="Text 25"/>
          <p:cNvSpPr/>
          <p:nvPr/>
        </p:nvSpPr>
        <p:spPr>
          <a:xfrm>
            <a:off x="4451747" y="3888060"/>
            <a:ext cx="2031876"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Ép buộc mọi dev viết </a:t>
            </a:r>
            <a:r>
              <a:rPr lang="en-US" sz="950" dirty="0">
                <a:solidFill>
                  <a:srgbClr val="000000"/>
                </a:solidFill>
                <a:highlight>
                  <a:srgbClr val="F2F2F2"/>
                </a:highlight>
                <a:latin typeface="Consolas" pitchFamily="34" charset="0"/>
                <a:ea typeface="Consolas" pitchFamily="34" charset="-122"/>
                <a:cs typeface="Consolas" pitchFamily="34" charset="-120"/>
              </a:rPr>
              <a:t>skill_ultimate()</a:t>
            </a:r>
            <a:r>
              <a:rPr lang="en-US" sz="950" dirty="0">
                <a:solidFill>
                  <a:srgbClr val="000000"/>
                </a:solidFill>
                <a:latin typeface="Montserrat" pitchFamily="34" charset="0"/>
                <a:ea typeface="Montserrat" pitchFamily="34" charset="-122"/>
                <a:cs typeface="Montserrat" pitchFamily="34" charset="-120"/>
              </a:rPr>
              <a:t> cho nhân vật</a:t>
            </a:r>
            <a:endParaRPr lang="en-US" sz="950" dirty="0"/>
          </a:p>
        </p:txBody>
      </p:sp>
      <p:sp>
        <p:nvSpPr>
          <p:cNvPr id="28" name="Text 26"/>
          <p:cNvSpPr/>
          <p:nvPr/>
        </p:nvSpPr>
        <p:spPr>
          <a:xfrm>
            <a:off x="6731571" y="3888060"/>
            <a:ext cx="17875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Đảm bảo tính nhất quán hệ thống</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362298" y="377949"/>
            <a:ext cx="4213696" cy="254347"/>
          </a:xfrm>
          <a:prstGeom prst="rect">
            <a:avLst/>
          </a:prstGeom>
          <a:noFill/>
          <a:ln/>
        </p:spPr>
        <p:txBody>
          <a:bodyPr wrap="none" lIns="0" tIns="0" rIns="0" bIns="0" rtlCol="0" anchor="t"/>
          <a:lstStyle/>
          <a:p>
            <a:pPr marL="0" indent="0" algn="l">
              <a:lnSpc>
                <a:spcPct val="104000"/>
              </a:lnSpc>
              <a:buNone/>
            </a:pPr>
            <a:r>
              <a:rPr lang="en-US" sz="1600" b="1" dirty="0">
                <a:solidFill>
                  <a:srgbClr val="C00000"/>
                </a:solidFill>
                <a:latin typeface="Montserrat Bold" pitchFamily="34" charset="0"/>
                <a:ea typeface="Montserrat Bold" pitchFamily="34" charset="-122"/>
                <a:cs typeface="Montserrat Bold" pitchFamily="34" charset="-120"/>
              </a:rPr>
              <a:t>Kiến Trúc Tổng Thể "Python Quest"</a:t>
            </a:r>
            <a:endParaRPr lang="en-US" sz="1600" dirty="0"/>
          </a:p>
        </p:txBody>
      </p:sp>
      <p:sp>
        <p:nvSpPr>
          <p:cNvPr id="3" name="Text 1"/>
          <p:cNvSpPr/>
          <p:nvPr/>
        </p:nvSpPr>
        <p:spPr>
          <a:xfrm>
            <a:off x="1362298" y="739080"/>
            <a:ext cx="6419404"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ontserrat" pitchFamily="34" charset="0"/>
                <a:ea typeface="Montserrat" pitchFamily="34" charset="-122"/>
                <a:cs typeface="Montserrat" pitchFamily="34" charset="-120"/>
              </a:rPr>
              <a:t>Sau khi áp dụng đủ 4 tính chất OOP, hệ thống game của chúng ta có cấu trúc rõ ràng, dễ bảo trì và sẵn sàng để 10 dev cùng làm việc mà không giẫm lên nhau.</a:t>
            </a:r>
            <a:endParaRPr lang="en-US" sz="600" dirty="0"/>
          </a:p>
        </p:txBody>
      </p:sp>
      <p:pic>
        <p:nvPicPr>
          <p:cNvPr id="4" name="Image 0" descr="preencoded.png"/>
          <p:cNvPicPr>
            <a:picLocks noChangeAspect="1"/>
          </p:cNvPicPr>
          <p:nvPr/>
        </p:nvPicPr>
        <p:blipFill>
          <a:blip r:embed="rId3"/>
          <a:stretch>
            <a:fillRect/>
          </a:stretch>
        </p:blipFill>
        <p:spPr>
          <a:xfrm>
            <a:off x="1362298" y="1014785"/>
            <a:ext cx="6419404" cy="3582888"/>
          </a:xfrm>
          <a:prstGeom prst="rect">
            <a:avLst/>
          </a:prstGeom>
        </p:spPr>
      </p:pic>
      <p:sp>
        <p:nvSpPr>
          <p:cNvPr id="5" name="Text 2"/>
          <p:cNvSpPr/>
          <p:nvPr/>
        </p:nvSpPr>
        <p:spPr>
          <a:xfrm>
            <a:off x="1362298" y="4657725"/>
            <a:ext cx="6876604" cy="107826"/>
          </a:xfrm>
          <a:prstGeom prst="rect">
            <a:avLst/>
          </a:prstGeom>
          <a:noFill/>
          <a:ln/>
        </p:spPr>
        <p:txBody>
          <a:bodyPr wrap="none" lIns="0" tIns="0" rIns="0" bIns="0" rtlCol="0" anchor="t"/>
          <a:lstStyle/>
          <a:p>
            <a:pPr marL="0" indent="0" algn="l">
              <a:lnSpc>
                <a:spcPct val="110000"/>
              </a:lnSpc>
              <a:buNone/>
            </a:pPr>
            <a:r>
              <a:rPr lang="en-US" sz="600" dirty="0">
                <a:solidFill>
                  <a:srgbClr val="000000"/>
                </a:solidFill>
                <a:latin typeface="Montserrat" pitchFamily="34" charset="0"/>
                <a:ea typeface="Montserrat" pitchFamily="34" charset="-122"/>
                <a:cs typeface="Montserrat" pitchFamily="34" charset="-120"/>
              </a:rPr>
              <a:t>Mỗi lớp có </a:t>
            </a:r>
            <a:r>
              <a:rPr lang="en-US" sz="600" b="1" dirty="0">
                <a:solidFill>
                  <a:srgbClr val="000000"/>
                </a:solidFill>
                <a:latin typeface="Montserrat" pitchFamily="34" charset="0"/>
                <a:ea typeface="Montserrat" pitchFamily="34" charset="-122"/>
                <a:cs typeface="Montserrat" pitchFamily="34" charset="-120"/>
              </a:rPr>
              <a:t>trách nhiệm rõ ràng</a:t>
            </a:r>
            <a:r>
              <a:rPr lang="en-US" sz="600" dirty="0">
                <a:solidFill>
                  <a:srgbClr val="000000"/>
                </a:solidFill>
                <a:latin typeface="Montserrat" pitchFamily="34" charset="0"/>
                <a:ea typeface="Montserrat" pitchFamily="34" charset="-122"/>
                <a:cs typeface="Montserrat" pitchFamily="34" charset="-120"/>
              </a:rPr>
              <a:t> — đây chính là sức mạnh của OOP khi áp dụng đúng cách vào một dự án thực tế.</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691828"/>
            <a:ext cx="4820394"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Tổng Kết &amp; Bước Tiếp Theo</a:t>
            </a:r>
            <a:endParaRPr lang="en-US" sz="2400" dirty="0"/>
          </a:p>
        </p:txBody>
      </p:sp>
      <p:sp>
        <p:nvSpPr>
          <p:cNvPr id="3" name="Text 1"/>
          <p:cNvSpPr/>
          <p:nvPr/>
        </p:nvSpPr>
        <p:spPr>
          <a:xfrm>
            <a:off x="496119" y="132739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Chúc mừng! Thầy trò ta đã cùng nhau xây dựng xong hệ thống Game RPG "Python Quest" với đầy đủ 4 tính chất OOP. Đây không chỉ là lý thuyết — đây là những kỹ năng bạn sẽ dùng </a:t>
            </a:r>
            <a:r>
              <a:rPr lang="en-US" sz="950" b="1" dirty="0">
                <a:solidFill>
                  <a:srgbClr val="000000"/>
                </a:solidFill>
                <a:latin typeface="Montserrat" pitchFamily="34" charset="0"/>
                <a:ea typeface="Montserrat" pitchFamily="34" charset="-122"/>
                <a:cs typeface="Montserrat" pitchFamily="34" charset="-120"/>
              </a:rPr>
              <a:t>mỗi ngày</a:t>
            </a:r>
            <a:r>
              <a:rPr lang="en-US" sz="950" dirty="0">
                <a:solidFill>
                  <a:srgbClr val="000000"/>
                </a:solidFill>
                <a:latin typeface="Montserrat" pitchFamily="34" charset="0"/>
                <a:ea typeface="Montserrat" pitchFamily="34" charset="-122"/>
                <a:cs typeface="Montserrat" pitchFamily="34" charset="-120"/>
              </a:rPr>
              <a:t> trong sự nghiệp lập trình.</a:t>
            </a:r>
            <a:endParaRPr lang="en-US" sz="950" dirty="0"/>
          </a:p>
        </p:txBody>
      </p:sp>
      <p:sp>
        <p:nvSpPr>
          <p:cNvPr id="4" name="Shape 2"/>
          <p:cNvSpPr/>
          <p:nvPr/>
        </p:nvSpPr>
        <p:spPr>
          <a:xfrm>
            <a:off x="496119" y="1863849"/>
            <a:ext cx="2634555" cy="1626691"/>
          </a:xfrm>
          <a:prstGeom prst="roundRect">
            <a:avLst>
              <a:gd name="adj" fmla="val 6863"/>
            </a:avLst>
          </a:prstGeom>
          <a:solidFill>
            <a:srgbClr val="FFFFFF"/>
          </a:solidFill>
          <a:ln w="4763">
            <a:solidFill>
              <a:srgbClr val="C00000"/>
            </a:solidFill>
            <a:prstDash val="solid"/>
          </a:ln>
        </p:spPr>
        <p:txBody>
          <a:bodyPr/>
          <a:lstStyle/>
          <a:p>
            <a:endParaRPr lang="vi-VN"/>
          </a:p>
        </p:txBody>
      </p:sp>
      <p:sp>
        <p:nvSpPr>
          <p:cNvPr id="5" name="Shape 3"/>
          <p:cNvSpPr/>
          <p:nvPr/>
        </p:nvSpPr>
        <p:spPr>
          <a:xfrm>
            <a:off x="624855" y="1992585"/>
            <a:ext cx="372070" cy="372070"/>
          </a:xfrm>
          <a:prstGeom prst="roundRect">
            <a:avLst>
              <a:gd name="adj" fmla="val 15358477"/>
            </a:avLst>
          </a:prstGeom>
          <a:solidFill>
            <a:srgbClr val="C00000"/>
          </a:solidFill>
          <a:ln/>
        </p:spPr>
        <p:txBody>
          <a:bodyPr/>
          <a:lstStyle/>
          <a:p>
            <a:endParaRPr lang="vi-V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7174" y="2094830"/>
            <a:ext cx="167432" cy="167432"/>
          </a:xfrm>
          <a:prstGeom prst="rect">
            <a:avLst/>
          </a:prstGeom>
        </p:spPr>
      </p:pic>
      <p:sp>
        <p:nvSpPr>
          <p:cNvPr id="7" name="Text 4"/>
          <p:cNvSpPr/>
          <p:nvPr/>
        </p:nvSpPr>
        <p:spPr>
          <a:xfrm>
            <a:off x="624855" y="2488629"/>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Bạn đã học được</a:t>
            </a:r>
            <a:endParaRPr lang="en-US" sz="1200" dirty="0"/>
          </a:p>
        </p:txBody>
      </p:sp>
      <p:sp>
        <p:nvSpPr>
          <p:cNvPr id="8" name="Text 5"/>
          <p:cNvSpPr/>
          <p:nvPr/>
        </p:nvSpPr>
        <p:spPr>
          <a:xfrm>
            <a:off x="624855" y="2756892"/>
            <a:ext cx="237708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4 tính chất OOP qua dự án game thực tế: Kế thừa, Đa hình, Nạp chồng, Trừu tượng.</a:t>
            </a:r>
            <a:endParaRPr lang="en-US" sz="950" dirty="0"/>
          </a:p>
        </p:txBody>
      </p:sp>
      <p:sp>
        <p:nvSpPr>
          <p:cNvPr id="9" name="Shape 6"/>
          <p:cNvSpPr/>
          <p:nvPr/>
        </p:nvSpPr>
        <p:spPr>
          <a:xfrm>
            <a:off x="3254648" y="1863849"/>
            <a:ext cx="2634630" cy="1626691"/>
          </a:xfrm>
          <a:prstGeom prst="roundRect">
            <a:avLst>
              <a:gd name="adj" fmla="val 6863"/>
            </a:avLst>
          </a:prstGeom>
          <a:solidFill>
            <a:srgbClr val="FFFFFF"/>
          </a:solidFill>
          <a:ln w="4763">
            <a:solidFill>
              <a:srgbClr val="C00000"/>
            </a:solidFill>
            <a:prstDash val="solid"/>
          </a:ln>
        </p:spPr>
        <p:txBody>
          <a:bodyPr/>
          <a:lstStyle/>
          <a:p>
            <a:endParaRPr lang="vi-VN"/>
          </a:p>
        </p:txBody>
      </p:sp>
      <p:sp>
        <p:nvSpPr>
          <p:cNvPr id="10" name="Shape 7"/>
          <p:cNvSpPr/>
          <p:nvPr/>
        </p:nvSpPr>
        <p:spPr>
          <a:xfrm>
            <a:off x="3383384" y="1992585"/>
            <a:ext cx="372070" cy="372070"/>
          </a:xfrm>
          <a:prstGeom prst="roundRect">
            <a:avLst>
              <a:gd name="adj" fmla="val 15358477"/>
            </a:avLst>
          </a:prstGeom>
          <a:solidFill>
            <a:srgbClr val="C00000"/>
          </a:solidFill>
          <a:ln/>
        </p:spPr>
        <p:txBody>
          <a:bodyPr/>
          <a:lstStyle/>
          <a:p>
            <a:endParaRPr lang="vi-VN"/>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5704" y="2094830"/>
            <a:ext cx="167432" cy="167432"/>
          </a:xfrm>
          <a:prstGeom prst="rect">
            <a:avLst/>
          </a:prstGeom>
        </p:spPr>
      </p:pic>
      <p:sp>
        <p:nvSpPr>
          <p:cNvPr id="12" name="Text 8"/>
          <p:cNvSpPr/>
          <p:nvPr/>
        </p:nvSpPr>
        <p:spPr>
          <a:xfrm>
            <a:off x="3383384" y="2488629"/>
            <a:ext cx="1605409"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Thử thách tiếp theo</a:t>
            </a:r>
            <a:endParaRPr lang="en-US" sz="1200" dirty="0"/>
          </a:p>
        </p:txBody>
      </p:sp>
      <p:sp>
        <p:nvSpPr>
          <p:cNvPr id="13" name="Text 9"/>
          <p:cNvSpPr/>
          <p:nvPr/>
        </p:nvSpPr>
        <p:spPr>
          <a:xfrm>
            <a:off x="3383384" y="2756892"/>
            <a:ext cx="2377157"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Thêm hệ thống </a:t>
            </a:r>
            <a:r>
              <a:rPr lang="en-US" sz="950" dirty="0">
                <a:solidFill>
                  <a:srgbClr val="000000"/>
                </a:solidFill>
                <a:highlight>
                  <a:srgbClr val="F2F2F2"/>
                </a:highlight>
                <a:latin typeface="Consolas" pitchFamily="34" charset="0"/>
                <a:ea typeface="Consolas" pitchFamily="34" charset="-122"/>
                <a:cs typeface="Consolas" pitchFamily="34" charset="-120"/>
              </a:rPr>
              <a:t>Inventory</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Quest</a:t>
            </a:r>
            <a:r>
              <a:rPr lang="en-US" sz="950" dirty="0">
                <a:solidFill>
                  <a:srgbClr val="000000"/>
                </a:solidFill>
                <a:latin typeface="Montserrat" pitchFamily="34" charset="0"/>
                <a:ea typeface="Montserrat" pitchFamily="34" charset="-122"/>
                <a:cs typeface="Montserrat" pitchFamily="34" charset="-120"/>
              </a:rPr>
              <a:t>, hoặc kết nối database để lưu trạng thái game!</a:t>
            </a:r>
            <a:endParaRPr lang="en-US" sz="950" dirty="0"/>
          </a:p>
        </p:txBody>
      </p:sp>
      <p:sp>
        <p:nvSpPr>
          <p:cNvPr id="14" name="Shape 10"/>
          <p:cNvSpPr/>
          <p:nvPr/>
        </p:nvSpPr>
        <p:spPr>
          <a:xfrm>
            <a:off x="6013252" y="1863849"/>
            <a:ext cx="2634555" cy="1626691"/>
          </a:xfrm>
          <a:prstGeom prst="roundRect">
            <a:avLst>
              <a:gd name="adj" fmla="val 6863"/>
            </a:avLst>
          </a:prstGeom>
          <a:solidFill>
            <a:srgbClr val="FFFFFF"/>
          </a:solidFill>
          <a:ln w="4763">
            <a:solidFill>
              <a:srgbClr val="231651"/>
            </a:solidFill>
            <a:prstDash val="solid"/>
          </a:ln>
        </p:spPr>
        <p:txBody>
          <a:bodyPr/>
          <a:lstStyle/>
          <a:p>
            <a:endParaRPr lang="vi-VN"/>
          </a:p>
        </p:txBody>
      </p:sp>
      <p:sp>
        <p:nvSpPr>
          <p:cNvPr id="15" name="Shape 11"/>
          <p:cNvSpPr/>
          <p:nvPr/>
        </p:nvSpPr>
        <p:spPr>
          <a:xfrm>
            <a:off x="6141988" y="1992585"/>
            <a:ext cx="372070" cy="372070"/>
          </a:xfrm>
          <a:prstGeom prst="roundRect">
            <a:avLst>
              <a:gd name="adj" fmla="val 15358477"/>
            </a:avLst>
          </a:prstGeom>
          <a:solidFill>
            <a:srgbClr val="231651"/>
          </a:solidFill>
          <a:ln/>
        </p:spPr>
        <p:txBody>
          <a:bodyPr/>
          <a:lstStyle/>
          <a:p>
            <a:endParaRPr lang="vi-VN"/>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4307" y="2094830"/>
            <a:ext cx="167432" cy="167432"/>
          </a:xfrm>
          <a:prstGeom prst="rect">
            <a:avLst/>
          </a:prstGeom>
        </p:spPr>
      </p:pic>
      <p:sp>
        <p:nvSpPr>
          <p:cNvPr id="17" name="Text 12"/>
          <p:cNvSpPr/>
          <p:nvPr/>
        </p:nvSpPr>
        <p:spPr>
          <a:xfrm>
            <a:off x="6141988" y="2488629"/>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Đọc thêm</a:t>
            </a:r>
            <a:endParaRPr lang="en-US" sz="1200" dirty="0"/>
          </a:p>
        </p:txBody>
      </p:sp>
      <p:sp>
        <p:nvSpPr>
          <p:cNvPr id="18" name="Text 13"/>
          <p:cNvSpPr/>
          <p:nvPr/>
        </p:nvSpPr>
        <p:spPr>
          <a:xfrm>
            <a:off x="6141988" y="2756892"/>
            <a:ext cx="2377083"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Tìm hiểu </a:t>
            </a:r>
            <a:r>
              <a:rPr lang="en-US" sz="950" dirty="0">
                <a:solidFill>
                  <a:srgbClr val="000000"/>
                </a:solidFill>
                <a:highlight>
                  <a:srgbClr val="F2F2F2"/>
                </a:highlight>
                <a:latin typeface="Consolas" pitchFamily="34" charset="0"/>
                <a:ea typeface="Consolas" pitchFamily="34" charset="-122"/>
                <a:cs typeface="Consolas" pitchFamily="34" charset="-120"/>
              </a:rPr>
              <a:t>dataclasses</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Protocol</a:t>
            </a:r>
            <a:r>
              <a:rPr lang="en-US" sz="950" dirty="0">
                <a:solidFill>
                  <a:srgbClr val="000000"/>
                </a:solidFill>
                <a:latin typeface="Montserrat" pitchFamily="34" charset="0"/>
                <a:ea typeface="Montserrat" pitchFamily="34" charset="-122"/>
                <a:cs typeface="Montserrat" pitchFamily="34" charset="-120"/>
              </a:rPr>
              <a:t> (PEP 544) và </a:t>
            </a:r>
            <a:r>
              <a:rPr lang="en-US" sz="950" dirty="0">
                <a:solidFill>
                  <a:srgbClr val="000000"/>
                </a:solidFill>
                <a:highlight>
                  <a:srgbClr val="F2F2F2"/>
                </a:highlight>
                <a:latin typeface="Consolas" pitchFamily="34" charset="0"/>
                <a:ea typeface="Consolas" pitchFamily="34" charset="-122"/>
                <a:cs typeface="Consolas" pitchFamily="34" charset="-120"/>
              </a:rPr>
              <a:t>typing</a:t>
            </a:r>
            <a:r>
              <a:rPr lang="en-US" sz="950" dirty="0">
                <a:solidFill>
                  <a:srgbClr val="000000"/>
                </a:solidFill>
                <a:latin typeface="Montserrat" pitchFamily="34" charset="0"/>
                <a:ea typeface="Montserrat" pitchFamily="34" charset="-122"/>
                <a:cs typeface="Montserrat" pitchFamily="34" charset="-120"/>
              </a:rPr>
              <a:t> module để viết Python OOP chuyên nghiệp hơn.</a:t>
            </a:r>
            <a:endParaRPr lang="en-US" sz="950" dirty="0"/>
          </a:p>
        </p:txBody>
      </p:sp>
      <p:sp>
        <p:nvSpPr>
          <p:cNvPr id="19" name="Shape 14"/>
          <p:cNvSpPr/>
          <p:nvPr/>
        </p:nvSpPr>
        <p:spPr>
          <a:xfrm>
            <a:off x="496119" y="3630067"/>
            <a:ext cx="8151763" cy="682079"/>
          </a:xfrm>
          <a:prstGeom prst="roundRect">
            <a:avLst>
              <a:gd name="adj" fmla="val 16368"/>
            </a:avLst>
          </a:prstGeom>
          <a:solidFill>
            <a:srgbClr val="B6FCB8"/>
          </a:solidFill>
          <a:ln/>
        </p:spPr>
        <p:txBody>
          <a:bodyPr/>
          <a:lstStyle/>
          <a:p>
            <a:endParaRPr lang="vi-VN"/>
          </a:p>
        </p:txBody>
      </p:sp>
      <p:pic>
        <p:nvPicPr>
          <p:cNvPr id="20" name="Image 3" descr="preencoded.png"/>
          <p:cNvPicPr>
            <a:picLocks noChangeAspect="1"/>
          </p:cNvPicPr>
          <p:nvPr/>
        </p:nvPicPr>
        <p:blipFill>
          <a:blip r:embed="rId6"/>
          <a:stretch>
            <a:fillRect/>
          </a:stretch>
        </p:blipFill>
        <p:spPr>
          <a:xfrm>
            <a:off x="620092" y="3809851"/>
            <a:ext cx="155004" cy="123974"/>
          </a:xfrm>
          <a:prstGeom prst="rect">
            <a:avLst/>
          </a:prstGeom>
        </p:spPr>
      </p:pic>
      <p:sp>
        <p:nvSpPr>
          <p:cNvPr id="21" name="Text 15"/>
          <p:cNvSpPr/>
          <p:nvPr/>
        </p:nvSpPr>
        <p:spPr>
          <a:xfrm>
            <a:off x="899071" y="3772644"/>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 </a:t>
            </a:r>
            <a:r>
              <a:rPr lang="en-US" sz="950" b="1" dirty="0">
                <a:solidFill>
                  <a:srgbClr val="000000"/>
                </a:solidFill>
                <a:latin typeface="Montserrat" pitchFamily="34" charset="0"/>
                <a:ea typeface="Montserrat" pitchFamily="34" charset="-122"/>
                <a:cs typeface="Montserrat" pitchFamily="34" charset="-120"/>
              </a:rPr>
              <a:t>Code giỏi không phải là code nhiều — mà là code thông minh.</a:t>
            </a:r>
            <a:r>
              <a:rPr lang="en-US" sz="950" dirty="0">
                <a:solidFill>
                  <a:srgbClr val="000000"/>
                </a:solidFill>
                <a:latin typeface="Montserrat" pitchFamily="34" charset="0"/>
                <a:ea typeface="Montserrat" pitchFamily="34" charset="-122"/>
                <a:cs typeface="Montserrat" pitchFamily="34" charset="-120"/>
              </a:rPr>
              <a:t> OOP cho bạn công cụ để làm điều đó. Hẹn gặp lại trong buổi học tiếp theo!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632</TotalTime>
  <Words>3128</Words>
  <Application>Microsoft Office PowerPoint</Application>
  <PresentationFormat>On-screen Show (16:9)</PresentationFormat>
  <Paragraphs>302</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Montserrat</vt:lpstr>
      <vt:lpstr>Consolas</vt:lpstr>
      <vt:lpstr>Montserrat Bold</vt:lpstr>
      <vt:lpstr>Montserrat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Quốc  Tuấn</cp:lastModifiedBy>
  <cp:revision>2</cp:revision>
  <dcterms:created xsi:type="dcterms:W3CDTF">2026-06-16T04:07:56Z</dcterms:created>
  <dcterms:modified xsi:type="dcterms:W3CDTF">2026-06-17T00:09:56Z</dcterms:modified>
</cp:coreProperties>
</file>