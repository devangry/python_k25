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Montserrat" panose="00000500000000000000" pitchFamily="2" charset="0"/>
      <p:regular r:id="rId23"/>
      <p:bold r:id="rId24"/>
    </p:embeddedFont>
    <p:embeddedFont>
      <p:font typeface="Montserrat ExtraBold" panose="00000900000000000000" pitchFamily="2" charset="0"/>
      <p:regular r:id="rId25"/>
    </p:embeddedFont>
    <p:embeddedFont>
      <p:font typeface="Montserrat Light" panose="00000400000000000000" pitchFamily="2" charset="0"/>
      <p:regular r:id="rId26"/>
      <p:italic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359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36477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Module, Package &amp; Virtual Environment trong Python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417987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Khám phá cách tổ chức dự án Python chuyên nghiệp — từ việc chia nhỏ code thành module, quản lý thư viện bằng môi trường ảo, đến xây dựng cấu trúc package chuẩn cho dự án thực tế.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435993"/>
            <a:ext cx="6392306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Nội dung bài học hôm nay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283420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Bài học được chia thành 5 chủ đề lớn, dẫn dắt từ vấn đề thực tế đến giải pháp chuyên nghiệp.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574" y="273407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574" y="2996009"/>
            <a:ext cx="3512653" cy="19050"/>
          </a:xfrm>
          <a:prstGeom prst="rect">
            <a:avLst/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661574" y="3116759"/>
            <a:ext cx="23175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Module — Chia để Trị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574" y="3474442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Tách file nguyên khối thành các module chuyên biệt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39521" y="273407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9521" y="2996009"/>
            <a:ext cx="3512653" cy="19050"/>
          </a:xfrm>
          <a:prstGeom prst="rect">
            <a:avLst/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4339521" y="3116759"/>
            <a:ext cx="33480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Standard &amp; Third-party Library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39521" y="3474442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Tận dụng hệ sinh thái thư viện khổng lồ của Python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17468" y="273407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17468" y="2996009"/>
            <a:ext cx="3512653" cy="19050"/>
          </a:xfrm>
          <a:prstGeom prst="rect">
            <a:avLst/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8017468" y="3116759"/>
            <a:ext cx="29793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Virtual Environment (venv)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17468" y="3474442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Tạo "hộp cát" riêng biệt cho từng dự án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574" y="429299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574" y="4554934"/>
            <a:ext cx="5351626" cy="19050"/>
          </a:xfrm>
          <a:prstGeom prst="rect">
            <a:avLst/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Text 16"/>
          <p:cNvSpPr/>
          <p:nvPr/>
        </p:nvSpPr>
        <p:spPr>
          <a:xfrm>
            <a:off x="661574" y="4675684"/>
            <a:ext cx="32934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Package — Cấu trúc phân cấp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574" y="5033367"/>
            <a:ext cx="53516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Tổ chức thư mục dự án lớn một cách khoa học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8495" y="429299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8495" y="4554934"/>
            <a:ext cx="5351626" cy="19050"/>
          </a:xfrm>
          <a:prstGeom prst="rect">
            <a:avLst/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2" name="Text 20"/>
          <p:cNvSpPr/>
          <p:nvPr/>
        </p:nvSpPr>
        <p:spPr>
          <a:xfrm>
            <a:off x="6178495" y="467568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Cơ chế Import sâu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8495" y="5033367"/>
            <a:ext cx="53516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cách import và relative import trong package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1601688"/>
            <a:ext cx="908325" cy="310952"/>
          </a:xfrm>
          <a:prstGeom prst="roundRect">
            <a:avLst>
              <a:gd name="adj" fmla="val 17871"/>
            </a:avLst>
          </a:prstGeom>
          <a:solidFill>
            <a:srgbClr val="F6D5D5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760790" y="1651298"/>
            <a:ext cx="1319477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CHƯƠNG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574" y="1978720"/>
            <a:ext cx="9672991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Vấn đề của File Nguyên Khối (Monolithic)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574" y="2743498"/>
            <a:ext cx="1086854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Khi mới học, nhiều bạn có thói quen viết </a:t>
            </a: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toàn bộ logic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vào một file duy nhất — giao diện, xác thực, thanh toán, gửi email — tất cả đều nằm trong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Hãy tưởng tượng file đó dài </a:t>
            </a:r>
            <a:r>
              <a:rPr lang="en-US" sz="1300" b="1" dirty="0">
                <a:solidFill>
                  <a:srgbClr val="BE2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5.000 dòng code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525" y="3465116"/>
            <a:ext cx="3531702" cy="17911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3066" y="3649464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🔍 Khó debug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03066" y="4013498"/>
            <a:ext cx="308681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Khi hệ thống lỗi ở phần Thanh toán, bạn phải "bơi" trong 5.000 dòng để tìm nguyên nhân — mất hàng giờ đồng hồ.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0472" y="3465116"/>
            <a:ext cx="3531702" cy="17911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81014" y="3649464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👥 Xung đột Git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81014" y="4013498"/>
            <a:ext cx="308681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Hai người cùng sửa một file duy nhất sẽ tạo ra conflict trên Git — một cơn ác mộng với team nhỏ lẫn team lớn.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8419" y="3465116"/>
            <a:ext cx="3531702" cy="17911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58961" y="3649464"/>
            <a:ext cx="295753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♻️ Không tái sử dụng được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258961" y="4013498"/>
            <a:ext cx="308681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Logic thanh toán bị chôn vùi trong file, không thể đem sang dự án khác mà không copy-paste thủ công.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503" y="457597"/>
            <a:ext cx="7241994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Giải pháp: Tách thành Các Module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46503" y="1175048"/>
            <a:ext cx="10698689" cy="448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Trong Python, mỗi file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riêng biệt là một </a:t>
            </a:r>
            <a:r>
              <a:rPr lang="en-US" sz="11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</a:t>
            </a: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Mỗi module giữ một nhiệm vụ chuyên biệt. Hãy cùng tách file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khổng lồ của dự án </a:t>
            </a:r>
            <a:r>
              <a:rPr lang="en-US" sz="11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ShopX</a:t>
            </a: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thành các module nhỏ.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1036" y="1769467"/>
            <a:ext cx="5381590" cy="4630936"/>
          </a:xfrm>
          <a:prstGeom prst="roundRect">
            <a:avLst>
              <a:gd name="adj" fmla="val 2278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787480" y="1899245"/>
            <a:ext cx="244111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Bước 1 — auth.py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7480" y="2274094"/>
            <a:ext cx="5088703" cy="2724547"/>
          </a:xfrm>
          <a:prstGeom prst="roundRect">
            <a:avLst>
              <a:gd name="adj" fmla="val 2259"/>
            </a:avLst>
          </a:prstGeom>
          <a:solidFill>
            <a:srgbClr val="CB343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Shape 5"/>
          <p:cNvSpPr/>
          <p:nvPr/>
        </p:nvSpPr>
        <p:spPr>
          <a:xfrm>
            <a:off x="780237" y="2274094"/>
            <a:ext cx="5103189" cy="3298570"/>
          </a:xfrm>
          <a:prstGeom prst="roundRect">
            <a:avLst>
              <a:gd name="adj" fmla="val 807"/>
            </a:avLst>
          </a:prstGeom>
          <a:solidFill>
            <a:srgbClr val="CB343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963390" y="2420541"/>
            <a:ext cx="4736882" cy="2431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CB34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auth.py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CB34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print("[Cấu hình] Module Auth đã tải!")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 algn="l">
              <a:lnSpc>
                <a:spcPct val="126000"/>
              </a:lnSpc>
              <a:buNone/>
            </a:pP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CB34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login(username, password):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CB34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username == "admin" \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CB34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password == "123":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CB34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"Token_Hợp_Lệ"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CB34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None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 algn="l">
              <a:lnSpc>
                <a:spcPct val="126000"/>
              </a:lnSpc>
              <a:buNone/>
            </a:pP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CB34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logout():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CB34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print("Người dùng đã đăng xuất.")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280886" y="1899245"/>
            <a:ext cx="272477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Bước 2 — payment.py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80886" y="2274094"/>
            <a:ext cx="5170656" cy="1619250"/>
          </a:xfrm>
          <a:prstGeom prst="roundRect">
            <a:avLst>
              <a:gd name="adj" fmla="val 380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6273643" y="2274094"/>
            <a:ext cx="5185141" cy="1619250"/>
          </a:xfrm>
          <a:prstGeom prst="roundRect">
            <a:avLst>
              <a:gd name="adj" fmla="val 13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6456796" y="2420541"/>
            <a:ext cx="4818835" cy="1326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payment.py</a:t>
            </a:r>
            <a:endParaRPr lang="en-US" sz="11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process_payment(amount):</a:t>
            </a:r>
            <a:endParaRPr lang="en-US" sz="11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endParaRPr lang="en-US" sz="11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f"Đang xử lý {amount} VND..."</a:t>
            </a:r>
            <a:endParaRPr lang="en-US" sz="11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80886" y="4039295"/>
            <a:ext cx="244111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Bước 3 — main.py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80886" y="4414143"/>
            <a:ext cx="5170656" cy="1840309"/>
          </a:xfrm>
          <a:prstGeom prst="roundRect">
            <a:avLst>
              <a:gd name="adj" fmla="val 334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3"/>
          <p:cNvSpPr/>
          <p:nvPr/>
        </p:nvSpPr>
        <p:spPr>
          <a:xfrm>
            <a:off x="6273643" y="4414143"/>
            <a:ext cx="5185141" cy="1840309"/>
          </a:xfrm>
          <a:prstGeom prst="roundRect">
            <a:avLst>
              <a:gd name="adj" fmla="val 119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6456796" y="4560590"/>
            <a:ext cx="4818835" cy="1547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main.py</a:t>
            </a:r>
            <a:endParaRPr lang="en-US" sz="11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auth</a:t>
            </a:r>
            <a:endParaRPr lang="en-US" sz="11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payment</a:t>
            </a:r>
            <a:endParaRPr lang="en-US" sz="1150" dirty="0"/>
          </a:p>
          <a:p>
            <a:pPr marL="0" indent="0" algn="l">
              <a:lnSpc>
                <a:spcPct val="126000"/>
              </a:lnSpc>
              <a:buNone/>
            </a:pPr>
            <a:endParaRPr lang="en-US" sz="11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token = auth.login("admin","123")</a:t>
            </a:r>
            <a:endParaRPr lang="en-US" sz="11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token:</a:t>
            </a:r>
            <a:endParaRPr lang="en-US" sz="11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payment.process_payment(500000)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243608"/>
            <a:ext cx="9663069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Namespace — Chìa Khóa Tránh Xung Đột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091035"/>
            <a:ext cx="10868547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Khi dùng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auth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Python tạo ra một </a:t>
            </a: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gian tên (Namespace)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riêng cho module đó. Bạn truy cập mọi thứ qua cú pháp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&lt;tên_module&gt;.&lt;tên_hàm&gt;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Điều này giải quyết triệt để vấn đề trùng tên hàm giữa các module.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574" y="2819003"/>
            <a:ext cx="3512653" cy="1507530"/>
          </a:xfrm>
          <a:prstGeom prst="roundRect">
            <a:avLst>
              <a:gd name="adj" fmla="val 4608"/>
            </a:avLst>
          </a:prstGeom>
          <a:solidFill>
            <a:srgbClr val="F6D5D5"/>
          </a:solidFill>
          <a:ln w="6350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833218" y="299065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auth.connect()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218" y="3348335"/>
            <a:ext cx="3169364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Hàm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connect()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trong module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auth.py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dùng để kết nối phiên đăng nhập người dùng.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521" y="2819003"/>
            <a:ext cx="3512653" cy="1507530"/>
          </a:xfrm>
          <a:prstGeom prst="roundRect">
            <a:avLst>
              <a:gd name="adj" fmla="val 4608"/>
            </a:avLst>
          </a:prstGeom>
          <a:solidFill>
            <a:srgbClr val="F6D5D5"/>
          </a:solidFill>
          <a:ln w="6350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4511165" y="2990652"/>
            <a:ext cx="20985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payment.connect()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11165" y="3348335"/>
            <a:ext cx="3169364" cy="80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Hàm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connect()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trong module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payment.py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dùng để kết nối cổng thanh toán.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2819003"/>
            <a:ext cx="3512653" cy="1507530"/>
          </a:xfrm>
          <a:prstGeom prst="roundRect">
            <a:avLst>
              <a:gd name="adj" fmla="val 4608"/>
            </a:avLst>
          </a:prstGeom>
          <a:solidFill>
            <a:srgbClr val="F6D5D5"/>
          </a:solidFill>
          <a:ln w="6350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8189112" y="2990652"/>
            <a:ext cx="20902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Không trùng nhau!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9112" y="3348335"/>
            <a:ext cx="3169364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 cùng tên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Python phân biệt rõ ràng qua namespace. Không bao giờ nhầm lẫn.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574" y="4512568"/>
            <a:ext cx="10868547" cy="915789"/>
          </a:xfrm>
          <a:prstGeom prst="roundRect">
            <a:avLst>
              <a:gd name="adj" fmla="val 7585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4752280"/>
            <a:ext cx="206667" cy="1652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98830" y="4702671"/>
            <a:ext cx="1016599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Ưu điểm vàng: Module trong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payment.py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có thể đem sang dự án Mobile, Web khác dùng lại mà không cần viết lại một dòng nào — đây gọi là </a:t>
            </a: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Reusability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1445022"/>
            <a:ext cx="935709" cy="310952"/>
          </a:xfrm>
          <a:prstGeom prst="roundRect">
            <a:avLst>
              <a:gd name="adj" fmla="val 17871"/>
            </a:avLst>
          </a:prstGeom>
          <a:solidFill>
            <a:srgbClr val="F6D5D5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760790" y="1494631"/>
            <a:ext cx="1346861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CHƯƠNG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574" y="1822053"/>
            <a:ext cx="921441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Thư Viện Chuẩn — "Batteries Included"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574" y="2586831"/>
            <a:ext cx="1086854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Triết lý nổi tiếng của Python: </a:t>
            </a: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"Batteries included"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mua về là có sẵn pin, không cần mua thêm. Hàng trăm module chuẩn được cài sẵn khi bạn cài Python, chỉ cần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là dùng ngay, không cần cài thêm gì.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74" y="3308449"/>
            <a:ext cx="413434" cy="413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1676" y="330844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math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81676" y="3666133"/>
            <a:ext cx="471078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toán số học nâng cao — làm tròn giá tiền, căn bậc hai, logarithm cho thuật toán giảm giá trong ShopX.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132" y="3308449"/>
            <a:ext cx="413434" cy="4134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19233" y="330844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819233" y="3666133"/>
            <a:ext cx="471088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Tương tác với hệ điều hành — đọc file cấu hình, lấy biến môi trường, kiểm tra đường dẫn thư mục.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574" y="4526062"/>
            <a:ext cx="413434" cy="41344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1676" y="452606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datetime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281676" y="4883745"/>
            <a:ext cx="471078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nhận thời gian đặt hàng, tính thời hạn khuyến mãi, định dạng ngày giờ hiển thị cho khách hàng.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9132" y="4526062"/>
            <a:ext cx="413434" cy="41344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19233" y="452606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json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819233" y="4883745"/>
            <a:ext cx="471088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Cấu trúc dữ liệu đơn hàng gửi lên server, đọc file cấu hình, trao đổi dữ liệu với API bên ngoài.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493812"/>
            <a:ext cx="9910018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Standard Library trong Thực Tế — Dự án ShopX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574" y="1226840"/>
            <a:ext cx="1147813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hợp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và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tạo ra một đơn hàng hoàn chỉnh: tính giá sau giảm, làm tròn xuống và đóng gói dữ liệu chuẩn JSON.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574" y="1603772"/>
            <a:ext cx="10868547" cy="3917156"/>
          </a:xfrm>
          <a:prstGeom prst="roundRect">
            <a:avLst>
              <a:gd name="adj" fmla="val 159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654133" y="1603772"/>
            <a:ext cx="10883429" cy="3917156"/>
          </a:xfrm>
          <a:prstGeom prst="roundRect">
            <a:avLst>
              <a:gd name="adj" fmla="val 57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840163" y="1752600"/>
            <a:ext cx="10511368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datetime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Tính giá sau khi giảm 15.5% và làm tròn xuống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raw_price = 105400 * (1 - 0.155)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final_price = math.floor(raw_price)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Tạo dữ liệu đơn hàng dạng JSON kèm thời gian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order_data = {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"item": "Bàn phím cơ",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"price": final_price,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"created_at": str(datetime.datetime.now())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print(json.dumps(order_data, indent=4, ensure_ascii=False))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1574" y="5671641"/>
            <a:ext cx="10868547" cy="541734"/>
          </a:xfrm>
          <a:prstGeom prst="roundRect">
            <a:avLst>
              <a:gd name="adj" fmla="val 1154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98" y="5879802"/>
            <a:ext cx="186031" cy="1488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5253" y="5829399"/>
            <a:ext cx="1084562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quả: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 "item": "Bàn phím cơ", "price": 89063, "created_at": "2025-01-15 10:30:00" }</a:t>
            </a: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Dữ liệu sạch, sẵn sàng gửi lên server.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925612"/>
            <a:ext cx="8862592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Thư Viện Bên Thứ Ba — Kho Báu PyPI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773039"/>
            <a:ext cx="1086854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Ngoài thư viện chuẩn, cộng đồng lập trình viên toàn cầu đã xây dựng hàng trăm nghìn thư viện lưu trữ tại </a:t>
            </a: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PyPI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(Python Package Index). Muốn dùng, chỉ cần một lệnh: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&lt;tên_thư_viện&gt;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574" y="2494657"/>
            <a:ext cx="3512653" cy="2156222"/>
          </a:xfrm>
          <a:prstGeom prst="roundRect">
            <a:avLst>
              <a:gd name="adj" fmla="val 3222"/>
            </a:avLst>
          </a:prstGeom>
          <a:solidFill>
            <a:srgbClr val="F6D5D5"/>
          </a:solidFill>
          <a:ln w="6350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833218" y="2666305"/>
            <a:ext cx="496081" cy="496094"/>
          </a:xfrm>
          <a:prstGeom prst="roundRect">
            <a:avLst>
              <a:gd name="adj" fmla="val 15358475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641" y="2802632"/>
            <a:ext cx="223237" cy="2232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3218" y="332769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numpy &amp; pandas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3218" y="3685381"/>
            <a:ext cx="31693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Vua trong ngành Data Science &amp; AI — xử lý mảng số liệu, phân tích dữ liệu với hiệu suất cực cao.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9521" y="2494657"/>
            <a:ext cx="3512653" cy="2156222"/>
          </a:xfrm>
          <a:prstGeom prst="roundRect">
            <a:avLst>
              <a:gd name="adj" fmla="val 3222"/>
            </a:avLst>
          </a:prstGeom>
          <a:solidFill>
            <a:srgbClr val="F6D5D5"/>
          </a:solidFill>
          <a:ln w="6350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7"/>
          <p:cNvSpPr/>
          <p:nvPr/>
        </p:nvSpPr>
        <p:spPr>
          <a:xfrm>
            <a:off x="4511165" y="2666305"/>
            <a:ext cx="496081" cy="496094"/>
          </a:xfrm>
          <a:prstGeom prst="roundRect">
            <a:avLst>
              <a:gd name="adj" fmla="val 15358475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7588" y="2802632"/>
            <a:ext cx="223237" cy="2232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1165" y="3327698"/>
            <a:ext cx="26335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Django / Flask / FastAPI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11165" y="3685381"/>
            <a:ext cx="31693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các Web Framework để xây dựng backend API — từ ứng dụng nhỏ đến hệ thống doanh nghiệp lớn.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17468" y="2494657"/>
            <a:ext cx="3512653" cy="2156222"/>
          </a:xfrm>
          <a:prstGeom prst="roundRect">
            <a:avLst>
              <a:gd name="adj" fmla="val 3222"/>
            </a:avLst>
          </a:prstGeom>
          <a:solidFill>
            <a:srgbClr val="F6D5D5"/>
          </a:solidFill>
          <a:ln w="6350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Shape 11"/>
          <p:cNvSpPr/>
          <p:nvPr/>
        </p:nvSpPr>
        <p:spPr>
          <a:xfrm>
            <a:off x="8189112" y="2666305"/>
            <a:ext cx="496081" cy="496094"/>
          </a:xfrm>
          <a:prstGeom prst="roundRect">
            <a:avLst>
              <a:gd name="adj" fmla="val 15358475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5535" y="2802632"/>
            <a:ext cx="223237" cy="2232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9112" y="332769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requests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189112" y="3685381"/>
            <a:ext cx="31693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"Thư viện quốc dân" để gọi HTTP API — gửi GET, POST, xác thực token, nhận phản hồi JSON chỉ với vài dòng.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1574" y="4836914"/>
            <a:ext cx="10868547" cy="909439"/>
          </a:xfrm>
          <a:prstGeom prst="roundRect">
            <a:avLst>
              <a:gd name="adj" fmla="val 7638"/>
            </a:avLst>
          </a:prstGeom>
          <a:solidFill>
            <a:srgbClr val="F2C0C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868" y="5076627"/>
            <a:ext cx="206667" cy="1652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98830" y="5027017"/>
            <a:ext cx="101659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Câu thần chú của lập trình viên Python: </a:t>
            </a: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"Đừng phát minh lại cái bánh xe."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Trước khi viết code, hãy tìm xem trên PyPI đã có thư viện giải quyết vấn đề đó chưa!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721519"/>
            <a:ext cx="935113" cy="310952"/>
          </a:xfrm>
          <a:prstGeom prst="roundRect">
            <a:avLst>
              <a:gd name="adj" fmla="val 17871"/>
            </a:avLst>
          </a:prstGeom>
          <a:solidFill>
            <a:srgbClr val="F6D5D5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Text 1"/>
          <p:cNvSpPr/>
          <p:nvPr/>
        </p:nvSpPr>
        <p:spPr>
          <a:xfrm>
            <a:off x="5332577" y="771128"/>
            <a:ext cx="1346266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CHƯƠNG 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3360" y="1098550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Virtual Environment — Hộp Cát Riêng Biệt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5233360" y="2380059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Hãy nghe cảnh báo quan trọng: </a:t>
            </a:r>
            <a:r>
              <a:rPr lang="en-US" sz="1300" b="1" dirty="0">
                <a:solidFill>
                  <a:srgbClr val="BE2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Tuyệt đối không cài bừa bãi thư viện vào môi trường gốc của máy tính!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114301" y="3095327"/>
            <a:ext cx="3184842" cy="3041055"/>
          </a:xfrm>
          <a:prstGeom prst="roundRect">
            <a:avLst>
              <a:gd name="adj" fmla="val 3916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5279595" y="3260626"/>
            <a:ext cx="26851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Kịch bản thảm họa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79595" y="3684389"/>
            <a:ext cx="2854254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ShopX (2024) dùng FastAPI </a:t>
            </a: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0.100</a:t>
            </a: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Hôm nay bạn làm ShopY, cần FastAPI </a:t>
            </a: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0.115</a:t>
            </a: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Nếu cài chung, bản mới </a:t>
            </a: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đè bản cũ</a:t>
            </a: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ShopX bị lỗi và dừng hoạt động ngay lập tức!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89847" y="3260626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Giải pháp: venv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89847" y="3684389"/>
            <a:ext cx="2946723" cy="132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Môi trường ảo (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venv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tạo cho mỗi dự án một "hộp cát" </a:t>
            </a: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độc lập hoàn toàn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ShopX và ShopY mỗi project có bộ thư viện riêng, không bao giờ ảnh hưởng lẫn nhau.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589847" y="5162649"/>
            <a:ext cx="2946723" cy="915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interpreter riêng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Thư mục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site-packages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riêng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Phiên bản thư viện riêng biệt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588367"/>
            <a:ext cx="8812290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Thiết Lập Virtual Environment — Thực Hành Ngay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574" y="1162050"/>
            <a:ext cx="1147813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Quy trình 3 bước chuẩn chỉnh để thiết lập môi trường ảo cho dự án ShopX. Thực hiện theo đúng thứ tự này mỗi khi bắt đầu dự án mới.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057" y="1440259"/>
            <a:ext cx="4787582" cy="28415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34289" y="3622677"/>
            <a:ext cx="1190087" cy="229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Cài gói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534452" y="3622677"/>
            <a:ext cx="1190088" cy="229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Kích hoạt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10162" y="3508047"/>
            <a:ext cx="1190088" cy="45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Tạo môi trường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1574" y="4479330"/>
            <a:ext cx="248308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Windows (PowerShell)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1574" y="4777680"/>
            <a:ext cx="5282969" cy="768945"/>
          </a:xfrm>
          <a:prstGeom prst="roundRect">
            <a:avLst>
              <a:gd name="adj" fmla="val 677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Shape 7"/>
          <p:cNvSpPr/>
          <p:nvPr/>
        </p:nvSpPr>
        <p:spPr>
          <a:xfrm>
            <a:off x="655423" y="4777680"/>
            <a:ext cx="5295271" cy="768945"/>
          </a:xfrm>
          <a:prstGeom prst="roundRect">
            <a:avLst>
              <a:gd name="adj" fmla="val 242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Text 8"/>
          <p:cNvSpPr/>
          <p:nvPr/>
        </p:nvSpPr>
        <p:spPr>
          <a:xfrm>
            <a:off x="810398" y="4901704"/>
            <a:ext cx="4985320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my_env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.\my_env\Scripts\Activate.ps1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requests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253502" y="4479330"/>
            <a:ext cx="216003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macOS / Linux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53502" y="4777680"/>
            <a:ext cx="5282969" cy="768945"/>
          </a:xfrm>
          <a:prstGeom prst="roundRect">
            <a:avLst>
              <a:gd name="adj" fmla="val 677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6247351" y="4777680"/>
            <a:ext cx="5295271" cy="768945"/>
          </a:xfrm>
          <a:prstGeom prst="roundRect">
            <a:avLst>
              <a:gd name="adj" fmla="val 242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Text 12"/>
          <p:cNvSpPr/>
          <p:nvPr/>
        </p:nvSpPr>
        <p:spPr>
          <a:xfrm>
            <a:off x="6402327" y="4901704"/>
            <a:ext cx="4985320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my_env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my_env/bin/activate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requests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61574" y="5755779"/>
            <a:ext cx="10868547" cy="409178"/>
          </a:xfrm>
          <a:prstGeom prst="roundRect">
            <a:avLst>
              <a:gd name="adj" fmla="val 12732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594" y="5922863"/>
            <a:ext cx="154976" cy="12402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64591" y="5870377"/>
            <a:ext cx="10951095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Khi kích hoạt thành công, bạn sẽ thấy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(my_env)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xuất hiện ở đầu dòng lệnh — đó là dấu hiệu bạn đang trong môi trường ảo an toàn!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597991"/>
            <a:ext cx="900388" cy="290314"/>
          </a:xfrm>
          <a:prstGeom prst="roundRect">
            <a:avLst>
              <a:gd name="adj" fmla="val 18185"/>
            </a:avLst>
          </a:prstGeom>
          <a:solidFill>
            <a:srgbClr val="F6D5D5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755830" y="645120"/>
            <a:ext cx="1321461" cy="196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CHƯƠNG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574" y="947936"/>
            <a:ext cx="7013796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Package — Tổ Chức Dự Án Lớn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574" y="1662708"/>
            <a:ext cx="10868547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Khi dự án ShopX lớn lên với hàng trăm file 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chúng ta không thể để tất cả lộ thiên ở thư mục gốc. Giải pháp: gom các module liên quan vào </a:t>
            </a: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Package</a:t>
            </a: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một thư mục chứa nhiều module hoặc sub-package.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1574" y="2320925"/>
            <a:ext cx="10868547" cy="2765822"/>
          </a:xfrm>
          <a:prstGeom prst="roundRect">
            <a:avLst>
              <a:gd name="adj" fmla="val 238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Shape 5"/>
          <p:cNvSpPr/>
          <p:nvPr/>
        </p:nvSpPr>
        <p:spPr>
          <a:xfrm>
            <a:off x="653736" y="2320925"/>
            <a:ext cx="10884223" cy="2765822"/>
          </a:xfrm>
          <a:prstGeom prst="roundRect">
            <a:avLst>
              <a:gd name="adj" fmla="val 85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850085" y="2477988"/>
            <a:ext cx="10491525" cy="2451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ShopX/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my_env/          # Môi trường ảo (đừng đụng vào!)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          # File chạy chính của hệ thống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shop_pkg/        # ← Đây là một PACKAGE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__init__.py  # File bắt buộc của package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auth.py      # Module xác thực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billing/     # ← Đây là một SUB-PACKAGE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__init__.py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payment.py   # Module thanh toán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1574" y="5254625"/>
            <a:ext cx="10868547" cy="837406"/>
          </a:xfrm>
          <a:prstGeom prst="roundRect">
            <a:avLst>
              <a:gd name="adj" fmla="val 788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33" y="5478462"/>
            <a:ext cx="196349" cy="15706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2042" y="5428159"/>
            <a:ext cx="1020102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dùng dấu chấm (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thay cho dấu gạch chéo (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để mô tả đường dẫn. Ví dụ: 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shop_pkg.billing.payment</a:t>
            </a: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tương ứng với thư mục 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shop_pkg/billing/payment.py</a:t>
            </a: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209774"/>
            <a:ext cx="6329899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 Cách Import từ Package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057202"/>
            <a:ext cx="11478132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Để gọi hàm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process_payment()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trong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từ sub-package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billing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chúng ta có hai cách — và có một cách được khuyến nghị hơn.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574" y="2679502"/>
            <a:ext cx="353130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❌</a:t>
            </a:r>
            <a:r>
              <a:rPr lang="en-US" sz="16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Cách 1: Import gián tiếp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1574" y="3130352"/>
            <a:ext cx="5232567" cy="1653679"/>
          </a:xfrm>
          <a:prstGeom prst="roundRect">
            <a:avLst>
              <a:gd name="adj" fmla="val 420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Shape 4"/>
          <p:cNvSpPr/>
          <p:nvPr/>
        </p:nvSpPr>
        <p:spPr>
          <a:xfrm>
            <a:off x="653339" y="3130352"/>
            <a:ext cx="5249037" cy="1653679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860007" y="3295650"/>
            <a:ext cx="4835702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shop_pkg.billing.payment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Mỗi lần gọi hàm rất dài dòng: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shop_pkg.billing.payment\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.process_payment(200000)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574" y="4970066"/>
            <a:ext cx="523256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Nhược điểm: Tên quá dài, code rối, dễ gây nhầm lẫn khi dự án có nhiều lớp lồng nhau.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4844" y="2514203"/>
            <a:ext cx="5470686" cy="3133923"/>
          </a:xfrm>
          <a:prstGeom prst="roundRect">
            <a:avLst>
              <a:gd name="adj" fmla="val 3800"/>
            </a:avLst>
          </a:prstGeom>
          <a:solidFill>
            <a:srgbClr val="5B81B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6350139" y="2679502"/>
            <a:ext cx="523326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✅ Cách 2: Import trực tiếp (Khuyên dùng)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0139" y="3130352"/>
            <a:ext cx="5140097" cy="1389063"/>
          </a:xfrm>
          <a:prstGeom prst="roundRect">
            <a:avLst>
              <a:gd name="adj" fmla="val 5001"/>
            </a:avLst>
          </a:prstGeom>
          <a:solidFill>
            <a:srgbClr val="688EB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" name="Shape 10"/>
          <p:cNvSpPr/>
          <p:nvPr/>
        </p:nvSpPr>
        <p:spPr>
          <a:xfrm>
            <a:off x="6341904" y="3130352"/>
            <a:ext cx="5156567" cy="1389063"/>
          </a:xfrm>
          <a:prstGeom prst="roundRect">
            <a:avLst>
              <a:gd name="adj" fmla="val 1786"/>
            </a:avLst>
          </a:prstGeom>
          <a:solidFill>
            <a:srgbClr val="688EB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6548571" y="3295650"/>
            <a:ext cx="4743232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688E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shop_pkg.billing import payment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688E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Gọi hàm ngắn gọn, tường minh: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688E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payment.process_payment(200000)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0139" y="4705449"/>
            <a:ext cx="514009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Ưu điểm: Rõ ràng, ngắn gọn. Người đọc code biết ngay </a:t>
            </a:r>
            <a:r>
              <a:rPr lang="en-US" sz="1300" dirty="0">
                <a:solidFill>
                  <a:srgbClr val="000000"/>
                </a:solidFill>
                <a:highlight>
                  <a:srgbClr val="688E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đến từ đâu nhờ dòng </a:t>
            </a:r>
            <a:r>
              <a:rPr lang="en-US" sz="1300" dirty="0">
                <a:solidFill>
                  <a:srgbClr val="000000"/>
                </a:solidFill>
                <a:highlight>
                  <a:srgbClr val="688E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... import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836017"/>
            <a:ext cx="7722002" cy="5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Vai Trò Cốt Lõi của File </a:t>
            </a:r>
            <a:r>
              <a:rPr lang="en-US" sz="32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__init__.py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696145"/>
            <a:ext cx="1086854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Từ Python 3.3+, file này không còn bắt buộc về mặt kỹ thuật, nhưng trong môi trường </a:t>
            </a: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 enterprise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nó vẫn là chuẩn bắt buộc vì 3 vai trò không thể thay thế.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74" y="2411413"/>
            <a:ext cx="3512653" cy="22999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93880" y="252025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45918" y="3091855"/>
            <a:ext cx="21419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Nhận diện Package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5918" y="3449538"/>
            <a:ext cx="3143965" cy="106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Giúp các công cụ đóng gói (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setuptools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và IDE như VS Code, PyCharm nhận biết chính xác cấu trúc source code của dự án.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521" y="2411413"/>
            <a:ext cx="3512653" cy="22999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1827" y="252025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4523865" y="3091855"/>
            <a:ext cx="30564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Khởi tạo tự động (Auto-run)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23865" y="3449538"/>
            <a:ext cx="3143965" cy="106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Bất kỳ code nào trong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__init__.py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sẽ </a:t>
            </a: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tự động chạy đầu tiên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khi package được import — thường dùng để cấu hình log, kết nối Database.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7468" y="2411413"/>
            <a:ext cx="3512653" cy="22999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9774" y="252025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8201812" y="309185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Kiểm soát Export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01812" y="3449538"/>
            <a:ext cx="3143965" cy="1077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biến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__all__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chỉ định chính xác những module nào được phép xuất ra khi ai đó dùng lệnh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shop_pkg import *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61574" y="4897438"/>
            <a:ext cx="10868547" cy="1124446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Shape 12"/>
          <p:cNvSpPr/>
          <p:nvPr/>
        </p:nvSpPr>
        <p:spPr>
          <a:xfrm>
            <a:off x="653339" y="4897438"/>
            <a:ext cx="10885017" cy="1124446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Text 13"/>
          <p:cNvSpPr/>
          <p:nvPr/>
        </p:nvSpPr>
        <p:spPr>
          <a:xfrm>
            <a:off x="860007" y="5062736"/>
            <a:ext cx="1047168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shop_pkg/__init__.py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print("Package ShopX đang được khởi tạo cấu hình hệ thống...")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__all__ = ['auth'] # Chỉ cho phép export module auth khi dùng import *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456208"/>
            <a:ext cx="888482" cy="290314"/>
          </a:xfrm>
          <a:prstGeom prst="roundRect">
            <a:avLst>
              <a:gd name="adj" fmla="val 18185"/>
            </a:avLst>
          </a:prstGeom>
          <a:solidFill>
            <a:srgbClr val="F6D5D5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755830" y="503337"/>
            <a:ext cx="1309556" cy="196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CHƯƠNG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574" y="806152"/>
            <a:ext cx="7399152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 Cách Import — Bảng Tổng Hợp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574" y="1520924"/>
            <a:ext cx="10868547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Đây là bảng tổng hợp 3 cú pháp import quan trọng nhất. Học thuộc lòng cả ba và biết khi nào dùng cái nào — đây là kỹ năng nền tảng của mọi dự án Python chuyên nghiệp.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1574" y="2179141"/>
            <a:ext cx="10868547" cy="2514699"/>
          </a:xfrm>
          <a:prstGeom prst="roundRect">
            <a:avLst>
              <a:gd name="adj" fmla="val 262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825182" y="2281337"/>
            <a:ext cx="300942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Cách thức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39143" y="2281337"/>
            <a:ext cx="3552141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Cú pháp (Syntax)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95818" y="2281337"/>
            <a:ext cx="2683701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Cách gọi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84053" y="2281337"/>
            <a:ext cx="279224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Khi nào dùng?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5182" y="2724547"/>
            <a:ext cx="300942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Toàn bộ module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39143" y="2724547"/>
            <a:ext cx="3552141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95818" y="2724547"/>
            <a:ext cx="2683701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math.sqrt(16)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84053" y="2724547"/>
            <a:ext cx="2182659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Giữ namespace rõ ràng, tránh nhầm lẫn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5182" y="3412927"/>
            <a:ext cx="300942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Đích danh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39143" y="3412927"/>
            <a:ext cx="3552141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math import sqrt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95818" y="3412927"/>
            <a:ext cx="2683701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sqrt(16)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84053" y="3412927"/>
            <a:ext cx="2182659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Chỉ cần 1-2 hàm cụ thể, code ngắn gọn hơn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5182" y="4101306"/>
            <a:ext cx="300942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Đặt Alias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39143" y="4101306"/>
            <a:ext cx="3552141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95818" y="4101306"/>
            <a:ext cx="2683701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pd.DataFrame()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84053" y="4101306"/>
            <a:ext cx="2182659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Tên thư viện quá dài hoặc tránh trùng tên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1574" y="4861719"/>
            <a:ext cx="10868547" cy="1539974"/>
          </a:xfrm>
          <a:prstGeom prst="roundRect">
            <a:avLst>
              <a:gd name="adj" fmla="val 428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Shape 22"/>
          <p:cNvSpPr/>
          <p:nvPr/>
        </p:nvSpPr>
        <p:spPr>
          <a:xfrm>
            <a:off x="653736" y="4861719"/>
            <a:ext cx="10884223" cy="1539974"/>
          </a:xfrm>
          <a:prstGeom prst="roundRect">
            <a:avLst>
              <a:gd name="adj" fmla="val 153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Text 23"/>
          <p:cNvSpPr/>
          <p:nvPr/>
        </p:nvSpPr>
        <p:spPr>
          <a:xfrm>
            <a:off x="850085" y="5018782"/>
            <a:ext cx="10491525" cy="12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math import floor as lam_tron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pd.DataFrame() # Alias cho pandas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lam_tron(5.6) # Alias cho math.floor → kết quả: 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611584"/>
            <a:ext cx="8703449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Relative Import — Gọi Nhau Trong Package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574" y="1289745"/>
            <a:ext cx="10868547" cy="441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Khi các module </a:t>
            </a:r>
            <a:r>
              <a:rPr lang="en-US" sz="1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bên trong cùng một package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cần gọi lẫn nhau, dùng </a:t>
            </a:r>
            <a:r>
              <a:rPr lang="en-US" sz="1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relative import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với dấu chấm thay vì đi từ thư mục gốc. Ví dụ: từ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payment.py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gọi hàm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login()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trong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auth.py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574" y="1985070"/>
            <a:ext cx="236680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Quy ước dấu chấm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1574" y="2338983"/>
            <a:ext cx="2571686" cy="847130"/>
          </a:xfrm>
          <a:prstGeom prst="roundRect">
            <a:avLst>
              <a:gd name="adj" fmla="val 6970"/>
            </a:avLst>
          </a:prstGeom>
          <a:solidFill>
            <a:srgbClr val="F6D5D5"/>
          </a:solidFill>
          <a:ln w="6350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808414" y="2485827"/>
            <a:ext cx="1757219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(một chấm)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8414" y="2831207"/>
            <a:ext cx="227800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Thư mục </a:t>
            </a:r>
            <a:r>
              <a:rPr lang="en-US" sz="1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hiện tại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(cùng cấp)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2716" y="2338983"/>
            <a:ext cx="2571686" cy="847130"/>
          </a:xfrm>
          <a:prstGeom prst="roundRect">
            <a:avLst>
              <a:gd name="adj" fmla="val 6970"/>
            </a:avLst>
          </a:prstGeom>
          <a:solidFill>
            <a:srgbClr val="F6D5D5"/>
          </a:solidFill>
          <a:ln w="6350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3499556" y="2485827"/>
            <a:ext cx="1757219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..</a:t>
            </a:r>
            <a:r>
              <a:rPr lang="en-US" sz="13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(hai chấm)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99556" y="2831207"/>
            <a:ext cx="227800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Thư mục </a:t>
            </a:r>
            <a:r>
              <a:rPr lang="en-US" sz="1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(lên 1 cấp)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73643" y="1985070"/>
            <a:ext cx="283202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Ví dụ trong payment.py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73643" y="2338983"/>
            <a:ext cx="5262828" cy="2777728"/>
          </a:xfrm>
          <a:prstGeom prst="roundRect">
            <a:avLst>
              <a:gd name="adj" fmla="val 212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1"/>
          <p:cNvSpPr/>
          <p:nvPr/>
        </p:nvSpPr>
        <p:spPr>
          <a:xfrm>
            <a:off x="6266698" y="2338983"/>
            <a:ext cx="5276718" cy="2777728"/>
          </a:xfrm>
          <a:prstGeom prst="roundRect">
            <a:avLst>
              <a:gd name="adj" fmla="val 75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6442410" y="2479477"/>
            <a:ext cx="4925294" cy="2496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shop_pkg/billing/payment.py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.. = lên 1 cấp vào shop_pkg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rồi đi vào file auth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..auth import login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process_payment_with_auth(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username, password, amount):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login(username, password):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print(f"Thanh toán {amount}VND ✓")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print("Xác thực thất bại!")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1574" y="5385395"/>
            <a:ext cx="10868547" cy="726678"/>
          </a:xfrm>
          <a:prstGeom prst="roundRect">
            <a:avLst>
              <a:gd name="adj" fmla="val 8125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64" y="5577780"/>
            <a:ext cx="175712" cy="14049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18267" y="5527973"/>
            <a:ext cx="10271364" cy="441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⚠️</a:t>
            </a:r>
            <a:r>
              <a:rPr lang="en-US" sz="1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Lưu ý xương máu: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Relative import chỉ hoạt động khi thực thi từ file nằm </a:t>
            </a:r>
            <a:r>
              <a:rPr lang="en-US" sz="1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ngoài package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(ví dụ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). Nếu bạn mở thẳng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payment.py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lên và bấm Run, Python sẽ báo lỗi: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ImportError: attempted relative import with no known parent package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803374"/>
            <a:ext cx="10079381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Tổng Kết — Kiến Trúc Dự Án Python Chuẩn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3205559"/>
            <a:ext cx="10868547" cy="19050"/>
          </a:xfrm>
          <a:prstGeom prst="roundRect">
            <a:avLst>
              <a:gd name="adj" fmla="val 364642"/>
            </a:avLst>
          </a:prstGeom>
          <a:solidFill>
            <a:srgbClr val="DCBBB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2394585" y="2709466"/>
            <a:ext cx="19050" cy="496094"/>
          </a:xfrm>
          <a:prstGeom prst="roundRect">
            <a:avLst>
              <a:gd name="adj" fmla="val 364642"/>
            </a:avLst>
          </a:prstGeom>
          <a:solidFill>
            <a:srgbClr val="DCBBB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2218079" y="3019524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F6D5D5"/>
          </a:solidFill>
          <a:ln w="6350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2280089" y="305053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70375" y="165080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Module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6868" y="2008485"/>
            <a:ext cx="3154482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Tách file lớn thành các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chuyên biệt — nền tảng của mọi dự án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40404" y="3205559"/>
            <a:ext cx="19050" cy="496094"/>
          </a:xfrm>
          <a:prstGeom prst="roundRect">
            <a:avLst>
              <a:gd name="adj" fmla="val 364642"/>
            </a:avLst>
          </a:prstGeom>
          <a:solidFill>
            <a:srgbClr val="DCBBB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4063898" y="3019524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F6D5D5"/>
          </a:solidFill>
          <a:ln w="6350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4125909" y="305053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216195" y="386705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Standard Library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2688" y="4224734"/>
            <a:ext cx="3154482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... có sẵn — không cài thêm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6323" y="2709466"/>
            <a:ext cx="19050" cy="496094"/>
          </a:xfrm>
          <a:prstGeom prst="roundRect">
            <a:avLst>
              <a:gd name="adj" fmla="val 364642"/>
            </a:avLst>
          </a:prstGeom>
          <a:solidFill>
            <a:srgbClr val="DCBBB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3"/>
          <p:cNvSpPr/>
          <p:nvPr/>
        </p:nvSpPr>
        <p:spPr>
          <a:xfrm>
            <a:off x="5909817" y="3019524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F6D5D5"/>
          </a:solidFill>
          <a:ln w="6350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5971827" y="305053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062113" y="165080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venv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18606" y="2008485"/>
            <a:ext cx="315448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Mỗi dự án một môi trường ảo riêng — không bao giờ xung đột phiên bản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32142" y="3205559"/>
            <a:ext cx="19050" cy="496094"/>
          </a:xfrm>
          <a:prstGeom prst="roundRect">
            <a:avLst>
              <a:gd name="adj" fmla="val 364642"/>
            </a:avLst>
          </a:prstGeom>
          <a:solidFill>
            <a:srgbClr val="DCBBB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" name="Shape 18"/>
          <p:cNvSpPr/>
          <p:nvPr/>
        </p:nvSpPr>
        <p:spPr>
          <a:xfrm>
            <a:off x="7755636" y="3019524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F6D5D5"/>
          </a:solidFill>
          <a:ln w="6350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7817647" y="305053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907933" y="386705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Package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64426" y="4224734"/>
            <a:ext cx="3154482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Gom module vào thư mục có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__init__.py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cấu trúc phân cấp rõ ràng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778061" y="2709466"/>
            <a:ext cx="19050" cy="496094"/>
          </a:xfrm>
          <a:prstGeom prst="roundRect">
            <a:avLst>
              <a:gd name="adj" fmla="val 364642"/>
            </a:avLst>
          </a:prstGeom>
          <a:solidFill>
            <a:srgbClr val="DCBBB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Shape 23"/>
          <p:cNvSpPr/>
          <p:nvPr/>
        </p:nvSpPr>
        <p:spPr>
          <a:xfrm>
            <a:off x="9601555" y="3019524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F6D5D5"/>
          </a:solidFill>
          <a:ln w="6350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6" name="Text 24"/>
          <p:cNvSpPr/>
          <p:nvPr/>
        </p:nvSpPr>
        <p:spPr>
          <a:xfrm>
            <a:off x="9663565" y="305053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8753851" y="165080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Import nâng cao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10345" y="2008485"/>
            <a:ext cx="315448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cách import + relative import — giao tiếp linh hoạt giữa các module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1574" y="4946352"/>
            <a:ext cx="10868547" cy="922139"/>
          </a:xfrm>
          <a:prstGeom prst="roundRect">
            <a:avLst>
              <a:gd name="adj" fmla="val 7533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5186065"/>
            <a:ext cx="206667" cy="16529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198830" y="5136455"/>
            <a:ext cx="10165996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🎯</a:t>
            </a: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Bài tập về nhà: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Tạo dự án ShopX với đúng cấu trúc package đã học, viết file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__init__.py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có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__all__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thiết lập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venv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và cài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Chạy thử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gọi được cả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auth.login()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và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payment.process_payment()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2516</Words>
  <Application>Microsoft Office PowerPoint</Application>
  <PresentationFormat>Widescreen</PresentationFormat>
  <Paragraphs>250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Montserrat ExtraBold</vt:lpstr>
      <vt:lpstr>Montserrat</vt:lpstr>
      <vt:lpstr>Montserrat Light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Quốc  Tuấn</cp:lastModifiedBy>
  <cp:revision>2</cp:revision>
  <dcterms:created xsi:type="dcterms:W3CDTF">2026-06-11T08:12:13Z</dcterms:created>
  <dcterms:modified xsi:type="dcterms:W3CDTF">2026-06-11T08:21:11Z</dcterms:modified>
</cp:coreProperties>
</file>