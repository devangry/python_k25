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embeddedFontLst>
    <p:embeddedFont>
      <p:font typeface="Montserrat ExtraBold"/>
      <p:regular r:id="rId27"/>
    </p:embeddedFont>
    <p:embeddedFont>
      <p:font typeface="Montserrat"/>
      <p:regular r:id="rId28"/>
    </p:embeddedFont>
    <p:embeddedFont>
      <p:font typeface="Montserrat Bold"/>
      <p:regular r:id="rId2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8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image" Target="../media/image-20-7.png"/><Relationship Id="rId8" Type="http://schemas.openxmlformats.org/officeDocument/2006/relationships/image" Target="../media/image-20-8.svg"/><Relationship Id="rId9" Type="http://schemas.openxmlformats.org/officeDocument/2006/relationships/slideLayout" Target="../slideLayouts/slideLayout21.xml"/><Relationship Id="rId10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99679"/>
            <a:ext cx="4722763" cy="1162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Chuỗi trong Python: Indexing, Slicing &amp; String Methods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948360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Hành trình khám phá toàn diện về String — từ cách khai báo, indexing 2 chiều, slicing linh hoạt, đến bộ phương thức mạnh mẽ và 4 thế hệ định dạng chuỗi. Đây là nền tảng không thể thiếu cho mọi lập trình viên Python.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52091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Lộ Trình Bài Học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1495499"/>
            <a:ext cx="526263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Chúng ta sẽ học gì hôm nay?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19" y="2069083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265536"/>
            <a:ext cx="4013895" cy="14288"/>
          </a:xfrm>
          <a:prstGeom prst="rect">
            <a:avLst/>
          </a:prstGeom>
          <a:solidFill>
            <a:srgbClr val="BE2727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356098"/>
            <a:ext cx="22297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Phần 1: Bản chất của Chuỗi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2624361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Khai báo, Indexing 2 chiều và đặc tính Bất biến (Immutable)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33987" y="2069083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3987" y="2265536"/>
            <a:ext cx="4013895" cy="14288"/>
          </a:xfrm>
          <a:prstGeom prst="rect">
            <a:avLst/>
          </a:prstGeom>
          <a:solidFill>
            <a:srgbClr val="BE2727"/>
          </a:solidFill>
          <a:ln/>
        </p:spPr>
      </p:sp>
      <p:sp>
        <p:nvSpPr>
          <p:cNvPr id="10" name="Text 8"/>
          <p:cNvSpPr/>
          <p:nvPr/>
        </p:nvSpPr>
        <p:spPr>
          <a:xfrm>
            <a:off x="4633987" y="2356098"/>
            <a:ext cx="203909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Phần 2: Slicing &amp; Toán tử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33987" y="2624361"/>
            <a:ext cx="4013895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Cắt chuỗi linh hoạt với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[start:stop:step]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và các toán tử trên chuỗi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6119" y="3044577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3241030"/>
            <a:ext cx="4013895" cy="14288"/>
          </a:xfrm>
          <a:prstGeom prst="rect">
            <a:avLst/>
          </a:prstGeom>
          <a:solidFill>
            <a:srgbClr val="BE2727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3331592"/>
            <a:ext cx="192658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Phần 3: String Methods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119" y="3599855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nhóm phương thức xử lý chuỗi chuyên nghiệp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33987" y="3044577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3987" y="3241030"/>
            <a:ext cx="4013895" cy="14288"/>
          </a:xfrm>
          <a:prstGeom prst="rect">
            <a:avLst/>
          </a:prstGeom>
          <a:solidFill>
            <a:srgbClr val="BE2727"/>
          </a:solidFill>
          <a:ln/>
        </p:spPr>
      </p:sp>
      <p:sp>
        <p:nvSpPr>
          <p:cNvPr id="18" name="Text 16"/>
          <p:cNvSpPr/>
          <p:nvPr/>
        </p:nvSpPr>
        <p:spPr>
          <a:xfrm>
            <a:off x="4633987" y="3331592"/>
            <a:ext cx="215332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Phần 4: String Formatting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33987" y="3599855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thế hệ định dạng chuỗi — từ cổ điển đến hiện đại nhất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865561"/>
            <a:ext cx="27657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Phần 1 – Bản chất của Chuỗi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96119" y="2108969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String là gì?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96119" y="2682553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Chuỗi (String) là một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dãy các ký tự đứng liền nhau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Hãy tưởng tượng nó như một chuỗi hạt cườm — mỗi hạt là một ký tự, và chúng được xếp theo thứ tự nhất định trong bộ nhớ máy tính.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3150"/>
            <a:ext cx="638323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 Cách khai báo chuỗi trong Python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308720"/>
            <a:ext cx="4013895" cy="2296641"/>
          </a:xfrm>
          <a:prstGeom prst="roundRect">
            <a:avLst>
              <a:gd name="adj" fmla="val 2269"/>
            </a:avLst>
          </a:prstGeom>
          <a:solidFill>
            <a:srgbClr val="FFFFFF"/>
          </a:solidFill>
          <a:ln w="14288">
            <a:solidFill>
              <a:srgbClr val="DCBB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0406" y="1323008"/>
            <a:ext cx="3985320" cy="372070"/>
          </a:xfrm>
          <a:prstGeom prst="roundRect">
            <a:avLst>
              <a:gd name="adj" fmla="val 9395"/>
            </a:avLst>
          </a:prstGeom>
          <a:solidFill>
            <a:srgbClr val="F6D5D5"/>
          </a:solidFill>
          <a:ln/>
        </p:spPr>
      </p:sp>
      <p:sp>
        <p:nvSpPr>
          <p:cNvPr id="5" name="Text 3"/>
          <p:cNvSpPr/>
          <p:nvPr/>
        </p:nvSpPr>
        <p:spPr>
          <a:xfrm>
            <a:off x="2410048" y="1390352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4380" y="1819052"/>
            <a:ext cx="206141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Nháy đơn hoặc Nháy kép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380" y="2087314"/>
            <a:ext cx="373737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Dùng cho chuỗi ngắn trên 1 dòng.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Mẹo: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Nếu chuỗi có dấu nháy đơn bên trong, hãy bọc ngoài bằng nháy kép để tránh lỗi.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4380" y="2822228"/>
            <a:ext cx="3737372" cy="644872"/>
          </a:xfrm>
          <a:prstGeom prst="roundRect">
            <a:avLst>
              <a:gd name="adj" fmla="val 8079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628204" y="2822228"/>
            <a:ext cx="3749725" cy="644872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783208" y="2946202"/>
            <a:ext cx="343971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'Nguyễn Văn A'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sentence = "I'm a developer"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33987" y="1308720"/>
            <a:ext cx="4013895" cy="2296641"/>
          </a:xfrm>
          <a:prstGeom prst="roundRect">
            <a:avLst>
              <a:gd name="adj" fmla="val 2269"/>
            </a:avLst>
          </a:prstGeom>
          <a:solidFill>
            <a:srgbClr val="FFFFFF"/>
          </a:solidFill>
          <a:ln w="14288">
            <a:solidFill>
              <a:srgbClr val="DCBB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48274" y="1323008"/>
            <a:ext cx="3985320" cy="372070"/>
          </a:xfrm>
          <a:prstGeom prst="roundRect">
            <a:avLst>
              <a:gd name="adj" fmla="val 9395"/>
            </a:avLst>
          </a:prstGeom>
          <a:solidFill>
            <a:srgbClr val="F6D5D5"/>
          </a:solidFill>
          <a:ln/>
        </p:spPr>
      </p:sp>
      <p:sp>
        <p:nvSpPr>
          <p:cNvPr id="13" name="Text 11"/>
          <p:cNvSpPr/>
          <p:nvPr/>
        </p:nvSpPr>
        <p:spPr>
          <a:xfrm>
            <a:off x="6547917" y="1390352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772248" y="1819052"/>
            <a:ext cx="194004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Nháy ba (Triple Quotes)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2248" y="2087314"/>
            <a:ext cx="37373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Dùng khi muốn viết văn bản dài, tự do xuống dòng — như viết email, đoạn thơ, hay tài liệu dài.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72248" y="2623765"/>
            <a:ext cx="3737372" cy="644872"/>
          </a:xfrm>
          <a:prstGeom prst="roundRect">
            <a:avLst>
              <a:gd name="adj" fmla="val 8079"/>
            </a:avLst>
          </a:prstGeom>
          <a:solidFill>
            <a:srgbClr val="F2F2F2"/>
          </a:solidFill>
          <a:ln/>
        </p:spPr>
      </p:sp>
      <p:sp>
        <p:nvSpPr>
          <p:cNvPr id="17" name="Shape 15"/>
          <p:cNvSpPr/>
          <p:nvPr/>
        </p:nvSpPr>
        <p:spPr>
          <a:xfrm>
            <a:off x="4766072" y="2623765"/>
            <a:ext cx="3749725" cy="644872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4921076" y="2747739"/>
            <a:ext cx="343971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poem = """Trăm năm trong cõi người ta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Chữ tài chữ mệnh khéo là ghét nhau"""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6119" y="3744888"/>
            <a:ext cx="8151763" cy="725463"/>
          </a:xfrm>
          <a:prstGeom prst="roundRect">
            <a:avLst>
              <a:gd name="adj" fmla="val 7182"/>
            </a:avLst>
          </a:prstGeom>
          <a:solidFill>
            <a:srgbClr val="B6D6FC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3929435"/>
            <a:ext cx="155004" cy="12397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99071" y="3899818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Dùng linh hoạt nháy đơn và nháy kép là một kỹ năng nhỏ nhưng giúp bạn viết code sạch và tránh lỗi cú pháp rất thường gặp.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309414"/>
            <a:ext cx="3086174" cy="220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Indexing — Chỉ mục 2 Chiều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34132" y="610046"/>
            <a:ext cx="8709868" cy="88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đánh số vị trí (index) cho từng ký tự trong chuỗi theo </a:t>
            </a:r>
            <a:pPr algn="l" indent="0" marL="0">
              <a:lnSpc>
                <a:spcPct val="10500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chiều</a:t>
            </a:r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chiều dương từ trái sang phải và chiều âm từ phải sang trái.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132" y="743620"/>
            <a:ext cx="5379169" cy="300231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32" y="743620"/>
            <a:ext cx="5379169" cy="300231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83381" y="3791024"/>
            <a:ext cx="4153346" cy="775618"/>
          </a:xfrm>
          <a:prstGeom prst="roundRect">
            <a:avLst>
              <a:gd name="adj" fmla="val 6549"/>
            </a:avLst>
          </a:prstGeom>
          <a:solidFill>
            <a:srgbClr val="BE2727"/>
          </a:solidFill>
          <a:ln/>
        </p:spPr>
      </p:sp>
      <p:sp>
        <p:nvSpPr>
          <p:cNvPr id="7" name="Text 3"/>
          <p:cNvSpPr/>
          <p:nvPr/>
        </p:nvSpPr>
        <p:spPr>
          <a:xfrm>
            <a:off x="453926" y="3831134"/>
            <a:ext cx="1339081" cy="110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Chiều dương (+)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453926" y="3981450"/>
            <a:ext cx="4469457" cy="88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Đếm từ trái sang phải, bắt đầu từ </a:t>
            </a:r>
            <a:pPr algn="l" indent="0" marL="0">
              <a:lnSpc>
                <a:spcPct val="105000"/>
              </a:lnSpc>
              <a:buNone/>
            </a:pPr>
            <a:r>
              <a:rPr lang="en-US" sz="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đến </a:t>
            </a:r>
            <a:pPr algn="l" indent="0" marL="0">
              <a:lnSpc>
                <a:spcPct val="105000"/>
              </a:lnSpc>
              <a:buNone/>
            </a:pPr>
            <a:r>
              <a:rPr lang="en-US" sz="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n-1</a:t>
            </a:r>
            <a:endParaRPr lang="en-US" sz="550" dirty="0"/>
          </a:p>
        </p:txBody>
      </p:sp>
      <p:sp>
        <p:nvSpPr>
          <p:cNvPr id="9" name="Shape 5"/>
          <p:cNvSpPr/>
          <p:nvPr/>
        </p:nvSpPr>
        <p:spPr>
          <a:xfrm>
            <a:off x="453926" y="4115023"/>
            <a:ext cx="4012257" cy="406524"/>
          </a:xfrm>
          <a:prstGeom prst="roundRect">
            <a:avLst>
              <a:gd name="adj" fmla="val 7289"/>
            </a:avLst>
          </a:prstGeom>
          <a:solidFill>
            <a:srgbClr val="CB3434"/>
          </a:solidFill>
          <a:ln/>
        </p:spPr>
      </p:sp>
      <p:sp>
        <p:nvSpPr>
          <p:cNvPr id="10" name="Shape 6"/>
          <p:cNvSpPr/>
          <p:nvPr/>
        </p:nvSpPr>
        <p:spPr>
          <a:xfrm>
            <a:off x="450428" y="4115023"/>
            <a:ext cx="4019252" cy="406524"/>
          </a:xfrm>
          <a:prstGeom prst="roundRect">
            <a:avLst>
              <a:gd name="adj" fmla="val 2603"/>
            </a:avLst>
          </a:prstGeom>
          <a:solidFill>
            <a:srgbClr val="CB3434"/>
          </a:solidFill>
          <a:ln/>
        </p:spPr>
      </p:sp>
      <p:sp>
        <p:nvSpPr>
          <p:cNvPr id="11" name="Text 7"/>
          <p:cNvSpPr/>
          <p:nvPr/>
        </p:nvSpPr>
        <p:spPr>
          <a:xfrm>
            <a:off x="538609" y="4185568"/>
            <a:ext cx="3842891" cy="265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"PYTHON"</a:t>
            </a:r>
            <a:endParaRPr lang="en-US" sz="5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S[0]  # 'P'</a:t>
            </a:r>
            <a:endParaRPr lang="en-US" sz="5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S[5]  # 'N'</a:t>
            </a:r>
            <a:endParaRPr lang="en-US" sz="550" dirty="0"/>
          </a:p>
        </p:txBody>
      </p:sp>
      <p:sp>
        <p:nvSpPr>
          <p:cNvPr id="12" name="Text 8"/>
          <p:cNvSpPr/>
          <p:nvPr/>
        </p:nvSpPr>
        <p:spPr>
          <a:xfrm>
            <a:off x="4662785" y="3831134"/>
            <a:ext cx="1339081" cy="110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Chiều âm (−)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4662785" y="3981450"/>
            <a:ext cx="4481215" cy="88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Đếm từ phải sang trái, bắt đầu từ </a:t>
            </a:r>
            <a:pPr algn="l" indent="0" marL="0">
              <a:lnSpc>
                <a:spcPct val="10500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-1</a:t>
            </a:r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(ký tự cuối) lùi dần về đầu</a:t>
            </a:r>
            <a:endParaRPr lang="en-US" sz="550" dirty="0"/>
          </a:p>
        </p:txBody>
      </p:sp>
      <p:sp>
        <p:nvSpPr>
          <p:cNvPr id="14" name="Shape 10"/>
          <p:cNvSpPr/>
          <p:nvPr/>
        </p:nvSpPr>
        <p:spPr>
          <a:xfrm>
            <a:off x="4662785" y="4115023"/>
            <a:ext cx="4051846" cy="318046"/>
          </a:xfrm>
          <a:prstGeom prst="roundRect">
            <a:avLst>
              <a:gd name="adj" fmla="val 9317"/>
            </a:avLst>
          </a:prstGeom>
          <a:solidFill>
            <a:srgbClr val="F2F2F2"/>
          </a:solidFill>
          <a:ln/>
        </p:spPr>
      </p:sp>
      <p:sp>
        <p:nvSpPr>
          <p:cNvPr id="15" name="Shape 11"/>
          <p:cNvSpPr/>
          <p:nvPr/>
        </p:nvSpPr>
        <p:spPr>
          <a:xfrm>
            <a:off x="4659288" y="4115023"/>
            <a:ext cx="4058841" cy="318046"/>
          </a:xfrm>
          <a:prstGeom prst="roundRect">
            <a:avLst>
              <a:gd name="adj" fmla="val 3327"/>
            </a:avLst>
          </a:prstGeom>
          <a:solidFill>
            <a:srgbClr val="F2F2F2"/>
          </a:solidFill>
          <a:ln/>
        </p:spPr>
      </p:sp>
      <p:sp>
        <p:nvSpPr>
          <p:cNvPr id="16" name="Text 12"/>
          <p:cNvSpPr/>
          <p:nvPr/>
        </p:nvSpPr>
        <p:spPr>
          <a:xfrm>
            <a:off x="4747468" y="4185568"/>
            <a:ext cx="3882479" cy="176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S[-1]  # 'N' (cuối cùng)</a:t>
            </a:r>
            <a:endParaRPr lang="en-US" sz="5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S[-6]  # 'P' (đầu tiên)</a:t>
            </a:r>
            <a:endParaRPr lang="en-US" sz="550" dirty="0"/>
          </a:p>
        </p:txBody>
      </p:sp>
      <p:sp>
        <p:nvSpPr>
          <p:cNvPr id="17" name="Shape 13"/>
          <p:cNvSpPr/>
          <p:nvPr/>
        </p:nvSpPr>
        <p:spPr>
          <a:xfrm>
            <a:off x="434132" y="4611737"/>
            <a:ext cx="8275737" cy="222349"/>
          </a:xfrm>
          <a:prstGeom prst="roundRect">
            <a:avLst>
              <a:gd name="adj" fmla="val 13327"/>
            </a:avLst>
          </a:prstGeom>
          <a:solidFill>
            <a:srgbClr val="B6FCB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676" y="4704829"/>
            <a:ext cx="88181" cy="7054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3401" y="4669482"/>
            <a:ext cx="8433122" cy="9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Mẹo thực chiến:</a:t>
            </a:r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Dùng </a:t>
            </a:r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S[-1]</a:t>
            </a:r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để lấy ký tự cuối cùng mà không cần biết chuỗi dài bao nhiêu — rất tiện trong thực tế!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39974"/>
            <a:ext cx="314749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Kiến thức phỏng vấn quan trọng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1719858"/>
            <a:ext cx="7287071" cy="534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Chuỗi là </a:t>
            </a:r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Bất biến</a:t>
            </a:r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(Immutable)</a:t>
            </a:r>
            <a:endParaRPr lang="en-US" sz="3350" dirty="0"/>
          </a:p>
        </p:txBody>
      </p:sp>
      <p:sp>
        <p:nvSpPr>
          <p:cNvPr id="4" name="Text 2"/>
          <p:cNvSpPr/>
          <p:nvPr/>
        </p:nvSpPr>
        <p:spPr>
          <a:xfrm>
            <a:off x="496119" y="2440781"/>
            <a:ext cx="236428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Immutable nghĩa là gì?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2820665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Sau khi chuỗi được tạo ra và lưu vào bộ nhớ, bạn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thể sửa đổi, thêm hoặc xóa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bất kỳ ký tự nào trên chuỗi gốc đó.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3158654"/>
            <a:ext cx="8151763" cy="644872"/>
          </a:xfrm>
          <a:prstGeom prst="roundRect">
            <a:avLst>
              <a:gd name="adj" fmla="val 8079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489942" y="3158654"/>
            <a:ext cx="8164116" cy="644872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644947" y="3282628"/>
            <a:ext cx="785410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"Python"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S[0] = "J"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67024"/>
            <a:ext cx="257502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Phần 2 – Slicing &amp; Toán tử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96119" y="1910432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Slicing — Cắt chuỗi chính xác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96119" y="2871564"/>
            <a:ext cx="4722763" cy="60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Nếu Indexing là lấy ra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một ký tự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thì Slicing là lấy ra một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đoạn chuỗi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Cú pháp tổng quát: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my_str[start:stop:step]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với nguyên tắc "nửa mở": lấy từ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đến sát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không bao gồm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9026"/>
            <a:ext cx="3435325" cy="3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Bảng tham số Slicing</a:t>
            </a:r>
            <a:endParaRPr lang="en-US" sz="2050" dirty="0"/>
          </a:p>
        </p:txBody>
      </p:sp>
      <p:sp>
        <p:nvSpPr>
          <p:cNvPr id="3" name="Shape 1"/>
          <p:cNvSpPr/>
          <p:nvPr/>
        </p:nvSpPr>
        <p:spPr>
          <a:xfrm>
            <a:off x="496119" y="927646"/>
            <a:ext cx="8151763" cy="1144488"/>
          </a:xfrm>
          <a:prstGeom prst="roundRect">
            <a:avLst>
              <a:gd name="adj" fmla="val 386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7144" y="990898"/>
            <a:ext cx="2957587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Tham số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323034" y="990898"/>
            <a:ext cx="2955206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Ý nghĩa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036543" y="990898"/>
            <a:ext cx="2957587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Mặc định (nếu bỏ trống)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07144" y="1268685"/>
            <a:ext cx="2957587" cy="165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23034" y="1268685"/>
            <a:ext cx="2955206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Vị trí bắt đầu lấy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36543" y="1268685"/>
            <a:ext cx="2957587" cy="165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(đầu chuỗi)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7144" y="1555998"/>
            <a:ext cx="2957587" cy="165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23034" y="1555998"/>
            <a:ext cx="2955206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Vị trí kết thúc (không lấy vị trí này)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36543" y="1555998"/>
            <a:ext cx="2957587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Hết chuỗi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7144" y="1843311"/>
            <a:ext cx="2957587" cy="165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23034" y="1843311"/>
            <a:ext cx="2955206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Bước nhảy giữa các ký tự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036543" y="1843311"/>
            <a:ext cx="2957587" cy="165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(lấy liên tiếp)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6119" y="2206526"/>
            <a:ext cx="2413695" cy="16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Ví dụ thực tế với 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 = "HELLO"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6119" y="2510358"/>
            <a:ext cx="4031084" cy="804490"/>
          </a:xfrm>
          <a:prstGeom prst="roundRect">
            <a:avLst>
              <a:gd name="adj" fmla="val 5505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251" y="2620491"/>
            <a:ext cx="1317947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S[1:4]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51" y="2838896"/>
            <a:ext cx="3810819" cy="36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Lấy vị trí 1, 2, 3</a:t>
            </a:r>
            <a:endParaRPr lang="en-US" sz="8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</a:t>
            </a:r>
            <a:pPr algn="l" indent="0" marL="0">
              <a:lnSpc>
                <a:spcPct val="123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"ELL"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16797" y="2510358"/>
            <a:ext cx="4031084" cy="804490"/>
          </a:xfrm>
          <a:prstGeom prst="roundRect">
            <a:avLst>
              <a:gd name="adj" fmla="val 5505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26930" y="2620491"/>
            <a:ext cx="1317947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S[:3]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26930" y="2838896"/>
            <a:ext cx="3810819" cy="36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Từ đầu đến vị trí 2</a:t>
            </a:r>
            <a:endParaRPr lang="en-US" sz="8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</a:t>
            </a:r>
            <a:pPr algn="l" indent="0" marL="0">
              <a:lnSpc>
                <a:spcPct val="123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"HEL"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96119" y="3404443"/>
            <a:ext cx="4031084" cy="804490"/>
          </a:xfrm>
          <a:prstGeom prst="roundRect">
            <a:avLst>
              <a:gd name="adj" fmla="val 5505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6251" y="3514576"/>
            <a:ext cx="1317947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S[0:5:2]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6251" y="3732981"/>
            <a:ext cx="3810819" cy="36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Lấy vị trí 0, 2, 4</a:t>
            </a:r>
            <a:endParaRPr lang="en-US" sz="8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</a:t>
            </a:r>
            <a:pPr algn="l" indent="0" marL="0">
              <a:lnSpc>
                <a:spcPct val="123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"HLO"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16797" y="3404443"/>
            <a:ext cx="4031084" cy="804490"/>
          </a:xfrm>
          <a:prstGeom prst="roundRect">
            <a:avLst>
              <a:gd name="adj" fmla="val 5505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26930" y="3514576"/>
            <a:ext cx="1317947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S[::-1]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26930" y="3732981"/>
            <a:ext cx="3810819" cy="36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Đảo ngược toàn bộ chuỗi</a:t>
            </a:r>
            <a:endParaRPr lang="en-US" sz="8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</a:t>
            </a:r>
            <a:pPr algn="l" indent="0" marL="0">
              <a:lnSpc>
                <a:spcPct val="123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"OLLEH"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96119" y="4309690"/>
            <a:ext cx="8151763" cy="414784"/>
          </a:xfrm>
          <a:prstGeom prst="roundRect">
            <a:avLst>
              <a:gd name="adj" fmla="val 10677"/>
            </a:avLst>
          </a:prstGeom>
          <a:solidFill>
            <a:srgbClr val="B6FCB8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489" y="4458742"/>
            <a:ext cx="131787" cy="10537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38646" y="4425628"/>
            <a:ext cx="8161065" cy="165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Tuyệt chiêu:</a:t>
            </a:r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S[::-1]</a:t>
            </a:r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là cách đảo ngược chuỗi nhanh nhất và "Pythonic" nhất. Đây là một trick rất hay gặp trong bài thi và phỏng vấn!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9412"/>
            <a:ext cx="422850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Các Toán tử trên Chuỗi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284982"/>
            <a:ext cx="310083" cy="3100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750070"/>
            <a:ext cx="178169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Toán tử 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— Nối chuỗi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96119" y="2083445"/>
            <a:ext cx="3998342" cy="644872"/>
          </a:xfrm>
          <a:prstGeom prst="roundRect">
            <a:avLst>
              <a:gd name="adj" fmla="val 8079"/>
            </a:avLst>
          </a:prstGeom>
          <a:solidFill>
            <a:srgbClr val="F2F2F2"/>
          </a:solidFill>
          <a:ln/>
        </p:spPr>
      </p:sp>
      <p:sp>
        <p:nvSpPr>
          <p:cNvPr id="6" name="Shape 3"/>
          <p:cNvSpPr/>
          <p:nvPr/>
        </p:nvSpPr>
        <p:spPr>
          <a:xfrm>
            <a:off x="489942" y="2083445"/>
            <a:ext cx="4010695" cy="644872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644947" y="2207419"/>
            <a:ext cx="370068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32F6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"Hello" + " " + "World"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32F6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→ "Hello World"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465" y="1284982"/>
            <a:ext cx="310083" cy="3100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49465" y="1750070"/>
            <a:ext cx="178995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Toán tử 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— Nhân bản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649465" y="2083445"/>
            <a:ext cx="3998416" cy="644872"/>
          </a:xfrm>
          <a:prstGeom prst="roundRect">
            <a:avLst>
              <a:gd name="adj" fmla="val 8079"/>
            </a:avLst>
          </a:prstGeom>
          <a:solidFill>
            <a:srgbClr val="F2F2F2"/>
          </a:solidFill>
          <a:ln/>
        </p:spPr>
      </p:sp>
      <p:sp>
        <p:nvSpPr>
          <p:cNvPr id="11" name="Shape 7"/>
          <p:cNvSpPr/>
          <p:nvPr/>
        </p:nvSpPr>
        <p:spPr>
          <a:xfrm>
            <a:off x="4643289" y="2083445"/>
            <a:ext cx="4010769" cy="644872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12" name="Text 8"/>
          <p:cNvSpPr/>
          <p:nvPr/>
        </p:nvSpPr>
        <p:spPr>
          <a:xfrm>
            <a:off x="4798293" y="2207419"/>
            <a:ext cx="370076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32F6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"Hi!" * 3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32F6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→ "Hi!Hi!Hi!"</a:t>
            </a:r>
            <a:endParaRPr lang="en-US" sz="9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976339"/>
            <a:ext cx="310083" cy="31008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6119" y="344142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Toán tử 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 / not in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96119" y="3774802"/>
            <a:ext cx="3998342" cy="644872"/>
          </a:xfrm>
          <a:prstGeom prst="roundRect">
            <a:avLst>
              <a:gd name="adj" fmla="val 8079"/>
            </a:avLst>
          </a:prstGeom>
          <a:solidFill>
            <a:srgbClr val="F2F2F2"/>
          </a:solidFill>
          <a:ln/>
        </p:spPr>
      </p:sp>
      <p:sp>
        <p:nvSpPr>
          <p:cNvPr id="16" name="Shape 11"/>
          <p:cNvSpPr/>
          <p:nvPr/>
        </p:nvSpPr>
        <p:spPr>
          <a:xfrm>
            <a:off x="489942" y="3774802"/>
            <a:ext cx="4010695" cy="644872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17" name="Text 12"/>
          <p:cNvSpPr/>
          <p:nvPr/>
        </p:nvSpPr>
        <p:spPr>
          <a:xfrm>
            <a:off x="644947" y="3898776"/>
            <a:ext cx="370068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32F6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"Py" in "Python"   # True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32F6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"Java" in "Python" # False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9465" y="2976339"/>
            <a:ext cx="310083" cy="31008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649465" y="344142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Toán tử So sánh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649465" y="3709690"/>
            <a:ext cx="399841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sánh theo bảng mã ASCII từ trái qua phải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4649465" y="4047679"/>
            <a:ext cx="3998416" cy="446410"/>
          </a:xfrm>
          <a:prstGeom prst="roundRect">
            <a:avLst>
              <a:gd name="adj" fmla="val 11671"/>
            </a:avLst>
          </a:prstGeom>
          <a:solidFill>
            <a:srgbClr val="F2F2F2"/>
          </a:solidFill>
          <a:ln/>
        </p:spPr>
      </p:sp>
      <p:sp>
        <p:nvSpPr>
          <p:cNvPr id="22" name="Shape 16"/>
          <p:cNvSpPr/>
          <p:nvPr/>
        </p:nvSpPr>
        <p:spPr>
          <a:xfrm>
            <a:off x="4643289" y="4047679"/>
            <a:ext cx="4010769" cy="446410"/>
          </a:xfrm>
          <a:prstGeom prst="roundRect">
            <a:avLst>
              <a:gd name="adj" fmla="val 4168"/>
            </a:avLst>
          </a:prstGeom>
          <a:solidFill>
            <a:srgbClr val="F2F2F2"/>
          </a:solidFill>
          <a:ln/>
        </p:spPr>
      </p:sp>
      <p:sp>
        <p:nvSpPr>
          <p:cNvPr id="23" name="Text 17"/>
          <p:cNvSpPr/>
          <p:nvPr/>
        </p:nvSpPr>
        <p:spPr>
          <a:xfrm>
            <a:off x="4798293" y="4171652"/>
            <a:ext cx="370076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32F6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"apple" &lt; "banana" # True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78334"/>
            <a:ext cx="1860872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Phần 3 – String Methods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496119" y="638249"/>
            <a:ext cx="5076602" cy="271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Bộ Phương thức String — 4 Nhóm chính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96119" y="1000720"/>
            <a:ext cx="4722763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Vì chuỗi là </a:t>
            </a:r>
            <a:pPr algn="l" indent="0" marL="0">
              <a:lnSpc>
                <a:spcPct val="113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bất biến</a:t>
            </a:r>
            <a:pPr algn="l" indent="0" marL="0">
              <a:lnSpc>
                <a:spcPct val="113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tất cả các phương thức đều </a:t>
            </a:r>
            <a:pPr algn="l" indent="0" marL="0">
              <a:lnSpc>
                <a:spcPct val="113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làm thay đổi chuỗi gốc</a:t>
            </a:r>
            <a:pPr algn="l" indent="0" marL="0">
              <a:lnSpc>
                <a:spcPct val="113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mà trả về một chuỗi mới. Chúng ta chia thành 4 nhóm để dễ học và dễ nhớ.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496119" y="1305223"/>
            <a:ext cx="4722763" cy="794445"/>
          </a:xfrm>
          <a:prstGeom prst="roundRect">
            <a:avLst>
              <a:gd name="adj" fmla="val 4591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7648" y="1396752"/>
            <a:ext cx="260449" cy="260449"/>
          </a:xfrm>
          <a:prstGeom prst="roundRect">
            <a:avLst>
              <a:gd name="adj" fmla="val 21940681"/>
            </a:avLst>
          </a:prstGeom>
          <a:solidFill>
            <a:srgbClr val="BE272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9234" y="1468338"/>
            <a:ext cx="117202" cy="1172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7648" y="1717923"/>
            <a:ext cx="1085404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Nhóm 1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587648" y="1890043"/>
            <a:ext cx="4539704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Định dạng chữ (Casing)</a:t>
            </a:r>
            <a:endParaRPr lang="en-US" sz="650" dirty="0"/>
          </a:p>
        </p:txBody>
      </p:sp>
      <p:sp>
        <p:nvSpPr>
          <p:cNvPr id="11" name="Shape 7"/>
          <p:cNvSpPr/>
          <p:nvPr/>
        </p:nvSpPr>
        <p:spPr>
          <a:xfrm>
            <a:off x="496119" y="2160389"/>
            <a:ext cx="4722763" cy="794445"/>
          </a:xfrm>
          <a:prstGeom prst="roundRect">
            <a:avLst>
              <a:gd name="adj" fmla="val 4591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87648" y="2251918"/>
            <a:ext cx="260449" cy="260449"/>
          </a:xfrm>
          <a:prstGeom prst="roundRect">
            <a:avLst>
              <a:gd name="adj" fmla="val 21940681"/>
            </a:avLst>
          </a:prstGeom>
          <a:solidFill>
            <a:srgbClr val="BE272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234" y="2323505"/>
            <a:ext cx="117202" cy="1172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87648" y="2573089"/>
            <a:ext cx="1085404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Nhóm 2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587648" y="2745209"/>
            <a:ext cx="4539704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Tìm kiếm (Searching)</a:t>
            </a:r>
            <a:endParaRPr lang="en-US" sz="650" dirty="0"/>
          </a:p>
        </p:txBody>
      </p:sp>
      <p:sp>
        <p:nvSpPr>
          <p:cNvPr id="16" name="Shape 11"/>
          <p:cNvSpPr/>
          <p:nvPr/>
        </p:nvSpPr>
        <p:spPr>
          <a:xfrm>
            <a:off x="496119" y="3015555"/>
            <a:ext cx="4722763" cy="794445"/>
          </a:xfrm>
          <a:prstGeom prst="roundRect">
            <a:avLst>
              <a:gd name="adj" fmla="val 4591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87648" y="3107085"/>
            <a:ext cx="260449" cy="260449"/>
          </a:xfrm>
          <a:prstGeom prst="roundRect">
            <a:avLst>
              <a:gd name="adj" fmla="val 21940681"/>
            </a:avLst>
          </a:prstGeom>
          <a:solidFill>
            <a:srgbClr val="BE272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9234" y="3178671"/>
            <a:ext cx="117202" cy="1172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87648" y="3428256"/>
            <a:ext cx="1085404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Nhóm 3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587648" y="3600376"/>
            <a:ext cx="4539704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Chỉnh sửa &amp; Cắt ghép (Modify)</a:t>
            </a:r>
            <a:endParaRPr lang="en-US" sz="650" dirty="0"/>
          </a:p>
        </p:txBody>
      </p:sp>
      <p:sp>
        <p:nvSpPr>
          <p:cNvPr id="21" name="Shape 15"/>
          <p:cNvSpPr/>
          <p:nvPr/>
        </p:nvSpPr>
        <p:spPr>
          <a:xfrm>
            <a:off x="496119" y="3870722"/>
            <a:ext cx="4722763" cy="794445"/>
          </a:xfrm>
          <a:prstGeom prst="roundRect">
            <a:avLst>
              <a:gd name="adj" fmla="val 4591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87648" y="3962251"/>
            <a:ext cx="260449" cy="260449"/>
          </a:xfrm>
          <a:prstGeom prst="roundRect">
            <a:avLst>
              <a:gd name="adj" fmla="val 21940681"/>
            </a:avLst>
          </a:prstGeom>
          <a:solidFill>
            <a:srgbClr val="BE272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234" y="4033837"/>
            <a:ext cx="117202" cy="11720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87648" y="4283422"/>
            <a:ext cx="1085404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Nhóm 4</a:t>
            </a:r>
            <a:endParaRPr lang="en-US" sz="850" dirty="0"/>
          </a:p>
        </p:txBody>
      </p:sp>
      <p:sp>
        <p:nvSpPr>
          <p:cNvPr id="25" name="Text 18"/>
          <p:cNvSpPr/>
          <p:nvPr/>
        </p:nvSpPr>
        <p:spPr>
          <a:xfrm>
            <a:off x="587648" y="4455542"/>
            <a:ext cx="4539704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Kiểm tra dữ liệu (Validation)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31503"/>
            <a:ext cx="573271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Nhóm 1: Định dạng chữ (Casing)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67073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Nhóm này giúp bạn chuẩn hóa cách hiển thị văn bản — rất hữu ích khi cần so sánh chuỗi hoặc xử lý dữ liệu đầu vào không nhất quán.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003524"/>
            <a:ext cx="8151763" cy="1438721"/>
          </a:xfrm>
          <a:prstGeom prst="roundRect">
            <a:avLst>
              <a:gd name="adj" fmla="val 3621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89942" y="2003524"/>
            <a:ext cx="8164116" cy="1438721"/>
          </a:xfrm>
          <a:prstGeom prst="roundRect">
            <a:avLst>
              <a:gd name="adj" fmla="val 1293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44947" y="2127498"/>
            <a:ext cx="7854107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 = "học PYTHON rất Dễ"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print(text.upper())      # "HỌC PYTHON RẤT DỄ"  – In hoa toàn bộ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print(text.lower())      # "học python rất dễ"  – In thường toàn bộ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print(text.capitalize()) # "Học python rất dễ"  – In hoa chữ đầu câu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print(text.title())      # "Học Python Rất Dễ"  – In hoa đầu mỗi từ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96119" y="3581772"/>
            <a:ext cx="8151763" cy="730225"/>
          </a:xfrm>
          <a:prstGeom prst="roundRect">
            <a:avLst>
              <a:gd name="adj" fmla="val 7135"/>
            </a:avLst>
          </a:prstGeom>
          <a:solidFill>
            <a:srgbClr val="B6D6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3766319"/>
            <a:ext cx="155004" cy="1239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9071" y="3736702"/>
            <a:ext cx="7624837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Ứng dụng thực tế: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Khi so sánh tên người dùng nhập vào, hãy dùng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.lower()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để chuyển về chữ thường trước — tránh lỗi do người dùng nhập "ADMIN" hay "Admin" thay vì "admin".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5032"/>
            <a:ext cx="542880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Nhóm 2: Tìm kiếm (Searching)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250603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Nhóm phương thức tìm kiếm giúp bạn tra cứu vị trí, đếm số lần xuất hiện, và kiểm tra cấu trúc của chuỗi một cách dễ dàng.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588591"/>
            <a:ext cx="8151763" cy="1637184"/>
          </a:xfrm>
          <a:prstGeom prst="roundRect">
            <a:avLst>
              <a:gd name="adj" fmla="val 3182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89942" y="1588591"/>
            <a:ext cx="8164116" cy="1637184"/>
          </a:xfrm>
          <a:prstGeom prst="roundRect">
            <a:avLst>
              <a:gd name="adj" fmla="val 1137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44947" y="1712565"/>
            <a:ext cx="7854107" cy="13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 = "hello python, hello world"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print(s.find("hello"))      # 0   – Trả về chỉ mục đầu tiên tìm thấy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print(s.find("java"))       # -1  – Không tìm thấy → trả về -1 (không lỗi!)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print(s.count("hello"))     # 2   – Đếm số lần xuất hiện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print(s.startswith("he"))   # True  – Kiểm tra bắt đầu bằng...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print(s.endswith("world"))  # True  – Kiểm tra kết thúc bằng...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06822" y="3365302"/>
            <a:ext cx="4103191" cy="1163092"/>
          </a:xfrm>
          <a:prstGeom prst="roundRect">
            <a:avLst>
              <a:gd name="adj" fmla="val 7679"/>
            </a:avLst>
          </a:prstGeom>
          <a:solidFill>
            <a:srgbClr val="5B81B2"/>
          </a:solidFill>
          <a:ln/>
        </p:spPr>
      </p:sp>
      <p:sp>
        <p:nvSpPr>
          <p:cNvPr id="8" name="Text 6"/>
          <p:cNvSpPr/>
          <p:nvPr/>
        </p:nvSpPr>
        <p:spPr>
          <a:xfrm>
            <a:off x="530796" y="348927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find() vs index()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796" y="3807098"/>
            <a:ext cx="3855244" cy="609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Cả hai đều tìm vị trí chuỗi con. Nhưng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688EB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find()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trả về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688EB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khi không tìm thấy, còn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688EB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index()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sẽ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ném lỗi ValueError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Nên ưu tiên dùng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688EB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find()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để code an toàn hơn.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28046" y="3489275"/>
            <a:ext cx="251274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startswith() &amp; endswith()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28046" y="3807098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Hai phương thức này rất hay dùng để kiểm tra định dạng file, URL, hay tiền tố/hậu tố của dữ liệu đầu vào trước khi xử lý.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11585"/>
            <a:ext cx="692125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Nhóm 3: Chỉnh sửa &amp; Cắt ghép (Modify)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647155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2627" y="1670410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99145" y="1689795"/>
            <a:ext cx="221084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strip() — Xóa khoảng trắng thừa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9145" y="2151906"/>
            <a:ext cx="2210842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Xóa khoảng trắng (hoặc ký tự chỉ định) ở 2 đầu chuỗi. Dùng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lstrip()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để xóa bên trái,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rstrip()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để xóa bên phải.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99145" y="3094806"/>
            <a:ext cx="2210842" cy="843335"/>
          </a:xfrm>
          <a:prstGeom prst="roundRect">
            <a:avLst>
              <a:gd name="adj" fmla="val 6178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892969" y="3094806"/>
            <a:ext cx="2223195" cy="843335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1047973" y="3218780"/>
            <a:ext cx="1913186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user_input = "  admin  "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print(user_input.strip()) # "admin"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64991" y="1647155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1500" y="1670410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668018" y="1689795"/>
            <a:ext cx="2210916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replace() — Thay thế chuỗi con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68018" y="2151906"/>
            <a:ext cx="2210916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Thay tất cả các lần xuất hiện của chuỗi cũ bằng chuỗi mới. Trả về chuỗi mới, không thay đổi gốc.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68018" y="2886819"/>
            <a:ext cx="2210916" cy="843335"/>
          </a:xfrm>
          <a:prstGeom prst="roundRect">
            <a:avLst>
              <a:gd name="adj" fmla="val 6178"/>
            </a:avLst>
          </a:prstGeom>
          <a:solidFill>
            <a:srgbClr val="F2F2F2"/>
          </a:solidFill>
          <a:ln/>
        </p:spPr>
      </p:sp>
      <p:sp>
        <p:nvSpPr>
          <p:cNvPr id="15" name="Shape 13"/>
          <p:cNvSpPr/>
          <p:nvPr/>
        </p:nvSpPr>
        <p:spPr>
          <a:xfrm>
            <a:off x="3661842" y="2886819"/>
            <a:ext cx="2223269" cy="843335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3816846" y="3010793"/>
            <a:ext cx="191326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"I love Java"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print(s.replace("Java", "Python")) # "I love Python"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3939" y="1647155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447" y="1670410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36965" y="1689795"/>
            <a:ext cx="2210916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split() và join() — Cặp bài trùng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36965" y="2151906"/>
            <a:ext cx="2210916" cy="798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split()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cắt chuỗi thành List.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join()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nối các phần tử List lại thành chuỗi. Hai phương thức này là "cặp đôi" không thể tách rời.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36965" y="3090044"/>
            <a:ext cx="2210916" cy="1041797"/>
          </a:xfrm>
          <a:prstGeom prst="roundRect">
            <a:avLst>
              <a:gd name="adj" fmla="val 5001"/>
            </a:avLst>
          </a:prstGeom>
          <a:solidFill>
            <a:srgbClr val="F2F2F2"/>
          </a:solidFill>
          <a:ln/>
        </p:spPr>
      </p:sp>
      <p:sp>
        <p:nvSpPr>
          <p:cNvPr id="22" name="Shape 20"/>
          <p:cNvSpPr/>
          <p:nvPr/>
        </p:nvSpPr>
        <p:spPr>
          <a:xfrm>
            <a:off x="6430789" y="3090044"/>
            <a:ext cx="2223269" cy="1041797"/>
          </a:xfrm>
          <a:prstGeom prst="roundRect">
            <a:avLst>
              <a:gd name="adj" fmla="val 1786"/>
            </a:avLst>
          </a:prstGeom>
          <a:solidFill>
            <a:srgbClr val="F2F2F2"/>
          </a:solidFill>
          <a:ln/>
        </p:spPr>
      </p:sp>
      <p:sp>
        <p:nvSpPr>
          <p:cNvPr id="23" name="Text 21"/>
          <p:cNvSpPr/>
          <p:nvPr/>
        </p:nvSpPr>
        <p:spPr>
          <a:xfrm>
            <a:off x="6585793" y="3214018"/>
            <a:ext cx="19132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 = "Python-is-fun".split("-")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['Python', 'is', 'fun']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".join(words)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"Python is fun"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4928"/>
            <a:ext cx="595766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Nhóm 4: Kiểm tra dữ liệu (Validation)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1044699"/>
            <a:ext cx="860896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Đặc điểm nhận biết: Luôn bắt đầu bằng 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is...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và luôn trả về 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hoặc 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Nhóm này cực hữu ích khi cần xác thực dữ liệu đầu vào của người dùng.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96119" y="1327398"/>
            <a:ext cx="4025652" cy="1331714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4288">
            <a:solidFill>
              <a:srgbClr val="DCBB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2027" y="1453307"/>
            <a:ext cx="139548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isdigit()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2027" y="1687934"/>
            <a:ext cx="377383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Chuỗi có phải toàn chữ số?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22027" y="1970633"/>
            <a:ext cx="3773835" cy="562570"/>
          </a:xfrm>
          <a:prstGeom prst="roundRect">
            <a:avLst>
              <a:gd name="adj" fmla="val 8335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616446" y="1970633"/>
            <a:ext cx="3784997" cy="562570"/>
          </a:xfrm>
          <a:prstGeom prst="roundRect">
            <a:avLst>
              <a:gd name="adj" fmla="val 2977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755972" y="2082254"/>
            <a:ext cx="3505944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032F6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"123".isdigit()  # True</a:t>
            </a:r>
            <a:endParaRPr lang="en-US" sz="8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032F6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"12a".isdigit()  # False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22229" y="1327398"/>
            <a:ext cx="4025652" cy="1331714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4288">
            <a:solidFill>
              <a:srgbClr val="DCB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48138" y="1453307"/>
            <a:ext cx="139548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isalpha()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48138" y="1687934"/>
            <a:ext cx="377383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Chuỗi có phải toàn chữ cái?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48138" y="1970633"/>
            <a:ext cx="3773835" cy="562570"/>
          </a:xfrm>
          <a:prstGeom prst="roundRect">
            <a:avLst>
              <a:gd name="adj" fmla="val 8335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4742557" y="1970633"/>
            <a:ext cx="3784997" cy="562570"/>
          </a:xfrm>
          <a:prstGeom prst="roundRect">
            <a:avLst>
              <a:gd name="adj" fmla="val 2977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4882083" y="2082254"/>
            <a:ext cx="3505944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032F6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"abc".isalpha()   # True</a:t>
            </a:r>
            <a:endParaRPr lang="en-US" sz="8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032F6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"ab1".isalpha()   # False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96119" y="2759571"/>
            <a:ext cx="4025652" cy="1331714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4288">
            <a:solidFill>
              <a:srgbClr val="DCBB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027" y="2885480"/>
            <a:ext cx="139548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isalnum()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2027" y="3120107"/>
            <a:ext cx="377383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Chỉ chứa chữ và số, không có ký tự đặc biệt?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2027" y="3402806"/>
            <a:ext cx="3773835" cy="562570"/>
          </a:xfrm>
          <a:prstGeom prst="roundRect">
            <a:avLst>
              <a:gd name="adj" fmla="val 8335"/>
            </a:avLst>
          </a:prstGeom>
          <a:solidFill>
            <a:srgbClr val="F2F2F2"/>
          </a:solidFill>
          <a:ln/>
        </p:spPr>
      </p:sp>
      <p:sp>
        <p:nvSpPr>
          <p:cNvPr id="20" name="Shape 18"/>
          <p:cNvSpPr/>
          <p:nvPr/>
        </p:nvSpPr>
        <p:spPr>
          <a:xfrm>
            <a:off x="616446" y="3402806"/>
            <a:ext cx="3784997" cy="562570"/>
          </a:xfrm>
          <a:prstGeom prst="roundRect">
            <a:avLst>
              <a:gd name="adj" fmla="val 2977"/>
            </a:avLst>
          </a:prstGeom>
          <a:solidFill>
            <a:srgbClr val="F2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755972" y="3514427"/>
            <a:ext cx="3505944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032F6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"abc123".isalnum() # True</a:t>
            </a:r>
            <a:endParaRPr lang="en-US" sz="8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032F6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"ab@1".isalnum()   # False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22229" y="2759571"/>
            <a:ext cx="4025652" cy="1331714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4288">
            <a:solidFill>
              <a:srgbClr val="DCBB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48138" y="2885480"/>
            <a:ext cx="139548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isspace()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48138" y="3120107"/>
            <a:ext cx="377383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Toàn bộ là khoảng trắng/tab/xuống dòng?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48138" y="3402806"/>
            <a:ext cx="3773835" cy="562570"/>
          </a:xfrm>
          <a:prstGeom prst="roundRect">
            <a:avLst>
              <a:gd name="adj" fmla="val 8335"/>
            </a:avLst>
          </a:prstGeom>
          <a:solidFill>
            <a:srgbClr val="F2F2F2"/>
          </a:solidFill>
          <a:ln/>
        </p:spPr>
      </p:sp>
      <p:sp>
        <p:nvSpPr>
          <p:cNvPr id="26" name="Shape 24"/>
          <p:cNvSpPr/>
          <p:nvPr/>
        </p:nvSpPr>
        <p:spPr>
          <a:xfrm>
            <a:off x="4742557" y="3402806"/>
            <a:ext cx="3784997" cy="562570"/>
          </a:xfrm>
          <a:prstGeom prst="roundRect">
            <a:avLst>
              <a:gd name="adj" fmla="val 2977"/>
            </a:avLst>
          </a:prstGeom>
          <a:solidFill>
            <a:srgbClr val="F2F2F2"/>
          </a:solidFill>
          <a:ln/>
        </p:spPr>
      </p:sp>
      <p:sp>
        <p:nvSpPr>
          <p:cNvPr id="27" name="Text 25"/>
          <p:cNvSpPr/>
          <p:nvPr/>
        </p:nvSpPr>
        <p:spPr>
          <a:xfrm>
            <a:off x="4882083" y="3514427"/>
            <a:ext cx="3505944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032F6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   ".isspace()  # True</a:t>
            </a:r>
            <a:endParaRPr lang="en-US" sz="8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032F6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 a ".isspace()  # False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96119" y="4204320"/>
            <a:ext cx="8151763" cy="444252"/>
          </a:xfrm>
          <a:prstGeom prst="roundRect">
            <a:avLst>
              <a:gd name="adj" fmla="val 10555"/>
            </a:avLst>
          </a:prstGeom>
          <a:solidFill>
            <a:srgbClr val="B6D6FC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740" y="4369966"/>
            <a:ext cx="139526" cy="111621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58887" y="4332684"/>
            <a:ext cx="813457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Ứng dụng điển hình: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Kiểm tra số điện thoại, mã số sinh viên, mật khẩu trước khi lưu vào cơ sở dữ liệu.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71786"/>
            <a:ext cx="268791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Phần 4 – String Formatting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96119" y="1915195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4 Thế hệ định dạng chuỗi trong Python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96119" y="2876327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Đây là cách đưa giá trị của các biến vào trong chuỗi văn bản sao cho đẹp mắt và dễ đọc. Python đã trải qua 4 thế hệ định dạng — mỗi thế hệ ra đời để khắc phục nhược điểm của thế hệ trước.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6372"/>
            <a:ext cx="724964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Thế hệ 1 &amp; 2: % Formatting và str.format()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329482"/>
            <a:ext cx="1261542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BE27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5295" y="1371451"/>
            <a:ext cx="1560388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BE27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2 — CỔ ĐIỂN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96119" y="162178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% Formatting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1939603"/>
            <a:ext cx="3924598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Sử dụng ký hiệu giữ chỗ: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(chuỗi),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%d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(số nguyên),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%f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(số thực). Vẫn còn gặp trong code cũ.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96119" y="2480816"/>
            <a:ext cx="3924598" cy="1041797"/>
          </a:xfrm>
          <a:prstGeom prst="roundRect">
            <a:avLst>
              <a:gd name="adj" fmla="val 5001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489942" y="2480816"/>
            <a:ext cx="3936950" cy="1041797"/>
          </a:xfrm>
          <a:prstGeom prst="roundRect">
            <a:avLst>
              <a:gd name="adj" fmla="val 1786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44947" y="2604790"/>
            <a:ext cx="362694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"An"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20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print("SV %s năm nay %d tuổi."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% (name, age))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6119" y="3662139"/>
            <a:ext cx="3924598" cy="725463"/>
          </a:xfrm>
          <a:prstGeom prst="roundRect">
            <a:avLst>
              <a:gd name="adj" fmla="val 7182"/>
            </a:avLst>
          </a:prstGeom>
          <a:solidFill>
            <a:srgbClr val="FCF2B5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3846686"/>
            <a:ext cx="155004" cy="12397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99071" y="3817069"/>
            <a:ext cx="33976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Nhược điểm: Nhiều biến → code dài, rối, dễ nhầm thứ tự.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38749" y="1189955"/>
            <a:ext cx="4103191" cy="3337173"/>
          </a:xfrm>
          <a:prstGeom prst="roundRect">
            <a:avLst>
              <a:gd name="adj" fmla="val 2676"/>
            </a:avLst>
          </a:prstGeom>
          <a:solidFill>
            <a:srgbClr val="97A8B9"/>
          </a:solidFill>
          <a:ln/>
        </p:spPr>
      </p:sp>
      <p:sp>
        <p:nvSpPr>
          <p:cNvPr id="14" name="Shape 11"/>
          <p:cNvSpPr/>
          <p:nvPr/>
        </p:nvSpPr>
        <p:spPr>
          <a:xfrm>
            <a:off x="4762723" y="1329482"/>
            <a:ext cx="1368772" cy="233214"/>
          </a:xfrm>
          <a:prstGeom prst="roundRect">
            <a:avLst>
              <a:gd name="adj" fmla="val 17872"/>
            </a:avLst>
          </a:prstGeom>
          <a:solidFill>
            <a:srgbClr val="F6D5D5"/>
          </a:solidFill>
          <a:ln/>
        </p:spPr>
      </p:sp>
      <p:sp>
        <p:nvSpPr>
          <p:cNvPr id="15" name="Text 12"/>
          <p:cNvSpPr/>
          <p:nvPr/>
        </p:nvSpPr>
        <p:spPr>
          <a:xfrm>
            <a:off x="4837137" y="1366689"/>
            <a:ext cx="1677144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3 — SẠCH HƠN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762723" y="161225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str.format()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62723" y="1930078"/>
            <a:ext cx="385524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Dùng dấu ngoặc nhọn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8A9BA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{}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làm placeholder. Có thể đánh số chỉ mục để tái sử dụng biến.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62723" y="2471291"/>
            <a:ext cx="3855244" cy="1240259"/>
          </a:xfrm>
          <a:prstGeom prst="roundRect">
            <a:avLst>
              <a:gd name="adj" fmla="val 4201"/>
            </a:avLst>
          </a:prstGeom>
          <a:solidFill>
            <a:srgbClr val="8A9BAC"/>
          </a:solidFill>
          <a:ln/>
        </p:spPr>
      </p:sp>
      <p:sp>
        <p:nvSpPr>
          <p:cNvPr id="19" name="Shape 16"/>
          <p:cNvSpPr/>
          <p:nvPr/>
        </p:nvSpPr>
        <p:spPr>
          <a:xfrm>
            <a:off x="4756547" y="2471291"/>
            <a:ext cx="3867596" cy="1240259"/>
          </a:xfrm>
          <a:prstGeom prst="roundRect">
            <a:avLst>
              <a:gd name="adj" fmla="val 1500"/>
            </a:avLst>
          </a:prstGeom>
          <a:solidFill>
            <a:srgbClr val="8A9BAC"/>
          </a:solidFill>
          <a:ln/>
        </p:spPr>
      </p:sp>
      <p:sp>
        <p:nvSpPr>
          <p:cNvPr id="20" name="Text 17"/>
          <p:cNvSpPr/>
          <p:nvPr/>
        </p:nvSpPr>
        <p:spPr>
          <a:xfrm>
            <a:off x="4911551" y="2595265"/>
            <a:ext cx="3557588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36209"/>
                </a:solidFill>
                <a:highlight>
                  <a:srgbClr val="8A9BA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print("SV {} năm nay {} tuổi."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36209"/>
                </a:solidFill>
                <a:highlight>
                  <a:srgbClr val="8A9BA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.format(name, age))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36209"/>
                </a:solidFill>
                <a:highlight>
                  <a:srgbClr val="8A9BA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Tái sử dụng biến: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36209"/>
                </a:solidFill>
                <a:highlight>
                  <a:srgbClr val="8A9BA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print("SV {0} tuổi {1}. Đúng {0}?"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36209"/>
                </a:solidFill>
                <a:highlight>
                  <a:srgbClr val="8A9BA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.format(name, age))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7653"/>
            <a:ext cx="8151763" cy="736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Thế hệ 3: F-String — Hiện đại &amp; Được ưa chuộng nhất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1467892"/>
            <a:ext cx="8608963" cy="183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 mắt từ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3.6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Chỉ cần đặt chữ 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trước chuỗi, rồi đưa trực tiếp tên biến hoặc biểu thức vào trong 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{}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777678"/>
            <a:ext cx="8151763" cy="787226"/>
          </a:xfrm>
          <a:prstGeom prst="roundRect">
            <a:avLst>
              <a:gd name="adj" fmla="val 628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90240" y="1777678"/>
            <a:ext cx="8163520" cy="787226"/>
          </a:xfrm>
          <a:prstGeom prst="roundRect">
            <a:avLst>
              <a:gd name="adj" fmla="val 2245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37505" y="1895475"/>
            <a:ext cx="7868989" cy="551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"An"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20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print(f"Sinh viên {name.upper()} năm nay {age + 2} tuổi vào năm sau.")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6119" y="2690813"/>
            <a:ext cx="2642592" cy="1329556"/>
          </a:xfrm>
          <a:prstGeom prst="roundRect">
            <a:avLst>
              <a:gd name="adj" fmla="val 3723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8679" y="2813372"/>
            <a:ext cx="353467" cy="353467"/>
          </a:xfrm>
          <a:prstGeom prst="roundRect">
            <a:avLst>
              <a:gd name="adj" fmla="val 16166795"/>
            </a:avLst>
          </a:prstGeom>
          <a:solidFill>
            <a:srgbClr val="BE272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5863" y="2910557"/>
            <a:ext cx="159023" cy="15902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18679" y="3278758"/>
            <a:ext cx="1490067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Cực kỳ tường minh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18679" y="3530054"/>
            <a:ext cx="2397472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Đọc code là hiểu ngay biến nào được chèn vào đâu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50629" y="2690813"/>
            <a:ext cx="2642667" cy="1329556"/>
          </a:xfrm>
          <a:prstGeom prst="roundRect">
            <a:avLst>
              <a:gd name="adj" fmla="val 3723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73189" y="2813372"/>
            <a:ext cx="353467" cy="353467"/>
          </a:xfrm>
          <a:prstGeom prst="roundRect">
            <a:avLst>
              <a:gd name="adj" fmla="val 16166795"/>
            </a:avLst>
          </a:prstGeom>
          <a:solidFill>
            <a:srgbClr val="BE272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0374" y="2910557"/>
            <a:ext cx="159023" cy="15902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73189" y="3278758"/>
            <a:ext cx="1473026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Chạy nhanh nhất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373189" y="3530054"/>
            <a:ext cx="2397547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Hiệu năng cao hơn 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và 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.format()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về mặt tốc độ thực thi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005215" y="2690813"/>
            <a:ext cx="2642592" cy="1329556"/>
          </a:xfrm>
          <a:prstGeom prst="roundRect">
            <a:avLst>
              <a:gd name="adj" fmla="val 3723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27775" y="2813372"/>
            <a:ext cx="353467" cy="353467"/>
          </a:xfrm>
          <a:prstGeom prst="roundRect">
            <a:avLst>
              <a:gd name="adj" fmla="val 16166795"/>
            </a:avLst>
          </a:prstGeom>
          <a:solidFill>
            <a:srgbClr val="BE272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4960" y="2910557"/>
            <a:ext cx="159023" cy="15902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27775" y="3278758"/>
            <a:ext cx="1473026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Nhúng biểu thức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127775" y="3530054"/>
            <a:ext cx="2397472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Gọi hàm, tính toán, so sánh — tất cả ngay trong dấu 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{}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96119" y="4146277"/>
            <a:ext cx="8151763" cy="489570"/>
          </a:xfrm>
          <a:prstGeom prst="roundRect">
            <a:avLst>
              <a:gd name="adj" fmla="val 10110"/>
            </a:avLst>
          </a:prstGeom>
          <a:solidFill>
            <a:srgbClr val="B6FCB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916" y="4323680"/>
            <a:ext cx="147265" cy="11779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78979" y="4287589"/>
            <a:ext cx="8108305" cy="18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Khuyến nghị: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Hãy ưu tiên dùng F-String cho mọi bài toán định dạng thông thường. Đây là chuẩn mực của Python hiện đại.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05098"/>
            <a:ext cx="757431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Thế hệ 4: string.Template — Bảo mật tối đa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02656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Cú pháp sử dụng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920478"/>
            <a:ext cx="4804470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Là một thư viện có sẵn, dùng ký tự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để nội suy chuỗi.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263229"/>
            <a:ext cx="4347270" cy="1835646"/>
          </a:xfrm>
          <a:prstGeom prst="roundRect">
            <a:avLst>
              <a:gd name="adj" fmla="val 2838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489942" y="2263229"/>
            <a:ext cx="4359622" cy="1835646"/>
          </a:xfrm>
          <a:prstGeom prst="roundRect">
            <a:avLst>
              <a:gd name="adj" fmla="val 1014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644947" y="2387203"/>
            <a:ext cx="404961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string import Template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tpl = Template(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"Chào $name, tài khoản có $money VND.")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msg = tpl.substitute(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name="An", money="500,000")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print(msg)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"Chào An, tài khoản có 500,000 VND."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61421" y="1478682"/>
            <a:ext cx="3680445" cy="2759720"/>
          </a:xfrm>
          <a:prstGeom prst="roundRect">
            <a:avLst>
              <a:gd name="adj" fmla="val 3236"/>
            </a:avLst>
          </a:prstGeom>
          <a:solidFill>
            <a:srgbClr val="BE2727"/>
          </a:solidFill>
          <a:ln/>
        </p:spPr>
      </p:sp>
      <p:sp>
        <p:nvSpPr>
          <p:cNvPr id="9" name="Text 7"/>
          <p:cNvSpPr/>
          <p:nvPr/>
        </p:nvSpPr>
        <p:spPr>
          <a:xfrm>
            <a:off x="5185395" y="1602656"/>
            <a:ext cx="20227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Khi nào nên dùng?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85395" y="1920478"/>
            <a:ext cx="3432497" cy="1113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Khi chuỗi định dạng do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dùng nhập vào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(User-generated string). F-string hoặc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highlight>
                  <a:srgbClr val="CB34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.format()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có thể bị tấn công rò rỉ dữ liệu nếu người dùng chèn mã độc.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highlight>
                  <a:srgbClr val="CB34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nghiêm ngặt — chỉ thay thế đúng từ khóa đã khai báo, chặn đứng mọi nguy cơ bảo mật.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11113"/>
            <a:ext cx="613826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So sánh 4 Thế hệ Định dạng Chuỗi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446684"/>
            <a:ext cx="8151763" cy="2219102"/>
          </a:xfrm>
          <a:prstGeom prst="roundRect">
            <a:avLst>
              <a:gd name="adj" fmla="val 234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5078" y="1530623"/>
            <a:ext cx="183527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Cách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55862" y="1530623"/>
            <a:ext cx="18328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Cú pháp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84265" y="1530623"/>
            <a:ext cx="18328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512668" y="1530623"/>
            <a:ext cx="18328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Ưu điểm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141071" y="1530623"/>
            <a:ext cx="183527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Khi dùng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5078" y="1892201"/>
            <a:ext cx="183527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 Formatting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55862" y="1892201"/>
            <a:ext cx="1832893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%s %d %f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84265" y="1892201"/>
            <a:ext cx="18328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2+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512668" y="1892201"/>
            <a:ext cx="18328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Quen thuộc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141071" y="1892201"/>
            <a:ext cx="183527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Code cũ, kế thừa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5078" y="2258541"/>
            <a:ext cx="183527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str.format()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55862" y="2258541"/>
            <a:ext cx="1832893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{}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84265" y="2258541"/>
            <a:ext cx="18328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3+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512668" y="2258541"/>
            <a:ext cx="18328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Tái sử dụng biến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141071" y="2258541"/>
            <a:ext cx="137807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Cần tái dùng placeholder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5078" y="2818581"/>
            <a:ext cx="183527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F-String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55862" y="2818581"/>
            <a:ext cx="1832893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f"{ }"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84265" y="2818581"/>
            <a:ext cx="18328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3.6+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12668" y="2818581"/>
            <a:ext cx="18328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Nhanh, tường minh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141071" y="2818581"/>
            <a:ext cx="137807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Mặc định — dùng mọi lúc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5078" y="3378622"/>
            <a:ext cx="183527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Template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55862" y="3378622"/>
            <a:ext cx="1832893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$var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84265" y="3378622"/>
            <a:ext cx="18328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3+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12668" y="3378622"/>
            <a:ext cx="18328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toàn bảo mật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141071" y="3378622"/>
            <a:ext cx="183527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Chuỗi từ người dùng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6119" y="3805312"/>
            <a:ext cx="8151763" cy="527000"/>
          </a:xfrm>
          <a:prstGeom prst="roundRect">
            <a:avLst>
              <a:gd name="adj" fmla="val 9886"/>
            </a:avLst>
          </a:prstGeom>
          <a:solidFill>
            <a:srgbClr val="B6D6FC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3989859"/>
            <a:ext cx="155004" cy="12397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99071" y="3960242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Quy tắc đơn giản: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F-String cho 90% trường hợp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Template khi xây dựng hệ thống nhận chuỗi định dạng từ bên ngoài.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3687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Tổng kết bài học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1407096"/>
            <a:ext cx="850857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Bản đồ String trong Python — Nhìn lại toàn cảnh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2627" y="1984474"/>
            <a:ext cx="186035" cy="186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9145" y="1980679"/>
            <a:ext cx="2711872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🔒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Chuỗi là Bất biến (Immutable)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99145" y="2253704"/>
            <a:ext cx="359531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Mọi thao tác "chỉnh sửa" đều tạo ra chuỗi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mới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Đây là kiến thức bắt buộc phải nhớ khi đi phỏng vấn.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5974" y="1984474"/>
            <a:ext cx="186035" cy="186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52492" y="1980679"/>
            <a:ext cx="3434209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📍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Indexing &amp; Slicing là kỹ năng sống còn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052492" y="2253704"/>
            <a:ext cx="3595390" cy="60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Indexing 2 chiều để chỉ định vị trí ký tự. Slicing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[start:stop:step]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để cắt chuỗi linh hoạt. Nhớ thủ thuật đảo ngược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[::-1]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2627" y="3110433"/>
            <a:ext cx="186035" cy="1860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99145" y="3106638"/>
            <a:ext cx="2207642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🛠️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4 Nhóm String Methods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99145" y="3379663"/>
            <a:ext cx="359531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Casing, Searching, Modify và Validation — công cụ thiết yếu để xử lý và chuẩn hóa mọi loại dữ liệu văn bản.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95974" y="3110433"/>
            <a:ext cx="186035" cy="1860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52492" y="3106638"/>
            <a:ext cx="3131195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✨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Ưu tiên F-String, nhớ đến Template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5052492" y="3379663"/>
            <a:ext cx="3595390" cy="600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F-String là lựa chọn mặc định — tường minh, nhanh, hiện đại. Dùng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string.Template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khi cần bảo mật dữ liệu từ người dùng.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2026-05-25T00:59:39Z</dcterms:created>
  <dcterms:modified xsi:type="dcterms:W3CDTF">2026-05-25T00:59:39Z</dcterms:modified>
</cp:coreProperties>
</file>