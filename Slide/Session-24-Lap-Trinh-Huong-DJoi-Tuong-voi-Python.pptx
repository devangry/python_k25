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embeddedFontLst>
    <p:embeddedFont>
      <p:font typeface="Consolas" panose="020B0609020204030204" pitchFamily="49" charset="0"/>
      <p:regular r:id="rId18"/>
      <p:bold r:id="rId19"/>
      <p:italic r:id="rId20"/>
      <p:boldItalic r:id="rId21"/>
    </p:embeddedFont>
    <p:embeddedFont>
      <p:font typeface="Montserrat" panose="00000500000000000000" pitchFamily="2" charset="0"/>
      <p:regular r:id="rId22"/>
      <p:bold r:id="rId23"/>
      <p:italic r:id="rId24"/>
    </p:embeddedFont>
    <p:embeddedFont>
      <p:font typeface="Montserrat Bold" panose="00000800000000000000" charset="0"/>
      <p:regular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4089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txBody>
          <a:bodyPr/>
          <a:lstStyle/>
          <a:p>
            <a:endParaRPr lang="vi-VN"/>
          </a:p>
        </p:txBody>
      </p:sp>
      <p:sp>
        <p:nvSpPr>
          <p:cNvPr id="3" name="Shape 1"/>
          <p:cNvSpPr/>
          <p:nvPr/>
        </p:nvSpPr>
        <p:spPr>
          <a:xfrm>
            <a:off x="0" y="0"/>
            <a:ext cx="9144000" cy="5143500"/>
          </a:xfrm>
          <a:prstGeom prst="rect">
            <a:avLst/>
          </a:prstGeom>
          <a:solidFill>
            <a:srgbClr val="FFFFFF"/>
          </a:solidFill>
          <a:ln/>
        </p:spPr>
        <p:txBody>
          <a:bodyPr/>
          <a:lstStyle/>
          <a:p>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725213" y="0"/>
            <a:ext cx="3429000" cy="5143500"/>
          </a:xfrm>
          <a:prstGeom prst="rect">
            <a:avLst/>
          </a:prstGeom>
          <a:solidFill>
            <a:srgbClr val="FFFFFF"/>
          </a:solidFill>
          <a:ln/>
        </p:spPr>
        <p:txBody>
          <a:bodyPr/>
          <a:lstStyle/>
          <a:p>
            <a:endParaRPr lang="vi-VN"/>
          </a:p>
        </p:txBody>
      </p:sp>
      <p:pic>
        <p:nvPicPr>
          <p:cNvPr id="3" name="Image 0" descr="preencoded.png"/>
          <p:cNvPicPr>
            <a:picLocks noChangeAspect="1"/>
          </p:cNvPicPr>
          <p:nvPr/>
        </p:nvPicPr>
        <p:blipFill>
          <a:blip r:embed="rId3"/>
          <a:stretch>
            <a:fillRect/>
          </a:stretch>
        </p:blipFill>
        <p:spPr>
          <a:xfrm>
            <a:off x="4483126" y="185609"/>
            <a:ext cx="3903227" cy="4772281"/>
          </a:xfrm>
          <a:prstGeom prst="rect">
            <a:avLst/>
          </a:prstGeom>
        </p:spPr>
      </p:pic>
      <p:sp>
        <p:nvSpPr>
          <p:cNvPr id="4" name="Text 1"/>
          <p:cNvSpPr/>
          <p:nvPr/>
        </p:nvSpPr>
        <p:spPr>
          <a:xfrm>
            <a:off x="496119" y="1507852"/>
            <a:ext cx="3899531" cy="1241879"/>
          </a:xfrm>
          <a:prstGeom prst="rect">
            <a:avLst/>
          </a:prstGeom>
          <a:noFill/>
          <a:ln/>
        </p:spPr>
        <p:txBody>
          <a:bodyPr wrap="square" lIns="0" tIns="0" rIns="0" bIns="0" rtlCol="0" anchor="t">
            <a:normAutofit/>
          </a:bodyPr>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Lập Trình Hướng Đối Tượng với Python</a:t>
            </a:r>
            <a:endParaRPr lang="en-US" sz="2400" dirty="0"/>
          </a:p>
        </p:txBody>
      </p:sp>
      <p:sp>
        <p:nvSpPr>
          <p:cNvPr id="6" name="Shape 3"/>
          <p:cNvSpPr/>
          <p:nvPr/>
        </p:nvSpPr>
        <p:spPr>
          <a:xfrm>
            <a:off x="496119" y="3262834"/>
            <a:ext cx="2802252" cy="335534"/>
          </a:xfrm>
          <a:prstGeom prst="roundRect">
            <a:avLst>
              <a:gd name="adj" fmla="val 38297"/>
            </a:avLst>
          </a:prstGeom>
          <a:solidFill>
            <a:srgbClr val="FFCCCC"/>
          </a:solidFill>
          <a:ln/>
        </p:spPr>
        <p:txBody>
          <a:bodyPr/>
          <a:lstStyle/>
          <a:p>
            <a:endParaRPr lang="vi-VN"/>
          </a:p>
        </p:txBody>
      </p:sp>
      <p:sp>
        <p:nvSpPr>
          <p:cNvPr id="7" name="Text 4"/>
          <p:cNvSpPr/>
          <p:nvPr/>
        </p:nvSpPr>
        <p:spPr>
          <a:xfrm>
            <a:off x="570533" y="3344560"/>
            <a:ext cx="3144733" cy="253807"/>
          </a:xfrm>
          <a:prstGeom prst="rect">
            <a:avLst/>
          </a:prstGeom>
          <a:noFill/>
          <a:ln/>
        </p:spPr>
        <p:txBody>
          <a:bodyPr wrap="none" lIns="0" tIns="0" rIns="0" bIns="0" rtlCol="0" anchor="t"/>
          <a:lstStyle/>
          <a:p>
            <a:pPr marL="0" indent="0" algn="l">
              <a:lnSpc>
                <a:spcPct val="133000"/>
              </a:lnSpc>
              <a:buNone/>
            </a:pPr>
            <a:r>
              <a:rPr lang="en-US" sz="750" dirty="0">
                <a:solidFill>
                  <a:srgbClr val="000000"/>
                </a:solidFill>
                <a:latin typeface="Montserrat" pitchFamily="34" charset="0"/>
                <a:ea typeface="Montserrat" pitchFamily="34" charset="-122"/>
                <a:cs typeface="Montserrat" pitchFamily="34" charset="-120"/>
              </a:rPr>
              <a:t>DỰ ÁN THỰC HÀNH: DIGITAL BANKING SYSTEM</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815801"/>
            <a:ext cx="5313759" cy="387548"/>
          </a:xfrm>
          <a:prstGeom prst="rect">
            <a:avLst/>
          </a:prstGeom>
          <a:noFill/>
          <a:ln/>
        </p:spPr>
        <p:txBody>
          <a:bodyPr wrap="none" lIns="0" tIns="0" rIns="0" bIns="0" rtlCol="0" anchor="t"/>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Chúng Ta Đã Đi Được Bao Xa?</a:t>
            </a:r>
            <a:endParaRPr lang="en-US" sz="2400" dirty="0"/>
          </a:p>
        </p:txBody>
      </p:sp>
      <p:sp>
        <p:nvSpPr>
          <p:cNvPr id="3" name="Text 1"/>
          <p:cNvSpPr/>
          <p:nvPr/>
        </p:nvSpPr>
        <p:spPr>
          <a:xfrm>
            <a:off x="496119" y="1451372"/>
            <a:ext cx="8608963" cy="198462"/>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Các </a:t>
            </a:r>
            <a:r>
              <a:rPr lang="en-US" sz="950" dirty="0" err="1">
                <a:solidFill>
                  <a:srgbClr val="000000"/>
                </a:solidFill>
                <a:latin typeface="Montserrat" pitchFamily="34" charset="0"/>
                <a:ea typeface="Montserrat" pitchFamily="34" charset="-122"/>
                <a:cs typeface="Montserrat" pitchFamily="34" charset="-120"/>
              </a:rPr>
              <a:t>Kiến</a:t>
            </a:r>
            <a:r>
              <a:rPr lang="en-US" sz="950" dirty="0">
                <a:solidFill>
                  <a:srgbClr val="000000"/>
                </a:solidFill>
                <a:latin typeface="Montserrat" pitchFamily="34" charset="0"/>
                <a:ea typeface="Montserrat" pitchFamily="34" charset="-122"/>
                <a:cs typeface="Montserrat" pitchFamily="34" charset="-120"/>
              </a:rPr>
              <a:t> </a:t>
            </a:r>
            <a:r>
              <a:rPr lang="en-US" sz="950" dirty="0" err="1">
                <a:solidFill>
                  <a:srgbClr val="000000"/>
                </a:solidFill>
                <a:latin typeface="Montserrat" pitchFamily="34" charset="0"/>
                <a:ea typeface="Montserrat" pitchFamily="34" charset="-122"/>
                <a:cs typeface="Montserrat" pitchFamily="34" charset="-120"/>
              </a:rPr>
              <a:t>Thức</a:t>
            </a:r>
            <a:r>
              <a:rPr lang="en-US" sz="950" dirty="0">
                <a:solidFill>
                  <a:srgbClr val="000000"/>
                </a:solidFill>
                <a:latin typeface="Montserrat" pitchFamily="34" charset="0"/>
                <a:ea typeface="Montserrat" pitchFamily="34" charset="-122"/>
                <a:cs typeface="Montserrat" pitchFamily="34" charset="-120"/>
              </a:rPr>
              <a:t> </a:t>
            </a:r>
            <a:r>
              <a:rPr lang="en-US" sz="950" dirty="0" err="1">
                <a:solidFill>
                  <a:srgbClr val="000000"/>
                </a:solidFill>
                <a:latin typeface="Montserrat" pitchFamily="34" charset="0"/>
                <a:ea typeface="Montserrat" pitchFamily="34" charset="-122"/>
                <a:cs typeface="Montserrat" pitchFamily="34" charset="-120"/>
              </a:rPr>
              <a:t>Nền</a:t>
            </a:r>
            <a:r>
              <a:rPr lang="en-US" sz="950" dirty="0">
                <a:solidFill>
                  <a:srgbClr val="000000"/>
                </a:solidFill>
                <a:latin typeface="Montserrat" pitchFamily="34" charset="0"/>
                <a:ea typeface="Montserrat" pitchFamily="34" charset="-122"/>
                <a:cs typeface="Montserrat" pitchFamily="34" charset="-120"/>
              </a:rPr>
              <a:t> tảng vững chắc để bước tiếp.</a:t>
            </a:r>
            <a:endParaRPr lang="en-US" sz="950" dirty="0"/>
          </a:p>
        </p:txBody>
      </p:sp>
      <p:sp>
        <p:nvSpPr>
          <p:cNvPr id="4" name="Shape 2"/>
          <p:cNvSpPr/>
          <p:nvPr/>
        </p:nvSpPr>
        <p:spPr>
          <a:xfrm>
            <a:off x="496119" y="1789361"/>
            <a:ext cx="4013895" cy="728960"/>
          </a:xfrm>
          <a:prstGeom prst="roundRect">
            <a:avLst>
              <a:gd name="adj" fmla="val 15315"/>
            </a:avLst>
          </a:prstGeom>
          <a:solidFill>
            <a:srgbClr val="FFFFFF"/>
          </a:solidFill>
          <a:ln w="4763">
            <a:solidFill>
              <a:srgbClr val="C00000"/>
            </a:solidFill>
            <a:prstDash val="solid"/>
          </a:ln>
        </p:spPr>
        <p:txBody>
          <a:bodyPr/>
          <a:lstStyle/>
          <a:p>
            <a:endParaRPr lang="vi-VN"/>
          </a:p>
        </p:txBody>
      </p:sp>
      <p:sp>
        <p:nvSpPr>
          <p:cNvPr id="5" name="Text 3"/>
          <p:cNvSpPr/>
          <p:nvPr/>
        </p:nvSpPr>
        <p:spPr>
          <a:xfrm>
            <a:off x="624855" y="1918097"/>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Biến &amp; Kiểu dữ liệu</a:t>
            </a:r>
            <a:endParaRPr lang="en-US" sz="1200" dirty="0"/>
          </a:p>
        </p:txBody>
      </p:sp>
      <p:sp>
        <p:nvSpPr>
          <p:cNvPr id="6" name="Text 4"/>
          <p:cNvSpPr/>
          <p:nvPr/>
        </p:nvSpPr>
        <p:spPr>
          <a:xfrm>
            <a:off x="624855" y="2186360"/>
            <a:ext cx="3756422" cy="198462"/>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Lưu trữ và xử lý thông tin cơ bản: số, chuỗi, boolean.</a:t>
            </a:r>
            <a:endParaRPr lang="en-US" sz="950" dirty="0"/>
          </a:p>
        </p:txBody>
      </p:sp>
      <p:sp>
        <p:nvSpPr>
          <p:cNvPr id="7" name="Shape 5"/>
          <p:cNvSpPr/>
          <p:nvPr/>
        </p:nvSpPr>
        <p:spPr>
          <a:xfrm>
            <a:off x="4633987" y="1789361"/>
            <a:ext cx="4013895" cy="728960"/>
          </a:xfrm>
          <a:prstGeom prst="roundRect">
            <a:avLst>
              <a:gd name="adj" fmla="val 15315"/>
            </a:avLst>
          </a:prstGeom>
          <a:solidFill>
            <a:srgbClr val="FFFFFF"/>
          </a:solidFill>
          <a:ln w="4763">
            <a:solidFill>
              <a:srgbClr val="C00000"/>
            </a:solidFill>
            <a:prstDash val="solid"/>
          </a:ln>
        </p:spPr>
        <p:txBody>
          <a:bodyPr/>
          <a:lstStyle/>
          <a:p>
            <a:endParaRPr lang="vi-VN"/>
          </a:p>
        </p:txBody>
      </p:sp>
      <p:sp>
        <p:nvSpPr>
          <p:cNvPr id="8" name="Text 6"/>
          <p:cNvSpPr/>
          <p:nvPr/>
        </p:nvSpPr>
        <p:spPr>
          <a:xfrm>
            <a:off x="4762723" y="1918097"/>
            <a:ext cx="1696566"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Vòng lặp &amp; Điều kiện</a:t>
            </a:r>
            <a:endParaRPr lang="en-US" sz="1200" dirty="0"/>
          </a:p>
        </p:txBody>
      </p:sp>
      <p:sp>
        <p:nvSpPr>
          <p:cNvPr id="9" name="Text 7"/>
          <p:cNvSpPr/>
          <p:nvPr/>
        </p:nvSpPr>
        <p:spPr>
          <a:xfrm>
            <a:off x="4762723" y="2186360"/>
            <a:ext cx="3756422" cy="203225"/>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Điều khiển luồng chương trình với </a:t>
            </a:r>
            <a:r>
              <a:rPr lang="en-US" sz="950" dirty="0">
                <a:solidFill>
                  <a:srgbClr val="000000"/>
                </a:solidFill>
                <a:highlight>
                  <a:srgbClr val="F2F2F2"/>
                </a:highlight>
                <a:latin typeface="Consolas" pitchFamily="34" charset="0"/>
                <a:ea typeface="Consolas" pitchFamily="34" charset="-122"/>
                <a:cs typeface="Consolas" pitchFamily="34" charset="-120"/>
              </a:rPr>
              <a:t>for</a:t>
            </a:r>
            <a:r>
              <a:rPr lang="en-US" sz="950" dirty="0">
                <a:solidFill>
                  <a:srgbClr val="000000"/>
                </a:solidFill>
                <a:latin typeface="Montserrat" pitchFamily="34" charset="0"/>
                <a:ea typeface="Montserrat" pitchFamily="34" charset="-122"/>
                <a:cs typeface="Montserrat" pitchFamily="34" charset="-120"/>
              </a:rPr>
              <a:t>, </a:t>
            </a:r>
            <a:r>
              <a:rPr lang="en-US" sz="950" dirty="0">
                <a:solidFill>
                  <a:srgbClr val="000000"/>
                </a:solidFill>
                <a:highlight>
                  <a:srgbClr val="F2F2F2"/>
                </a:highlight>
                <a:latin typeface="Consolas" pitchFamily="34" charset="0"/>
                <a:ea typeface="Consolas" pitchFamily="34" charset="-122"/>
                <a:cs typeface="Consolas" pitchFamily="34" charset="-120"/>
              </a:rPr>
              <a:t>while</a:t>
            </a:r>
            <a:r>
              <a:rPr lang="en-US" sz="950" dirty="0">
                <a:solidFill>
                  <a:srgbClr val="000000"/>
                </a:solidFill>
                <a:latin typeface="Montserrat" pitchFamily="34" charset="0"/>
                <a:ea typeface="Montserrat" pitchFamily="34" charset="-122"/>
                <a:cs typeface="Montserrat" pitchFamily="34" charset="-120"/>
              </a:rPr>
              <a:t>, </a:t>
            </a:r>
            <a:r>
              <a:rPr lang="en-US" sz="950" dirty="0">
                <a:solidFill>
                  <a:srgbClr val="000000"/>
                </a:solidFill>
                <a:highlight>
                  <a:srgbClr val="F2F2F2"/>
                </a:highlight>
                <a:latin typeface="Consolas" pitchFamily="34" charset="0"/>
                <a:ea typeface="Consolas" pitchFamily="34" charset="-122"/>
                <a:cs typeface="Consolas" pitchFamily="34" charset="-120"/>
              </a:rPr>
              <a:t>if/else</a:t>
            </a:r>
            <a:r>
              <a:rPr lang="en-US" sz="950" dirty="0">
                <a:solidFill>
                  <a:srgbClr val="000000"/>
                </a:solidFill>
                <a:latin typeface="Montserrat" pitchFamily="34" charset="0"/>
                <a:ea typeface="Montserrat" pitchFamily="34" charset="-122"/>
                <a:cs typeface="Montserrat" pitchFamily="34" charset="-120"/>
              </a:rPr>
              <a:t>.</a:t>
            </a:r>
            <a:endParaRPr lang="en-US" sz="950" dirty="0"/>
          </a:p>
        </p:txBody>
      </p:sp>
      <p:sp>
        <p:nvSpPr>
          <p:cNvPr id="10" name="Shape 8"/>
          <p:cNvSpPr/>
          <p:nvPr/>
        </p:nvSpPr>
        <p:spPr>
          <a:xfrm>
            <a:off x="496119" y="2642295"/>
            <a:ext cx="4013895" cy="724198"/>
          </a:xfrm>
          <a:prstGeom prst="roundRect">
            <a:avLst>
              <a:gd name="adj" fmla="val 15416"/>
            </a:avLst>
          </a:prstGeom>
          <a:solidFill>
            <a:srgbClr val="FFFFFF"/>
          </a:solidFill>
          <a:ln w="4763">
            <a:solidFill>
              <a:srgbClr val="231651"/>
            </a:solidFill>
            <a:prstDash val="solid"/>
          </a:ln>
        </p:spPr>
        <p:txBody>
          <a:bodyPr/>
          <a:lstStyle/>
          <a:p>
            <a:endParaRPr lang="vi-VN"/>
          </a:p>
        </p:txBody>
      </p:sp>
      <p:sp>
        <p:nvSpPr>
          <p:cNvPr id="11" name="Text 9"/>
          <p:cNvSpPr/>
          <p:nvPr/>
        </p:nvSpPr>
        <p:spPr>
          <a:xfrm>
            <a:off x="624855" y="2771031"/>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Hàm (Function)</a:t>
            </a:r>
            <a:endParaRPr lang="en-US" sz="1200" dirty="0"/>
          </a:p>
        </p:txBody>
      </p:sp>
      <p:sp>
        <p:nvSpPr>
          <p:cNvPr id="12" name="Text 10"/>
          <p:cNvSpPr/>
          <p:nvPr/>
        </p:nvSpPr>
        <p:spPr>
          <a:xfrm>
            <a:off x="624855" y="3039294"/>
            <a:ext cx="3756422" cy="198462"/>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Đóng gói logic thành các khối tái sử dụng được.</a:t>
            </a:r>
            <a:endParaRPr lang="en-US" sz="950" dirty="0"/>
          </a:p>
        </p:txBody>
      </p:sp>
      <p:sp>
        <p:nvSpPr>
          <p:cNvPr id="13" name="Shape 11"/>
          <p:cNvSpPr/>
          <p:nvPr/>
        </p:nvSpPr>
        <p:spPr>
          <a:xfrm>
            <a:off x="4633987" y="2642295"/>
            <a:ext cx="4013895" cy="724198"/>
          </a:xfrm>
          <a:prstGeom prst="roundRect">
            <a:avLst>
              <a:gd name="adj" fmla="val 15416"/>
            </a:avLst>
          </a:prstGeom>
          <a:solidFill>
            <a:srgbClr val="FFFFFF"/>
          </a:solidFill>
          <a:ln w="4763">
            <a:solidFill>
              <a:srgbClr val="8F8E8E"/>
            </a:solidFill>
            <a:prstDash val="solid"/>
          </a:ln>
        </p:spPr>
        <p:txBody>
          <a:bodyPr/>
          <a:lstStyle/>
          <a:p>
            <a:endParaRPr lang="vi-VN"/>
          </a:p>
        </p:txBody>
      </p:sp>
      <p:sp>
        <p:nvSpPr>
          <p:cNvPr id="14" name="Text 12"/>
          <p:cNvSpPr/>
          <p:nvPr/>
        </p:nvSpPr>
        <p:spPr>
          <a:xfrm>
            <a:off x="4762723" y="2771031"/>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Cấu trúc dữ liệu</a:t>
            </a:r>
            <a:endParaRPr lang="en-US" sz="1200" dirty="0"/>
          </a:p>
        </p:txBody>
      </p:sp>
      <p:sp>
        <p:nvSpPr>
          <p:cNvPr id="15" name="Text 13"/>
          <p:cNvSpPr/>
          <p:nvPr/>
        </p:nvSpPr>
        <p:spPr>
          <a:xfrm>
            <a:off x="4762723" y="3039294"/>
            <a:ext cx="3756422" cy="198462"/>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List, Dict, Tuple — xử lý tập hợp dữ liệu phức tạp.</a:t>
            </a:r>
            <a:endParaRPr lang="en-US" sz="950" dirty="0"/>
          </a:p>
        </p:txBody>
      </p:sp>
      <p:sp>
        <p:nvSpPr>
          <p:cNvPr id="16" name="Shape 14"/>
          <p:cNvSpPr/>
          <p:nvPr/>
        </p:nvSpPr>
        <p:spPr>
          <a:xfrm>
            <a:off x="496119" y="3506020"/>
            <a:ext cx="8151763" cy="539502"/>
          </a:xfrm>
          <a:prstGeom prst="roundRect">
            <a:avLst>
              <a:gd name="adj" fmla="val 16368"/>
            </a:avLst>
          </a:prstGeom>
          <a:solidFill>
            <a:srgbClr val="B6FCB8"/>
          </a:solidFill>
          <a:ln/>
        </p:spPr>
        <p:txBody>
          <a:bodyPr/>
          <a:lstStyle/>
          <a:p>
            <a:endParaRPr lang="vi-VN"/>
          </a:p>
        </p:txBody>
      </p:sp>
      <p:pic>
        <p:nvPicPr>
          <p:cNvPr id="17" name="Image 0" descr="preencoded.png"/>
          <p:cNvPicPr>
            <a:picLocks noChangeAspect="1"/>
          </p:cNvPicPr>
          <p:nvPr/>
        </p:nvPicPr>
        <p:blipFill>
          <a:blip r:embed="rId3"/>
          <a:stretch>
            <a:fillRect/>
          </a:stretch>
        </p:blipFill>
        <p:spPr>
          <a:xfrm>
            <a:off x="620092" y="3685803"/>
            <a:ext cx="155004" cy="123974"/>
          </a:xfrm>
          <a:prstGeom prst="rect">
            <a:avLst/>
          </a:prstGeom>
        </p:spPr>
      </p:pic>
      <p:sp>
        <p:nvSpPr>
          <p:cNvPr id="18" name="Text 15"/>
          <p:cNvSpPr/>
          <p:nvPr/>
        </p:nvSpPr>
        <p:spPr>
          <a:xfrm>
            <a:off x="899071" y="3648596"/>
            <a:ext cx="762483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Các em đã đủ sức "sống sót" và viết những chương trình chạy ổn. Nhưng để đi </a:t>
            </a:r>
            <a:r>
              <a:rPr lang="en-US" sz="950" b="1" dirty="0">
                <a:solidFill>
                  <a:srgbClr val="000000"/>
                </a:solidFill>
                <a:latin typeface="Montserrat" pitchFamily="34" charset="0"/>
                <a:ea typeface="Montserrat" pitchFamily="34" charset="-122"/>
                <a:cs typeface="Montserrat" pitchFamily="34" charset="-120"/>
              </a:rPr>
              <a:t>xa hơn</a:t>
            </a:r>
            <a:r>
              <a:rPr lang="en-US" sz="950" dirty="0">
                <a:solidFill>
                  <a:srgbClr val="000000"/>
                </a:solidFill>
                <a:latin typeface="Montserrat" pitchFamily="34" charset="0"/>
                <a:ea typeface="Montserrat" pitchFamily="34" charset="-122"/>
                <a:cs typeface="Montserrat" pitchFamily="34" charset="-120"/>
              </a:rPr>
              <a:t> trong ngành lập trình, cần thêm OOP!</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FFFFFF"/>
          </a:solidFill>
          <a:ln/>
        </p:spPr>
        <p:txBody>
          <a:bodyPr/>
          <a:lstStyle/>
          <a:p>
            <a:endParaRPr lang="vi-VN"/>
          </a:p>
        </p:txBody>
      </p:sp>
      <p:pic>
        <p:nvPicPr>
          <p:cNvPr id="3" name="Image 0" descr="preencoded.png"/>
          <p:cNvPicPr>
            <a:picLocks noChangeAspect="1"/>
          </p:cNvPicPr>
          <p:nvPr/>
        </p:nvPicPr>
        <p:blipFill>
          <a:blip r:embed="rId3"/>
          <a:stretch>
            <a:fillRect/>
          </a:stretch>
        </p:blipFill>
        <p:spPr>
          <a:xfrm>
            <a:off x="46882" y="373251"/>
            <a:ext cx="3577647" cy="4770249"/>
          </a:xfrm>
          <a:prstGeom prst="rect">
            <a:avLst/>
          </a:prstGeom>
        </p:spPr>
      </p:pic>
      <p:sp>
        <p:nvSpPr>
          <p:cNvPr id="4" name="Text 1"/>
          <p:cNvSpPr/>
          <p:nvPr/>
        </p:nvSpPr>
        <p:spPr>
          <a:xfrm>
            <a:off x="3925119" y="818257"/>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Vấn Đề của Lập Trình Thủ Tục</a:t>
            </a:r>
            <a:endParaRPr lang="en-US" sz="2400" dirty="0"/>
          </a:p>
        </p:txBody>
      </p:sp>
      <p:sp>
        <p:nvSpPr>
          <p:cNvPr id="5" name="Text 2"/>
          <p:cNvSpPr/>
          <p:nvPr/>
        </p:nvSpPr>
        <p:spPr>
          <a:xfrm>
            <a:off x="3925119" y="1779389"/>
            <a:ext cx="4722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Lập trình hướng thủ tục (Procedural) hoạt động tốt với bài toán nhỏ. Nhưng hãy tưởng tượng hệ thống ngân hàng với </a:t>
            </a:r>
            <a:r>
              <a:rPr lang="en-US" sz="950" b="1" dirty="0">
                <a:solidFill>
                  <a:srgbClr val="C00000"/>
                </a:solidFill>
                <a:latin typeface="Montserrat" pitchFamily="34" charset="0"/>
                <a:ea typeface="Montserrat" pitchFamily="34" charset="-122"/>
                <a:cs typeface="Montserrat" pitchFamily="34" charset="-120"/>
              </a:rPr>
              <a:t>hàng triệu khách hàng</a:t>
            </a:r>
            <a:r>
              <a:rPr lang="en-US" sz="950" dirty="0">
                <a:solidFill>
                  <a:srgbClr val="000000"/>
                </a:solidFill>
                <a:latin typeface="Montserrat" pitchFamily="34" charset="0"/>
                <a:ea typeface="Montserrat" pitchFamily="34" charset="-122"/>
                <a:cs typeface="Montserrat" pitchFamily="34" charset="-120"/>
              </a:rPr>
              <a:t>, mỗi người có số dư và lịch sử giao dịch riêng biệt.</a:t>
            </a:r>
            <a:endParaRPr lang="en-US" sz="950" dirty="0"/>
          </a:p>
        </p:txBody>
      </p:sp>
      <p:sp>
        <p:nvSpPr>
          <p:cNvPr id="6" name="Shape 3"/>
          <p:cNvSpPr/>
          <p:nvPr/>
        </p:nvSpPr>
        <p:spPr>
          <a:xfrm>
            <a:off x="3841923" y="2514301"/>
            <a:ext cx="2460906" cy="1959727"/>
          </a:xfrm>
          <a:prstGeom prst="roundRect">
            <a:avLst>
              <a:gd name="adj" fmla="val 9864"/>
            </a:avLst>
          </a:prstGeom>
          <a:solidFill>
            <a:srgbClr val="C00000"/>
          </a:solidFill>
          <a:ln/>
        </p:spPr>
        <p:txBody>
          <a:bodyPr/>
          <a:lstStyle/>
          <a:p>
            <a:endParaRPr lang="vi-VN"/>
          </a:p>
        </p:txBody>
      </p:sp>
      <p:sp>
        <p:nvSpPr>
          <p:cNvPr id="7" name="Text 4"/>
          <p:cNvSpPr/>
          <p:nvPr/>
        </p:nvSpPr>
        <p:spPr>
          <a:xfrm>
            <a:off x="3959796" y="2638276"/>
            <a:ext cx="2007766" cy="198611"/>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a:t>
            </a:r>
            <a:r>
              <a:rPr lang="en-US" sz="1200" b="1" dirty="0">
                <a:solidFill>
                  <a:srgbClr val="FFFFFF"/>
                </a:solidFill>
                <a:latin typeface="Montserrat Bold" pitchFamily="34" charset="0"/>
                <a:ea typeface="Montserrat Bold" pitchFamily="34" charset="-122"/>
                <a:cs typeface="Montserrat Bold" pitchFamily="34" charset="-120"/>
              </a:rPr>
              <a:t> Không có OOP</a:t>
            </a:r>
            <a:endParaRPr lang="en-US" sz="1200" dirty="0"/>
          </a:p>
        </p:txBody>
      </p:sp>
      <p:sp>
        <p:nvSpPr>
          <p:cNvPr id="8" name="Text 5"/>
          <p:cNvSpPr/>
          <p:nvPr/>
        </p:nvSpPr>
        <p:spPr>
          <a:xfrm>
            <a:off x="3959796" y="2960861"/>
            <a:ext cx="2140744" cy="1320924"/>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FFFFFF"/>
                </a:solidFill>
                <a:latin typeface="Montserrat" pitchFamily="34" charset="0"/>
                <a:ea typeface="Montserrat" pitchFamily="34" charset="-122"/>
                <a:cs typeface="Montserrat" pitchFamily="34" charset="-120"/>
              </a:rPr>
              <a:t>Dữ liệu và hàm rải rác khắp nơi</a:t>
            </a:r>
            <a:endParaRPr lang="en-US" sz="950" dirty="0"/>
          </a:p>
          <a:p>
            <a:pPr marL="342900" indent="-342900" algn="l">
              <a:lnSpc>
                <a:spcPct val="133000"/>
              </a:lnSpc>
              <a:buSzPct val="100000"/>
              <a:buChar char="•"/>
            </a:pPr>
            <a:r>
              <a:rPr lang="en-US" sz="950" dirty="0">
                <a:solidFill>
                  <a:srgbClr val="FFFFFF"/>
                </a:solidFill>
                <a:latin typeface="Montserrat" pitchFamily="34" charset="0"/>
                <a:ea typeface="Montserrat" pitchFamily="34" charset="-122"/>
                <a:cs typeface="Montserrat" pitchFamily="34" charset="-120"/>
              </a:rPr>
              <a:t>Khó kiểm soát ai sửa dữ liệu nào</a:t>
            </a:r>
            <a:endParaRPr lang="en-US" sz="950" dirty="0"/>
          </a:p>
          <a:p>
            <a:pPr marL="342900" indent="-342900" algn="l">
              <a:lnSpc>
                <a:spcPct val="133000"/>
              </a:lnSpc>
              <a:buSzPct val="100000"/>
              <a:buChar char="•"/>
            </a:pPr>
            <a:r>
              <a:rPr lang="en-US" sz="950" dirty="0">
                <a:solidFill>
                  <a:srgbClr val="FFFFFF"/>
                </a:solidFill>
                <a:latin typeface="Montserrat" pitchFamily="34" charset="0"/>
                <a:ea typeface="Montserrat" pitchFamily="34" charset="-122"/>
                <a:cs typeface="Montserrat" pitchFamily="34" charset="-120"/>
              </a:rPr>
              <a:t>Code như "nồi lẩu thập cẩm"</a:t>
            </a:r>
            <a:endParaRPr lang="en-US" sz="950" dirty="0"/>
          </a:p>
          <a:p>
            <a:pPr marL="342900" indent="-342900" algn="l">
              <a:lnSpc>
                <a:spcPct val="133000"/>
              </a:lnSpc>
              <a:buSzPct val="100000"/>
              <a:buChar char="•"/>
            </a:pPr>
            <a:r>
              <a:rPr lang="en-US" sz="950" dirty="0">
                <a:solidFill>
                  <a:srgbClr val="FFFFFF"/>
                </a:solidFill>
                <a:latin typeface="Montserrat" pitchFamily="34" charset="0"/>
                <a:ea typeface="Montserrat" pitchFamily="34" charset="-122"/>
                <a:cs typeface="Montserrat" pitchFamily="34" charset="-120"/>
              </a:rPr>
              <a:t>Thêm tính năng = rủi ro vỡ hệ thống</a:t>
            </a:r>
            <a:endParaRPr lang="en-US" sz="950" dirty="0"/>
          </a:p>
        </p:txBody>
      </p:sp>
      <p:sp>
        <p:nvSpPr>
          <p:cNvPr id="9" name="Text 6"/>
          <p:cNvSpPr/>
          <p:nvPr/>
        </p:nvSpPr>
        <p:spPr>
          <a:xfrm>
            <a:off x="6442546" y="2638276"/>
            <a:ext cx="2007766" cy="198611"/>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a:t>
            </a:r>
            <a:r>
              <a:rPr lang="en-US" sz="1200" b="1" dirty="0">
                <a:solidFill>
                  <a:srgbClr val="C00000"/>
                </a:solidFill>
                <a:latin typeface="Montserrat Bold" pitchFamily="34" charset="0"/>
                <a:ea typeface="Montserrat Bold" pitchFamily="34" charset="-122"/>
                <a:cs typeface="Montserrat Bold" pitchFamily="34" charset="-120"/>
              </a:rPr>
              <a:t> Có OOP</a:t>
            </a:r>
            <a:endParaRPr lang="en-US" sz="1200" dirty="0"/>
          </a:p>
        </p:txBody>
      </p:sp>
      <p:sp>
        <p:nvSpPr>
          <p:cNvPr id="10" name="Text 7"/>
          <p:cNvSpPr/>
          <p:nvPr/>
        </p:nvSpPr>
        <p:spPr>
          <a:xfrm>
            <a:off x="6442546" y="2960861"/>
            <a:ext cx="2210098" cy="1320924"/>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000000"/>
                </a:solidFill>
                <a:latin typeface="Montserrat" pitchFamily="34" charset="0"/>
                <a:ea typeface="Montserrat" pitchFamily="34" charset="-122"/>
                <a:cs typeface="Montserrat" pitchFamily="34" charset="-120"/>
              </a:rPr>
              <a:t>Dữ liệu và hành vi gom vào một khối</a:t>
            </a:r>
            <a:endParaRPr lang="en-US" sz="950" dirty="0"/>
          </a:p>
          <a:p>
            <a:pPr marL="342900" indent="-342900" algn="l">
              <a:lnSpc>
                <a:spcPct val="133000"/>
              </a:lnSpc>
              <a:buSzPct val="100000"/>
              <a:buChar char="•"/>
            </a:pPr>
            <a:r>
              <a:rPr lang="en-US" sz="950" dirty="0">
                <a:solidFill>
                  <a:srgbClr val="000000"/>
                </a:solidFill>
                <a:latin typeface="Montserrat" pitchFamily="34" charset="0"/>
                <a:ea typeface="Montserrat" pitchFamily="34" charset="-122"/>
                <a:cs typeface="Montserrat" pitchFamily="34" charset="-120"/>
              </a:rPr>
              <a:t>Mỗi đối tượng tự quản lý chính mình</a:t>
            </a:r>
            <a:endParaRPr lang="en-US" sz="950" dirty="0"/>
          </a:p>
          <a:p>
            <a:pPr marL="342900" indent="-342900" algn="l">
              <a:lnSpc>
                <a:spcPct val="133000"/>
              </a:lnSpc>
              <a:buSzPct val="100000"/>
              <a:buChar char="•"/>
            </a:pPr>
            <a:r>
              <a:rPr lang="en-US" sz="950" dirty="0">
                <a:solidFill>
                  <a:srgbClr val="000000"/>
                </a:solidFill>
                <a:latin typeface="Montserrat" pitchFamily="34" charset="0"/>
                <a:ea typeface="Montserrat" pitchFamily="34" charset="-122"/>
                <a:cs typeface="Montserrat" pitchFamily="34" charset="-120"/>
              </a:rPr>
              <a:t>Code rõ ràng, dễ mở rộng</a:t>
            </a:r>
            <a:endParaRPr lang="en-US" sz="950" dirty="0"/>
          </a:p>
          <a:p>
            <a:pPr marL="342900" indent="-342900" algn="l">
              <a:lnSpc>
                <a:spcPct val="133000"/>
              </a:lnSpc>
              <a:buSzPct val="100000"/>
              <a:buChar char="•"/>
            </a:pPr>
            <a:r>
              <a:rPr lang="en-US" sz="950" dirty="0">
                <a:solidFill>
                  <a:srgbClr val="000000"/>
                </a:solidFill>
                <a:latin typeface="Montserrat" pitchFamily="34" charset="0"/>
                <a:ea typeface="Montserrat" pitchFamily="34" charset="-122"/>
                <a:cs typeface="Montserrat" pitchFamily="34" charset="-120"/>
              </a:rPr>
              <a:t>Tái sử dụng code hiệu quả</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318989"/>
            <a:ext cx="5161806" cy="387548"/>
          </a:xfrm>
          <a:prstGeom prst="rect">
            <a:avLst/>
          </a:prstGeom>
          <a:noFill/>
          <a:ln/>
        </p:spPr>
        <p:txBody>
          <a:bodyPr wrap="none" lIns="0" tIns="0" rIns="0" bIns="0" rtlCol="0" anchor="t"/>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OOP Là Gì? Ba Yếu Tố Cốt Lõi</a:t>
            </a:r>
            <a:endParaRPr lang="en-US" sz="2400" dirty="0"/>
          </a:p>
        </p:txBody>
      </p:sp>
      <p:sp>
        <p:nvSpPr>
          <p:cNvPr id="3" name="Text 1"/>
          <p:cNvSpPr/>
          <p:nvPr/>
        </p:nvSpPr>
        <p:spPr>
          <a:xfrm>
            <a:off x="496119" y="1954560"/>
            <a:ext cx="8608963" cy="198462"/>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OOP gom </a:t>
            </a:r>
            <a:r>
              <a:rPr lang="en-US" sz="950" b="1" dirty="0">
                <a:solidFill>
                  <a:srgbClr val="000000"/>
                </a:solidFill>
                <a:latin typeface="Montserrat" pitchFamily="34" charset="0"/>
                <a:ea typeface="Montserrat" pitchFamily="34" charset="-122"/>
                <a:cs typeface="Montserrat" pitchFamily="34" charset="-120"/>
              </a:rPr>
              <a:t>Dữ liệu</a:t>
            </a:r>
            <a:r>
              <a:rPr lang="en-US" sz="950" dirty="0">
                <a:solidFill>
                  <a:srgbClr val="000000"/>
                </a:solidFill>
                <a:latin typeface="Montserrat" pitchFamily="34" charset="0"/>
                <a:ea typeface="Montserrat" pitchFamily="34" charset="-122"/>
                <a:cs typeface="Montserrat" pitchFamily="34" charset="-120"/>
              </a:rPr>
              <a:t> và </a:t>
            </a:r>
            <a:r>
              <a:rPr lang="en-US" sz="950" b="1" dirty="0">
                <a:solidFill>
                  <a:srgbClr val="000000"/>
                </a:solidFill>
                <a:latin typeface="Montserrat" pitchFamily="34" charset="0"/>
                <a:ea typeface="Montserrat" pitchFamily="34" charset="-122"/>
                <a:cs typeface="Montserrat" pitchFamily="34" charset="-120"/>
              </a:rPr>
              <a:t>Hành vi</a:t>
            </a:r>
            <a:r>
              <a:rPr lang="en-US" sz="950" dirty="0">
                <a:solidFill>
                  <a:srgbClr val="000000"/>
                </a:solidFill>
                <a:latin typeface="Montserrat" pitchFamily="34" charset="0"/>
                <a:ea typeface="Montserrat" pitchFamily="34" charset="-122"/>
                <a:cs typeface="Montserrat" pitchFamily="34" charset="-120"/>
              </a:rPr>
              <a:t> vào một khối thống nhất gọi là </a:t>
            </a:r>
            <a:r>
              <a:rPr lang="en-US" sz="950" b="1" dirty="0">
                <a:solidFill>
                  <a:srgbClr val="C00000"/>
                </a:solidFill>
                <a:latin typeface="Montserrat" pitchFamily="34" charset="0"/>
                <a:ea typeface="Montserrat" pitchFamily="34" charset="-122"/>
                <a:cs typeface="Montserrat" pitchFamily="34" charset="-120"/>
              </a:rPr>
              <a:t>Đối tượng (Object)</a:t>
            </a:r>
            <a:r>
              <a:rPr lang="en-US" sz="950" dirty="0">
                <a:solidFill>
                  <a:srgbClr val="000000"/>
                </a:solidFill>
                <a:latin typeface="Montserrat" pitchFamily="34" charset="0"/>
                <a:ea typeface="Montserrat" pitchFamily="34" charset="-122"/>
                <a:cs typeface="Montserrat" pitchFamily="34" charset="-120"/>
              </a:rPr>
              <a:t>. Mỗi đối tượng chuẩn OOP luôn có 3 yếu tố:</a:t>
            </a:r>
            <a:endParaRPr lang="en-US" sz="9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292548"/>
            <a:ext cx="310083" cy="310083"/>
          </a:xfrm>
          <a:prstGeom prst="rect">
            <a:avLst/>
          </a:prstGeom>
        </p:spPr>
      </p:pic>
      <p:sp>
        <p:nvSpPr>
          <p:cNvPr id="5" name="Text 2"/>
          <p:cNvSpPr/>
          <p:nvPr/>
        </p:nvSpPr>
        <p:spPr>
          <a:xfrm>
            <a:off x="496119" y="2757636"/>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Dữ liệu (State)</a:t>
            </a:r>
            <a:endParaRPr lang="en-US" sz="1200" dirty="0"/>
          </a:p>
        </p:txBody>
      </p:sp>
      <p:sp>
        <p:nvSpPr>
          <p:cNvPr id="6" name="Text 3"/>
          <p:cNvSpPr/>
          <p:nvPr/>
        </p:nvSpPr>
        <p:spPr>
          <a:xfrm>
            <a:off x="496119" y="3025899"/>
            <a:ext cx="2613868" cy="7986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Thông tin thuộc tính riêng của đối tượng. Ví dụ: Tài khoản ngân hàng tự biết </a:t>
            </a:r>
            <a:r>
              <a:rPr lang="en-US" sz="950" dirty="0">
                <a:solidFill>
                  <a:srgbClr val="000000"/>
                </a:solidFill>
                <a:highlight>
                  <a:srgbClr val="F2F2F2"/>
                </a:highlight>
                <a:latin typeface="Consolas" pitchFamily="34" charset="0"/>
                <a:ea typeface="Consolas" pitchFamily="34" charset="-122"/>
                <a:cs typeface="Consolas" pitchFamily="34" charset="-120"/>
              </a:rPr>
              <a:t>balance</a:t>
            </a:r>
            <a:r>
              <a:rPr lang="en-US" sz="950" dirty="0">
                <a:solidFill>
                  <a:srgbClr val="000000"/>
                </a:solidFill>
                <a:latin typeface="Montserrat" pitchFamily="34" charset="0"/>
                <a:ea typeface="Montserrat" pitchFamily="34" charset="-122"/>
                <a:cs typeface="Montserrat" pitchFamily="34" charset="-120"/>
              </a:rPr>
              <a:t> của mình là bao nhiêu, chủ tài khoản là ai.</a:t>
            </a:r>
            <a:endParaRPr lang="en-US" sz="9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64991" y="2292548"/>
            <a:ext cx="310083" cy="310083"/>
          </a:xfrm>
          <a:prstGeom prst="rect">
            <a:avLst/>
          </a:prstGeom>
        </p:spPr>
      </p:pic>
      <p:sp>
        <p:nvSpPr>
          <p:cNvPr id="8" name="Text 4"/>
          <p:cNvSpPr/>
          <p:nvPr/>
        </p:nvSpPr>
        <p:spPr>
          <a:xfrm>
            <a:off x="3264991" y="2757636"/>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Hành vi (Behavior)</a:t>
            </a:r>
            <a:endParaRPr lang="en-US" sz="1200" dirty="0"/>
          </a:p>
        </p:txBody>
      </p:sp>
      <p:sp>
        <p:nvSpPr>
          <p:cNvPr id="9" name="Text 5"/>
          <p:cNvSpPr/>
          <p:nvPr/>
        </p:nvSpPr>
        <p:spPr>
          <a:xfrm>
            <a:off x="3264991" y="3025899"/>
            <a:ext cx="2613943"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Các hành động đối tượng có thể thực hiện. Ví dụ: Bấm "Rút tiền" ở ATM — bạn chỉ cần nhận tiền, không cần biết bên trong hệ thống xử lý thế nào.</a:t>
            </a:r>
            <a:endParaRPr lang="en-US" sz="9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33939" y="2292548"/>
            <a:ext cx="310083" cy="310083"/>
          </a:xfrm>
          <a:prstGeom prst="rect">
            <a:avLst/>
          </a:prstGeom>
        </p:spPr>
      </p:pic>
      <p:sp>
        <p:nvSpPr>
          <p:cNvPr id="11" name="Text 6"/>
          <p:cNvSpPr/>
          <p:nvPr/>
        </p:nvSpPr>
        <p:spPr>
          <a:xfrm>
            <a:off x="6033939" y="2757636"/>
            <a:ext cx="1558900"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Tự chủ (Autonomy)</a:t>
            </a:r>
            <a:endParaRPr lang="en-US" sz="1200" dirty="0"/>
          </a:p>
        </p:txBody>
      </p:sp>
      <p:sp>
        <p:nvSpPr>
          <p:cNvPr id="12" name="Text 7"/>
          <p:cNvSpPr/>
          <p:nvPr/>
        </p:nvSpPr>
        <p:spPr>
          <a:xfrm>
            <a:off x="6033939" y="3025899"/>
            <a:ext cx="2613943"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Đối tượng tự quản lý và chịu trách nhiệm về chính nó. Không hàm bên ngoài nào được tự ý sửa số dư nếu không qua xác thực của chính tài khoản đó.</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74767" y="300446"/>
            <a:ext cx="4909922" cy="340111"/>
          </a:xfrm>
          <a:prstGeom prst="rect">
            <a:avLst/>
          </a:prstGeom>
          <a:noFill/>
          <a:ln/>
        </p:spPr>
        <p:txBody>
          <a:bodyPr wrap="none" lIns="0" tIns="0" rIns="0" bIns="0" rtlCol="0" anchor="t"/>
          <a:lstStyle/>
          <a:p>
            <a:pPr marL="0" indent="0" algn="l">
              <a:lnSpc>
                <a:spcPct val="104000"/>
              </a:lnSpc>
              <a:buNone/>
            </a:pPr>
            <a:r>
              <a:rPr lang="en-US" sz="1550" b="1" dirty="0">
                <a:solidFill>
                  <a:srgbClr val="C00000"/>
                </a:solidFill>
                <a:latin typeface="Montserrat Bold" pitchFamily="34" charset="0"/>
                <a:ea typeface="Montserrat Bold" pitchFamily="34" charset="-122"/>
                <a:cs typeface="Montserrat Bold" pitchFamily="34" charset="-120"/>
              </a:rPr>
              <a:t>Bốn Tính Chất Đặc Trưng của OOP</a:t>
            </a:r>
            <a:endParaRPr lang="en-US" sz="1550" dirty="0"/>
          </a:p>
        </p:txBody>
      </p:sp>
      <p:sp>
        <p:nvSpPr>
          <p:cNvPr id="3" name="Text 1"/>
          <p:cNvSpPr/>
          <p:nvPr/>
        </p:nvSpPr>
        <p:spPr>
          <a:xfrm>
            <a:off x="659674" y="640557"/>
            <a:ext cx="7569926" cy="206052"/>
          </a:xfrm>
          <a:prstGeom prst="rect">
            <a:avLst/>
          </a:prstGeom>
          <a:noFill/>
          <a:ln/>
        </p:spPr>
        <p:txBody>
          <a:bodyPr wrap="none" lIns="0" tIns="0" rIns="0" bIns="0" rtlCol="0" anchor="t"/>
          <a:lstStyle/>
          <a:p>
            <a:pPr marL="0" indent="0" algn="l">
              <a:lnSpc>
                <a:spcPct val="109000"/>
              </a:lnSpc>
              <a:buNone/>
            </a:pPr>
            <a:r>
              <a:rPr lang="en-US" sz="1000" dirty="0">
                <a:solidFill>
                  <a:srgbClr val="000000"/>
                </a:solidFill>
                <a:latin typeface="Montserrat" pitchFamily="34" charset="0"/>
                <a:ea typeface="Montserrat" pitchFamily="34" charset="-122"/>
                <a:cs typeface="Montserrat" pitchFamily="34" charset="-120"/>
              </a:rPr>
              <a:t>Để đạt được 3 yếu tố cốt lõi trên, OOP xây dựng trên </a:t>
            </a:r>
            <a:r>
              <a:rPr lang="en-US" sz="1000" b="1" dirty="0">
                <a:solidFill>
                  <a:srgbClr val="C00000"/>
                </a:solidFill>
                <a:latin typeface="Montserrat" pitchFamily="34" charset="0"/>
                <a:ea typeface="Montserrat" pitchFamily="34" charset="-122"/>
                <a:cs typeface="Montserrat" pitchFamily="34" charset="-120"/>
              </a:rPr>
              <a:t>4 tính chất </a:t>
            </a:r>
            <a:r>
              <a:rPr lang="en-US" sz="1000" b="1" dirty="0" err="1">
                <a:solidFill>
                  <a:srgbClr val="C00000"/>
                </a:solidFill>
                <a:latin typeface="Montserrat" pitchFamily="34" charset="0"/>
                <a:ea typeface="Montserrat" pitchFamily="34" charset="-122"/>
                <a:cs typeface="Montserrat" pitchFamily="34" charset="-120"/>
              </a:rPr>
              <a:t>nền</a:t>
            </a:r>
            <a:r>
              <a:rPr lang="en-US" sz="1000" b="1" dirty="0">
                <a:solidFill>
                  <a:srgbClr val="C00000"/>
                </a:solidFill>
                <a:latin typeface="Montserrat" pitchFamily="34" charset="0"/>
                <a:ea typeface="Montserrat" pitchFamily="34" charset="-122"/>
                <a:cs typeface="Montserrat" pitchFamily="34" charset="-120"/>
              </a:rPr>
              <a:t> </a:t>
            </a:r>
            <a:r>
              <a:rPr lang="en-US" sz="1000" b="1" dirty="0" err="1">
                <a:solidFill>
                  <a:srgbClr val="C00000"/>
                </a:solidFill>
                <a:latin typeface="Montserrat" pitchFamily="34" charset="0"/>
                <a:ea typeface="Montserrat" pitchFamily="34" charset="-122"/>
                <a:cs typeface="Montserrat" pitchFamily="34" charset="-120"/>
              </a:rPr>
              <a:t>tảng</a:t>
            </a:r>
            <a:r>
              <a:rPr lang="en-US" sz="1000" b="1" dirty="0">
                <a:solidFill>
                  <a:srgbClr val="000000"/>
                </a:solidFill>
                <a:latin typeface="Montserrat" pitchFamily="34" charset="0"/>
                <a:ea typeface="Montserrat" pitchFamily="34" charset="-122"/>
                <a:cs typeface="Montserrat" pitchFamily="34" charset="-120"/>
              </a:rPr>
              <a:t> </a:t>
            </a:r>
            <a:r>
              <a:rPr lang="en-US" sz="1000" dirty="0">
                <a:solidFill>
                  <a:srgbClr val="000000"/>
                </a:solidFill>
                <a:latin typeface="Montserrat" pitchFamily="34" charset="0"/>
                <a:ea typeface="Montserrat" pitchFamily="34" charset="-122"/>
                <a:cs typeface="Montserrat" pitchFamily="34" charset="-120"/>
              </a:rPr>
              <a:t>.</a:t>
            </a:r>
            <a:endParaRPr lang="en-US" sz="1000" dirty="0"/>
          </a:p>
        </p:txBody>
      </p:sp>
      <p:pic>
        <p:nvPicPr>
          <p:cNvPr id="4" name="Image 0" descr="preencoded.png"/>
          <p:cNvPicPr>
            <a:picLocks noChangeAspect="1"/>
          </p:cNvPicPr>
          <p:nvPr/>
        </p:nvPicPr>
        <p:blipFill>
          <a:blip r:embed="rId3"/>
          <a:stretch>
            <a:fillRect/>
          </a:stretch>
        </p:blipFill>
        <p:spPr>
          <a:xfrm>
            <a:off x="855617" y="846609"/>
            <a:ext cx="6647187" cy="3710054"/>
          </a:xfrm>
          <a:prstGeom prst="rect">
            <a:avLst/>
          </a:prstGeom>
        </p:spPr>
      </p:pic>
      <p:sp>
        <p:nvSpPr>
          <p:cNvPr id="5" name="Shape 2"/>
          <p:cNvSpPr/>
          <p:nvPr/>
        </p:nvSpPr>
        <p:spPr>
          <a:xfrm>
            <a:off x="1438721" y="4458667"/>
            <a:ext cx="6266557" cy="235372"/>
          </a:xfrm>
          <a:prstGeom prst="roundRect">
            <a:avLst>
              <a:gd name="adj" fmla="val 30386"/>
            </a:avLst>
          </a:prstGeom>
          <a:solidFill>
            <a:srgbClr val="FFB3B3"/>
          </a:solidFill>
          <a:ln/>
        </p:spPr>
        <p:txBody>
          <a:bodyPr/>
          <a:lstStyle/>
          <a:p>
            <a:endParaRPr lang="vi-VN"/>
          </a:p>
        </p:txBody>
      </p:sp>
      <p:pic>
        <p:nvPicPr>
          <p:cNvPr id="6" name="Image 1" descr="preencoded.png"/>
          <p:cNvPicPr>
            <a:picLocks noChangeAspect="1"/>
          </p:cNvPicPr>
          <p:nvPr/>
        </p:nvPicPr>
        <p:blipFill>
          <a:blip r:embed="rId4"/>
          <a:stretch>
            <a:fillRect/>
          </a:stretch>
        </p:blipFill>
        <p:spPr>
          <a:xfrm>
            <a:off x="1494315" y="4502943"/>
            <a:ext cx="170347" cy="136253"/>
          </a:xfrm>
          <a:prstGeom prst="rect">
            <a:avLst/>
          </a:prstGeom>
        </p:spPr>
      </p:pic>
      <p:sp>
        <p:nvSpPr>
          <p:cNvPr id="7" name="Text 3"/>
          <p:cNvSpPr/>
          <p:nvPr/>
        </p:nvSpPr>
        <p:spPr>
          <a:xfrm>
            <a:off x="1696789" y="4524226"/>
            <a:ext cx="6386289" cy="104254"/>
          </a:xfrm>
          <a:prstGeom prst="rect">
            <a:avLst/>
          </a:prstGeom>
          <a:noFill/>
          <a:ln/>
        </p:spPr>
        <p:txBody>
          <a:bodyPr wrap="none" lIns="0" tIns="0" rIns="0" bIns="0" rtlCol="0" anchor="t"/>
          <a:lstStyle/>
          <a:p>
            <a:pPr marL="0" indent="0" algn="l">
              <a:lnSpc>
                <a:spcPct val="109000"/>
              </a:lnSpc>
              <a:buNone/>
            </a:pPr>
            <a:r>
              <a:rPr lang="en-US" sz="600" dirty="0">
                <a:solidFill>
                  <a:srgbClr val="000000"/>
                </a:solidFill>
                <a:latin typeface="Montserrat" pitchFamily="34" charset="0"/>
                <a:ea typeface="Montserrat" pitchFamily="34" charset="-122"/>
                <a:cs typeface="Montserrat" pitchFamily="34" charset="-120"/>
              </a:rPr>
              <a:t>📌 Hôm nay tập trung vào </a:t>
            </a:r>
            <a:r>
              <a:rPr lang="en-US" sz="600" b="1" dirty="0">
                <a:solidFill>
                  <a:srgbClr val="000000"/>
                </a:solidFill>
                <a:latin typeface="Montserrat" pitchFamily="34" charset="0"/>
                <a:ea typeface="Montserrat" pitchFamily="34" charset="-122"/>
                <a:cs typeface="Montserrat" pitchFamily="34" charset="-120"/>
              </a:rPr>
              <a:t>Tính Đóng Gói (Encapsulation)</a:t>
            </a:r>
            <a:r>
              <a:rPr lang="en-US" sz="600" dirty="0">
                <a:solidFill>
                  <a:srgbClr val="000000"/>
                </a:solidFill>
                <a:latin typeface="Montserrat" pitchFamily="34" charset="0"/>
                <a:ea typeface="Montserrat" pitchFamily="34" charset="-122"/>
                <a:cs typeface="Montserrat" pitchFamily="34" charset="-120"/>
              </a:rPr>
              <a:t> — nền tảng bảo mật của mọi hệ thống lớn.</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1025203"/>
            <a:ext cx="6199956" cy="387548"/>
          </a:xfrm>
          <a:prstGeom prst="rect">
            <a:avLst/>
          </a:prstGeom>
          <a:noFill/>
          <a:ln/>
        </p:spPr>
        <p:txBody>
          <a:bodyPr wrap="none" lIns="0" tIns="0" rIns="0" bIns="0" rtlCol="0" anchor="t"/>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Class vs Object</a:t>
            </a:r>
            <a:endParaRPr lang="en-US" sz="2400" dirty="0"/>
          </a:p>
        </p:txBody>
      </p:sp>
      <p:sp>
        <p:nvSpPr>
          <p:cNvPr id="3" name="Text 1"/>
          <p:cNvSpPr/>
          <p:nvPr/>
        </p:nvSpPr>
        <p:spPr>
          <a:xfrm>
            <a:off x="496119" y="1660773"/>
            <a:ext cx="8608963" cy="198462"/>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Đây là cặp khái </a:t>
            </a:r>
            <a:r>
              <a:rPr lang="en-US" sz="950" dirty="0" err="1">
                <a:solidFill>
                  <a:srgbClr val="000000"/>
                </a:solidFill>
                <a:latin typeface="Montserrat" pitchFamily="34" charset="0"/>
                <a:ea typeface="Montserrat" pitchFamily="34" charset="-122"/>
                <a:cs typeface="Montserrat" pitchFamily="34" charset="-120"/>
              </a:rPr>
              <a:t>niệm</a:t>
            </a:r>
            <a:r>
              <a:rPr lang="en-US" sz="950" dirty="0">
                <a:solidFill>
                  <a:srgbClr val="000000"/>
                </a:solidFill>
                <a:latin typeface="Montserrat" pitchFamily="34" charset="0"/>
                <a:ea typeface="Montserrat" pitchFamily="34" charset="-122"/>
                <a:cs typeface="Montserrat" pitchFamily="34" charset="-120"/>
              </a:rPr>
              <a:t> hay nhầm nhất. Hãy nhớ nằm lòng:</a:t>
            </a:r>
            <a:endParaRPr lang="en-US" sz="950" dirty="0"/>
          </a:p>
        </p:txBody>
      </p:sp>
      <p:sp>
        <p:nvSpPr>
          <p:cNvPr id="4" name="Shape 2"/>
          <p:cNvSpPr/>
          <p:nvPr/>
        </p:nvSpPr>
        <p:spPr>
          <a:xfrm>
            <a:off x="406822" y="1998762"/>
            <a:ext cx="4103191" cy="1153567"/>
          </a:xfrm>
          <a:prstGeom prst="roundRect">
            <a:avLst>
              <a:gd name="adj" fmla="val 15485"/>
            </a:avLst>
          </a:prstGeom>
          <a:solidFill>
            <a:srgbClr val="231651"/>
          </a:solidFill>
          <a:ln/>
        </p:spPr>
        <p:txBody>
          <a:bodyPr/>
          <a:lstStyle/>
          <a:p>
            <a:endParaRPr lang="vi-VN"/>
          </a:p>
        </p:txBody>
      </p:sp>
      <p:sp>
        <p:nvSpPr>
          <p:cNvPr id="5" name="Text 3"/>
          <p:cNvSpPr/>
          <p:nvPr/>
        </p:nvSpPr>
        <p:spPr>
          <a:xfrm>
            <a:off x="530796" y="2122736"/>
            <a:ext cx="2007766" cy="198611"/>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a:t>
            </a:r>
            <a:r>
              <a:rPr lang="en-US" sz="1200" b="1" dirty="0">
                <a:solidFill>
                  <a:srgbClr val="FFFFFF"/>
                </a:solidFill>
                <a:latin typeface="Montserrat Bold" pitchFamily="34" charset="0"/>
                <a:ea typeface="Montserrat Bold" pitchFamily="34" charset="-122"/>
                <a:cs typeface="Montserrat Bold" pitchFamily="34" charset="-120"/>
              </a:rPr>
              <a:t> Class (Lớp)</a:t>
            </a:r>
            <a:endParaRPr lang="en-US" sz="1200" dirty="0"/>
          </a:p>
        </p:txBody>
      </p:sp>
      <p:sp>
        <p:nvSpPr>
          <p:cNvPr id="6" name="Text 4"/>
          <p:cNvSpPr/>
          <p:nvPr/>
        </p:nvSpPr>
        <p:spPr>
          <a:xfrm>
            <a:off x="530796" y="2445321"/>
            <a:ext cx="3855244"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FFFFFF"/>
                </a:solidFill>
                <a:latin typeface="Montserrat" pitchFamily="34" charset="0"/>
                <a:ea typeface="Montserrat" pitchFamily="34" charset="-122"/>
                <a:cs typeface="Montserrat" pitchFamily="34" charset="-120"/>
              </a:rPr>
              <a:t>Là </a:t>
            </a:r>
            <a:r>
              <a:rPr lang="en-US" sz="950" b="1" dirty="0">
                <a:solidFill>
                  <a:srgbClr val="FFFFFF"/>
                </a:solidFill>
                <a:latin typeface="Montserrat" pitchFamily="34" charset="0"/>
                <a:ea typeface="Montserrat" pitchFamily="34" charset="-122"/>
                <a:cs typeface="Montserrat" pitchFamily="34" charset="-120"/>
              </a:rPr>
              <a:t>Bản thiết kế trên giấy</a:t>
            </a:r>
            <a:r>
              <a:rPr lang="en-US" sz="950" dirty="0">
                <a:solidFill>
                  <a:srgbClr val="FFFFFF"/>
                </a:solidFill>
                <a:latin typeface="Montserrat" pitchFamily="34" charset="0"/>
                <a:ea typeface="Montserrat" pitchFamily="34" charset="-122"/>
                <a:cs typeface="Montserrat" pitchFamily="34" charset="-120"/>
              </a:rPr>
              <a:t>. Bản thiết kế ngôi nhà thì không thể ở được, không tốn gạch đá — tức là </a:t>
            </a:r>
            <a:r>
              <a:rPr lang="en-US" sz="950" b="1" dirty="0">
                <a:solidFill>
                  <a:srgbClr val="FFFFFF"/>
                </a:solidFill>
                <a:latin typeface="Montserrat" pitchFamily="34" charset="0"/>
                <a:ea typeface="Montserrat" pitchFamily="34" charset="-122"/>
                <a:cs typeface="Montserrat" pitchFamily="34" charset="-120"/>
              </a:rPr>
              <a:t>không chiếm bộ nhớ RAM</a:t>
            </a:r>
            <a:r>
              <a:rPr lang="en-US" sz="950" dirty="0">
                <a:solidFill>
                  <a:srgbClr val="FFFFFF"/>
                </a:solidFill>
                <a:latin typeface="Montserrat" pitchFamily="34" charset="0"/>
                <a:ea typeface="Montserrat" pitchFamily="34" charset="-122"/>
                <a:cs typeface="Montserrat" pitchFamily="34" charset="-120"/>
              </a:rPr>
              <a:t>. Nó chỉ định nghĩa xem ngôi nhà sẽ có những gì.</a:t>
            </a:r>
            <a:endParaRPr lang="en-US" sz="950" dirty="0"/>
          </a:p>
        </p:txBody>
      </p:sp>
      <p:sp>
        <p:nvSpPr>
          <p:cNvPr id="7" name="Text 5"/>
          <p:cNvSpPr/>
          <p:nvPr/>
        </p:nvSpPr>
        <p:spPr>
          <a:xfrm>
            <a:off x="4728046" y="2122736"/>
            <a:ext cx="2203996" cy="198611"/>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a:t>
            </a:r>
            <a:r>
              <a:rPr lang="en-US" sz="1200" b="1" dirty="0">
                <a:solidFill>
                  <a:srgbClr val="C00000"/>
                </a:solidFill>
                <a:latin typeface="Montserrat Bold" pitchFamily="34" charset="0"/>
                <a:ea typeface="Montserrat Bold" pitchFamily="34" charset="-122"/>
                <a:cs typeface="Montserrat Bold" pitchFamily="34" charset="-120"/>
              </a:rPr>
              <a:t> Object (Đối tượng)</a:t>
            </a:r>
            <a:endParaRPr lang="en-US" sz="1200" dirty="0"/>
          </a:p>
        </p:txBody>
      </p:sp>
      <p:sp>
        <p:nvSpPr>
          <p:cNvPr id="8" name="Text 6"/>
          <p:cNvSpPr/>
          <p:nvPr/>
        </p:nvSpPr>
        <p:spPr>
          <a:xfrm>
            <a:off x="4728046" y="2445321"/>
            <a:ext cx="3924598"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Là </a:t>
            </a:r>
            <a:r>
              <a:rPr lang="en-US" sz="950" b="1" dirty="0">
                <a:solidFill>
                  <a:srgbClr val="000000"/>
                </a:solidFill>
                <a:latin typeface="Montserrat" pitchFamily="34" charset="0"/>
                <a:ea typeface="Montserrat" pitchFamily="34" charset="-122"/>
                <a:cs typeface="Montserrat" pitchFamily="34" charset="-120"/>
              </a:rPr>
              <a:t>Ngôi nhà thực tế</a:t>
            </a:r>
            <a:r>
              <a:rPr lang="en-US" sz="950" dirty="0">
                <a:solidFill>
                  <a:srgbClr val="000000"/>
                </a:solidFill>
                <a:latin typeface="Montserrat" pitchFamily="34" charset="0"/>
                <a:ea typeface="Montserrat" pitchFamily="34" charset="-122"/>
                <a:cs typeface="Montserrat" pitchFamily="34" charset="-120"/>
              </a:rPr>
              <a:t> được xây từ bản thiết kế đó. Nó có thật, sờ được và </a:t>
            </a:r>
            <a:r>
              <a:rPr lang="en-US" sz="950" b="1" dirty="0">
                <a:solidFill>
                  <a:srgbClr val="000000"/>
                </a:solidFill>
                <a:latin typeface="Montserrat" pitchFamily="34" charset="0"/>
                <a:ea typeface="Montserrat" pitchFamily="34" charset="-122"/>
                <a:cs typeface="Montserrat" pitchFamily="34" charset="-120"/>
              </a:rPr>
              <a:t>chiếm bộ nhớ RAM</a:t>
            </a:r>
            <a:r>
              <a:rPr lang="en-US" sz="950" dirty="0">
                <a:solidFill>
                  <a:srgbClr val="000000"/>
                </a:solidFill>
                <a:latin typeface="Montserrat" pitchFamily="34" charset="0"/>
                <a:ea typeface="Montserrat" pitchFamily="34" charset="-122"/>
                <a:cs typeface="Montserrat" pitchFamily="34" charset="-120"/>
              </a:rPr>
              <a:t>. Từ 1 bản thiết kế, ta có thể xây hàng triệu ngôi nhà giống hoặc khác màu nhau!</a:t>
            </a:r>
            <a:endParaRPr lang="en-US" sz="950" dirty="0"/>
          </a:p>
        </p:txBody>
      </p:sp>
      <p:sp>
        <p:nvSpPr>
          <p:cNvPr id="9" name="Shape 7"/>
          <p:cNvSpPr/>
          <p:nvPr/>
        </p:nvSpPr>
        <p:spPr>
          <a:xfrm>
            <a:off x="496119" y="3291855"/>
            <a:ext cx="8151763" cy="686842"/>
          </a:xfrm>
          <a:prstGeom prst="roundRect">
            <a:avLst>
              <a:gd name="adj" fmla="val 16254"/>
            </a:avLst>
          </a:prstGeom>
          <a:solidFill>
            <a:srgbClr val="B6D6FC"/>
          </a:solidFill>
          <a:ln/>
        </p:spPr>
        <p:txBody>
          <a:bodyPr/>
          <a:lstStyle/>
          <a:p>
            <a:endParaRPr lang="vi-VN"/>
          </a:p>
        </p:txBody>
      </p:sp>
      <p:pic>
        <p:nvPicPr>
          <p:cNvPr id="10" name="Image 0" descr="preencoded.png"/>
          <p:cNvPicPr>
            <a:picLocks noChangeAspect="1"/>
          </p:cNvPicPr>
          <p:nvPr/>
        </p:nvPicPr>
        <p:blipFill>
          <a:blip r:embed="rId3"/>
          <a:stretch>
            <a:fillRect/>
          </a:stretch>
        </p:blipFill>
        <p:spPr>
          <a:xfrm>
            <a:off x="620092" y="3471639"/>
            <a:ext cx="155004" cy="123974"/>
          </a:xfrm>
          <a:prstGeom prst="rect">
            <a:avLst/>
          </a:prstGeom>
        </p:spPr>
      </p:pic>
      <p:sp>
        <p:nvSpPr>
          <p:cNvPr id="11" name="Text 8"/>
          <p:cNvSpPr/>
          <p:nvPr/>
        </p:nvSpPr>
        <p:spPr>
          <a:xfrm>
            <a:off x="899071" y="3434432"/>
            <a:ext cx="7624837" cy="4016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 Trong Python: </a:t>
            </a:r>
            <a:r>
              <a:rPr lang="en-US" sz="950" dirty="0">
                <a:solidFill>
                  <a:srgbClr val="000000"/>
                </a:solidFill>
                <a:highlight>
                  <a:srgbClr val="F2F2F2"/>
                </a:highlight>
                <a:latin typeface="Consolas" pitchFamily="34" charset="0"/>
                <a:ea typeface="Consolas" pitchFamily="34" charset="-122"/>
                <a:cs typeface="Consolas" pitchFamily="34" charset="-120"/>
              </a:rPr>
              <a:t>class BankAccount:</a:t>
            </a:r>
            <a:r>
              <a:rPr lang="en-US" sz="950" dirty="0">
                <a:solidFill>
                  <a:srgbClr val="000000"/>
                </a:solidFill>
                <a:latin typeface="Montserrat" pitchFamily="34" charset="0"/>
                <a:ea typeface="Montserrat" pitchFamily="34" charset="-122"/>
                <a:cs typeface="Montserrat" pitchFamily="34" charset="-120"/>
              </a:rPr>
              <a:t> là bản thiết kế. Còn </a:t>
            </a:r>
            <a:r>
              <a:rPr lang="en-US" sz="950" dirty="0">
                <a:solidFill>
                  <a:srgbClr val="000000"/>
                </a:solidFill>
                <a:highlight>
                  <a:srgbClr val="F2F2F2"/>
                </a:highlight>
                <a:latin typeface="Consolas" pitchFamily="34" charset="0"/>
                <a:ea typeface="Consolas" pitchFamily="34" charset="-122"/>
                <a:cs typeface="Consolas" pitchFamily="34" charset="-120"/>
              </a:rPr>
              <a:t>account1 = BankAccount(...)</a:t>
            </a:r>
            <a:r>
              <a:rPr lang="en-US" sz="950" dirty="0">
                <a:solidFill>
                  <a:srgbClr val="000000"/>
                </a:solidFill>
                <a:latin typeface="Montserrat" pitchFamily="34" charset="0"/>
                <a:ea typeface="Montserrat" pitchFamily="34" charset="-122"/>
                <a:cs typeface="Montserrat" pitchFamily="34" charset="-120"/>
              </a:rPr>
              <a:t> là ngôi nhà thực tế bạn vừa xây lên từ bản thiết kế đó.</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346695"/>
            <a:ext cx="6642795" cy="363364"/>
          </a:xfrm>
          <a:prstGeom prst="rect">
            <a:avLst/>
          </a:prstGeom>
          <a:noFill/>
          <a:ln/>
        </p:spPr>
        <p:txBody>
          <a:bodyPr wrap="none" lIns="0" tIns="0" rIns="0" bIns="0" rtlCol="0" anchor="t"/>
          <a:lstStyle/>
          <a:p>
            <a:pPr marL="0" indent="0" algn="l">
              <a:lnSpc>
                <a:spcPct val="104000"/>
              </a:lnSpc>
              <a:buNone/>
            </a:pPr>
            <a:r>
              <a:rPr lang="en-US" sz="2250" b="1" dirty="0">
                <a:solidFill>
                  <a:srgbClr val="C00000"/>
                </a:solidFill>
                <a:latin typeface="Montserrat Bold" pitchFamily="34" charset="0"/>
                <a:ea typeface="Montserrat Bold" pitchFamily="34" charset="-122"/>
                <a:cs typeface="Montserrat Bold" pitchFamily="34" charset="-120"/>
              </a:rPr>
              <a:t>Khai Báo Class Đầu Tiên — BankAccount</a:t>
            </a:r>
            <a:endParaRPr lang="en-US" sz="2250" dirty="0"/>
          </a:p>
        </p:txBody>
      </p:sp>
      <p:sp>
        <p:nvSpPr>
          <p:cNvPr id="3" name="Text 1"/>
          <p:cNvSpPr/>
          <p:nvPr/>
        </p:nvSpPr>
        <p:spPr>
          <a:xfrm>
            <a:off x="496119" y="928092"/>
            <a:ext cx="8151763" cy="365224"/>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000000"/>
                </a:solidFill>
                <a:latin typeface="Montserrat" pitchFamily="34" charset="0"/>
                <a:ea typeface="Montserrat" pitchFamily="34" charset="-122"/>
                <a:cs typeface="Montserrat" pitchFamily="34" charset="-120"/>
              </a:rPr>
              <a:t>Chúng ta dùng từ khóa </a:t>
            </a:r>
            <a:r>
              <a:rPr lang="en-US" sz="900" dirty="0">
                <a:solidFill>
                  <a:srgbClr val="000000"/>
                </a:solidFill>
                <a:highlight>
                  <a:srgbClr val="F2F2F2"/>
                </a:highlight>
                <a:latin typeface="Consolas" pitchFamily="34" charset="0"/>
                <a:ea typeface="Consolas" pitchFamily="34" charset="-122"/>
                <a:cs typeface="Consolas" pitchFamily="34" charset="-120"/>
              </a:rPr>
              <a:t>class</a:t>
            </a:r>
            <a:r>
              <a:rPr lang="en-US" sz="900" dirty="0">
                <a:solidFill>
                  <a:srgbClr val="000000"/>
                </a:solidFill>
                <a:latin typeface="Montserrat" pitchFamily="34" charset="0"/>
                <a:ea typeface="Montserrat" pitchFamily="34" charset="-122"/>
                <a:cs typeface="Montserrat" pitchFamily="34" charset="-120"/>
              </a:rPr>
              <a:t> và tên lớp viết theo chuẩn </a:t>
            </a:r>
            <a:r>
              <a:rPr lang="en-US" sz="900" b="1" dirty="0">
                <a:solidFill>
                  <a:srgbClr val="000000"/>
                </a:solidFill>
                <a:latin typeface="Montserrat" pitchFamily="34" charset="0"/>
                <a:ea typeface="Montserrat" pitchFamily="34" charset="-122"/>
                <a:cs typeface="Montserrat" pitchFamily="34" charset="-120"/>
              </a:rPr>
              <a:t>PascalCase</a:t>
            </a:r>
            <a:r>
              <a:rPr lang="en-US" sz="900" dirty="0">
                <a:solidFill>
                  <a:srgbClr val="000000"/>
                </a:solidFill>
                <a:latin typeface="Montserrat" pitchFamily="34" charset="0"/>
                <a:ea typeface="Montserrat" pitchFamily="34" charset="-122"/>
                <a:cs typeface="Montserrat" pitchFamily="34" charset="-120"/>
              </a:rPr>
              <a:t> (viết hoa chữ cái đầu mỗi từ). Đây là khung xương của dự án ngân hàng hôm nay:</a:t>
            </a:r>
            <a:endParaRPr lang="en-US" sz="900" dirty="0"/>
          </a:p>
        </p:txBody>
      </p:sp>
      <p:sp>
        <p:nvSpPr>
          <p:cNvPr id="4" name="Shape 2"/>
          <p:cNvSpPr/>
          <p:nvPr/>
        </p:nvSpPr>
        <p:spPr>
          <a:xfrm>
            <a:off x="496119" y="1415951"/>
            <a:ext cx="8151763" cy="2395240"/>
          </a:xfrm>
          <a:prstGeom prst="roundRect">
            <a:avLst>
              <a:gd name="adj" fmla="val 4370"/>
            </a:avLst>
          </a:prstGeom>
          <a:solidFill>
            <a:srgbClr val="F2F2F2"/>
          </a:solidFill>
          <a:ln/>
        </p:spPr>
        <p:txBody>
          <a:bodyPr/>
          <a:lstStyle/>
          <a:p>
            <a:endParaRPr lang="vi-VN"/>
          </a:p>
        </p:txBody>
      </p:sp>
      <p:sp>
        <p:nvSpPr>
          <p:cNvPr id="5" name="Shape 3"/>
          <p:cNvSpPr/>
          <p:nvPr/>
        </p:nvSpPr>
        <p:spPr>
          <a:xfrm>
            <a:off x="490314" y="1415951"/>
            <a:ext cx="8163371" cy="2395240"/>
          </a:xfrm>
          <a:prstGeom prst="roundRect">
            <a:avLst>
              <a:gd name="adj" fmla="val 728"/>
            </a:avLst>
          </a:prstGeom>
          <a:solidFill>
            <a:srgbClr val="F2F2F2"/>
          </a:solidFill>
          <a:ln/>
        </p:spPr>
        <p:txBody>
          <a:bodyPr/>
          <a:lstStyle/>
          <a:p>
            <a:endParaRPr lang="vi-VN"/>
          </a:p>
        </p:txBody>
      </p:sp>
      <p:sp>
        <p:nvSpPr>
          <p:cNvPr id="6" name="Text 4"/>
          <p:cNvSpPr/>
          <p:nvPr/>
        </p:nvSpPr>
        <p:spPr>
          <a:xfrm>
            <a:off x="635645" y="1532186"/>
            <a:ext cx="7872710" cy="2162770"/>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class BankAccount:</a:t>
            </a:r>
            <a:endParaRPr lang="en-US" sz="900" dirty="0"/>
          </a:p>
          <a:p>
            <a:pPr marL="0" indent="0" algn="l">
              <a:lnSpc>
                <a:spcPct val="129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    # Hàm khởi tạo đặc biệt (Constructor)</a:t>
            </a:r>
            <a:endParaRPr lang="en-US" sz="900" dirty="0"/>
          </a:p>
          <a:p>
            <a:pPr marL="0" indent="0" algn="l">
              <a:lnSpc>
                <a:spcPct val="129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    def __init__(self, account_number, account_holder, balance=0):</a:t>
            </a:r>
            <a:endParaRPr lang="en-US" sz="900" dirty="0"/>
          </a:p>
          <a:p>
            <a:pPr marL="0" indent="0" algn="l">
              <a:lnSpc>
                <a:spcPct val="129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        self.account_number = account_number  # Thuộc tính</a:t>
            </a:r>
            <a:endParaRPr lang="en-US" sz="900" dirty="0"/>
          </a:p>
          <a:p>
            <a:pPr marL="0" indent="0" algn="l">
              <a:lnSpc>
                <a:spcPct val="129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        self.account_holder = account_holder  # Thuộc tính</a:t>
            </a:r>
            <a:endParaRPr lang="en-US" sz="900" dirty="0"/>
          </a:p>
          <a:p>
            <a:pPr marL="0" indent="0" algn="l">
              <a:lnSpc>
                <a:spcPct val="129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        self.balance = balance                # Mặc định = 0 nếu không truyền</a:t>
            </a:r>
            <a:endParaRPr lang="en-US" sz="900" dirty="0"/>
          </a:p>
          <a:p>
            <a:pPr marL="0" indent="0" algn="l">
              <a:lnSpc>
                <a:spcPct val="129000"/>
              </a:lnSpc>
              <a:buNone/>
            </a:pPr>
            <a:endParaRPr lang="en-US" sz="900" dirty="0"/>
          </a:p>
          <a:p>
            <a:pPr marL="0" indent="0" algn="l">
              <a:lnSpc>
                <a:spcPct val="129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    # Một hành vi (Method) của đối tượng</a:t>
            </a:r>
            <a:endParaRPr lang="en-US" sz="900" dirty="0"/>
          </a:p>
          <a:p>
            <a:pPr marL="0" indent="0" algn="l">
              <a:lnSpc>
                <a:spcPct val="129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    def show_info(self):</a:t>
            </a:r>
            <a:endParaRPr lang="en-US" sz="900" dirty="0"/>
          </a:p>
          <a:p>
            <a:pPr marL="0" indent="0" algn="l">
              <a:lnSpc>
                <a:spcPct val="129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        print(f"TK: {self.account_number} | "</a:t>
            </a:r>
            <a:endParaRPr lang="en-US" sz="900" dirty="0"/>
          </a:p>
          <a:p>
            <a:pPr marL="0" indent="0" algn="l">
              <a:lnSpc>
                <a:spcPct val="129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              f"Chủ TK: {self.account_holder} | "</a:t>
            </a:r>
            <a:endParaRPr lang="en-US" sz="900" dirty="0"/>
          </a:p>
          <a:p>
            <a:pPr marL="0" indent="0" algn="l">
              <a:lnSpc>
                <a:spcPct val="129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              f"Số dư: {self.balance} VND")</a:t>
            </a:r>
            <a:endParaRPr lang="en-US" sz="900" dirty="0"/>
          </a:p>
        </p:txBody>
      </p:sp>
      <p:sp>
        <p:nvSpPr>
          <p:cNvPr id="7" name="Shape 5"/>
          <p:cNvSpPr/>
          <p:nvPr/>
        </p:nvSpPr>
        <p:spPr>
          <a:xfrm>
            <a:off x="412403" y="3933825"/>
            <a:ext cx="4101480" cy="862980"/>
          </a:xfrm>
          <a:prstGeom prst="roundRect">
            <a:avLst>
              <a:gd name="adj" fmla="val 19405"/>
            </a:avLst>
          </a:prstGeom>
          <a:solidFill>
            <a:srgbClr val="C00000"/>
          </a:solidFill>
          <a:ln/>
        </p:spPr>
        <p:txBody>
          <a:bodyPr/>
          <a:lstStyle/>
          <a:p>
            <a:endParaRPr lang="vi-VN"/>
          </a:p>
        </p:txBody>
      </p:sp>
      <p:sp>
        <p:nvSpPr>
          <p:cNvPr id="8" name="Text 6"/>
          <p:cNvSpPr/>
          <p:nvPr/>
        </p:nvSpPr>
        <p:spPr>
          <a:xfrm>
            <a:off x="528638" y="4042842"/>
            <a:ext cx="1910804" cy="181645"/>
          </a:xfrm>
          <a:prstGeom prst="rect">
            <a:avLst/>
          </a:prstGeom>
          <a:noFill/>
          <a:ln/>
        </p:spPr>
        <p:txBody>
          <a:bodyPr wrap="none" lIns="0" tIns="0" rIns="0" bIns="0" rtlCol="0" anchor="t"/>
          <a:lstStyle/>
          <a:p>
            <a:pPr marL="0" indent="0" algn="l">
              <a:lnSpc>
                <a:spcPct val="104000"/>
              </a:lnSpc>
              <a:buNone/>
            </a:pPr>
            <a:r>
              <a:rPr lang="en-US" sz="1100" b="1" dirty="0">
                <a:solidFill>
                  <a:srgbClr val="FFFFFF"/>
                </a:solidFill>
                <a:latin typeface="Montserrat Bold" pitchFamily="34" charset="0"/>
                <a:ea typeface="Montserrat Bold" pitchFamily="34" charset="-122"/>
                <a:cs typeface="Montserrat Bold" pitchFamily="34" charset="-120"/>
              </a:rPr>
              <a:t>__init__ là gì?</a:t>
            </a:r>
            <a:endParaRPr lang="en-US" sz="1100" dirty="0"/>
          </a:p>
        </p:txBody>
      </p:sp>
      <p:sp>
        <p:nvSpPr>
          <p:cNvPr id="9" name="Text 7"/>
          <p:cNvSpPr/>
          <p:nvPr/>
        </p:nvSpPr>
        <p:spPr>
          <a:xfrm>
            <a:off x="528638" y="4333503"/>
            <a:ext cx="3869010" cy="360462"/>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FFFFFF"/>
                </a:solidFill>
                <a:latin typeface="Montserrat" pitchFamily="34" charset="0"/>
                <a:ea typeface="Montserrat" pitchFamily="34" charset="-122"/>
                <a:cs typeface="Montserrat" pitchFamily="34" charset="-120"/>
              </a:rPr>
              <a:t>Là hàm "đặc nhiệm" — Constructor. Ngay khi tạo đối tượng, hàm này </a:t>
            </a:r>
            <a:r>
              <a:rPr lang="en-US" sz="900" b="1" dirty="0">
                <a:solidFill>
                  <a:srgbClr val="FFFFFF"/>
                </a:solidFill>
                <a:latin typeface="Montserrat" pitchFamily="34" charset="0"/>
                <a:ea typeface="Montserrat" pitchFamily="34" charset="-122"/>
                <a:cs typeface="Montserrat" pitchFamily="34" charset="-120"/>
              </a:rPr>
              <a:t>tự động chạy đầu tiên</a:t>
            </a:r>
            <a:r>
              <a:rPr lang="en-US" sz="900" dirty="0">
                <a:solidFill>
                  <a:srgbClr val="FFFFFF"/>
                </a:solidFill>
                <a:latin typeface="Montserrat" pitchFamily="34" charset="0"/>
                <a:ea typeface="Montserrat" pitchFamily="34" charset="-122"/>
                <a:cs typeface="Montserrat" pitchFamily="34" charset="-120"/>
              </a:rPr>
              <a:t> để thiết lập các giá trị ban đầu.</a:t>
            </a:r>
            <a:endParaRPr lang="en-US" sz="900" dirty="0"/>
          </a:p>
        </p:txBody>
      </p:sp>
      <p:sp>
        <p:nvSpPr>
          <p:cNvPr id="10" name="Text 8"/>
          <p:cNvSpPr/>
          <p:nvPr/>
        </p:nvSpPr>
        <p:spPr>
          <a:xfrm>
            <a:off x="4718596" y="4042842"/>
            <a:ext cx="1910804" cy="181645"/>
          </a:xfrm>
          <a:prstGeom prst="rect">
            <a:avLst/>
          </a:prstGeom>
          <a:noFill/>
          <a:ln/>
        </p:spPr>
        <p:txBody>
          <a:bodyPr wrap="none" lIns="0" tIns="0" rIns="0" bIns="0" rtlCol="0" anchor="t"/>
          <a:lstStyle/>
          <a:p>
            <a:pPr marL="0" indent="0" algn="l">
              <a:lnSpc>
                <a:spcPct val="104000"/>
              </a:lnSpc>
              <a:buNone/>
            </a:pPr>
            <a:r>
              <a:rPr lang="en-US" sz="1100" b="1" dirty="0">
                <a:solidFill>
                  <a:srgbClr val="C00000"/>
                </a:solidFill>
                <a:latin typeface="Montserrat Bold" pitchFamily="34" charset="0"/>
                <a:ea typeface="Montserrat Bold" pitchFamily="34" charset="-122"/>
                <a:cs typeface="Montserrat Bold" pitchFamily="34" charset="-120"/>
              </a:rPr>
              <a:t>self là gì?</a:t>
            </a:r>
            <a:endParaRPr lang="en-US" sz="1100" dirty="0"/>
          </a:p>
        </p:txBody>
      </p:sp>
      <p:sp>
        <p:nvSpPr>
          <p:cNvPr id="11" name="Text 9"/>
          <p:cNvSpPr/>
          <p:nvPr/>
        </p:nvSpPr>
        <p:spPr>
          <a:xfrm>
            <a:off x="4718596" y="4333503"/>
            <a:ext cx="3934048" cy="365224"/>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000000"/>
                </a:solidFill>
                <a:highlight>
                  <a:srgbClr val="F2F2F2"/>
                </a:highlight>
                <a:latin typeface="Consolas" pitchFamily="34" charset="0"/>
                <a:ea typeface="Consolas" pitchFamily="34" charset="-122"/>
                <a:cs typeface="Consolas" pitchFamily="34" charset="-120"/>
              </a:rPr>
              <a:t>self</a:t>
            </a:r>
            <a:r>
              <a:rPr lang="en-US" sz="900" dirty="0">
                <a:solidFill>
                  <a:srgbClr val="000000"/>
                </a:solidFill>
                <a:latin typeface="Montserrat" pitchFamily="34" charset="0"/>
                <a:ea typeface="Montserrat" pitchFamily="34" charset="-122"/>
                <a:cs typeface="Montserrat" pitchFamily="34" charset="-120"/>
              </a:rPr>
              <a:t> = "</a:t>
            </a:r>
            <a:r>
              <a:rPr lang="en-US" sz="900" b="1" dirty="0">
                <a:solidFill>
                  <a:srgbClr val="000000"/>
                </a:solidFill>
                <a:latin typeface="Montserrat" pitchFamily="34" charset="0"/>
                <a:ea typeface="Montserrat" pitchFamily="34" charset="-122"/>
                <a:cs typeface="Montserrat" pitchFamily="34" charset="-120"/>
              </a:rPr>
              <a:t>chính tôi</a:t>
            </a:r>
            <a:r>
              <a:rPr lang="en-US" sz="900" dirty="0">
                <a:solidFill>
                  <a:srgbClr val="000000"/>
                </a:solidFill>
                <a:latin typeface="Montserrat" pitchFamily="34" charset="0"/>
                <a:ea typeface="Montserrat" pitchFamily="34" charset="-122"/>
                <a:cs typeface="Montserrat" pitchFamily="34" charset="-120"/>
              </a:rPr>
              <a:t>". Khi tài khoản của A gọi hàm, self là A. Khi B gọi, self là B. Python cần self để biết đang xử lý dữ liệu của ai.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378842"/>
            <a:ext cx="7161535" cy="381521"/>
          </a:xfrm>
          <a:prstGeom prst="rect">
            <a:avLst/>
          </a:prstGeom>
          <a:noFill/>
          <a:ln/>
        </p:spPr>
        <p:txBody>
          <a:bodyPr wrap="none" lIns="0" tIns="0" rIns="0" bIns="0" rtlCol="0" anchor="t"/>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Tạo Đối Tượng — Xây Nhà Từ Bản Thiết Kế</a:t>
            </a:r>
            <a:endParaRPr lang="en-US" sz="2400" dirty="0"/>
          </a:p>
        </p:txBody>
      </p:sp>
      <p:sp>
        <p:nvSpPr>
          <p:cNvPr id="3" name="Text 1"/>
          <p:cNvSpPr/>
          <p:nvPr/>
        </p:nvSpPr>
        <p:spPr>
          <a:xfrm>
            <a:off x="496119" y="1000720"/>
            <a:ext cx="8608963" cy="193849"/>
          </a:xfrm>
          <a:prstGeom prst="rect">
            <a:avLst/>
          </a:prstGeom>
          <a:noFill/>
          <a:ln/>
        </p:spPr>
        <p:txBody>
          <a:bodyPr wrap="none" lIns="0" tIns="0" rIns="0" bIns="0" rtlCol="0" anchor="t"/>
          <a:lstStyle/>
          <a:p>
            <a:pPr marL="0" indent="0" algn="l">
              <a:lnSpc>
                <a:spcPct val="132000"/>
              </a:lnSpc>
              <a:buNone/>
            </a:pPr>
            <a:r>
              <a:rPr lang="en-US" sz="950" dirty="0">
                <a:solidFill>
                  <a:srgbClr val="000000"/>
                </a:solidFill>
                <a:latin typeface="Montserrat" pitchFamily="34" charset="0"/>
                <a:ea typeface="Montserrat" pitchFamily="34" charset="-122"/>
                <a:cs typeface="Montserrat" pitchFamily="34" charset="-120"/>
              </a:rPr>
              <a:t>Bây giờ chúng ta tạo ra 2 tài khoản thực tế từ class </a:t>
            </a:r>
            <a:r>
              <a:rPr lang="en-US" sz="950" dirty="0">
                <a:solidFill>
                  <a:srgbClr val="000000"/>
                </a:solidFill>
                <a:highlight>
                  <a:srgbClr val="F2F2F2"/>
                </a:highlight>
                <a:latin typeface="Consolas" pitchFamily="34" charset="0"/>
                <a:ea typeface="Consolas" pitchFamily="34" charset="-122"/>
                <a:cs typeface="Consolas" pitchFamily="34" charset="-120"/>
              </a:rPr>
              <a:t>BankAccount</a:t>
            </a:r>
            <a:r>
              <a:rPr lang="en-US" sz="950" dirty="0">
                <a:solidFill>
                  <a:srgbClr val="000000"/>
                </a:solidFill>
                <a:latin typeface="Montserrat" pitchFamily="34" charset="0"/>
                <a:ea typeface="Montserrat" pitchFamily="34" charset="-122"/>
                <a:cs typeface="Montserrat" pitchFamily="34" charset="-120"/>
              </a:rPr>
              <a:t>. Mỗi object là một thực thể </a:t>
            </a:r>
            <a:r>
              <a:rPr lang="en-US" sz="950" b="1" dirty="0">
                <a:solidFill>
                  <a:srgbClr val="000000"/>
                </a:solidFill>
                <a:latin typeface="Montserrat" pitchFamily="34" charset="0"/>
                <a:ea typeface="Montserrat" pitchFamily="34" charset="-122"/>
                <a:cs typeface="Montserrat" pitchFamily="34" charset="-120"/>
              </a:rPr>
              <a:t>độc lập</a:t>
            </a:r>
            <a:r>
              <a:rPr lang="en-US" sz="950" dirty="0">
                <a:solidFill>
                  <a:srgbClr val="000000"/>
                </a:solidFill>
                <a:latin typeface="Montserrat" pitchFamily="34" charset="0"/>
                <a:ea typeface="Montserrat" pitchFamily="34" charset="-122"/>
                <a:cs typeface="Montserrat" pitchFamily="34" charset="-120"/>
              </a:rPr>
              <a:t>, có dữ liệu riêng biệt hoàn toàn:</a:t>
            </a:r>
            <a:endParaRPr lang="en-US" sz="950" dirty="0"/>
          </a:p>
        </p:txBody>
      </p:sp>
      <p:sp>
        <p:nvSpPr>
          <p:cNvPr id="4" name="Shape 2"/>
          <p:cNvSpPr/>
          <p:nvPr/>
        </p:nvSpPr>
        <p:spPr>
          <a:xfrm>
            <a:off x="496119" y="1329779"/>
            <a:ext cx="8151763" cy="2570262"/>
          </a:xfrm>
          <a:prstGeom prst="roundRect">
            <a:avLst>
              <a:gd name="adj" fmla="val 4276"/>
            </a:avLst>
          </a:prstGeom>
          <a:solidFill>
            <a:srgbClr val="F2F2F2"/>
          </a:solidFill>
          <a:ln/>
        </p:spPr>
        <p:txBody>
          <a:bodyPr/>
          <a:lstStyle/>
          <a:p>
            <a:endParaRPr lang="vi-VN"/>
          </a:p>
        </p:txBody>
      </p:sp>
      <p:sp>
        <p:nvSpPr>
          <p:cNvPr id="5" name="Shape 3"/>
          <p:cNvSpPr/>
          <p:nvPr/>
        </p:nvSpPr>
        <p:spPr>
          <a:xfrm>
            <a:off x="490017" y="1329779"/>
            <a:ext cx="8163967" cy="2570262"/>
          </a:xfrm>
          <a:prstGeom prst="roundRect">
            <a:avLst>
              <a:gd name="adj" fmla="val 713"/>
            </a:avLst>
          </a:prstGeom>
          <a:solidFill>
            <a:srgbClr val="F2F2F2"/>
          </a:solidFill>
          <a:ln/>
        </p:spPr>
        <p:txBody>
          <a:bodyPr/>
          <a:lstStyle/>
          <a:p>
            <a:endParaRPr lang="vi-VN"/>
          </a:p>
        </p:txBody>
      </p:sp>
      <p:sp>
        <p:nvSpPr>
          <p:cNvPr id="6" name="Text 4"/>
          <p:cNvSpPr/>
          <p:nvPr/>
        </p:nvSpPr>
        <p:spPr>
          <a:xfrm>
            <a:off x="642640" y="1451818"/>
            <a:ext cx="7858720" cy="2326184"/>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000000"/>
                </a:solidFill>
                <a:latin typeface="Consolas" pitchFamily="34" charset="0"/>
                <a:ea typeface="Consolas" pitchFamily="34" charset="-122"/>
                <a:cs typeface="Consolas" pitchFamily="34" charset="-120"/>
              </a:rPr>
              <a:t># Tạo đối tượng (Object) thứ nhất</a:t>
            </a:r>
            <a:endParaRPr lang="en-US" sz="950" dirty="0"/>
          </a:p>
          <a:p>
            <a:pPr marL="0" indent="0" algn="l">
              <a:lnSpc>
                <a:spcPct val="132000"/>
              </a:lnSpc>
              <a:buNone/>
            </a:pPr>
            <a:r>
              <a:rPr lang="en-US" sz="950" dirty="0">
                <a:solidFill>
                  <a:srgbClr val="000000"/>
                </a:solidFill>
                <a:latin typeface="Consolas" pitchFamily="34" charset="0"/>
                <a:ea typeface="Consolas" pitchFamily="34" charset="-122"/>
                <a:cs typeface="Consolas" pitchFamily="34" charset="-120"/>
              </a:rPr>
              <a:t>account1 = BankAccount("19001234", "Nguyen Van A", 50000)</a:t>
            </a:r>
            <a:endParaRPr lang="en-US" sz="950" dirty="0"/>
          </a:p>
          <a:p>
            <a:pPr marL="0" indent="0" algn="l">
              <a:lnSpc>
                <a:spcPct val="132000"/>
              </a:lnSpc>
              <a:buNone/>
            </a:pPr>
            <a:endParaRPr lang="en-US" sz="950" dirty="0"/>
          </a:p>
          <a:p>
            <a:pPr marL="0" indent="0" algn="l">
              <a:lnSpc>
                <a:spcPct val="132000"/>
              </a:lnSpc>
              <a:buNone/>
            </a:pPr>
            <a:r>
              <a:rPr lang="en-US" sz="950" dirty="0">
                <a:solidFill>
                  <a:srgbClr val="000000"/>
                </a:solidFill>
                <a:latin typeface="Consolas" pitchFamily="34" charset="0"/>
                <a:ea typeface="Consolas" pitchFamily="34" charset="-122"/>
                <a:cs typeface="Consolas" pitchFamily="34" charset="-120"/>
              </a:rPr>
              <a:t># Tạo đối tượng (Object) thứ hai</a:t>
            </a:r>
            <a:endParaRPr lang="en-US" sz="950" dirty="0"/>
          </a:p>
          <a:p>
            <a:pPr marL="0" indent="0" algn="l">
              <a:lnSpc>
                <a:spcPct val="132000"/>
              </a:lnSpc>
              <a:buNone/>
            </a:pPr>
            <a:r>
              <a:rPr lang="en-US" sz="950" dirty="0">
                <a:solidFill>
                  <a:srgbClr val="000000"/>
                </a:solidFill>
                <a:latin typeface="Consolas" pitchFamily="34" charset="0"/>
                <a:ea typeface="Consolas" pitchFamily="34" charset="-122"/>
                <a:cs typeface="Consolas" pitchFamily="34" charset="-120"/>
              </a:rPr>
              <a:t>account2 = BankAccount("19005678", "Tran Thi B", 1000000)</a:t>
            </a:r>
            <a:endParaRPr lang="en-US" sz="950" dirty="0"/>
          </a:p>
          <a:p>
            <a:pPr marL="0" indent="0" algn="l">
              <a:lnSpc>
                <a:spcPct val="132000"/>
              </a:lnSpc>
              <a:buNone/>
            </a:pPr>
            <a:endParaRPr lang="en-US" sz="950" dirty="0"/>
          </a:p>
          <a:p>
            <a:pPr marL="0" indent="0" algn="l">
              <a:lnSpc>
                <a:spcPct val="132000"/>
              </a:lnSpc>
              <a:buNone/>
            </a:pPr>
            <a:r>
              <a:rPr lang="en-US" sz="950" dirty="0">
                <a:solidFill>
                  <a:srgbClr val="000000"/>
                </a:solidFill>
                <a:latin typeface="Consolas" pitchFamily="34" charset="0"/>
                <a:ea typeface="Consolas" pitchFamily="34" charset="-122"/>
                <a:cs typeface="Consolas" pitchFamily="34" charset="-120"/>
              </a:rPr>
              <a:t># Truy cập thuộc tính</a:t>
            </a:r>
            <a:endParaRPr lang="en-US" sz="950" dirty="0"/>
          </a:p>
          <a:p>
            <a:pPr marL="0" indent="0" algn="l">
              <a:lnSpc>
                <a:spcPct val="132000"/>
              </a:lnSpc>
              <a:buNone/>
            </a:pPr>
            <a:r>
              <a:rPr lang="en-US" sz="950" dirty="0">
                <a:solidFill>
                  <a:srgbClr val="000000"/>
                </a:solidFill>
                <a:latin typeface="Consolas" pitchFamily="34" charset="0"/>
                <a:ea typeface="Consolas" pitchFamily="34" charset="-122"/>
                <a:cs typeface="Consolas" pitchFamily="34" charset="-120"/>
              </a:rPr>
              <a:t>print(account1.account_holder)  # Output: Nguyen Van A</a:t>
            </a:r>
            <a:endParaRPr lang="en-US" sz="950" dirty="0"/>
          </a:p>
          <a:p>
            <a:pPr marL="0" indent="0" algn="l">
              <a:lnSpc>
                <a:spcPct val="132000"/>
              </a:lnSpc>
              <a:buNone/>
            </a:pPr>
            <a:endParaRPr lang="en-US" sz="950" dirty="0"/>
          </a:p>
          <a:p>
            <a:pPr marL="0" indent="0" algn="l">
              <a:lnSpc>
                <a:spcPct val="132000"/>
              </a:lnSpc>
              <a:buNone/>
            </a:pPr>
            <a:r>
              <a:rPr lang="en-US" sz="950" dirty="0">
                <a:solidFill>
                  <a:srgbClr val="000000"/>
                </a:solidFill>
                <a:latin typeface="Consolas" pitchFamily="34" charset="0"/>
                <a:ea typeface="Consolas" pitchFamily="34" charset="-122"/>
                <a:cs typeface="Consolas" pitchFamily="34" charset="-120"/>
              </a:rPr>
              <a:t># Gọi hành vi (Method)</a:t>
            </a:r>
            <a:endParaRPr lang="en-US" sz="950" dirty="0"/>
          </a:p>
          <a:p>
            <a:pPr marL="0" indent="0" algn="l">
              <a:lnSpc>
                <a:spcPct val="132000"/>
              </a:lnSpc>
              <a:buNone/>
            </a:pPr>
            <a:r>
              <a:rPr lang="en-US" sz="950" dirty="0">
                <a:solidFill>
                  <a:srgbClr val="000000"/>
                </a:solidFill>
                <a:latin typeface="Consolas" pitchFamily="34" charset="0"/>
                <a:ea typeface="Consolas" pitchFamily="34" charset="-122"/>
                <a:cs typeface="Consolas" pitchFamily="34" charset="-120"/>
              </a:rPr>
              <a:t>account2.show_info()</a:t>
            </a:r>
            <a:endParaRPr lang="en-US" sz="950" dirty="0"/>
          </a:p>
          <a:p>
            <a:pPr marL="0" indent="0" algn="l">
              <a:lnSpc>
                <a:spcPct val="132000"/>
              </a:lnSpc>
              <a:buNone/>
            </a:pPr>
            <a:r>
              <a:rPr lang="en-US" sz="950" dirty="0">
                <a:solidFill>
                  <a:srgbClr val="000000"/>
                </a:solidFill>
                <a:latin typeface="Consolas" pitchFamily="34" charset="0"/>
                <a:ea typeface="Consolas" pitchFamily="34" charset="-122"/>
                <a:cs typeface="Consolas" pitchFamily="34" charset="-120"/>
              </a:rPr>
              <a:t># Output: TK: 19005678 | Chủ TK: Tran Thi B | Số dư: 1000000 VND</a:t>
            </a:r>
            <a:endParaRPr lang="en-US" sz="950" dirty="0"/>
          </a:p>
        </p:txBody>
      </p:sp>
      <p:sp>
        <p:nvSpPr>
          <p:cNvPr id="7" name="Shape 5"/>
          <p:cNvSpPr/>
          <p:nvPr/>
        </p:nvSpPr>
        <p:spPr>
          <a:xfrm>
            <a:off x="496119" y="4035251"/>
            <a:ext cx="2637086" cy="729332"/>
          </a:xfrm>
          <a:prstGeom prst="roundRect">
            <a:avLst>
              <a:gd name="adj" fmla="val 15068"/>
            </a:avLst>
          </a:prstGeom>
          <a:solidFill>
            <a:srgbClr val="FFFFFF"/>
          </a:solidFill>
          <a:ln w="14288">
            <a:solidFill>
              <a:srgbClr val="C00000"/>
            </a:solidFill>
            <a:prstDash val="solid"/>
          </a:ln>
        </p:spPr>
        <p:txBody>
          <a:bodyPr/>
          <a:lstStyle/>
          <a:p>
            <a:endParaRPr lang="vi-VN"/>
          </a:p>
        </p:txBody>
      </p:sp>
      <p:sp>
        <p:nvSpPr>
          <p:cNvPr id="8" name="Text 6"/>
          <p:cNvSpPr/>
          <p:nvPr/>
        </p:nvSpPr>
        <p:spPr>
          <a:xfrm>
            <a:off x="632445" y="4171578"/>
            <a:ext cx="1526307" cy="190723"/>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Class</a:t>
            </a:r>
            <a:endParaRPr lang="en-US" sz="1200" dirty="0"/>
          </a:p>
        </p:txBody>
      </p:sp>
      <p:sp>
        <p:nvSpPr>
          <p:cNvPr id="9" name="Text 7"/>
          <p:cNvSpPr/>
          <p:nvPr/>
        </p:nvSpPr>
        <p:spPr>
          <a:xfrm>
            <a:off x="632445" y="4434408"/>
            <a:ext cx="2364432" cy="193849"/>
          </a:xfrm>
          <a:prstGeom prst="rect">
            <a:avLst/>
          </a:prstGeom>
          <a:noFill/>
          <a:ln/>
        </p:spPr>
        <p:txBody>
          <a:bodyPr wrap="none" lIns="0" tIns="0" rIns="0" bIns="0" rtlCol="0" anchor="t"/>
          <a:lstStyle/>
          <a:p>
            <a:pPr marL="0" indent="0" algn="l">
              <a:lnSpc>
                <a:spcPct val="132000"/>
              </a:lnSpc>
              <a:buNone/>
            </a:pPr>
            <a:r>
              <a:rPr lang="en-US" sz="950" dirty="0">
                <a:solidFill>
                  <a:srgbClr val="000000"/>
                </a:solidFill>
                <a:latin typeface="Montserrat" pitchFamily="34" charset="0"/>
                <a:ea typeface="Montserrat" pitchFamily="34" charset="-122"/>
                <a:cs typeface="Montserrat" pitchFamily="34" charset="-120"/>
              </a:rPr>
              <a:t>BankAccount — bản thiết kế duy nhất</a:t>
            </a:r>
            <a:endParaRPr lang="en-US" sz="950" dirty="0"/>
          </a:p>
        </p:txBody>
      </p:sp>
      <p:sp>
        <p:nvSpPr>
          <p:cNvPr id="10" name="Shape 8"/>
          <p:cNvSpPr/>
          <p:nvPr/>
        </p:nvSpPr>
        <p:spPr>
          <a:xfrm>
            <a:off x="3253383" y="4035251"/>
            <a:ext cx="2637160" cy="729332"/>
          </a:xfrm>
          <a:prstGeom prst="roundRect">
            <a:avLst>
              <a:gd name="adj" fmla="val 15068"/>
            </a:avLst>
          </a:prstGeom>
          <a:solidFill>
            <a:srgbClr val="FFFFFF"/>
          </a:solidFill>
          <a:ln w="14288">
            <a:solidFill>
              <a:srgbClr val="C00000"/>
            </a:solidFill>
            <a:prstDash val="solid"/>
          </a:ln>
        </p:spPr>
        <p:txBody>
          <a:bodyPr/>
          <a:lstStyle/>
          <a:p>
            <a:endParaRPr lang="vi-VN"/>
          </a:p>
        </p:txBody>
      </p:sp>
      <p:sp>
        <p:nvSpPr>
          <p:cNvPr id="11" name="Text 9"/>
          <p:cNvSpPr/>
          <p:nvPr/>
        </p:nvSpPr>
        <p:spPr>
          <a:xfrm>
            <a:off x="3389709" y="4171578"/>
            <a:ext cx="1526307" cy="190723"/>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 Objects</a:t>
            </a:r>
            <a:endParaRPr lang="en-US" sz="1200" dirty="0"/>
          </a:p>
        </p:txBody>
      </p:sp>
      <p:sp>
        <p:nvSpPr>
          <p:cNvPr id="12" name="Text 10"/>
          <p:cNvSpPr/>
          <p:nvPr/>
        </p:nvSpPr>
        <p:spPr>
          <a:xfrm>
            <a:off x="3389709" y="4434408"/>
            <a:ext cx="2364507" cy="193849"/>
          </a:xfrm>
          <a:prstGeom prst="rect">
            <a:avLst/>
          </a:prstGeom>
          <a:noFill/>
          <a:ln/>
        </p:spPr>
        <p:txBody>
          <a:bodyPr wrap="none" lIns="0" tIns="0" rIns="0" bIns="0" rtlCol="0" anchor="t"/>
          <a:lstStyle/>
          <a:p>
            <a:pPr marL="0" indent="0" algn="l">
              <a:lnSpc>
                <a:spcPct val="132000"/>
              </a:lnSpc>
              <a:buNone/>
            </a:pPr>
            <a:r>
              <a:rPr lang="en-US" sz="950" dirty="0">
                <a:solidFill>
                  <a:srgbClr val="000000"/>
                </a:solidFill>
                <a:latin typeface="Montserrat" pitchFamily="34" charset="0"/>
                <a:ea typeface="Montserrat" pitchFamily="34" charset="-122"/>
                <a:cs typeface="Montserrat" pitchFamily="34" charset="-120"/>
              </a:rPr>
              <a:t>Hàng triệu tài khoản từ 1 class</a:t>
            </a:r>
            <a:endParaRPr lang="en-US" sz="950" dirty="0"/>
          </a:p>
        </p:txBody>
      </p:sp>
      <p:sp>
        <p:nvSpPr>
          <p:cNvPr id="13" name="Shape 11"/>
          <p:cNvSpPr/>
          <p:nvPr/>
        </p:nvSpPr>
        <p:spPr>
          <a:xfrm>
            <a:off x="6010721" y="4035251"/>
            <a:ext cx="2637160" cy="729332"/>
          </a:xfrm>
          <a:prstGeom prst="roundRect">
            <a:avLst>
              <a:gd name="adj" fmla="val 15068"/>
            </a:avLst>
          </a:prstGeom>
          <a:solidFill>
            <a:srgbClr val="FFFFFF"/>
          </a:solidFill>
          <a:ln w="14288">
            <a:solidFill>
              <a:srgbClr val="231651"/>
            </a:solidFill>
            <a:prstDash val="solid"/>
          </a:ln>
        </p:spPr>
        <p:txBody>
          <a:bodyPr/>
          <a:lstStyle/>
          <a:p>
            <a:endParaRPr lang="vi-VN"/>
          </a:p>
        </p:txBody>
      </p:sp>
      <p:sp>
        <p:nvSpPr>
          <p:cNvPr id="14" name="Text 12"/>
          <p:cNvSpPr/>
          <p:nvPr/>
        </p:nvSpPr>
        <p:spPr>
          <a:xfrm>
            <a:off x="6147048" y="4171578"/>
            <a:ext cx="1526307" cy="190723"/>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Độc lập</a:t>
            </a:r>
            <a:endParaRPr lang="en-US" sz="1200" dirty="0"/>
          </a:p>
        </p:txBody>
      </p:sp>
      <p:sp>
        <p:nvSpPr>
          <p:cNvPr id="15" name="Text 13"/>
          <p:cNvSpPr/>
          <p:nvPr/>
        </p:nvSpPr>
        <p:spPr>
          <a:xfrm>
            <a:off x="6147048" y="4434408"/>
            <a:ext cx="2364507" cy="193849"/>
          </a:xfrm>
          <a:prstGeom prst="rect">
            <a:avLst/>
          </a:prstGeom>
          <a:noFill/>
          <a:ln/>
        </p:spPr>
        <p:txBody>
          <a:bodyPr wrap="none" lIns="0" tIns="0" rIns="0" bIns="0" rtlCol="0" anchor="t"/>
          <a:lstStyle/>
          <a:p>
            <a:pPr marL="0" indent="0" algn="l">
              <a:lnSpc>
                <a:spcPct val="132000"/>
              </a:lnSpc>
              <a:buNone/>
            </a:pPr>
            <a:r>
              <a:rPr lang="en-US" sz="950" dirty="0">
                <a:solidFill>
                  <a:srgbClr val="000000"/>
                </a:solidFill>
                <a:latin typeface="Montserrat" pitchFamily="34" charset="0"/>
                <a:ea typeface="Montserrat" pitchFamily="34" charset="-122"/>
                <a:cs typeface="Montserrat" pitchFamily="34" charset="-120"/>
              </a:rPr>
              <a:t>Mỗi object có bộ nhớ riêng biệt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438721" y="348109"/>
            <a:ext cx="4599905" cy="248320"/>
          </a:xfrm>
          <a:prstGeom prst="rect">
            <a:avLst/>
          </a:prstGeom>
          <a:noFill/>
          <a:ln/>
        </p:spPr>
        <p:txBody>
          <a:bodyPr wrap="none" lIns="0" tIns="0" rIns="0" bIns="0" rtlCol="0" anchor="t"/>
          <a:lstStyle/>
          <a:p>
            <a:pPr marL="0" indent="0" algn="l">
              <a:lnSpc>
                <a:spcPct val="104000"/>
              </a:lnSpc>
              <a:buNone/>
            </a:pPr>
            <a:r>
              <a:rPr lang="en-US" sz="1550" b="1" dirty="0">
                <a:solidFill>
                  <a:srgbClr val="C00000"/>
                </a:solidFill>
                <a:latin typeface="Montserrat Bold" pitchFamily="34" charset="0"/>
                <a:ea typeface="Montserrat Bold" pitchFamily="34" charset="-122"/>
                <a:cs typeface="Montserrat Bold" pitchFamily="34" charset="-120"/>
              </a:rPr>
              <a:t>Method — Thêm Hành Vi Cho Tài Khoản</a:t>
            </a:r>
            <a:endParaRPr lang="en-US" sz="1550" dirty="0"/>
          </a:p>
        </p:txBody>
      </p:sp>
      <p:sp>
        <p:nvSpPr>
          <p:cNvPr id="3" name="Text 1"/>
          <p:cNvSpPr/>
          <p:nvPr/>
        </p:nvSpPr>
        <p:spPr>
          <a:xfrm>
            <a:off x="1438721" y="698227"/>
            <a:ext cx="6723757" cy="104254"/>
          </a:xfrm>
          <a:prstGeom prst="rect">
            <a:avLst/>
          </a:prstGeom>
          <a:noFill/>
          <a:ln/>
        </p:spPr>
        <p:txBody>
          <a:bodyPr wrap="none" lIns="0" tIns="0" rIns="0" bIns="0" rtlCol="0" anchor="t"/>
          <a:lstStyle/>
          <a:p>
            <a:pPr marL="0" indent="0" algn="l">
              <a:lnSpc>
                <a:spcPct val="109000"/>
              </a:lnSpc>
              <a:buNone/>
            </a:pPr>
            <a:r>
              <a:rPr lang="en-US" sz="600" dirty="0">
                <a:solidFill>
                  <a:srgbClr val="000000"/>
                </a:solidFill>
                <a:latin typeface="Montserrat" pitchFamily="34" charset="0"/>
                <a:ea typeface="Montserrat" pitchFamily="34" charset="-122"/>
                <a:cs typeface="Montserrat" pitchFamily="34" charset="-120"/>
              </a:rPr>
              <a:t>Method là hàm định nghĩa </a:t>
            </a:r>
            <a:r>
              <a:rPr lang="en-US" sz="600" b="1" dirty="0">
                <a:solidFill>
                  <a:srgbClr val="000000"/>
                </a:solidFill>
                <a:latin typeface="Montserrat" pitchFamily="34" charset="0"/>
                <a:ea typeface="Montserrat" pitchFamily="34" charset="-122"/>
                <a:cs typeface="Montserrat" pitchFamily="34" charset="-120"/>
              </a:rPr>
              <a:t>bên trong Class</a:t>
            </a:r>
            <a:r>
              <a:rPr lang="en-US" sz="600" dirty="0">
                <a:solidFill>
                  <a:srgbClr val="000000"/>
                </a:solidFill>
                <a:latin typeface="Montserrat" pitchFamily="34" charset="0"/>
                <a:ea typeface="Montserrat" pitchFamily="34" charset="-122"/>
                <a:cs typeface="Montserrat" pitchFamily="34" charset="-120"/>
              </a:rPr>
              <a:t>, đại diện cho hành vi của đối tượng. Hãy thêm chức năng </a:t>
            </a:r>
            <a:r>
              <a:rPr lang="en-US" sz="600" b="1" dirty="0">
                <a:solidFill>
                  <a:srgbClr val="C00000"/>
                </a:solidFill>
                <a:latin typeface="Montserrat" pitchFamily="34" charset="0"/>
                <a:ea typeface="Montserrat" pitchFamily="34" charset="-122"/>
                <a:cs typeface="Montserrat" pitchFamily="34" charset="-120"/>
              </a:rPr>
              <a:t>nạp tiền</a:t>
            </a:r>
            <a:r>
              <a:rPr lang="en-US" sz="600" dirty="0">
                <a:solidFill>
                  <a:srgbClr val="000000"/>
                </a:solidFill>
                <a:latin typeface="Montserrat" pitchFamily="34" charset="0"/>
                <a:ea typeface="Montserrat" pitchFamily="34" charset="-122"/>
                <a:cs typeface="Montserrat" pitchFamily="34" charset="-120"/>
              </a:rPr>
              <a:t> và </a:t>
            </a:r>
            <a:r>
              <a:rPr lang="en-US" sz="600" b="1" dirty="0">
                <a:solidFill>
                  <a:srgbClr val="C00000"/>
                </a:solidFill>
                <a:latin typeface="Montserrat" pitchFamily="34" charset="0"/>
                <a:ea typeface="Montserrat" pitchFamily="34" charset="-122"/>
                <a:cs typeface="Montserrat" pitchFamily="34" charset="-120"/>
              </a:rPr>
              <a:t>rút tiền</a:t>
            </a:r>
            <a:r>
              <a:rPr lang="en-US" sz="600" dirty="0">
                <a:solidFill>
                  <a:srgbClr val="000000"/>
                </a:solidFill>
                <a:latin typeface="Montserrat" pitchFamily="34" charset="0"/>
                <a:ea typeface="Montserrat" pitchFamily="34" charset="-122"/>
                <a:cs typeface="Montserrat" pitchFamily="34" charset="-120"/>
              </a:rPr>
              <a:t>:</a:t>
            </a:r>
            <a:endParaRPr lang="en-US" sz="600" dirty="0"/>
          </a:p>
        </p:txBody>
      </p:sp>
      <p:sp>
        <p:nvSpPr>
          <p:cNvPr id="4" name="Shape 2"/>
          <p:cNvSpPr/>
          <p:nvPr/>
        </p:nvSpPr>
        <p:spPr>
          <a:xfrm>
            <a:off x="1438721" y="859706"/>
            <a:ext cx="6266557" cy="2660898"/>
          </a:xfrm>
          <a:prstGeom prst="roundRect">
            <a:avLst>
              <a:gd name="adj" fmla="val 2688"/>
            </a:avLst>
          </a:prstGeom>
          <a:solidFill>
            <a:srgbClr val="F2F2F2"/>
          </a:solidFill>
          <a:ln/>
        </p:spPr>
        <p:txBody>
          <a:bodyPr/>
          <a:lstStyle/>
          <a:p>
            <a:endParaRPr lang="vi-VN"/>
          </a:p>
        </p:txBody>
      </p:sp>
      <p:sp>
        <p:nvSpPr>
          <p:cNvPr id="5" name="Shape 3"/>
          <p:cNvSpPr/>
          <p:nvPr/>
        </p:nvSpPr>
        <p:spPr>
          <a:xfrm>
            <a:off x="1434778" y="859706"/>
            <a:ext cx="6274445" cy="2660898"/>
          </a:xfrm>
          <a:prstGeom prst="roundRect">
            <a:avLst>
              <a:gd name="adj" fmla="val 448"/>
            </a:avLst>
          </a:prstGeom>
          <a:solidFill>
            <a:srgbClr val="F2F2F2"/>
          </a:solidFill>
          <a:ln/>
        </p:spPr>
        <p:txBody>
          <a:bodyPr/>
          <a:lstStyle/>
          <a:p>
            <a:endParaRPr lang="vi-VN"/>
          </a:p>
        </p:txBody>
      </p:sp>
      <p:sp>
        <p:nvSpPr>
          <p:cNvPr id="6" name="Text 4"/>
          <p:cNvSpPr/>
          <p:nvPr/>
        </p:nvSpPr>
        <p:spPr>
          <a:xfrm>
            <a:off x="1534046" y="939105"/>
            <a:ext cx="6075908" cy="250209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class BankAccount:</a:t>
            </a: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def __init__(self, account_number, account_holder, balance=0):</a:t>
            </a: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self.account_number = account_number</a:t>
            </a: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self.account_holder = account_holder</a:t>
            </a: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self.balance = balance</a:t>
            </a:r>
            <a:endParaRPr lang="en-US" sz="600" dirty="0"/>
          </a:p>
          <a:p>
            <a:pPr marL="0" indent="0" algn="l">
              <a:lnSpc>
                <a:spcPct val="109000"/>
              </a:lnSpc>
              <a:buNone/>
            </a:pP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def deposit(self, amount):</a:t>
            </a: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if amount &gt; 0:</a:t>
            </a: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self.balance += amount</a:t>
            </a: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print(f"Nap {amount} VND thanh cong. So du hien tai: {self.balance} VND")</a:t>
            </a: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else:</a:t>
            </a: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print("So tien nap phai lon hon 0!")</a:t>
            </a:r>
            <a:endParaRPr lang="en-US" sz="600" dirty="0"/>
          </a:p>
          <a:p>
            <a:pPr marL="0" indent="0" algn="l">
              <a:lnSpc>
                <a:spcPct val="109000"/>
              </a:lnSpc>
              <a:buNone/>
            </a:pP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def withdraw(self, amount):</a:t>
            </a: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if amount &lt;= 0:</a:t>
            </a: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print("So tien rut phai lon hon 0!")</a:t>
            </a: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elif amount &gt; self.balance:</a:t>
            </a: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print(f"So du khong du! So du hien tai: {self.balance} VND")</a:t>
            </a: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else:</a:t>
            </a: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self.balance -= amount</a:t>
            </a: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print(f"Rut {amount} VND thanh cong. So du con lai: {self.balance} VND")</a:t>
            </a:r>
            <a:endParaRPr lang="en-US" sz="600" dirty="0"/>
          </a:p>
          <a:p>
            <a:pPr marL="0" indent="0" algn="l">
              <a:lnSpc>
                <a:spcPct val="109000"/>
              </a:lnSpc>
              <a:buNone/>
            </a:pP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def show_info(self):</a:t>
            </a:r>
            <a:endParaRPr lang="en-US" sz="600" dirty="0"/>
          </a:p>
          <a:p>
            <a:pPr marL="0" indent="0" algn="l">
              <a:lnSpc>
                <a:spcPct val="109000"/>
              </a:lnSpc>
              <a:buNone/>
            </a:pPr>
            <a:r>
              <a:rPr lang="en-US" sz="600" dirty="0">
                <a:solidFill>
                  <a:srgbClr val="D73A49"/>
                </a:solidFill>
                <a:highlight>
                  <a:srgbClr val="F2F2F2"/>
                </a:highlight>
                <a:latin typeface="Consolas" pitchFamily="34" charset="0"/>
                <a:ea typeface="Consolas" pitchFamily="34" charset="-122"/>
                <a:cs typeface="Consolas" pitchFamily="34" charset="-120"/>
              </a:rPr>
              <a:t>        print(f"TK: {self.account_number} | Chu TK: {self.account_holder} | So du: {self.balance} VND")</a:t>
            </a:r>
            <a:endParaRPr lang="en-US" sz="600" dirty="0"/>
          </a:p>
        </p:txBody>
      </p:sp>
      <p:sp>
        <p:nvSpPr>
          <p:cNvPr id="7" name="Shape 5"/>
          <p:cNvSpPr/>
          <p:nvPr/>
        </p:nvSpPr>
        <p:spPr>
          <a:xfrm>
            <a:off x="1438721" y="3577828"/>
            <a:ext cx="6266557" cy="680070"/>
          </a:xfrm>
          <a:prstGeom prst="roundRect">
            <a:avLst>
              <a:gd name="adj" fmla="val 10517"/>
            </a:avLst>
          </a:prstGeom>
          <a:solidFill>
            <a:srgbClr val="F2F2F2"/>
          </a:solidFill>
          <a:ln/>
        </p:spPr>
        <p:txBody>
          <a:bodyPr/>
          <a:lstStyle/>
          <a:p>
            <a:endParaRPr lang="vi-VN"/>
          </a:p>
        </p:txBody>
      </p:sp>
      <p:sp>
        <p:nvSpPr>
          <p:cNvPr id="8" name="Shape 6"/>
          <p:cNvSpPr/>
          <p:nvPr/>
        </p:nvSpPr>
        <p:spPr>
          <a:xfrm>
            <a:off x="1434778" y="3577828"/>
            <a:ext cx="6274445" cy="680070"/>
          </a:xfrm>
          <a:prstGeom prst="roundRect">
            <a:avLst>
              <a:gd name="adj" fmla="val 1753"/>
            </a:avLst>
          </a:prstGeom>
          <a:solidFill>
            <a:srgbClr val="F2F2F2"/>
          </a:solidFill>
          <a:ln/>
        </p:spPr>
        <p:txBody>
          <a:bodyPr/>
          <a:lstStyle/>
          <a:p>
            <a:endParaRPr lang="vi-VN"/>
          </a:p>
        </p:txBody>
      </p:sp>
      <p:sp>
        <p:nvSpPr>
          <p:cNvPr id="9" name="Text 7"/>
          <p:cNvSpPr/>
          <p:nvPr/>
        </p:nvSpPr>
        <p:spPr>
          <a:xfrm>
            <a:off x="1534046" y="3657228"/>
            <a:ext cx="6075908" cy="521271"/>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account1 = BankAccount("19001234", "Nguyen Van A", 50000)</a:t>
            </a: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account1.deposit(200000)</a:t>
            </a: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account1.withdraw(30000)</a:t>
            </a: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account1.withdraw(999999)</a:t>
            </a: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account1.show_info()</a:t>
            </a:r>
            <a:endParaRPr lang="en-US" sz="600" dirty="0"/>
          </a:p>
        </p:txBody>
      </p:sp>
      <p:sp>
        <p:nvSpPr>
          <p:cNvPr id="10" name="Shape 8"/>
          <p:cNvSpPr/>
          <p:nvPr/>
        </p:nvSpPr>
        <p:spPr>
          <a:xfrm>
            <a:off x="1381497" y="4315123"/>
            <a:ext cx="3150840" cy="480194"/>
          </a:xfrm>
          <a:prstGeom prst="roundRect">
            <a:avLst>
              <a:gd name="adj" fmla="val 23831"/>
            </a:avLst>
          </a:prstGeom>
          <a:solidFill>
            <a:srgbClr val="C00000"/>
          </a:solidFill>
          <a:ln/>
        </p:spPr>
        <p:txBody>
          <a:bodyPr/>
          <a:lstStyle/>
          <a:p>
            <a:endParaRPr lang="vi-VN"/>
          </a:p>
        </p:txBody>
      </p:sp>
      <p:sp>
        <p:nvSpPr>
          <p:cNvPr id="11" name="Text 9"/>
          <p:cNvSpPr/>
          <p:nvPr/>
        </p:nvSpPr>
        <p:spPr>
          <a:xfrm>
            <a:off x="1460897" y="4366022"/>
            <a:ext cx="2057921" cy="124123"/>
          </a:xfrm>
          <a:prstGeom prst="rect">
            <a:avLst/>
          </a:prstGeom>
          <a:noFill/>
          <a:ln/>
        </p:spPr>
        <p:txBody>
          <a:bodyPr wrap="none" lIns="0" tIns="0" rIns="0" bIns="0" rtlCol="0" anchor="t"/>
          <a:lstStyle/>
          <a:p>
            <a:pPr marL="0" indent="0" algn="l">
              <a:lnSpc>
                <a:spcPct val="104000"/>
              </a:lnSpc>
              <a:buNone/>
            </a:pPr>
            <a:r>
              <a:rPr lang="en-US" sz="750" b="1" dirty="0">
                <a:solidFill>
                  <a:srgbClr val="FFFFFF"/>
                </a:solidFill>
                <a:latin typeface="Montserrat Bold" pitchFamily="34" charset="0"/>
                <a:ea typeface="Montserrat Bold" pitchFamily="34" charset="-122"/>
                <a:cs typeface="Montserrat Bold" pitchFamily="34" charset="-120"/>
              </a:rPr>
              <a:t>Tại sao cần kiểm tra điều kiện?</a:t>
            </a:r>
            <a:endParaRPr lang="en-US" sz="750" dirty="0"/>
          </a:p>
        </p:txBody>
      </p:sp>
      <p:sp>
        <p:nvSpPr>
          <p:cNvPr id="12" name="Text 10"/>
          <p:cNvSpPr/>
          <p:nvPr/>
        </p:nvSpPr>
        <p:spPr>
          <a:xfrm>
            <a:off x="1460897" y="4541044"/>
            <a:ext cx="2992041"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FFFFFF"/>
                </a:solidFill>
                <a:latin typeface="Montserrat" pitchFamily="34" charset="0"/>
                <a:ea typeface="Montserrat" pitchFamily="34" charset="-122"/>
                <a:cs typeface="Montserrat" pitchFamily="34" charset="-120"/>
              </a:rPr>
              <a:t>Không kiểm tra → rút âm số dư → lỗi nghiêm trọng trong hệ thống ngân hàng thực tế.</a:t>
            </a:r>
            <a:endParaRPr lang="en-US" sz="600" dirty="0"/>
          </a:p>
        </p:txBody>
      </p:sp>
      <p:sp>
        <p:nvSpPr>
          <p:cNvPr id="13" name="Text 11"/>
          <p:cNvSpPr/>
          <p:nvPr/>
        </p:nvSpPr>
        <p:spPr>
          <a:xfrm>
            <a:off x="4673650" y="4366022"/>
            <a:ext cx="1450479" cy="124123"/>
          </a:xfrm>
          <a:prstGeom prst="rect">
            <a:avLst/>
          </a:prstGeom>
          <a:noFill/>
          <a:ln/>
        </p:spPr>
        <p:txBody>
          <a:bodyPr wrap="none" lIns="0" tIns="0" rIns="0" bIns="0" rtlCol="0" anchor="t"/>
          <a:lstStyle/>
          <a:p>
            <a:pPr marL="0" indent="0" algn="l">
              <a:lnSpc>
                <a:spcPct val="104000"/>
              </a:lnSpc>
              <a:buNone/>
            </a:pPr>
            <a:r>
              <a:rPr lang="en-US" sz="750" b="1" dirty="0">
                <a:solidFill>
                  <a:srgbClr val="C00000"/>
                </a:solidFill>
                <a:latin typeface="Montserrat Bold" pitchFamily="34" charset="0"/>
                <a:ea typeface="Montserrat Bold" pitchFamily="34" charset="-122"/>
                <a:cs typeface="Montserrat Bold" pitchFamily="34" charset="-120"/>
              </a:rPr>
              <a:t>Return vs Print?</a:t>
            </a:r>
            <a:endParaRPr lang="en-US" sz="750" dirty="0"/>
          </a:p>
        </p:txBody>
      </p:sp>
      <p:sp>
        <p:nvSpPr>
          <p:cNvPr id="14" name="Text 12"/>
          <p:cNvSpPr/>
          <p:nvPr/>
        </p:nvSpPr>
        <p:spPr>
          <a:xfrm>
            <a:off x="4673650" y="4541044"/>
            <a:ext cx="3036391"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000000"/>
                </a:solidFill>
                <a:latin typeface="Montserrat" pitchFamily="34" charset="0"/>
                <a:ea typeface="Montserrat" pitchFamily="34" charset="-122"/>
                <a:cs typeface="Montserrat" pitchFamily="34" charset="-120"/>
              </a:rPr>
              <a:t>Trong dự án thực tế, nên dùng return thay vì print để dễ kiểm thử (unit test) và tích hợp với hệ thống khác.</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360462"/>
            <a:ext cx="7418859" cy="339179"/>
          </a:xfrm>
          <a:prstGeom prst="rect">
            <a:avLst/>
          </a:prstGeom>
          <a:noFill/>
          <a:ln/>
        </p:spPr>
        <p:txBody>
          <a:bodyPr wrap="none" lIns="0" tIns="0" rIns="0" bIns="0" rtlCol="0" anchor="t"/>
          <a:lstStyle/>
          <a:p>
            <a:pPr marL="0" indent="0" algn="l">
              <a:lnSpc>
                <a:spcPct val="104000"/>
              </a:lnSpc>
              <a:buNone/>
            </a:pPr>
            <a:r>
              <a:rPr lang="en-US" sz="2100" b="1" dirty="0">
                <a:solidFill>
                  <a:srgbClr val="C00000"/>
                </a:solidFill>
                <a:latin typeface="Montserrat Bold" pitchFamily="34" charset="0"/>
                <a:ea typeface="Montserrat Bold" pitchFamily="34" charset="-122"/>
                <a:cs typeface="Montserrat Bold" pitchFamily="34" charset="-120"/>
              </a:rPr>
              <a:t>Static Method — Hàm Tiện Ích Không Cần Object</a:t>
            </a:r>
            <a:endParaRPr lang="en-US" sz="2100" dirty="0"/>
          </a:p>
        </p:txBody>
      </p:sp>
      <p:sp>
        <p:nvSpPr>
          <p:cNvPr id="3" name="Text 1"/>
          <p:cNvSpPr/>
          <p:nvPr/>
        </p:nvSpPr>
        <p:spPr>
          <a:xfrm>
            <a:off x="496119" y="889546"/>
            <a:ext cx="8151763" cy="325636"/>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000000"/>
                </a:solidFill>
                <a:latin typeface="Montserrat" pitchFamily="34" charset="0"/>
                <a:ea typeface="Montserrat" pitchFamily="34" charset="-122"/>
                <a:cs typeface="Montserrat" pitchFamily="34" charset="-120"/>
              </a:rPr>
              <a:t>Có những hàm liên quan đến Ngân hàng nhưng </a:t>
            </a:r>
            <a:r>
              <a:rPr lang="en-US" sz="850" b="1" dirty="0">
                <a:solidFill>
                  <a:srgbClr val="000000"/>
                </a:solidFill>
                <a:latin typeface="Montserrat" pitchFamily="34" charset="0"/>
                <a:ea typeface="Montserrat" pitchFamily="34" charset="-122"/>
                <a:cs typeface="Montserrat" pitchFamily="34" charset="-120"/>
              </a:rPr>
              <a:t>không cần biết tài khoản của ai</a:t>
            </a:r>
            <a:r>
              <a:rPr lang="en-US" sz="850" dirty="0">
                <a:solidFill>
                  <a:srgbClr val="000000"/>
                </a:solidFill>
                <a:latin typeface="Montserrat" pitchFamily="34" charset="0"/>
                <a:ea typeface="Montserrat" pitchFamily="34" charset="-122"/>
                <a:cs typeface="Montserrat" pitchFamily="34" charset="-120"/>
              </a:rPr>
              <a:t>, cũng không cần chỉnh sửa số dư. Ví dụ: kiểm tra đơn vị tiền tệ, chuyển đổi tỷ giá. Bắt buộc tạo Object để dùng thì quá lãng phí!</a:t>
            </a:r>
            <a:endParaRPr lang="en-US" sz="850" dirty="0"/>
          </a:p>
        </p:txBody>
      </p:sp>
      <p:sp>
        <p:nvSpPr>
          <p:cNvPr id="4" name="Text 2"/>
          <p:cNvSpPr/>
          <p:nvPr/>
        </p:nvSpPr>
        <p:spPr>
          <a:xfrm>
            <a:off x="496119" y="1416918"/>
            <a:ext cx="2214414" cy="169515"/>
          </a:xfrm>
          <a:prstGeom prst="rect">
            <a:avLst/>
          </a:prstGeom>
          <a:noFill/>
          <a:ln/>
        </p:spPr>
        <p:txBody>
          <a:bodyPr wrap="none" lIns="0" tIns="0" rIns="0" bIns="0" rtlCol="0" anchor="t"/>
          <a:lstStyle/>
          <a:p>
            <a:pPr marL="0" indent="0" algn="l">
              <a:lnSpc>
                <a:spcPct val="104000"/>
              </a:lnSpc>
              <a:buNone/>
            </a:pPr>
            <a:r>
              <a:rPr lang="en-US" sz="1050" b="1" dirty="0">
                <a:solidFill>
                  <a:srgbClr val="C00000"/>
                </a:solidFill>
                <a:latin typeface="Montserrat Bold" pitchFamily="34" charset="0"/>
                <a:ea typeface="Montserrat Bold" pitchFamily="34" charset="-122"/>
                <a:cs typeface="Montserrat Bold" pitchFamily="34" charset="-120"/>
              </a:rPr>
              <a:t>Khai báo @staticmethod</a:t>
            </a:r>
            <a:endParaRPr lang="en-US" sz="1050" dirty="0"/>
          </a:p>
        </p:txBody>
      </p:sp>
      <p:sp>
        <p:nvSpPr>
          <p:cNvPr id="5" name="Shape 3"/>
          <p:cNvSpPr/>
          <p:nvPr/>
        </p:nvSpPr>
        <p:spPr>
          <a:xfrm>
            <a:off x="496119" y="1693218"/>
            <a:ext cx="3943499" cy="1682353"/>
          </a:xfrm>
          <a:prstGeom prst="roundRect">
            <a:avLst>
              <a:gd name="adj" fmla="val 5807"/>
            </a:avLst>
          </a:prstGeom>
          <a:solidFill>
            <a:srgbClr val="F2F2F2"/>
          </a:solidFill>
          <a:ln/>
        </p:spPr>
        <p:txBody>
          <a:bodyPr/>
          <a:lstStyle/>
          <a:p>
            <a:endParaRPr lang="vi-VN"/>
          </a:p>
        </p:txBody>
      </p:sp>
      <p:sp>
        <p:nvSpPr>
          <p:cNvPr id="6" name="Shape 4"/>
          <p:cNvSpPr/>
          <p:nvPr/>
        </p:nvSpPr>
        <p:spPr>
          <a:xfrm>
            <a:off x="490761" y="1693218"/>
            <a:ext cx="3954214" cy="1682353"/>
          </a:xfrm>
          <a:prstGeom prst="roundRect">
            <a:avLst>
              <a:gd name="adj" fmla="val 968"/>
            </a:avLst>
          </a:prstGeom>
          <a:solidFill>
            <a:srgbClr val="F2F2F2"/>
          </a:solidFill>
          <a:ln/>
        </p:spPr>
        <p:txBody>
          <a:bodyPr/>
          <a:lstStyle/>
          <a:p>
            <a:endParaRPr lang="vi-VN"/>
          </a:p>
        </p:txBody>
      </p:sp>
      <p:sp>
        <p:nvSpPr>
          <p:cNvPr id="7" name="Text 5"/>
          <p:cNvSpPr/>
          <p:nvPr/>
        </p:nvSpPr>
        <p:spPr>
          <a:xfrm>
            <a:off x="626418" y="1801713"/>
            <a:ext cx="3682901" cy="1465362"/>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class BankAccount:</a:t>
            </a:r>
            <a:endParaRPr lang="en-US" sz="850" dirty="0"/>
          </a:p>
          <a:p>
            <a:pPr marL="0" indent="0" algn="l">
              <a:lnSpc>
                <a:spcPct val="125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    # ... các hàm cũ giữ nguyên ...</a:t>
            </a:r>
            <a:endParaRPr lang="en-US" sz="850" dirty="0"/>
          </a:p>
          <a:p>
            <a:pPr marL="0" indent="0" algn="l">
              <a:lnSpc>
                <a:spcPct val="125000"/>
              </a:lnSpc>
              <a:buNone/>
            </a:pPr>
            <a:endParaRPr lang="en-US" sz="850" dirty="0"/>
          </a:p>
          <a:p>
            <a:pPr marL="0" indent="0" algn="l">
              <a:lnSpc>
                <a:spcPct val="125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    @staticmethod</a:t>
            </a:r>
            <a:endParaRPr lang="en-US" sz="850" dirty="0"/>
          </a:p>
          <a:p>
            <a:pPr marL="0" indent="0" algn="l">
              <a:lnSpc>
                <a:spcPct val="125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    def validate_currency(currency):</a:t>
            </a:r>
            <a:endParaRPr lang="en-US" sz="850" dirty="0"/>
          </a:p>
          <a:p>
            <a:pPr marL="0" indent="0" algn="l">
              <a:lnSpc>
                <a:spcPct val="125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        """Kiểm tra đơn vị tiền tệ</a:t>
            </a:r>
            <a:endParaRPr lang="en-US" sz="850" dirty="0"/>
          </a:p>
          <a:p>
            <a:pPr marL="0" indent="0" algn="l">
              <a:lnSpc>
                <a:spcPct val="125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        hệ thống hỗ trợ"""</a:t>
            </a:r>
            <a:endParaRPr lang="en-US" sz="850" dirty="0"/>
          </a:p>
          <a:p>
            <a:pPr marL="0" indent="0" algn="l">
              <a:lnSpc>
                <a:spcPct val="125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        supported = ["VND", "USD", "EUR"]</a:t>
            </a:r>
            <a:endParaRPr lang="en-US" sz="850" dirty="0"/>
          </a:p>
          <a:p>
            <a:pPr marL="0" indent="0" algn="l">
              <a:lnSpc>
                <a:spcPct val="125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        return currency.upper() in supported</a:t>
            </a:r>
            <a:endParaRPr lang="en-US" sz="850" dirty="0"/>
          </a:p>
        </p:txBody>
      </p:sp>
      <p:sp>
        <p:nvSpPr>
          <p:cNvPr id="8" name="Shape 6"/>
          <p:cNvSpPr/>
          <p:nvPr/>
        </p:nvSpPr>
        <p:spPr>
          <a:xfrm>
            <a:off x="496119" y="3482355"/>
            <a:ext cx="3943499" cy="1193899"/>
          </a:xfrm>
          <a:prstGeom prst="roundRect">
            <a:avLst>
              <a:gd name="adj" fmla="val 8182"/>
            </a:avLst>
          </a:prstGeom>
          <a:solidFill>
            <a:srgbClr val="F2F2F2"/>
          </a:solidFill>
          <a:ln/>
        </p:spPr>
        <p:txBody>
          <a:bodyPr/>
          <a:lstStyle/>
          <a:p>
            <a:endParaRPr lang="vi-VN"/>
          </a:p>
        </p:txBody>
      </p:sp>
      <p:sp>
        <p:nvSpPr>
          <p:cNvPr id="9" name="Shape 7"/>
          <p:cNvSpPr/>
          <p:nvPr/>
        </p:nvSpPr>
        <p:spPr>
          <a:xfrm>
            <a:off x="490761" y="3482355"/>
            <a:ext cx="3954214" cy="1193899"/>
          </a:xfrm>
          <a:prstGeom prst="roundRect">
            <a:avLst>
              <a:gd name="adj" fmla="val 1364"/>
            </a:avLst>
          </a:prstGeom>
          <a:solidFill>
            <a:srgbClr val="F2F2F2"/>
          </a:solidFill>
          <a:ln/>
        </p:spPr>
        <p:txBody>
          <a:bodyPr/>
          <a:lstStyle/>
          <a:p>
            <a:endParaRPr lang="vi-VN"/>
          </a:p>
        </p:txBody>
      </p:sp>
      <p:sp>
        <p:nvSpPr>
          <p:cNvPr id="10" name="Text 8"/>
          <p:cNvSpPr/>
          <p:nvPr/>
        </p:nvSpPr>
        <p:spPr>
          <a:xfrm>
            <a:off x="626418" y="3590851"/>
            <a:ext cx="3682901" cy="976908"/>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 Gọi trực tiếp, không cần Object!</a:t>
            </a:r>
            <a:endParaRPr lang="en-US" sz="850" dirty="0"/>
          </a:p>
          <a:p>
            <a:pPr marL="0" indent="0" algn="l">
              <a:lnSpc>
                <a:spcPct val="125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result = BankAccount.validate_currency("VND")</a:t>
            </a:r>
            <a:endParaRPr lang="en-US" sz="850" dirty="0"/>
          </a:p>
          <a:p>
            <a:pPr marL="0" indent="0" algn="l">
              <a:lnSpc>
                <a:spcPct val="125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print(result)  # True</a:t>
            </a:r>
            <a:endParaRPr lang="en-US" sz="850" dirty="0"/>
          </a:p>
          <a:p>
            <a:pPr marL="0" indent="0" algn="l">
              <a:lnSpc>
                <a:spcPct val="125000"/>
              </a:lnSpc>
              <a:buNone/>
            </a:pPr>
            <a:endParaRPr lang="en-US" sz="850" dirty="0"/>
          </a:p>
          <a:p>
            <a:pPr marL="0" indent="0" algn="l">
              <a:lnSpc>
                <a:spcPct val="125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result2 = BankAccount.validate_currency("JPY")</a:t>
            </a:r>
            <a:endParaRPr lang="en-US" sz="850" dirty="0"/>
          </a:p>
          <a:p>
            <a:pPr marL="0" indent="0" algn="l">
              <a:lnSpc>
                <a:spcPct val="125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print(result2) # False</a:t>
            </a:r>
            <a:endParaRPr lang="en-US" sz="850" dirty="0"/>
          </a:p>
        </p:txBody>
      </p:sp>
      <p:sp>
        <p:nvSpPr>
          <p:cNvPr id="11" name="Shape 9"/>
          <p:cNvSpPr/>
          <p:nvPr/>
        </p:nvSpPr>
        <p:spPr>
          <a:xfrm>
            <a:off x="4631010" y="1321966"/>
            <a:ext cx="4099768" cy="3461072"/>
          </a:xfrm>
          <a:prstGeom prst="roundRect">
            <a:avLst>
              <a:gd name="adj" fmla="val 4516"/>
            </a:avLst>
          </a:prstGeom>
          <a:solidFill>
            <a:srgbClr val="231651"/>
          </a:solidFill>
          <a:ln/>
        </p:spPr>
        <p:txBody>
          <a:bodyPr/>
          <a:lstStyle/>
          <a:p>
            <a:endParaRPr lang="vi-VN"/>
          </a:p>
        </p:txBody>
      </p:sp>
      <p:sp>
        <p:nvSpPr>
          <p:cNvPr id="12" name="Text 10"/>
          <p:cNvSpPr/>
          <p:nvPr/>
        </p:nvSpPr>
        <p:spPr>
          <a:xfrm>
            <a:off x="4739506" y="1416918"/>
            <a:ext cx="1813917" cy="169515"/>
          </a:xfrm>
          <a:prstGeom prst="rect">
            <a:avLst/>
          </a:prstGeom>
          <a:noFill/>
          <a:ln/>
        </p:spPr>
        <p:txBody>
          <a:bodyPr wrap="none" lIns="0" tIns="0" rIns="0" bIns="0" rtlCol="0" anchor="t"/>
          <a:lstStyle/>
          <a:p>
            <a:pPr marL="0" indent="0" algn="l">
              <a:lnSpc>
                <a:spcPct val="104000"/>
              </a:lnSpc>
              <a:buNone/>
            </a:pPr>
            <a:r>
              <a:rPr lang="en-US" sz="1050" b="1" dirty="0">
                <a:solidFill>
                  <a:srgbClr val="FFFFFF"/>
                </a:solidFill>
                <a:latin typeface="Montserrat Bold" pitchFamily="34" charset="0"/>
                <a:ea typeface="Montserrat Bold" pitchFamily="34" charset="-122"/>
                <a:cs typeface="Montserrat Bold" pitchFamily="34" charset="-120"/>
              </a:rPr>
              <a:t>So sánh nhanh</a:t>
            </a:r>
            <a:endParaRPr lang="en-US" sz="1050" dirty="0"/>
          </a:p>
        </p:txBody>
      </p:sp>
      <p:sp>
        <p:nvSpPr>
          <p:cNvPr id="13" name="Text 11"/>
          <p:cNvSpPr/>
          <p:nvPr/>
        </p:nvSpPr>
        <p:spPr>
          <a:xfrm>
            <a:off x="4739506" y="1681386"/>
            <a:ext cx="4339977" cy="162818"/>
          </a:xfrm>
          <a:prstGeom prst="rect">
            <a:avLst/>
          </a:prstGeom>
          <a:noFill/>
          <a:ln/>
        </p:spPr>
        <p:txBody>
          <a:bodyPr wrap="none" lIns="0" tIns="0" rIns="0" bIns="0" rtlCol="0" anchor="t"/>
          <a:lstStyle/>
          <a:p>
            <a:pPr marL="0" indent="0" algn="l">
              <a:lnSpc>
                <a:spcPct val="125000"/>
              </a:lnSpc>
              <a:buNone/>
            </a:pPr>
            <a:r>
              <a:rPr lang="en-US" sz="850" b="1" dirty="0">
                <a:solidFill>
                  <a:srgbClr val="FFFFFF"/>
                </a:solidFill>
                <a:latin typeface="Montserrat" pitchFamily="34" charset="0"/>
                <a:ea typeface="Montserrat" pitchFamily="34" charset="-122"/>
                <a:cs typeface="Montserrat" pitchFamily="34" charset="-120"/>
              </a:rPr>
              <a:t>Method thông thường:</a:t>
            </a:r>
            <a:endParaRPr lang="en-US" sz="850" dirty="0"/>
          </a:p>
        </p:txBody>
      </p:sp>
      <p:sp>
        <p:nvSpPr>
          <p:cNvPr id="14" name="Text 12"/>
          <p:cNvSpPr/>
          <p:nvPr/>
        </p:nvSpPr>
        <p:spPr>
          <a:xfrm>
            <a:off x="4739506" y="1929631"/>
            <a:ext cx="3882777" cy="554831"/>
          </a:xfrm>
          <a:prstGeom prst="rect">
            <a:avLst/>
          </a:prstGeom>
          <a:noFill/>
          <a:ln/>
        </p:spPr>
        <p:txBody>
          <a:bodyPr wrap="square" lIns="0" tIns="0" rIns="0" bIns="0" rtlCol="0" anchor="t">
            <a:normAutofit/>
          </a:bodyPr>
          <a:lstStyle/>
          <a:p>
            <a:pPr marL="342900" indent="-342900" algn="l">
              <a:lnSpc>
                <a:spcPct val="125000"/>
              </a:lnSpc>
              <a:buSzPct val="100000"/>
              <a:buChar char="•"/>
            </a:pPr>
            <a:r>
              <a:rPr lang="en-US" sz="850" dirty="0">
                <a:solidFill>
                  <a:srgbClr val="FFFFFF"/>
                </a:solidFill>
                <a:latin typeface="Montserrat" pitchFamily="34" charset="0"/>
                <a:ea typeface="Montserrat" pitchFamily="34" charset="-122"/>
                <a:cs typeface="Montserrat" pitchFamily="34" charset="-120"/>
              </a:rPr>
              <a:t>Bắt buộc có </a:t>
            </a:r>
            <a:r>
              <a:rPr lang="en-US" sz="850" dirty="0">
                <a:solidFill>
                  <a:srgbClr val="FFFFFF"/>
                </a:solidFill>
                <a:highlight>
                  <a:srgbClr val="30235E"/>
                </a:highlight>
                <a:latin typeface="Consolas" pitchFamily="34" charset="0"/>
                <a:ea typeface="Consolas" pitchFamily="34" charset="-122"/>
                <a:cs typeface="Consolas" pitchFamily="34" charset="-120"/>
              </a:rPr>
              <a:t>self</a:t>
            </a:r>
            <a:endParaRPr lang="en-US" sz="850" dirty="0"/>
          </a:p>
          <a:p>
            <a:pPr marL="342900" indent="-342900" algn="l">
              <a:lnSpc>
                <a:spcPct val="125000"/>
              </a:lnSpc>
              <a:buSzPct val="100000"/>
              <a:buChar char="•"/>
            </a:pPr>
            <a:r>
              <a:rPr lang="en-US" sz="850" dirty="0">
                <a:solidFill>
                  <a:srgbClr val="FFFFFF"/>
                </a:solidFill>
                <a:latin typeface="Montserrat" pitchFamily="34" charset="0"/>
                <a:ea typeface="Montserrat" pitchFamily="34" charset="-122"/>
                <a:cs typeface="Montserrat" pitchFamily="34" charset="-120"/>
              </a:rPr>
              <a:t>Phải tạo Object mới gọi được</a:t>
            </a:r>
            <a:endParaRPr lang="en-US" sz="850" dirty="0"/>
          </a:p>
          <a:p>
            <a:pPr marL="342900" indent="-342900" algn="l">
              <a:lnSpc>
                <a:spcPct val="125000"/>
              </a:lnSpc>
              <a:buSzPct val="100000"/>
              <a:buChar char="•"/>
            </a:pPr>
            <a:r>
              <a:rPr lang="en-US" sz="850" dirty="0">
                <a:solidFill>
                  <a:srgbClr val="FFFFFF"/>
                </a:solidFill>
                <a:latin typeface="Montserrat" pitchFamily="34" charset="0"/>
                <a:ea typeface="Montserrat" pitchFamily="34" charset="-122"/>
                <a:cs typeface="Montserrat" pitchFamily="34" charset="-120"/>
              </a:rPr>
              <a:t>Truy cập được dữ liệu của đối tượng</a:t>
            </a:r>
            <a:endParaRPr lang="en-US" sz="850" dirty="0"/>
          </a:p>
        </p:txBody>
      </p:sp>
      <p:sp>
        <p:nvSpPr>
          <p:cNvPr id="15" name="Text 13"/>
          <p:cNvSpPr/>
          <p:nvPr/>
        </p:nvSpPr>
        <p:spPr>
          <a:xfrm>
            <a:off x="4739506" y="2569890"/>
            <a:ext cx="4339977" cy="162818"/>
          </a:xfrm>
          <a:prstGeom prst="rect">
            <a:avLst/>
          </a:prstGeom>
          <a:noFill/>
          <a:ln/>
        </p:spPr>
        <p:txBody>
          <a:bodyPr wrap="none" lIns="0" tIns="0" rIns="0" bIns="0" rtlCol="0" anchor="t"/>
          <a:lstStyle/>
          <a:p>
            <a:pPr marL="0" indent="0" algn="l">
              <a:lnSpc>
                <a:spcPct val="125000"/>
              </a:lnSpc>
              <a:buNone/>
            </a:pPr>
            <a:r>
              <a:rPr lang="en-US" sz="850" b="1" dirty="0">
                <a:solidFill>
                  <a:srgbClr val="FFFFFF"/>
                </a:solidFill>
                <a:latin typeface="Montserrat" pitchFamily="34" charset="0"/>
                <a:ea typeface="Montserrat" pitchFamily="34" charset="-122"/>
                <a:cs typeface="Montserrat" pitchFamily="34" charset="-120"/>
              </a:rPr>
              <a:t>Static Method:</a:t>
            </a:r>
            <a:endParaRPr lang="en-US" sz="850" dirty="0"/>
          </a:p>
        </p:txBody>
      </p:sp>
      <p:sp>
        <p:nvSpPr>
          <p:cNvPr id="16" name="Text 14"/>
          <p:cNvSpPr/>
          <p:nvPr/>
        </p:nvSpPr>
        <p:spPr>
          <a:xfrm>
            <a:off x="4739506" y="2818135"/>
            <a:ext cx="3882777" cy="554831"/>
          </a:xfrm>
          <a:prstGeom prst="rect">
            <a:avLst/>
          </a:prstGeom>
          <a:noFill/>
          <a:ln/>
        </p:spPr>
        <p:txBody>
          <a:bodyPr wrap="square" lIns="0" tIns="0" rIns="0" bIns="0" rtlCol="0" anchor="t">
            <a:normAutofit/>
          </a:bodyPr>
          <a:lstStyle/>
          <a:p>
            <a:pPr marL="342900" indent="-342900" algn="l">
              <a:lnSpc>
                <a:spcPct val="125000"/>
              </a:lnSpc>
              <a:buSzPct val="100000"/>
              <a:buChar char="•"/>
            </a:pPr>
            <a:r>
              <a:rPr lang="en-US" sz="850" dirty="0">
                <a:solidFill>
                  <a:srgbClr val="FFFFFF"/>
                </a:solidFill>
                <a:latin typeface="Montserrat" pitchFamily="34" charset="0"/>
                <a:ea typeface="Montserrat" pitchFamily="34" charset="-122"/>
                <a:cs typeface="Montserrat" pitchFamily="34" charset="-120"/>
              </a:rPr>
              <a:t>Không có </a:t>
            </a:r>
            <a:r>
              <a:rPr lang="en-US" sz="850" dirty="0">
                <a:solidFill>
                  <a:srgbClr val="FFFFFF"/>
                </a:solidFill>
                <a:highlight>
                  <a:srgbClr val="30235E"/>
                </a:highlight>
                <a:latin typeface="Consolas" pitchFamily="34" charset="0"/>
                <a:ea typeface="Consolas" pitchFamily="34" charset="-122"/>
                <a:cs typeface="Consolas" pitchFamily="34" charset="-120"/>
              </a:rPr>
              <a:t>self</a:t>
            </a:r>
            <a:r>
              <a:rPr lang="en-US" sz="850" dirty="0">
                <a:solidFill>
                  <a:srgbClr val="FFFFFF"/>
                </a:solidFill>
                <a:latin typeface="Montserrat" pitchFamily="34" charset="0"/>
                <a:ea typeface="Montserrat" pitchFamily="34" charset="-122"/>
                <a:cs typeface="Montserrat" pitchFamily="34" charset="-120"/>
              </a:rPr>
              <a:t> hay </a:t>
            </a:r>
            <a:r>
              <a:rPr lang="en-US" sz="850" dirty="0">
                <a:solidFill>
                  <a:srgbClr val="FFFFFF"/>
                </a:solidFill>
                <a:highlight>
                  <a:srgbClr val="30235E"/>
                </a:highlight>
                <a:latin typeface="Consolas" pitchFamily="34" charset="0"/>
                <a:ea typeface="Consolas" pitchFamily="34" charset="-122"/>
                <a:cs typeface="Consolas" pitchFamily="34" charset="-120"/>
              </a:rPr>
              <a:t>cls</a:t>
            </a:r>
            <a:endParaRPr lang="en-US" sz="850" dirty="0"/>
          </a:p>
          <a:p>
            <a:pPr marL="342900" indent="-342900" algn="l">
              <a:lnSpc>
                <a:spcPct val="125000"/>
              </a:lnSpc>
              <a:buSzPct val="100000"/>
              <a:buChar char="•"/>
            </a:pPr>
            <a:r>
              <a:rPr lang="en-US" sz="850" dirty="0">
                <a:solidFill>
                  <a:srgbClr val="FFFFFF"/>
                </a:solidFill>
                <a:latin typeface="Montserrat" pitchFamily="34" charset="0"/>
                <a:ea typeface="Montserrat" pitchFamily="34" charset="-122"/>
                <a:cs typeface="Montserrat" pitchFamily="34" charset="-120"/>
              </a:rPr>
              <a:t>Gọi thẳng qua tên Class</a:t>
            </a:r>
            <a:endParaRPr lang="en-US" sz="850" dirty="0"/>
          </a:p>
          <a:p>
            <a:pPr marL="342900" indent="-342900" algn="l">
              <a:lnSpc>
                <a:spcPct val="125000"/>
              </a:lnSpc>
              <a:buSzPct val="100000"/>
              <a:buChar char="•"/>
            </a:pPr>
            <a:r>
              <a:rPr lang="en-US" sz="850" dirty="0">
                <a:solidFill>
                  <a:srgbClr val="FFFFFF"/>
                </a:solidFill>
                <a:latin typeface="Montserrat" pitchFamily="34" charset="0"/>
                <a:ea typeface="Montserrat" pitchFamily="34" charset="-122"/>
                <a:cs typeface="Montserrat" pitchFamily="34" charset="-120"/>
              </a:rPr>
              <a:t>Hàm tiện ích độc lập hoàn toàn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362298" y="347439"/>
            <a:ext cx="4139059" cy="254347"/>
          </a:xfrm>
          <a:prstGeom prst="rect">
            <a:avLst/>
          </a:prstGeom>
          <a:noFill/>
          <a:ln/>
        </p:spPr>
        <p:txBody>
          <a:bodyPr wrap="none" lIns="0" tIns="0" rIns="0" bIns="0" rtlCol="0" anchor="t"/>
          <a:lstStyle/>
          <a:p>
            <a:pPr marL="0" indent="0" algn="l">
              <a:lnSpc>
                <a:spcPct val="104000"/>
              </a:lnSpc>
              <a:buNone/>
            </a:pPr>
            <a:r>
              <a:rPr lang="en-US" sz="1600" b="1" dirty="0">
                <a:solidFill>
                  <a:srgbClr val="C00000"/>
                </a:solidFill>
                <a:latin typeface="Montserrat Bold" pitchFamily="34" charset="0"/>
                <a:ea typeface="Montserrat Bold" pitchFamily="34" charset="-122"/>
                <a:cs typeface="Montserrat Bold" pitchFamily="34" charset="-120"/>
              </a:rPr>
              <a:t>Tính Đóng Gói — Trái Tim của OOP</a:t>
            </a:r>
            <a:endParaRPr lang="en-US" sz="1600" dirty="0"/>
          </a:p>
        </p:txBody>
      </p:sp>
      <p:sp>
        <p:nvSpPr>
          <p:cNvPr id="3" name="Text 1"/>
          <p:cNvSpPr/>
          <p:nvPr/>
        </p:nvSpPr>
        <p:spPr>
          <a:xfrm>
            <a:off x="1362298" y="708571"/>
            <a:ext cx="6876604" cy="107826"/>
          </a:xfrm>
          <a:prstGeom prst="rect">
            <a:avLst/>
          </a:prstGeom>
          <a:noFill/>
          <a:ln/>
        </p:spPr>
        <p:txBody>
          <a:bodyPr wrap="none" lIns="0" tIns="0" rIns="0" bIns="0" rtlCol="0" anchor="t"/>
          <a:lstStyle/>
          <a:p>
            <a:pPr marL="0" indent="0" algn="l">
              <a:lnSpc>
                <a:spcPct val="110000"/>
              </a:lnSpc>
              <a:buNone/>
            </a:pPr>
            <a:r>
              <a:rPr lang="en-US" sz="600" dirty="0">
                <a:solidFill>
                  <a:srgbClr val="000000"/>
                </a:solidFill>
                <a:latin typeface="Montserrat" pitchFamily="34" charset="0"/>
                <a:ea typeface="Montserrat" pitchFamily="34" charset="-122"/>
                <a:cs typeface="Montserrat" pitchFamily="34" charset="-120"/>
              </a:rPr>
              <a:t>Đây là phần </a:t>
            </a:r>
            <a:r>
              <a:rPr lang="en-US" sz="600" b="1" dirty="0">
                <a:solidFill>
                  <a:srgbClr val="C00000"/>
                </a:solidFill>
                <a:latin typeface="Montserrat" pitchFamily="34" charset="0"/>
                <a:ea typeface="Montserrat" pitchFamily="34" charset="-122"/>
                <a:cs typeface="Montserrat" pitchFamily="34" charset="-120"/>
              </a:rPr>
              <a:t>quan trọng nhất</a:t>
            </a:r>
            <a:r>
              <a:rPr lang="en-US" sz="600" dirty="0">
                <a:solidFill>
                  <a:srgbClr val="000000"/>
                </a:solidFill>
                <a:latin typeface="Montserrat" pitchFamily="34" charset="0"/>
                <a:ea typeface="Montserrat" pitchFamily="34" charset="-122"/>
                <a:cs typeface="Montserrat" pitchFamily="34" charset="-120"/>
              </a:rPr>
              <a:t> của buổi học hôm nay. Tập trung 200% nhé!</a:t>
            </a:r>
            <a:endParaRPr lang="en-US" sz="600" dirty="0"/>
          </a:p>
        </p:txBody>
      </p:sp>
      <p:sp>
        <p:nvSpPr>
          <p:cNvPr id="4" name="Text 2"/>
          <p:cNvSpPr/>
          <p:nvPr/>
        </p:nvSpPr>
        <p:spPr>
          <a:xfrm>
            <a:off x="1484337" y="936501"/>
            <a:ext cx="6297364" cy="215652"/>
          </a:xfrm>
          <a:prstGeom prst="rect">
            <a:avLst/>
          </a:prstGeom>
          <a:noFill/>
          <a:ln/>
        </p:spPr>
        <p:txBody>
          <a:bodyPr wrap="square" lIns="0" tIns="0" rIns="0" bIns="0" rtlCol="0" anchor="t">
            <a:normAutofit/>
          </a:bodyPr>
          <a:lstStyle/>
          <a:p>
            <a:pPr marL="0" indent="0" algn="l">
              <a:lnSpc>
                <a:spcPct val="110000"/>
              </a:lnSpc>
              <a:buNone/>
            </a:pPr>
            <a:r>
              <a:rPr lang="en-US" sz="600" dirty="0">
                <a:solidFill>
                  <a:srgbClr val="000000"/>
                </a:solidFill>
                <a:latin typeface="Montserrat" pitchFamily="34" charset="0"/>
                <a:ea typeface="Montserrat" pitchFamily="34" charset="-122"/>
                <a:cs typeface="Montserrat" pitchFamily="34" charset="-120"/>
              </a:rPr>
              <a:t>Hãy tưởng tượng: nếu số dư tài khoản ngân hàng của bạn có thể bị ai đó sửa trực tiếp mà không qua bất kỳ bước xác thực nào — đó chính xác là điều đang xảy ra khi bạn để thuộc tính ở dạng Public!</a:t>
            </a:r>
            <a:endParaRPr lang="en-US" sz="600" dirty="0"/>
          </a:p>
        </p:txBody>
      </p:sp>
      <p:sp>
        <p:nvSpPr>
          <p:cNvPr id="5" name="Shape 3"/>
          <p:cNvSpPr/>
          <p:nvPr/>
        </p:nvSpPr>
        <p:spPr>
          <a:xfrm>
            <a:off x="1362298" y="1272257"/>
            <a:ext cx="6419404" cy="2858319"/>
          </a:xfrm>
          <a:prstGeom prst="roundRect">
            <a:avLst>
              <a:gd name="adj" fmla="val 2563"/>
            </a:avLst>
          </a:prstGeom>
          <a:solidFill>
            <a:srgbClr val="F2F2F2"/>
          </a:solidFill>
          <a:ln/>
        </p:spPr>
        <p:txBody>
          <a:bodyPr/>
          <a:lstStyle/>
          <a:p>
            <a:endParaRPr lang="vi-VN"/>
          </a:p>
        </p:txBody>
      </p:sp>
      <p:sp>
        <p:nvSpPr>
          <p:cNvPr id="6" name="Shape 4"/>
          <p:cNvSpPr/>
          <p:nvPr/>
        </p:nvSpPr>
        <p:spPr>
          <a:xfrm>
            <a:off x="1358280" y="1272257"/>
            <a:ext cx="6427440" cy="2858319"/>
          </a:xfrm>
          <a:prstGeom prst="roundRect">
            <a:avLst>
              <a:gd name="adj" fmla="val 427"/>
            </a:avLst>
          </a:prstGeom>
          <a:solidFill>
            <a:srgbClr val="F2F2F2"/>
          </a:solidFill>
          <a:ln/>
        </p:spPr>
        <p:txBody>
          <a:bodyPr/>
          <a:lstStyle/>
          <a:p>
            <a:endParaRPr lang="vi-VN"/>
          </a:p>
        </p:txBody>
      </p:sp>
      <p:sp>
        <p:nvSpPr>
          <p:cNvPr id="7" name="Text 5"/>
          <p:cNvSpPr/>
          <p:nvPr/>
        </p:nvSpPr>
        <p:spPr>
          <a:xfrm>
            <a:off x="1460004" y="1353592"/>
            <a:ext cx="6223992" cy="2695649"/>
          </a:xfrm>
          <a:prstGeom prst="rect">
            <a:avLst/>
          </a:prstGeom>
          <a:noFill/>
          <a:ln/>
        </p:spPr>
        <p:txBody>
          <a:bodyPr wrap="square" lIns="0" tIns="0" rIns="0" bIns="0" rtlCol="0" anchor="t">
            <a:normAutofit/>
          </a:bodyPr>
          <a:lstStyle/>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 Khong co dong goi — Nguy hiem!</a:t>
            </a: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class UnsafeBankAccount:</a:t>
            </a: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    def __init__(self, account_number, account_holder, balance=0):</a:t>
            </a: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        self.account_number = account_number</a:t>
            </a: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        self.account_holder = account_holder</a:t>
            </a: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        self.balance = balance  # Public — ai cung sua duoc!</a:t>
            </a:r>
            <a:endParaRPr lang="en-US" sz="600" dirty="0"/>
          </a:p>
          <a:p>
            <a:pPr marL="0" indent="0" algn="l">
              <a:lnSpc>
                <a:spcPct val="110000"/>
              </a:lnSpc>
              <a:buNone/>
            </a:pP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 Tao tai khoan</a:t>
            </a: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acc = UnsafeBankAccount("19001234", "Nguyen Van A", 50000)</a:t>
            </a:r>
            <a:endParaRPr lang="en-US" sz="600" dirty="0"/>
          </a:p>
          <a:p>
            <a:pPr marL="0" indent="0" algn="l">
              <a:lnSpc>
                <a:spcPct val="110000"/>
              </a:lnSpc>
              <a:buNone/>
            </a:pP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 Bat ky ai cung co the sua truc tiep — khong can xac thuc!</a:t>
            </a: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acc.balance = -999999999  # Hack thanh cong!</a:t>
            </a: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print(acc.balance)  # Output: -999999999 — Tham hoa!</a:t>
            </a:r>
            <a:endParaRPr lang="en-US" sz="600" dirty="0"/>
          </a:p>
          <a:p>
            <a:pPr marL="0" indent="0" algn="l">
              <a:lnSpc>
                <a:spcPct val="110000"/>
              </a:lnSpc>
              <a:buNone/>
            </a:pP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 Giai phap: Dung Tinh Dong Goi de bao ve du lieu</a:t>
            </a: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class SecureBankAccount:</a:t>
            </a: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    def __init__(self, account_number, account_holder, balance=0):</a:t>
            </a: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        self.account_number = account_number</a:t>
            </a: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        self.account_holder = account_holder</a:t>
            </a: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        self.__balance = balance  # Private — khoa chat!</a:t>
            </a:r>
            <a:endParaRPr lang="en-US" sz="600" dirty="0"/>
          </a:p>
          <a:p>
            <a:pPr marL="0" indent="0" algn="l">
              <a:lnSpc>
                <a:spcPct val="110000"/>
              </a:lnSpc>
              <a:buNone/>
            </a:pP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 Bay gio thu "hack" lai</a:t>
            </a: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acc2 = SecureBankAccount("19001234", "Nguyen Van A", 50000)</a:t>
            </a: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acc2.__balance = -999999999  # Python tao bien moi, KHONG sua duoc!</a:t>
            </a:r>
            <a:endParaRPr lang="en-US" sz="600" dirty="0"/>
          </a:p>
          <a:p>
            <a:pPr marL="0" indent="0" algn="l">
              <a:lnSpc>
                <a:spcPct val="110000"/>
              </a:lnSpc>
              <a:buNone/>
            </a:pPr>
            <a:r>
              <a:rPr lang="en-US" sz="600" dirty="0">
                <a:solidFill>
                  <a:srgbClr val="000000"/>
                </a:solidFill>
                <a:latin typeface="Consolas" pitchFamily="34" charset="0"/>
                <a:ea typeface="Consolas" pitchFamily="34" charset="-122"/>
                <a:cs typeface="Consolas" pitchFamily="34" charset="-120"/>
              </a:rPr>
              <a:t>print(acc2._SecureBankAccount__balance)  # Output: 50000 — An toan!</a:t>
            </a:r>
            <a:endParaRPr lang="en-US" sz="600" dirty="0"/>
          </a:p>
        </p:txBody>
      </p:sp>
      <p:sp>
        <p:nvSpPr>
          <p:cNvPr id="8" name="Shape 6"/>
          <p:cNvSpPr/>
          <p:nvPr/>
        </p:nvSpPr>
        <p:spPr>
          <a:xfrm>
            <a:off x="1303660" y="4190628"/>
            <a:ext cx="3227710" cy="605358"/>
          </a:xfrm>
          <a:prstGeom prst="roundRect">
            <a:avLst>
              <a:gd name="adj" fmla="val 19364"/>
            </a:avLst>
          </a:prstGeom>
          <a:solidFill>
            <a:srgbClr val="C00000"/>
          </a:solidFill>
          <a:ln/>
        </p:spPr>
        <p:txBody>
          <a:bodyPr/>
          <a:lstStyle/>
          <a:p>
            <a:endParaRPr lang="vi-VN"/>
          </a:p>
        </p:txBody>
      </p:sp>
      <p:sp>
        <p:nvSpPr>
          <p:cNvPr id="9" name="Text 7"/>
          <p:cNvSpPr/>
          <p:nvPr/>
        </p:nvSpPr>
        <p:spPr>
          <a:xfrm>
            <a:off x="1384995" y="4243983"/>
            <a:ext cx="1474738" cy="127099"/>
          </a:xfrm>
          <a:prstGeom prst="rect">
            <a:avLst/>
          </a:prstGeom>
          <a:noFill/>
          <a:ln/>
        </p:spPr>
        <p:txBody>
          <a:bodyPr wrap="none" lIns="0" tIns="0" rIns="0" bIns="0" rtlCol="0" anchor="t"/>
          <a:lstStyle/>
          <a:p>
            <a:pPr marL="0" indent="0" algn="l">
              <a:lnSpc>
                <a:spcPct val="104000"/>
              </a:lnSpc>
              <a:buNone/>
            </a:pPr>
            <a:r>
              <a:rPr lang="en-US" sz="800" b="1" dirty="0">
                <a:solidFill>
                  <a:srgbClr val="FFFFFF"/>
                </a:solidFill>
                <a:latin typeface="Montserrat Bold" pitchFamily="34" charset="0"/>
                <a:ea typeface="Montserrat Bold" pitchFamily="34" charset="-122"/>
                <a:cs typeface="Montserrat Bold" pitchFamily="34" charset="-120"/>
              </a:rPr>
              <a:t>Vấn đề thực tế</a:t>
            </a:r>
            <a:endParaRPr lang="en-US" sz="800" dirty="0"/>
          </a:p>
        </p:txBody>
      </p:sp>
      <p:sp>
        <p:nvSpPr>
          <p:cNvPr id="10" name="Text 8"/>
          <p:cNvSpPr/>
          <p:nvPr/>
        </p:nvSpPr>
        <p:spPr>
          <a:xfrm>
            <a:off x="1384995" y="4424437"/>
            <a:ext cx="3065041" cy="323478"/>
          </a:xfrm>
          <a:prstGeom prst="rect">
            <a:avLst/>
          </a:prstGeom>
          <a:noFill/>
          <a:ln/>
        </p:spPr>
        <p:txBody>
          <a:bodyPr wrap="square" lIns="0" tIns="0" rIns="0" bIns="0" rtlCol="0" anchor="t">
            <a:normAutofit/>
          </a:bodyPr>
          <a:lstStyle/>
          <a:p>
            <a:pPr marL="0" indent="0" algn="l">
              <a:lnSpc>
                <a:spcPct val="110000"/>
              </a:lnSpc>
              <a:buNone/>
            </a:pPr>
            <a:r>
              <a:rPr lang="en-US" sz="600" dirty="0">
                <a:solidFill>
                  <a:srgbClr val="FFFFFF"/>
                </a:solidFill>
                <a:latin typeface="Montserrat" pitchFamily="34" charset="0"/>
                <a:ea typeface="Montserrat" pitchFamily="34" charset="-122"/>
                <a:cs typeface="Montserrat" pitchFamily="34" charset="-120"/>
              </a:rPr>
              <a:t>Năm 2016, hệ thống ngân hàng Bangladesh bị hack mất 81 triệu USD một phần do kiểm soát truy cập dữ liệu kém. Đóng gói đúng cách là lớp phòng thủ đầu tiên.</a:t>
            </a:r>
            <a:endParaRPr lang="en-US" sz="600" dirty="0"/>
          </a:p>
        </p:txBody>
      </p:sp>
      <p:sp>
        <p:nvSpPr>
          <p:cNvPr id="11" name="Shape 9"/>
          <p:cNvSpPr/>
          <p:nvPr/>
        </p:nvSpPr>
        <p:spPr>
          <a:xfrm>
            <a:off x="4617393" y="4190628"/>
            <a:ext cx="3227710" cy="605358"/>
          </a:xfrm>
          <a:prstGeom prst="roundRect">
            <a:avLst>
              <a:gd name="adj" fmla="val 19364"/>
            </a:avLst>
          </a:prstGeom>
          <a:solidFill>
            <a:srgbClr val="231651"/>
          </a:solidFill>
          <a:ln/>
        </p:spPr>
        <p:txBody>
          <a:bodyPr/>
          <a:lstStyle/>
          <a:p>
            <a:endParaRPr lang="vi-VN"/>
          </a:p>
        </p:txBody>
      </p:sp>
      <p:sp>
        <p:nvSpPr>
          <p:cNvPr id="12" name="Text 10"/>
          <p:cNvSpPr/>
          <p:nvPr/>
        </p:nvSpPr>
        <p:spPr>
          <a:xfrm>
            <a:off x="4698727" y="4243983"/>
            <a:ext cx="1474738" cy="127099"/>
          </a:xfrm>
          <a:prstGeom prst="rect">
            <a:avLst/>
          </a:prstGeom>
          <a:noFill/>
          <a:ln/>
        </p:spPr>
        <p:txBody>
          <a:bodyPr wrap="none" lIns="0" tIns="0" rIns="0" bIns="0" rtlCol="0" anchor="t"/>
          <a:lstStyle/>
          <a:p>
            <a:pPr marL="0" indent="0" algn="l">
              <a:lnSpc>
                <a:spcPct val="104000"/>
              </a:lnSpc>
              <a:buNone/>
            </a:pPr>
            <a:r>
              <a:rPr lang="en-US" sz="800" b="1" dirty="0">
                <a:solidFill>
                  <a:srgbClr val="FFFFFF"/>
                </a:solidFill>
                <a:latin typeface="Montserrat Bold" pitchFamily="34" charset="0"/>
                <a:ea typeface="Montserrat Bold" pitchFamily="34" charset="-122"/>
                <a:cs typeface="Montserrat Bold" pitchFamily="34" charset="-120"/>
              </a:rPr>
              <a:t>Quy tắc vàng</a:t>
            </a:r>
            <a:endParaRPr lang="en-US" sz="800" dirty="0"/>
          </a:p>
        </p:txBody>
      </p:sp>
      <p:sp>
        <p:nvSpPr>
          <p:cNvPr id="13" name="Text 11"/>
          <p:cNvSpPr/>
          <p:nvPr/>
        </p:nvSpPr>
        <p:spPr>
          <a:xfrm>
            <a:off x="4698727" y="4424437"/>
            <a:ext cx="3065041" cy="215652"/>
          </a:xfrm>
          <a:prstGeom prst="rect">
            <a:avLst/>
          </a:prstGeom>
          <a:noFill/>
          <a:ln/>
        </p:spPr>
        <p:txBody>
          <a:bodyPr wrap="square" lIns="0" tIns="0" rIns="0" bIns="0" rtlCol="0" anchor="t">
            <a:normAutofit/>
          </a:bodyPr>
          <a:lstStyle/>
          <a:p>
            <a:pPr marL="0" indent="0" algn="l">
              <a:lnSpc>
                <a:spcPct val="110000"/>
              </a:lnSpc>
              <a:buNone/>
            </a:pPr>
            <a:r>
              <a:rPr lang="en-US" sz="600" dirty="0">
                <a:solidFill>
                  <a:srgbClr val="FFFFFF"/>
                </a:solidFill>
                <a:latin typeface="Montserrat" pitchFamily="34" charset="0"/>
                <a:ea typeface="Montserrat" pitchFamily="34" charset="-122"/>
                <a:cs typeface="Montserrat" pitchFamily="34" charset="-120"/>
              </a:rPr>
              <a:t>Mọi thuộc tính nhạy cảm (số dư, mật khẩu, PIN) → luôn dùng </a:t>
            </a:r>
            <a:r>
              <a:rPr lang="en-US" sz="600" b="1" dirty="0">
                <a:solidFill>
                  <a:srgbClr val="FFFFFF"/>
                </a:solidFill>
                <a:latin typeface="Montserrat" pitchFamily="34" charset="0"/>
                <a:ea typeface="Montserrat" pitchFamily="34" charset="-122"/>
                <a:cs typeface="Montserrat" pitchFamily="34" charset="-120"/>
              </a:rPr>
              <a:t>__</a:t>
            </a:r>
            <a:r>
              <a:rPr lang="en-US" sz="600" dirty="0">
                <a:solidFill>
                  <a:srgbClr val="FFFFFF"/>
                </a:solidFill>
                <a:latin typeface="Montserrat" pitchFamily="34" charset="0"/>
                <a:ea typeface="Montserrat" pitchFamily="34" charset="-122"/>
                <a:cs typeface="Montserrat" pitchFamily="34" charset="-120"/>
              </a:rPr>
              <a:t> (Private). Chỉ cho phép truy cập qua Getter/Setter có kiểm soát.</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96119" y="546869"/>
            <a:ext cx="5936084" cy="387548"/>
          </a:xfrm>
          <a:prstGeom prst="rect">
            <a:avLst/>
          </a:prstGeom>
          <a:noFill/>
          <a:ln/>
        </p:spPr>
        <p:txBody>
          <a:bodyPr wrap="none" lIns="0" tIns="0" rIns="0" bIns="0" rtlCol="0" anchor="t"/>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Ba Cấp Độ Truy Cập trong Python</a:t>
            </a:r>
            <a:endParaRPr lang="en-US" sz="2400" dirty="0"/>
          </a:p>
        </p:txBody>
      </p:sp>
      <p:sp>
        <p:nvSpPr>
          <p:cNvPr id="3" name="Text 1"/>
          <p:cNvSpPr/>
          <p:nvPr/>
        </p:nvSpPr>
        <p:spPr>
          <a:xfrm>
            <a:off x="496119" y="1182439"/>
            <a:ext cx="8608963" cy="198462"/>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Để bảo vệ dữ liệu nhạy cảm, Python dùng </a:t>
            </a:r>
            <a:r>
              <a:rPr lang="en-US" sz="950" b="1" dirty="0">
                <a:solidFill>
                  <a:srgbClr val="000000"/>
                </a:solidFill>
                <a:latin typeface="Montserrat" pitchFamily="34" charset="0"/>
                <a:ea typeface="Montserrat" pitchFamily="34" charset="-122"/>
                <a:cs typeface="Montserrat" pitchFamily="34" charset="-120"/>
              </a:rPr>
              <a:t>quy ước đặt tên</a:t>
            </a:r>
            <a:r>
              <a:rPr lang="en-US" sz="950" dirty="0">
                <a:solidFill>
                  <a:srgbClr val="000000"/>
                </a:solidFill>
                <a:latin typeface="Montserrat" pitchFamily="34" charset="0"/>
                <a:ea typeface="Montserrat" pitchFamily="34" charset="-122"/>
                <a:cs typeface="Montserrat" pitchFamily="34" charset="-120"/>
              </a:rPr>
              <a:t> với dấu gạch dưới. Đây là vũ khí phòng thủ của bạn:</a:t>
            </a:r>
            <a:endParaRPr lang="en-US" sz="950" dirty="0"/>
          </a:p>
        </p:txBody>
      </p:sp>
      <p:sp>
        <p:nvSpPr>
          <p:cNvPr id="4" name="Shape 2"/>
          <p:cNvSpPr/>
          <p:nvPr/>
        </p:nvSpPr>
        <p:spPr>
          <a:xfrm>
            <a:off x="496119" y="1520428"/>
            <a:ext cx="1358578" cy="917897"/>
          </a:xfrm>
          <a:prstGeom prst="roundRect">
            <a:avLst>
              <a:gd name="adj" fmla="val 12163"/>
            </a:avLst>
          </a:prstGeom>
          <a:solidFill>
            <a:srgbClr val="FFFFFF"/>
          </a:solidFill>
          <a:ln w="4763">
            <a:solidFill>
              <a:srgbClr val="C00000"/>
            </a:solidFill>
            <a:prstDash val="solid"/>
          </a:ln>
        </p:spPr>
        <p:txBody>
          <a:bodyPr/>
          <a:lstStyle/>
          <a:p>
            <a:endParaRPr lang="vi-VN"/>
          </a:p>
        </p:txBody>
      </p:sp>
      <p:sp>
        <p:nvSpPr>
          <p:cNvPr id="5" name="Text 3"/>
          <p:cNvSpPr/>
          <p:nvPr/>
        </p:nvSpPr>
        <p:spPr>
          <a:xfrm>
            <a:off x="1088157" y="1870323"/>
            <a:ext cx="174427" cy="218033"/>
          </a:xfrm>
          <a:prstGeom prst="rect">
            <a:avLst/>
          </a:prstGeom>
          <a:noFill/>
          <a:ln/>
        </p:spPr>
        <p:txBody>
          <a:bodyPr wrap="none" lIns="0" tIns="0" rIns="0" bIns="0" rtlCol="0" anchor="ctr"/>
          <a:lstStyle/>
          <a:p>
            <a:pPr marL="0" indent="0" algn="ctr">
              <a:lnSpc>
                <a:spcPct val="100000"/>
              </a:lnSpc>
              <a:buNone/>
            </a:pPr>
            <a:r>
              <a:rPr lang="en-US" sz="1350" b="1" dirty="0">
                <a:solidFill>
                  <a:srgbClr val="000000"/>
                </a:solidFill>
                <a:latin typeface="Montserrat Bold" pitchFamily="34" charset="0"/>
                <a:ea typeface="Montserrat Bold" pitchFamily="34" charset="-122"/>
                <a:cs typeface="Montserrat Bold" pitchFamily="34" charset="-120"/>
              </a:rPr>
              <a:t>1</a:t>
            </a:r>
            <a:endParaRPr lang="en-US" sz="1350" dirty="0"/>
          </a:p>
        </p:txBody>
      </p:sp>
      <p:sp>
        <p:nvSpPr>
          <p:cNvPr id="6" name="Text 4"/>
          <p:cNvSpPr/>
          <p:nvPr/>
        </p:nvSpPr>
        <p:spPr>
          <a:xfrm>
            <a:off x="1978670" y="1644402"/>
            <a:ext cx="1688232" cy="198611"/>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 Private: __balance</a:t>
            </a:r>
            <a:endParaRPr lang="en-US" sz="1200" dirty="0"/>
          </a:p>
        </p:txBody>
      </p:sp>
      <p:sp>
        <p:nvSpPr>
          <p:cNvPr id="7" name="Text 5"/>
          <p:cNvSpPr/>
          <p:nvPr/>
        </p:nvSpPr>
        <p:spPr>
          <a:xfrm>
            <a:off x="1978670" y="1917427"/>
            <a:ext cx="6545238"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Hai dấu gạch dưới — Python </a:t>
            </a:r>
            <a:r>
              <a:rPr lang="en-US" sz="950" b="1" dirty="0">
                <a:solidFill>
                  <a:srgbClr val="000000"/>
                </a:solidFill>
                <a:latin typeface="Montserrat" pitchFamily="34" charset="0"/>
                <a:ea typeface="Montserrat" pitchFamily="34" charset="-122"/>
                <a:cs typeface="Montserrat" pitchFamily="34" charset="-120"/>
              </a:rPr>
              <a:t>khóa chặt</a:t>
            </a:r>
            <a:r>
              <a:rPr lang="en-US" sz="950" dirty="0">
                <a:solidFill>
                  <a:srgbClr val="000000"/>
                </a:solidFill>
                <a:latin typeface="Montserrat" pitchFamily="34" charset="0"/>
                <a:ea typeface="Montserrat" pitchFamily="34" charset="-122"/>
                <a:cs typeface="Montserrat" pitchFamily="34" charset="-120"/>
              </a:rPr>
              <a:t> biến này. Truy cập trực tiếp từ bên ngoài sẽ báo lỗi ngay lập tức. Dùng cho dữ liệu tuyệt mật như số dư, mật khẩu.</a:t>
            </a:r>
            <a:endParaRPr lang="en-US" sz="950" dirty="0"/>
          </a:p>
        </p:txBody>
      </p:sp>
      <p:sp>
        <p:nvSpPr>
          <p:cNvPr id="8" name="Shape 6"/>
          <p:cNvSpPr/>
          <p:nvPr/>
        </p:nvSpPr>
        <p:spPr>
          <a:xfrm>
            <a:off x="1916683" y="2432372"/>
            <a:ext cx="6669212" cy="7144"/>
          </a:xfrm>
          <a:prstGeom prst="roundRect">
            <a:avLst>
              <a:gd name="adj" fmla="val 1562737"/>
            </a:avLst>
          </a:prstGeom>
          <a:solidFill>
            <a:srgbClr val="C00000"/>
          </a:solidFill>
          <a:ln/>
        </p:spPr>
        <p:txBody>
          <a:bodyPr/>
          <a:lstStyle/>
          <a:p>
            <a:endParaRPr lang="vi-VN"/>
          </a:p>
        </p:txBody>
      </p:sp>
      <p:sp>
        <p:nvSpPr>
          <p:cNvPr id="9" name="Shape 7"/>
          <p:cNvSpPr/>
          <p:nvPr/>
        </p:nvSpPr>
        <p:spPr>
          <a:xfrm>
            <a:off x="496119" y="2500313"/>
            <a:ext cx="2717229" cy="917897"/>
          </a:xfrm>
          <a:prstGeom prst="roundRect">
            <a:avLst>
              <a:gd name="adj" fmla="val 12163"/>
            </a:avLst>
          </a:prstGeom>
          <a:solidFill>
            <a:srgbClr val="FFFFFF"/>
          </a:solidFill>
          <a:ln w="4763">
            <a:solidFill>
              <a:srgbClr val="C00000"/>
            </a:solidFill>
            <a:prstDash val="solid"/>
          </a:ln>
        </p:spPr>
        <p:txBody>
          <a:bodyPr/>
          <a:lstStyle/>
          <a:p>
            <a:endParaRPr lang="vi-VN"/>
          </a:p>
        </p:txBody>
      </p:sp>
      <p:sp>
        <p:nvSpPr>
          <p:cNvPr id="10" name="Text 8"/>
          <p:cNvSpPr/>
          <p:nvPr/>
        </p:nvSpPr>
        <p:spPr>
          <a:xfrm>
            <a:off x="1767483" y="2850207"/>
            <a:ext cx="174427" cy="218033"/>
          </a:xfrm>
          <a:prstGeom prst="rect">
            <a:avLst/>
          </a:prstGeom>
          <a:noFill/>
          <a:ln/>
        </p:spPr>
        <p:txBody>
          <a:bodyPr wrap="none" lIns="0" tIns="0" rIns="0" bIns="0" rtlCol="0" anchor="ctr"/>
          <a:lstStyle/>
          <a:p>
            <a:pPr marL="0" indent="0" algn="ctr">
              <a:lnSpc>
                <a:spcPct val="100000"/>
              </a:lnSpc>
              <a:buNone/>
            </a:pPr>
            <a:r>
              <a:rPr lang="en-US" sz="1350" b="1" dirty="0">
                <a:solidFill>
                  <a:srgbClr val="000000"/>
                </a:solidFill>
                <a:latin typeface="Montserrat Bold" pitchFamily="34" charset="0"/>
                <a:ea typeface="Montserrat Bold" pitchFamily="34" charset="-122"/>
                <a:cs typeface="Montserrat Bold" pitchFamily="34" charset="-120"/>
              </a:rPr>
              <a:t>2</a:t>
            </a:r>
            <a:endParaRPr lang="en-US" sz="1350" dirty="0"/>
          </a:p>
        </p:txBody>
      </p:sp>
      <p:sp>
        <p:nvSpPr>
          <p:cNvPr id="11" name="Text 9"/>
          <p:cNvSpPr/>
          <p:nvPr/>
        </p:nvSpPr>
        <p:spPr>
          <a:xfrm>
            <a:off x="3337322" y="2624286"/>
            <a:ext cx="1772245" cy="198611"/>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 Protected: _branch</a:t>
            </a:r>
            <a:endParaRPr lang="en-US" sz="1200" dirty="0"/>
          </a:p>
        </p:txBody>
      </p:sp>
      <p:sp>
        <p:nvSpPr>
          <p:cNvPr id="12" name="Text 10"/>
          <p:cNvSpPr/>
          <p:nvPr/>
        </p:nvSpPr>
        <p:spPr>
          <a:xfrm>
            <a:off x="3337322" y="2897312"/>
            <a:ext cx="5186586"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Một dấu gạch dưới — Nhắc nhở lập trình viên: "Biến nội bộ, đừng dùng bên ngoài class." Python không cấm tiệt, chỉ là </a:t>
            </a:r>
            <a:r>
              <a:rPr lang="en-US" sz="950" b="1" dirty="0">
                <a:solidFill>
                  <a:srgbClr val="000000"/>
                </a:solidFill>
                <a:latin typeface="Montserrat" pitchFamily="34" charset="0"/>
                <a:ea typeface="Montserrat" pitchFamily="34" charset="-122"/>
                <a:cs typeface="Montserrat" pitchFamily="34" charset="-120"/>
              </a:rPr>
              <a:t>quy ước xã giao</a:t>
            </a:r>
            <a:r>
              <a:rPr lang="en-US" sz="950" dirty="0">
                <a:solidFill>
                  <a:srgbClr val="000000"/>
                </a:solidFill>
                <a:latin typeface="Montserrat" pitchFamily="34" charset="0"/>
                <a:ea typeface="Montserrat" pitchFamily="34" charset="-122"/>
                <a:cs typeface="Montserrat" pitchFamily="34" charset="-120"/>
              </a:rPr>
              <a:t>.</a:t>
            </a:r>
            <a:endParaRPr lang="en-US" sz="950" dirty="0"/>
          </a:p>
        </p:txBody>
      </p:sp>
      <p:sp>
        <p:nvSpPr>
          <p:cNvPr id="13" name="Shape 11"/>
          <p:cNvSpPr/>
          <p:nvPr/>
        </p:nvSpPr>
        <p:spPr>
          <a:xfrm>
            <a:off x="3275335" y="3412257"/>
            <a:ext cx="5310560" cy="7144"/>
          </a:xfrm>
          <a:prstGeom prst="roundRect">
            <a:avLst>
              <a:gd name="adj" fmla="val 1562737"/>
            </a:avLst>
          </a:prstGeom>
          <a:solidFill>
            <a:srgbClr val="C00000"/>
          </a:solidFill>
          <a:ln/>
        </p:spPr>
        <p:txBody>
          <a:bodyPr/>
          <a:lstStyle/>
          <a:p>
            <a:endParaRPr lang="vi-VN"/>
          </a:p>
        </p:txBody>
      </p:sp>
      <p:sp>
        <p:nvSpPr>
          <p:cNvPr id="14" name="Shape 12"/>
          <p:cNvSpPr/>
          <p:nvPr/>
        </p:nvSpPr>
        <p:spPr>
          <a:xfrm>
            <a:off x="496119" y="3480197"/>
            <a:ext cx="4075881" cy="1116360"/>
          </a:xfrm>
          <a:prstGeom prst="roundRect">
            <a:avLst>
              <a:gd name="adj" fmla="val 10001"/>
            </a:avLst>
          </a:prstGeom>
          <a:solidFill>
            <a:srgbClr val="FFFFFF"/>
          </a:solidFill>
          <a:ln w="4763">
            <a:solidFill>
              <a:srgbClr val="231651"/>
            </a:solidFill>
            <a:prstDash val="solid"/>
          </a:ln>
        </p:spPr>
        <p:txBody>
          <a:bodyPr/>
          <a:lstStyle/>
          <a:p>
            <a:endParaRPr lang="vi-VN"/>
          </a:p>
        </p:txBody>
      </p:sp>
      <p:sp>
        <p:nvSpPr>
          <p:cNvPr id="15" name="Text 13"/>
          <p:cNvSpPr/>
          <p:nvPr/>
        </p:nvSpPr>
        <p:spPr>
          <a:xfrm>
            <a:off x="2446809" y="3929360"/>
            <a:ext cx="174427" cy="218033"/>
          </a:xfrm>
          <a:prstGeom prst="rect">
            <a:avLst/>
          </a:prstGeom>
          <a:noFill/>
          <a:ln/>
        </p:spPr>
        <p:txBody>
          <a:bodyPr wrap="none" lIns="0" tIns="0" rIns="0" bIns="0" rtlCol="0" anchor="ctr"/>
          <a:lstStyle/>
          <a:p>
            <a:pPr marL="0" indent="0" algn="ctr">
              <a:lnSpc>
                <a:spcPct val="100000"/>
              </a:lnSpc>
              <a:buNone/>
            </a:pPr>
            <a:r>
              <a:rPr lang="en-US" sz="1350" b="1" dirty="0">
                <a:solidFill>
                  <a:srgbClr val="000000"/>
                </a:solidFill>
                <a:latin typeface="Montserrat Bold" pitchFamily="34" charset="0"/>
                <a:ea typeface="Montserrat Bold" pitchFamily="34" charset="-122"/>
                <a:cs typeface="Montserrat Bold" pitchFamily="34" charset="-120"/>
              </a:rPr>
              <a:t>3</a:t>
            </a:r>
            <a:endParaRPr lang="en-US" sz="1350" dirty="0"/>
          </a:p>
        </p:txBody>
      </p:sp>
      <p:sp>
        <p:nvSpPr>
          <p:cNvPr id="16" name="Text 14"/>
          <p:cNvSpPr/>
          <p:nvPr/>
        </p:nvSpPr>
        <p:spPr>
          <a:xfrm>
            <a:off x="4695974" y="3604171"/>
            <a:ext cx="2103834" cy="198611"/>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 Public: account_holder</a:t>
            </a:r>
            <a:endParaRPr lang="en-US" sz="1200" dirty="0"/>
          </a:p>
        </p:txBody>
      </p:sp>
      <p:sp>
        <p:nvSpPr>
          <p:cNvPr id="17" name="Text 15"/>
          <p:cNvSpPr/>
          <p:nvPr/>
        </p:nvSpPr>
        <p:spPr>
          <a:xfrm>
            <a:off x="4695974" y="3877196"/>
            <a:ext cx="3827934"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Tên biến bình thường — </a:t>
            </a:r>
            <a:r>
              <a:rPr lang="en-US" sz="950" b="1" dirty="0">
                <a:solidFill>
                  <a:srgbClr val="000000"/>
                </a:solidFill>
                <a:latin typeface="Montserrat" pitchFamily="34" charset="0"/>
                <a:ea typeface="Montserrat" pitchFamily="34" charset="-122"/>
                <a:cs typeface="Montserrat" pitchFamily="34" charset="-120"/>
              </a:rPr>
              <a:t>Ai cũng có thể xem và sửa</a:t>
            </a:r>
            <a:r>
              <a:rPr lang="en-US" sz="950" dirty="0">
                <a:solidFill>
                  <a:srgbClr val="000000"/>
                </a:solidFill>
                <a:latin typeface="Montserrat" pitchFamily="34" charset="0"/>
                <a:ea typeface="Montserrat" pitchFamily="34" charset="-122"/>
                <a:cs typeface="Montserrat" pitchFamily="34" charset="-120"/>
              </a:rPr>
              <a:t> từ bên ngoài. Dùng cho thông tin không nhạy cảm, không cần bảo vệ đặc biệt.</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2050107" y="374303"/>
            <a:ext cx="4014490" cy="199876"/>
          </a:xfrm>
          <a:prstGeom prst="rect">
            <a:avLst/>
          </a:prstGeom>
          <a:noFill/>
          <a:ln/>
        </p:spPr>
        <p:txBody>
          <a:bodyPr wrap="none" lIns="0" tIns="0" rIns="0" bIns="0" rtlCol="0" anchor="t"/>
          <a:lstStyle/>
          <a:p>
            <a:pPr marL="0" indent="0" algn="l">
              <a:lnSpc>
                <a:spcPct val="104000"/>
              </a:lnSpc>
              <a:buNone/>
            </a:pPr>
            <a:r>
              <a:rPr lang="en-US" sz="1250" b="1" dirty="0">
                <a:solidFill>
                  <a:srgbClr val="C00000"/>
                </a:solidFill>
                <a:latin typeface="Montserrat Bold" pitchFamily="34" charset="0"/>
                <a:ea typeface="Montserrat Bold" pitchFamily="34" charset="-122"/>
                <a:cs typeface="Montserrat Bold" pitchFamily="34" charset="-120"/>
              </a:rPr>
              <a:t>Getter &amp; Setter — Cổng Kiểm Soát An Toàn</a:t>
            </a:r>
            <a:endParaRPr lang="en-US" sz="1250" dirty="0"/>
          </a:p>
        </p:txBody>
      </p:sp>
      <p:sp>
        <p:nvSpPr>
          <p:cNvPr id="3" name="Text 1"/>
          <p:cNvSpPr/>
          <p:nvPr/>
        </p:nvSpPr>
        <p:spPr>
          <a:xfrm>
            <a:off x="2050107" y="640110"/>
            <a:ext cx="5500985" cy="77539"/>
          </a:xfrm>
          <a:prstGeom prst="rect">
            <a:avLst/>
          </a:prstGeom>
          <a:noFill/>
          <a:ln/>
        </p:spPr>
        <p:txBody>
          <a:bodyPr wrap="none" lIns="0" tIns="0" rIns="0" bIns="0" rtlCol="0" anchor="t"/>
          <a:lstStyle/>
          <a:p>
            <a:pPr marL="0" indent="0" algn="l">
              <a:lnSpc>
                <a:spcPct val="101000"/>
              </a:lnSpc>
              <a:buNone/>
            </a:pPr>
            <a:r>
              <a:rPr lang="en-US" sz="500" dirty="0">
                <a:solidFill>
                  <a:srgbClr val="000000"/>
                </a:solidFill>
                <a:latin typeface="Montserrat" pitchFamily="34" charset="0"/>
                <a:ea typeface="Montserrat" pitchFamily="34" charset="-122"/>
                <a:cs typeface="Montserrat" pitchFamily="34" charset="-120"/>
              </a:rPr>
              <a:t>Khi đã khóa </a:t>
            </a:r>
            <a:r>
              <a:rPr lang="en-US" sz="500" dirty="0">
                <a:solidFill>
                  <a:srgbClr val="000000"/>
                </a:solidFill>
                <a:highlight>
                  <a:srgbClr val="F2F2F2"/>
                </a:highlight>
                <a:latin typeface="Consolas" pitchFamily="34" charset="0"/>
                <a:ea typeface="Consolas" pitchFamily="34" charset="-122"/>
                <a:cs typeface="Consolas" pitchFamily="34" charset="-120"/>
              </a:rPr>
              <a:t>__balance</a:t>
            </a:r>
            <a:r>
              <a:rPr lang="en-US" sz="500" dirty="0">
                <a:solidFill>
                  <a:srgbClr val="000000"/>
                </a:solidFill>
                <a:latin typeface="Montserrat" pitchFamily="34" charset="0"/>
                <a:ea typeface="Montserrat" pitchFamily="34" charset="-122"/>
                <a:cs typeface="Montserrat" pitchFamily="34" charset="-120"/>
              </a:rPr>
              <a:t> thành Private, làm sao đọc hoặc cập nhật số dư? Ta mở </a:t>
            </a:r>
            <a:r>
              <a:rPr lang="en-US" sz="500" b="1" dirty="0">
                <a:solidFill>
                  <a:srgbClr val="C00000"/>
                </a:solidFill>
                <a:latin typeface="Montserrat" pitchFamily="34" charset="0"/>
                <a:ea typeface="Montserrat" pitchFamily="34" charset="-122"/>
                <a:cs typeface="Montserrat" pitchFamily="34" charset="-120"/>
              </a:rPr>
              <a:t>2 cổng an toàn</a:t>
            </a:r>
            <a:r>
              <a:rPr lang="en-US" sz="500" dirty="0">
                <a:solidFill>
                  <a:srgbClr val="000000"/>
                </a:solidFill>
                <a:latin typeface="Montserrat" pitchFamily="34" charset="0"/>
                <a:ea typeface="Montserrat" pitchFamily="34" charset="-122"/>
                <a:cs typeface="Montserrat" pitchFamily="34" charset="-120"/>
              </a:rPr>
              <a:t> bằng decorator </a:t>
            </a:r>
            <a:r>
              <a:rPr lang="en-US" sz="500" dirty="0">
                <a:solidFill>
                  <a:srgbClr val="000000"/>
                </a:solidFill>
                <a:highlight>
                  <a:srgbClr val="F2F2F2"/>
                </a:highlight>
                <a:latin typeface="Consolas" pitchFamily="34" charset="0"/>
                <a:ea typeface="Consolas" pitchFamily="34" charset="-122"/>
                <a:cs typeface="Consolas" pitchFamily="34" charset="-120"/>
              </a:rPr>
              <a:t>@property</a:t>
            </a:r>
            <a:r>
              <a:rPr lang="en-US" sz="500" dirty="0">
                <a:solidFill>
                  <a:srgbClr val="000000"/>
                </a:solidFill>
                <a:latin typeface="Montserrat" pitchFamily="34" charset="0"/>
                <a:ea typeface="Montserrat" pitchFamily="34" charset="-122"/>
                <a:cs typeface="Montserrat" pitchFamily="34" charset="-120"/>
              </a:rPr>
              <a:t>:</a:t>
            </a:r>
            <a:endParaRPr lang="en-US" sz="500" dirty="0"/>
          </a:p>
        </p:txBody>
      </p:sp>
      <p:sp>
        <p:nvSpPr>
          <p:cNvPr id="4" name="Shape 2"/>
          <p:cNvSpPr/>
          <p:nvPr/>
        </p:nvSpPr>
        <p:spPr>
          <a:xfrm>
            <a:off x="2050107" y="754707"/>
            <a:ext cx="5043785" cy="2609106"/>
          </a:xfrm>
          <a:prstGeom prst="roundRect">
            <a:avLst>
              <a:gd name="adj" fmla="val 2206"/>
            </a:avLst>
          </a:prstGeom>
          <a:solidFill>
            <a:srgbClr val="F2F2F2"/>
          </a:solidFill>
          <a:ln/>
        </p:spPr>
        <p:txBody>
          <a:bodyPr/>
          <a:lstStyle/>
          <a:p>
            <a:endParaRPr lang="vi-VN"/>
          </a:p>
        </p:txBody>
      </p:sp>
      <p:sp>
        <p:nvSpPr>
          <p:cNvPr id="5" name="Shape 3"/>
          <p:cNvSpPr/>
          <p:nvPr/>
        </p:nvSpPr>
        <p:spPr>
          <a:xfrm>
            <a:off x="2046982" y="754707"/>
            <a:ext cx="5050036" cy="2609106"/>
          </a:xfrm>
          <a:prstGeom prst="roundRect">
            <a:avLst>
              <a:gd name="adj" fmla="val 368"/>
            </a:avLst>
          </a:prstGeom>
          <a:solidFill>
            <a:srgbClr val="F2F2F2"/>
          </a:solidFill>
          <a:ln/>
        </p:spPr>
        <p:txBody>
          <a:bodyPr/>
          <a:lstStyle/>
          <a:p>
            <a:endParaRPr lang="vi-VN"/>
          </a:p>
        </p:txBody>
      </p:sp>
      <p:sp>
        <p:nvSpPr>
          <p:cNvPr id="6" name="Text 4"/>
          <p:cNvSpPr/>
          <p:nvPr/>
        </p:nvSpPr>
        <p:spPr>
          <a:xfrm>
            <a:off x="2126903" y="818629"/>
            <a:ext cx="4890195" cy="2481263"/>
          </a:xfrm>
          <a:prstGeom prst="rect">
            <a:avLst/>
          </a:prstGeom>
          <a:noFill/>
          <a:ln/>
        </p:spPr>
        <p:txBody>
          <a:bodyPr wrap="square" lIns="0" tIns="0" rIns="0" bIns="0" rtlCol="0" anchor="t">
            <a:normAutofit/>
          </a:bodyPr>
          <a:lstStyle/>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class SecureBankAccount:</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def __init__(self, account_number, account_holder, balance=0):</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self.account_number = account_number</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self.account_holder = account_holder</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self.__balance = balance  # Private attribute</a:t>
            </a:r>
            <a:endParaRPr lang="en-US" sz="500" dirty="0"/>
          </a:p>
          <a:p>
            <a:pPr marL="0" indent="0" algn="l">
              <a:lnSpc>
                <a:spcPct val="101000"/>
              </a:lnSpc>
              <a:buNone/>
            </a:pP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 GETTER — Doc so du an toan</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@property</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def balance(self):</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return self.__balance</a:t>
            </a:r>
            <a:endParaRPr lang="en-US" sz="500" dirty="0"/>
          </a:p>
          <a:p>
            <a:pPr marL="0" indent="0" algn="l">
              <a:lnSpc>
                <a:spcPct val="101000"/>
              </a:lnSpc>
              <a:buNone/>
            </a:pP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 SETTER — Cap nhat so du co kiem soat</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@balance.setter</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def balance(self, amount):</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if amount &lt; 0:</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raise ValueError("So du khong the am!")</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self.__balance = amount</a:t>
            </a:r>
            <a:endParaRPr lang="en-US" sz="500" dirty="0"/>
          </a:p>
          <a:p>
            <a:pPr marL="0" indent="0" algn="l">
              <a:lnSpc>
                <a:spcPct val="101000"/>
              </a:lnSpc>
              <a:buNone/>
            </a:pP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def deposit(self, amount):</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if amount &gt; 0:</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self.__balance += amount</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print(f"Nap {amount} VND thanh cong. So du: {self.__balance} VND")</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else:</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raise ValueError("So tien nap phai lon hon 0!")</a:t>
            </a:r>
            <a:endParaRPr lang="en-US" sz="500" dirty="0"/>
          </a:p>
          <a:p>
            <a:pPr marL="0" indent="0" algn="l">
              <a:lnSpc>
                <a:spcPct val="101000"/>
              </a:lnSpc>
              <a:buNone/>
            </a:pP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def withdraw(self, amount):</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if amount &lt;= 0:</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raise ValueError("So tien rut phai lon hon 0!")</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if amount &gt; self.__balance:</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raise ValueError(f"So du khong du! Hien co: {self.__balance} VND")</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self.__balance -= amount</a:t>
            </a:r>
            <a:endParaRPr lang="en-US" sz="500" dirty="0"/>
          </a:p>
          <a:p>
            <a:pPr marL="0" indent="0" algn="l">
              <a:lnSpc>
                <a:spcPct val="101000"/>
              </a:lnSpc>
              <a:buNone/>
            </a:pPr>
            <a:r>
              <a:rPr lang="en-US" sz="500" dirty="0">
                <a:solidFill>
                  <a:srgbClr val="D73A49"/>
                </a:solidFill>
                <a:highlight>
                  <a:srgbClr val="F2F2F2"/>
                </a:highlight>
                <a:latin typeface="Consolas" pitchFamily="34" charset="0"/>
                <a:ea typeface="Consolas" pitchFamily="34" charset="-122"/>
                <a:cs typeface="Consolas" pitchFamily="34" charset="-120"/>
              </a:rPr>
              <a:t>        print(f"Rut {amount} VND thanh cong. So du con lai: {self.__balance} VND")</a:t>
            </a:r>
            <a:endParaRPr lang="en-US" sz="500" dirty="0"/>
          </a:p>
        </p:txBody>
      </p:sp>
      <p:sp>
        <p:nvSpPr>
          <p:cNvPr id="7" name="Shape 5"/>
          <p:cNvSpPr/>
          <p:nvPr/>
        </p:nvSpPr>
        <p:spPr>
          <a:xfrm>
            <a:off x="2050107" y="3400871"/>
            <a:ext cx="5043785" cy="980777"/>
          </a:xfrm>
          <a:prstGeom prst="roundRect">
            <a:avLst>
              <a:gd name="adj" fmla="val 5869"/>
            </a:avLst>
          </a:prstGeom>
          <a:solidFill>
            <a:srgbClr val="F2F2F2"/>
          </a:solidFill>
          <a:ln/>
        </p:spPr>
        <p:txBody>
          <a:bodyPr/>
          <a:lstStyle/>
          <a:p>
            <a:endParaRPr lang="vi-VN"/>
          </a:p>
        </p:txBody>
      </p:sp>
      <p:sp>
        <p:nvSpPr>
          <p:cNvPr id="8" name="Shape 6"/>
          <p:cNvSpPr/>
          <p:nvPr/>
        </p:nvSpPr>
        <p:spPr>
          <a:xfrm>
            <a:off x="2046982" y="3400871"/>
            <a:ext cx="5050036" cy="980777"/>
          </a:xfrm>
          <a:prstGeom prst="roundRect">
            <a:avLst>
              <a:gd name="adj" fmla="val 978"/>
            </a:avLst>
          </a:prstGeom>
          <a:solidFill>
            <a:srgbClr val="F2F2F2"/>
          </a:solidFill>
          <a:ln/>
        </p:spPr>
        <p:txBody>
          <a:bodyPr/>
          <a:lstStyle/>
          <a:p>
            <a:endParaRPr lang="vi-VN"/>
          </a:p>
        </p:txBody>
      </p:sp>
      <p:sp>
        <p:nvSpPr>
          <p:cNvPr id="9" name="Text 7"/>
          <p:cNvSpPr/>
          <p:nvPr/>
        </p:nvSpPr>
        <p:spPr>
          <a:xfrm>
            <a:off x="2126903" y="3464793"/>
            <a:ext cx="4890195" cy="852934"/>
          </a:xfrm>
          <a:prstGeom prst="rect">
            <a:avLst/>
          </a:prstGeom>
          <a:noFill/>
          <a:ln/>
        </p:spPr>
        <p:txBody>
          <a:bodyPr wrap="square" lIns="0" tIns="0" rIns="0" bIns="0" rtlCol="0" anchor="t">
            <a:normAutofit/>
          </a:bodyPr>
          <a:lstStyle/>
          <a:p>
            <a:pPr marL="0" indent="0" algn="l">
              <a:lnSpc>
                <a:spcPct val="101000"/>
              </a:lnSpc>
              <a:buNone/>
            </a:pPr>
            <a:r>
              <a:rPr lang="en-US" sz="500" dirty="0">
                <a:solidFill>
                  <a:srgbClr val="000000"/>
                </a:solidFill>
                <a:latin typeface="Consolas" pitchFamily="34" charset="0"/>
                <a:ea typeface="Consolas" pitchFamily="34" charset="-122"/>
                <a:cs typeface="Consolas" pitchFamily="34" charset="-120"/>
              </a:rPr>
              <a:t>acc = SecureBankAccount("19001234", "Nguyen Van A", 50000)</a:t>
            </a:r>
            <a:endParaRPr lang="en-US" sz="500" dirty="0"/>
          </a:p>
          <a:p>
            <a:pPr marL="0" indent="0" algn="l">
              <a:lnSpc>
                <a:spcPct val="101000"/>
              </a:lnSpc>
              <a:buNone/>
            </a:pPr>
            <a:endParaRPr lang="en-US" sz="500" dirty="0"/>
          </a:p>
          <a:p>
            <a:pPr marL="0" indent="0" algn="l">
              <a:lnSpc>
                <a:spcPct val="101000"/>
              </a:lnSpc>
              <a:buNone/>
            </a:pPr>
            <a:r>
              <a:rPr lang="en-US" sz="500" dirty="0">
                <a:solidFill>
                  <a:srgbClr val="000000"/>
                </a:solidFill>
                <a:latin typeface="Consolas" pitchFamily="34" charset="0"/>
                <a:ea typeface="Consolas" pitchFamily="34" charset="-122"/>
                <a:cs typeface="Consolas" pitchFamily="34" charset="-120"/>
              </a:rPr>
              <a:t># Dung Getter — doc so du an toan</a:t>
            </a:r>
            <a:endParaRPr lang="en-US" sz="500" dirty="0"/>
          </a:p>
          <a:p>
            <a:pPr marL="0" indent="0" algn="l">
              <a:lnSpc>
                <a:spcPct val="101000"/>
              </a:lnSpc>
              <a:buNone/>
            </a:pPr>
            <a:r>
              <a:rPr lang="en-US" sz="500" dirty="0">
                <a:solidFill>
                  <a:srgbClr val="000000"/>
                </a:solidFill>
                <a:latin typeface="Consolas" pitchFamily="34" charset="0"/>
                <a:ea typeface="Consolas" pitchFamily="34" charset="-122"/>
                <a:cs typeface="Consolas" pitchFamily="34" charset="-120"/>
              </a:rPr>
              <a:t>print(acc.balance)   # Output: 50000</a:t>
            </a:r>
            <a:endParaRPr lang="en-US" sz="500" dirty="0"/>
          </a:p>
          <a:p>
            <a:pPr marL="0" indent="0" algn="l">
              <a:lnSpc>
                <a:spcPct val="101000"/>
              </a:lnSpc>
              <a:buNone/>
            </a:pPr>
            <a:endParaRPr lang="en-US" sz="500" dirty="0"/>
          </a:p>
          <a:p>
            <a:pPr marL="0" indent="0" algn="l">
              <a:lnSpc>
                <a:spcPct val="101000"/>
              </a:lnSpc>
              <a:buNone/>
            </a:pPr>
            <a:r>
              <a:rPr lang="en-US" sz="500" dirty="0">
                <a:solidFill>
                  <a:srgbClr val="000000"/>
                </a:solidFill>
                <a:latin typeface="Consolas" pitchFamily="34" charset="0"/>
                <a:ea typeface="Consolas" pitchFamily="34" charset="-122"/>
                <a:cs typeface="Consolas" pitchFamily="34" charset="-120"/>
              </a:rPr>
              <a:t># Dung Setter — cap nhat co kiem soat</a:t>
            </a:r>
            <a:endParaRPr lang="en-US" sz="500" dirty="0"/>
          </a:p>
          <a:p>
            <a:pPr marL="0" indent="0" algn="l">
              <a:lnSpc>
                <a:spcPct val="101000"/>
              </a:lnSpc>
              <a:buNone/>
            </a:pPr>
            <a:r>
              <a:rPr lang="en-US" sz="500" dirty="0">
                <a:solidFill>
                  <a:srgbClr val="000000"/>
                </a:solidFill>
                <a:latin typeface="Consolas" pitchFamily="34" charset="0"/>
                <a:ea typeface="Consolas" pitchFamily="34" charset="-122"/>
                <a:cs typeface="Consolas" pitchFamily="34" charset="-120"/>
              </a:rPr>
              <a:t>acc.balance = 100000</a:t>
            </a:r>
            <a:endParaRPr lang="en-US" sz="500" dirty="0"/>
          </a:p>
          <a:p>
            <a:pPr marL="0" indent="0" algn="l">
              <a:lnSpc>
                <a:spcPct val="101000"/>
              </a:lnSpc>
              <a:buNone/>
            </a:pPr>
            <a:r>
              <a:rPr lang="en-US" sz="500" dirty="0">
                <a:solidFill>
                  <a:srgbClr val="000000"/>
                </a:solidFill>
                <a:latin typeface="Consolas" pitchFamily="34" charset="0"/>
                <a:ea typeface="Consolas" pitchFamily="34" charset="-122"/>
                <a:cs typeface="Consolas" pitchFamily="34" charset="-120"/>
              </a:rPr>
              <a:t>print(acc.balance)   # Output: 100000</a:t>
            </a:r>
            <a:endParaRPr lang="en-US" sz="500" dirty="0"/>
          </a:p>
          <a:p>
            <a:pPr marL="0" indent="0" algn="l">
              <a:lnSpc>
                <a:spcPct val="101000"/>
              </a:lnSpc>
              <a:buNone/>
            </a:pPr>
            <a:endParaRPr lang="en-US" sz="500" dirty="0"/>
          </a:p>
          <a:p>
            <a:pPr marL="0" indent="0" algn="l">
              <a:lnSpc>
                <a:spcPct val="101000"/>
              </a:lnSpc>
              <a:buNone/>
            </a:pPr>
            <a:r>
              <a:rPr lang="en-US" sz="500" dirty="0">
                <a:solidFill>
                  <a:srgbClr val="000000"/>
                </a:solidFill>
                <a:latin typeface="Consolas" pitchFamily="34" charset="0"/>
                <a:ea typeface="Consolas" pitchFamily="34" charset="-122"/>
                <a:cs typeface="Consolas" pitchFamily="34" charset="-120"/>
              </a:rPr>
              <a:t># Setter tu choi gia tri am</a:t>
            </a:r>
            <a:endParaRPr lang="en-US" sz="500" dirty="0"/>
          </a:p>
          <a:p>
            <a:pPr marL="0" indent="0" algn="l">
              <a:lnSpc>
                <a:spcPct val="101000"/>
              </a:lnSpc>
              <a:buNone/>
            </a:pPr>
            <a:r>
              <a:rPr lang="en-US" sz="500" dirty="0">
                <a:solidFill>
                  <a:srgbClr val="000000"/>
                </a:solidFill>
                <a:latin typeface="Consolas" pitchFamily="34" charset="0"/>
                <a:ea typeface="Consolas" pitchFamily="34" charset="-122"/>
                <a:cs typeface="Consolas" pitchFamily="34" charset="-120"/>
              </a:rPr>
              <a:t>acc.balance = -500   # Raises ValueError: So du khong the am!</a:t>
            </a:r>
            <a:endParaRPr lang="en-US" sz="500" dirty="0"/>
          </a:p>
        </p:txBody>
      </p:sp>
      <p:sp>
        <p:nvSpPr>
          <p:cNvPr id="10" name="Shape 8"/>
          <p:cNvSpPr/>
          <p:nvPr/>
        </p:nvSpPr>
        <p:spPr>
          <a:xfrm>
            <a:off x="2004045" y="4418707"/>
            <a:ext cx="2536031" cy="350490"/>
          </a:xfrm>
          <a:prstGeom prst="roundRect">
            <a:avLst>
              <a:gd name="adj" fmla="val 26279"/>
            </a:avLst>
          </a:prstGeom>
          <a:solidFill>
            <a:srgbClr val="C00000"/>
          </a:solidFill>
          <a:ln/>
        </p:spPr>
        <p:txBody>
          <a:bodyPr/>
          <a:lstStyle/>
          <a:p>
            <a:endParaRPr lang="vi-VN"/>
          </a:p>
        </p:txBody>
      </p:sp>
      <p:sp>
        <p:nvSpPr>
          <p:cNvPr id="11" name="Text 9"/>
          <p:cNvSpPr/>
          <p:nvPr/>
        </p:nvSpPr>
        <p:spPr>
          <a:xfrm>
            <a:off x="2067967" y="4451672"/>
            <a:ext cx="1256705" cy="99864"/>
          </a:xfrm>
          <a:prstGeom prst="rect">
            <a:avLst/>
          </a:prstGeom>
          <a:noFill/>
          <a:ln/>
        </p:spPr>
        <p:txBody>
          <a:bodyPr wrap="none" lIns="0" tIns="0" rIns="0" bIns="0" rtlCol="0" anchor="t"/>
          <a:lstStyle/>
          <a:p>
            <a:pPr marL="0" indent="0" algn="l">
              <a:lnSpc>
                <a:spcPct val="104000"/>
              </a:lnSpc>
              <a:buNone/>
            </a:pPr>
            <a:r>
              <a:rPr lang="en-US" sz="600" b="1" dirty="0">
                <a:solidFill>
                  <a:srgbClr val="FFFFFF"/>
                </a:solidFill>
                <a:latin typeface="Montserrat Bold" pitchFamily="34" charset="0"/>
                <a:ea typeface="Montserrat Bold" pitchFamily="34" charset="-122"/>
                <a:cs typeface="Montserrat Bold" pitchFamily="34" charset="-120"/>
              </a:rPr>
              <a:t>@property là gì?</a:t>
            </a:r>
            <a:endParaRPr lang="en-US" sz="600" dirty="0"/>
          </a:p>
        </p:txBody>
      </p:sp>
      <p:sp>
        <p:nvSpPr>
          <p:cNvPr id="12" name="Text 10"/>
          <p:cNvSpPr/>
          <p:nvPr/>
        </p:nvSpPr>
        <p:spPr>
          <a:xfrm>
            <a:off x="2067967" y="4584502"/>
            <a:ext cx="2408188" cy="155079"/>
          </a:xfrm>
          <a:prstGeom prst="rect">
            <a:avLst/>
          </a:prstGeom>
          <a:noFill/>
          <a:ln/>
        </p:spPr>
        <p:txBody>
          <a:bodyPr wrap="square" lIns="0" tIns="0" rIns="0" bIns="0" rtlCol="0" anchor="t">
            <a:normAutofit/>
          </a:bodyPr>
          <a:lstStyle/>
          <a:p>
            <a:pPr marL="0" indent="0" algn="l">
              <a:lnSpc>
                <a:spcPct val="101000"/>
              </a:lnSpc>
              <a:buNone/>
            </a:pPr>
            <a:r>
              <a:rPr lang="en-US" sz="500" dirty="0">
                <a:solidFill>
                  <a:srgbClr val="FFFFFF"/>
                </a:solidFill>
                <a:latin typeface="Montserrat" pitchFamily="34" charset="0"/>
                <a:ea typeface="Montserrat" pitchFamily="34" charset="-122"/>
                <a:cs typeface="Montserrat" pitchFamily="34" charset="-120"/>
              </a:rPr>
              <a:t>Decorator biến method thành thuộc tính. Gọi </a:t>
            </a:r>
            <a:r>
              <a:rPr lang="en-US" sz="500" dirty="0">
                <a:solidFill>
                  <a:srgbClr val="FFFFFF"/>
                </a:solidFill>
                <a:highlight>
                  <a:srgbClr val="CD0D0D"/>
                </a:highlight>
                <a:latin typeface="Consolas" pitchFamily="34" charset="0"/>
                <a:ea typeface="Consolas" pitchFamily="34" charset="-122"/>
                <a:cs typeface="Consolas" pitchFamily="34" charset="-120"/>
              </a:rPr>
              <a:t>acc.balance</a:t>
            </a:r>
            <a:r>
              <a:rPr lang="en-US" sz="500" dirty="0">
                <a:solidFill>
                  <a:srgbClr val="FFFFFF"/>
                </a:solidFill>
                <a:latin typeface="Montserrat" pitchFamily="34" charset="0"/>
                <a:ea typeface="Montserrat" pitchFamily="34" charset="-122"/>
                <a:cs typeface="Montserrat" pitchFamily="34" charset="-120"/>
              </a:rPr>
              <a:t> thay vì </a:t>
            </a:r>
            <a:r>
              <a:rPr lang="en-US" sz="500" dirty="0">
                <a:solidFill>
                  <a:srgbClr val="FFFFFF"/>
                </a:solidFill>
                <a:highlight>
                  <a:srgbClr val="CD0D0D"/>
                </a:highlight>
                <a:latin typeface="Consolas" pitchFamily="34" charset="0"/>
                <a:ea typeface="Consolas" pitchFamily="34" charset="-122"/>
                <a:cs typeface="Consolas" pitchFamily="34" charset="-120"/>
              </a:rPr>
              <a:t>acc.get_balance()</a:t>
            </a:r>
            <a:r>
              <a:rPr lang="en-US" sz="500" dirty="0">
                <a:solidFill>
                  <a:srgbClr val="FFFFFF"/>
                </a:solidFill>
                <a:latin typeface="Montserrat" pitchFamily="34" charset="0"/>
                <a:ea typeface="Montserrat" pitchFamily="34" charset="-122"/>
                <a:cs typeface="Montserrat" pitchFamily="34" charset="-120"/>
              </a:rPr>
              <a:t> — code đẹp hơn, tự nhiên hơn, Pythonic hơn.</a:t>
            </a:r>
            <a:endParaRPr lang="en-US" sz="500" dirty="0"/>
          </a:p>
        </p:txBody>
      </p:sp>
      <p:sp>
        <p:nvSpPr>
          <p:cNvPr id="13" name="Shape 11"/>
          <p:cNvSpPr/>
          <p:nvPr/>
        </p:nvSpPr>
        <p:spPr>
          <a:xfrm>
            <a:off x="4608686" y="4418707"/>
            <a:ext cx="2536031" cy="350490"/>
          </a:xfrm>
          <a:prstGeom prst="roundRect">
            <a:avLst>
              <a:gd name="adj" fmla="val 26279"/>
            </a:avLst>
          </a:prstGeom>
          <a:solidFill>
            <a:srgbClr val="231651"/>
          </a:solidFill>
          <a:ln/>
        </p:spPr>
        <p:txBody>
          <a:bodyPr/>
          <a:lstStyle/>
          <a:p>
            <a:endParaRPr lang="vi-VN"/>
          </a:p>
        </p:txBody>
      </p:sp>
      <p:sp>
        <p:nvSpPr>
          <p:cNvPr id="14" name="Text 12"/>
          <p:cNvSpPr/>
          <p:nvPr/>
        </p:nvSpPr>
        <p:spPr>
          <a:xfrm>
            <a:off x="4672608" y="4451672"/>
            <a:ext cx="1502718" cy="99864"/>
          </a:xfrm>
          <a:prstGeom prst="rect">
            <a:avLst/>
          </a:prstGeom>
          <a:noFill/>
          <a:ln/>
        </p:spPr>
        <p:txBody>
          <a:bodyPr wrap="none" lIns="0" tIns="0" rIns="0" bIns="0" rtlCol="0" anchor="t"/>
          <a:lstStyle/>
          <a:p>
            <a:pPr marL="0" indent="0" algn="l">
              <a:lnSpc>
                <a:spcPct val="104000"/>
              </a:lnSpc>
              <a:buNone/>
            </a:pPr>
            <a:r>
              <a:rPr lang="en-US" sz="600" b="1" dirty="0">
                <a:solidFill>
                  <a:srgbClr val="FFFFFF"/>
                </a:solidFill>
                <a:latin typeface="Montserrat Bold" pitchFamily="34" charset="0"/>
                <a:ea typeface="Montserrat Bold" pitchFamily="34" charset="-122"/>
                <a:cs typeface="Montserrat Bold" pitchFamily="34" charset="-120"/>
              </a:rPr>
              <a:t>raise ValueError vs print?</a:t>
            </a:r>
            <a:endParaRPr lang="en-US" sz="600" dirty="0"/>
          </a:p>
        </p:txBody>
      </p:sp>
      <p:sp>
        <p:nvSpPr>
          <p:cNvPr id="15" name="Text 13"/>
          <p:cNvSpPr/>
          <p:nvPr/>
        </p:nvSpPr>
        <p:spPr>
          <a:xfrm>
            <a:off x="4672608" y="4584502"/>
            <a:ext cx="2408188" cy="155079"/>
          </a:xfrm>
          <a:prstGeom prst="rect">
            <a:avLst/>
          </a:prstGeom>
          <a:noFill/>
          <a:ln/>
        </p:spPr>
        <p:txBody>
          <a:bodyPr wrap="square" lIns="0" tIns="0" rIns="0" bIns="0" rtlCol="0" anchor="t">
            <a:normAutofit/>
          </a:bodyPr>
          <a:lstStyle/>
          <a:p>
            <a:pPr marL="0" indent="0" algn="l">
              <a:lnSpc>
                <a:spcPct val="101000"/>
              </a:lnSpc>
              <a:buNone/>
            </a:pPr>
            <a:r>
              <a:rPr lang="en-US" sz="500" dirty="0">
                <a:solidFill>
                  <a:srgbClr val="FFFFFF"/>
                </a:solidFill>
                <a:latin typeface="Montserrat" pitchFamily="34" charset="0"/>
                <a:ea typeface="Montserrat" pitchFamily="34" charset="-122"/>
                <a:cs typeface="Montserrat" pitchFamily="34" charset="-120"/>
              </a:rPr>
              <a:t>Trong hệ thống thực tế, dùng </a:t>
            </a:r>
            <a:r>
              <a:rPr lang="en-US" sz="500" dirty="0">
                <a:solidFill>
                  <a:srgbClr val="FFFFFF"/>
                </a:solidFill>
                <a:highlight>
                  <a:srgbClr val="30235E"/>
                </a:highlight>
                <a:latin typeface="Consolas" pitchFamily="34" charset="0"/>
                <a:ea typeface="Consolas" pitchFamily="34" charset="-122"/>
                <a:cs typeface="Consolas" pitchFamily="34" charset="-120"/>
              </a:rPr>
              <a:t>raise</a:t>
            </a:r>
            <a:r>
              <a:rPr lang="en-US" sz="500" dirty="0">
                <a:solidFill>
                  <a:srgbClr val="FFFFFF"/>
                </a:solidFill>
                <a:latin typeface="Montserrat" pitchFamily="34" charset="0"/>
                <a:ea typeface="Montserrat" pitchFamily="34" charset="-122"/>
                <a:cs typeface="Montserrat" pitchFamily="34" charset="-120"/>
              </a:rPr>
              <a:t> để ném lỗi thay vì chỉ in ra màn hình. Lỗi sẽ được bắt và xử lý ở tầng trên (try/except).</a:t>
            </a:r>
            <a:endParaRPr lang="en-US" sz="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438721" y="409352"/>
            <a:ext cx="4841007" cy="248320"/>
          </a:xfrm>
          <a:prstGeom prst="rect">
            <a:avLst/>
          </a:prstGeom>
          <a:noFill/>
          <a:ln/>
        </p:spPr>
        <p:txBody>
          <a:bodyPr wrap="none" lIns="0" tIns="0" rIns="0" bIns="0" rtlCol="0" anchor="t"/>
          <a:lstStyle/>
          <a:p>
            <a:pPr marL="0" indent="0" algn="l">
              <a:lnSpc>
                <a:spcPct val="104000"/>
              </a:lnSpc>
              <a:buNone/>
            </a:pPr>
            <a:r>
              <a:rPr lang="en-US" sz="1550" b="1" dirty="0">
                <a:solidFill>
                  <a:srgbClr val="C00000"/>
                </a:solidFill>
                <a:latin typeface="Montserrat Bold" pitchFamily="34" charset="0"/>
                <a:ea typeface="Montserrat Bold" pitchFamily="34" charset="-122"/>
                <a:cs typeface="Montserrat Bold" pitchFamily="34" charset="-120"/>
              </a:rPr>
              <a:t>Đóng Gói Trong Thực Tế — Kiểm Tra Ngay!</a:t>
            </a:r>
            <a:endParaRPr lang="en-US" sz="1550" dirty="0"/>
          </a:p>
        </p:txBody>
      </p:sp>
      <p:sp>
        <p:nvSpPr>
          <p:cNvPr id="3" name="Text 1"/>
          <p:cNvSpPr/>
          <p:nvPr/>
        </p:nvSpPr>
        <p:spPr>
          <a:xfrm>
            <a:off x="1438721" y="759470"/>
            <a:ext cx="6723757" cy="104254"/>
          </a:xfrm>
          <a:prstGeom prst="rect">
            <a:avLst/>
          </a:prstGeom>
          <a:noFill/>
          <a:ln/>
        </p:spPr>
        <p:txBody>
          <a:bodyPr wrap="none" lIns="0" tIns="0" rIns="0" bIns="0" rtlCol="0" anchor="t"/>
          <a:lstStyle/>
          <a:p>
            <a:pPr marL="0" indent="0" algn="l">
              <a:lnSpc>
                <a:spcPct val="109000"/>
              </a:lnSpc>
              <a:buNone/>
            </a:pPr>
            <a:r>
              <a:rPr lang="en-US" sz="600" dirty="0">
                <a:solidFill>
                  <a:srgbClr val="000000"/>
                </a:solidFill>
                <a:latin typeface="Montserrat" pitchFamily="34" charset="0"/>
                <a:ea typeface="Montserrat" pitchFamily="34" charset="-122"/>
                <a:cs typeface="Montserrat" pitchFamily="34" charset="-120"/>
              </a:rPr>
              <a:t>Hãy xem sức mạnh của Tính Đóng Gói khi chạy thực tế. Mỗi dòng code dưới đây là một bài học:</a:t>
            </a:r>
            <a:endParaRPr lang="en-US" sz="600" dirty="0"/>
          </a:p>
        </p:txBody>
      </p:sp>
      <p:sp>
        <p:nvSpPr>
          <p:cNvPr id="4" name="Shape 2"/>
          <p:cNvSpPr/>
          <p:nvPr/>
        </p:nvSpPr>
        <p:spPr>
          <a:xfrm>
            <a:off x="1438721" y="920948"/>
            <a:ext cx="6266557" cy="2765152"/>
          </a:xfrm>
          <a:prstGeom prst="roundRect">
            <a:avLst>
              <a:gd name="adj" fmla="val 2586"/>
            </a:avLst>
          </a:prstGeom>
          <a:solidFill>
            <a:srgbClr val="F2F2F2"/>
          </a:solidFill>
          <a:ln/>
        </p:spPr>
        <p:txBody>
          <a:bodyPr/>
          <a:lstStyle/>
          <a:p>
            <a:endParaRPr lang="vi-VN"/>
          </a:p>
        </p:txBody>
      </p:sp>
      <p:sp>
        <p:nvSpPr>
          <p:cNvPr id="5" name="Shape 3"/>
          <p:cNvSpPr/>
          <p:nvPr/>
        </p:nvSpPr>
        <p:spPr>
          <a:xfrm>
            <a:off x="1434778" y="920948"/>
            <a:ext cx="6274445" cy="2765152"/>
          </a:xfrm>
          <a:prstGeom prst="roundRect">
            <a:avLst>
              <a:gd name="adj" fmla="val 431"/>
            </a:avLst>
          </a:prstGeom>
          <a:solidFill>
            <a:srgbClr val="F2F2F2"/>
          </a:solidFill>
          <a:ln/>
        </p:spPr>
        <p:txBody>
          <a:bodyPr/>
          <a:lstStyle/>
          <a:p>
            <a:endParaRPr lang="vi-VN"/>
          </a:p>
        </p:txBody>
      </p:sp>
      <p:sp>
        <p:nvSpPr>
          <p:cNvPr id="6" name="Text 4"/>
          <p:cNvSpPr/>
          <p:nvPr/>
        </p:nvSpPr>
        <p:spPr>
          <a:xfrm>
            <a:off x="1534046" y="1000348"/>
            <a:ext cx="6075908" cy="2606353"/>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acc = SecureBankAccount("19001234", "Nguyen Van A", 50000)</a:t>
            </a:r>
            <a:endParaRPr lang="en-US" sz="600" dirty="0"/>
          </a:p>
          <a:p>
            <a:pPr marL="0" indent="0" algn="l">
              <a:lnSpc>
                <a:spcPct val="109000"/>
              </a:lnSpc>
              <a:buNone/>
            </a:pP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 1. Thu "hack" truc tiep -&gt; Python tao bien moi, KHONG sua duoc __balance goc!</a:t>
            </a: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acc.__balance = -1000</a:t>
            </a: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print(acc.balance)  # Output: 50000 — Van nguyen ven! Hack that bai</a:t>
            </a:r>
            <a:endParaRPr lang="en-US" sz="600" dirty="0"/>
          </a:p>
          <a:p>
            <a:pPr marL="0" indent="0" algn="l">
              <a:lnSpc>
                <a:spcPct val="109000"/>
              </a:lnSpc>
              <a:buNone/>
            </a:pP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 2. Thu truy cap truc tiep -&gt; AttributeError!</a:t>
            </a: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 print(acc.__balance)  # Loi: AttributeError: 'SecureBankAccount' object has no attribute '__balance'</a:t>
            </a:r>
            <a:endParaRPr lang="en-US" sz="600" dirty="0"/>
          </a:p>
          <a:p>
            <a:pPr marL="0" indent="0" algn="l">
              <a:lnSpc>
                <a:spcPct val="109000"/>
              </a:lnSpc>
              <a:buNone/>
            </a:pP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 3. Dung Getter dung cach -&gt; OK!</a:t>
            </a: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print(acc.balance)  # Output: 50000</a:t>
            </a:r>
            <a:endParaRPr lang="en-US" sz="600" dirty="0"/>
          </a:p>
          <a:p>
            <a:pPr marL="0" indent="0" algn="l">
              <a:lnSpc>
                <a:spcPct val="109000"/>
              </a:lnSpc>
              <a:buNone/>
            </a:pP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 4. Dung Setter dung cach -&gt; OK!</a:t>
            </a: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acc.balance = 80000</a:t>
            </a: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print(acc.balance)  # Output: 80000</a:t>
            </a:r>
            <a:endParaRPr lang="en-US" sz="600" dirty="0"/>
          </a:p>
          <a:p>
            <a:pPr marL="0" indent="0" algn="l">
              <a:lnSpc>
                <a:spcPct val="109000"/>
              </a:lnSpc>
              <a:buNone/>
            </a:pP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 5. Setter bao ve chong gia tri am -&gt; ValueError!</a:t>
            </a: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try:</a:t>
            </a: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    acc.balance = -500</a:t>
            </a: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except ValueError as e:</a:t>
            </a: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    print(f"Loi: {e}")  # Output: Loi: So du khong the am!</a:t>
            </a:r>
            <a:endParaRPr lang="en-US" sz="600" dirty="0"/>
          </a:p>
          <a:p>
            <a:pPr marL="0" indent="0" algn="l">
              <a:lnSpc>
                <a:spcPct val="109000"/>
              </a:lnSpc>
              <a:buNone/>
            </a:pP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 6. Nap tien va rut tien dung method</a:t>
            </a: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acc.deposit(50000)   # Nap 50000 VND thanh cong. So du: 130000 VND</a:t>
            </a:r>
            <a:endParaRPr lang="en-US" sz="600" dirty="0"/>
          </a:p>
          <a:p>
            <a:pPr marL="0" indent="0" algn="l">
              <a:lnSpc>
                <a:spcPct val="109000"/>
              </a:lnSpc>
              <a:buNone/>
            </a:pPr>
            <a:r>
              <a:rPr lang="en-US" sz="600" dirty="0">
                <a:solidFill>
                  <a:srgbClr val="000000"/>
                </a:solidFill>
                <a:latin typeface="Consolas" pitchFamily="34" charset="0"/>
                <a:ea typeface="Consolas" pitchFamily="34" charset="-122"/>
                <a:cs typeface="Consolas" pitchFamily="34" charset="-120"/>
              </a:rPr>
              <a:t>acc.withdraw(20000)  # Rut 20000 VND thanh cong. So du con lai: 110000 VND</a:t>
            </a:r>
            <a:endParaRPr lang="en-US" sz="600" dirty="0"/>
          </a:p>
        </p:txBody>
      </p:sp>
      <p:sp>
        <p:nvSpPr>
          <p:cNvPr id="7" name="Shape 5"/>
          <p:cNvSpPr/>
          <p:nvPr/>
        </p:nvSpPr>
        <p:spPr>
          <a:xfrm>
            <a:off x="1438721" y="3743325"/>
            <a:ext cx="6266557" cy="339626"/>
          </a:xfrm>
          <a:prstGeom prst="roundRect">
            <a:avLst>
              <a:gd name="adj" fmla="val 21059"/>
            </a:avLst>
          </a:prstGeom>
          <a:solidFill>
            <a:srgbClr val="B6FCB8"/>
          </a:solidFill>
          <a:ln/>
        </p:spPr>
        <p:txBody>
          <a:bodyPr/>
          <a:lstStyle/>
          <a:p>
            <a:endParaRPr lang="vi-VN"/>
          </a:p>
        </p:txBody>
      </p:sp>
      <p:pic>
        <p:nvPicPr>
          <p:cNvPr id="8" name="Image 0" descr="preencoded.png"/>
          <p:cNvPicPr>
            <a:picLocks noChangeAspect="1"/>
          </p:cNvPicPr>
          <p:nvPr/>
        </p:nvPicPr>
        <p:blipFill>
          <a:blip r:embed="rId3"/>
          <a:stretch>
            <a:fillRect/>
          </a:stretch>
        </p:blipFill>
        <p:spPr>
          <a:xfrm>
            <a:off x="1518121" y="3844454"/>
            <a:ext cx="99268" cy="79400"/>
          </a:xfrm>
          <a:prstGeom prst="rect">
            <a:avLst/>
          </a:prstGeom>
        </p:spPr>
      </p:pic>
      <p:sp>
        <p:nvSpPr>
          <p:cNvPr id="9" name="Text 6"/>
          <p:cNvSpPr/>
          <p:nvPr/>
        </p:nvSpPr>
        <p:spPr>
          <a:xfrm>
            <a:off x="1696789" y="3808884"/>
            <a:ext cx="5929089"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000000"/>
                </a:solidFill>
                <a:latin typeface="Montserrat" pitchFamily="34" charset="0"/>
                <a:ea typeface="Montserrat" pitchFamily="34" charset="-122"/>
                <a:cs typeface="Montserrat" pitchFamily="34" charset="-120"/>
              </a:rPr>
              <a:t>🎉 Chúc mừng! Bạn vừa xây xong một hệ thống tài khoản ngân hàng an toàn với Tính Đóng Gói hoàn chỉnh. Đây chính xác là cách các kỹ sư phần mềm thực tế bảo vệ dữ liệu nhạy cảm trong production.</a:t>
            </a:r>
            <a:endParaRPr lang="en-US" sz="600" dirty="0"/>
          </a:p>
        </p:txBody>
      </p:sp>
      <p:sp>
        <p:nvSpPr>
          <p:cNvPr id="10" name="Text 7"/>
          <p:cNvSpPr/>
          <p:nvPr/>
        </p:nvSpPr>
        <p:spPr>
          <a:xfrm>
            <a:off x="1438721" y="4191074"/>
            <a:ext cx="1450479" cy="124123"/>
          </a:xfrm>
          <a:prstGeom prst="rect">
            <a:avLst/>
          </a:prstGeom>
          <a:noFill/>
          <a:ln/>
        </p:spPr>
        <p:txBody>
          <a:bodyPr wrap="none" lIns="0" tIns="0" rIns="0" bIns="0" rtlCol="0" anchor="t"/>
          <a:lstStyle/>
          <a:p>
            <a:pPr marL="0" indent="0" algn="l">
              <a:lnSpc>
                <a:spcPct val="104000"/>
              </a:lnSpc>
              <a:buNone/>
            </a:pPr>
            <a:r>
              <a:rPr lang="en-US" sz="750" b="1" dirty="0">
                <a:solidFill>
                  <a:srgbClr val="000000"/>
                </a:solidFill>
                <a:latin typeface="Montserrat Bold" pitchFamily="34" charset="0"/>
                <a:ea typeface="Montserrat Bold" pitchFamily="34" charset="-122"/>
                <a:cs typeface="Montserrat Bold" pitchFamily="34" charset="-120"/>
              </a:rPr>
              <a:t>✅</a:t>
            </a:r>
            <a:r>
              <a:rPr lang="en-US" sz="750" b="1" dirty="0">
                <a:solidFill>
                  <a:srgbClr val="C00000"/>
                </a:solidFill>
                <a:latin typeface="Montserrat Bold" pitchFamily="34" charset="0"/>
                <a:ea typeface="Montserrat Bold" pitchFamily="34" charset="-122"/>
                <a:cs typeface="Montserrat Bold" pitchFamily="34" charset="-120"/>
              </a:rPr>
              <a:t> Nên làm</a:t>
            </a:r>
            <a:endParaRPr lang="en-US" sz="750" dirty="0"/>
          </a:p>
        </p:txBody>
      </p:sp>
      <p:sp>
        <p:nvSpPr>
          <p:cNvPr id="11" name="Text 8"/>
          <p:cNvSpPr/>
          <p:nvPr/>
        </p:nvSpPr>
        <p:spPr>
          <a:xfrm>
            <a:off x="1438721" y="4366096"/>
            <a:ext cx="1938114" cy="218033"/>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000000"/>
                </a:solidFill>
                <a:latin typeface="Montserrat" pitchFamily="34" charset="0"/>
                <a:ea typeface="Montserrat" pitchFamily="34" charset="-122"/>
                <a:cs typeface="Montserrat" pitchFamily="34" charset="-120"/>
              </a:rPr>
              <a:t>Dùng </a:t>
            </a:r>
            <a:r>
              <a:rPr lang="en-US" sz="600" dirty="0">
                <a:solidFill>
                  <a:srgbClr val="000000"/>
                </a:solidFill>
                <a:highlight>
                  <a:srgbClr val="F2F2F2"/>
                </a:highlight>
                <a:latin typeface="Consolas" pitchFamily="34" charset="0"/>
                <a:ea typeface="Consolas" pitchFamily="34" charset="-122"/>
                <a:cs typeface="Consolas" pitchFamily="34" charset="-120"/>
              </a:rPr>
              <a:t>__</a:t>
            </a:r>
            <a:r>
              <a:rPr lang="en-US" sz="600" dirty="0">
                <a:solidFill>
                  <a:srgbClr val="000000"/>
                </a:solidFill>
                <a:latin typeface="Montserrat" pitchFamily="34" charset="0"/>
                <a:ea typeface="Montserrat" pitchFamily="34" charset="-122"/>
                <a:cs typeface="Montserrat" pitchFamily="34" charset="-120"/>
              </a:rPr>
              <a:t> cho dữ liệu nhạy cảm. Tạo </a:t>
            </a:r>
            <a:r>
              <a:rPr lang="en-US" sz="600" dirty="0">
                <a:solidFill>
                  <a:srgbClr val="000000"/>
                </a:solidFill>
                <a:highlight>
                  <a:srgbClr val="F2F2F2"/>
                </a:highlight>
                <a:latin typeface="Consolas" pitchFamily="34" charset="0"/>
                <a:ea typeface="Consolas" pitchFamily="34" charset="-122"/>
                <a:cs typeface="Consolas" pitchFamily="34" charset="-120"/>
              </a:rPr>
              <a:t>@property</a:t>
            </a:r>
            <a:r>
              <a:rPr lang="en-US" sz="600" dirty="0">
                <a:solidFill>
                  <a:srgbClr val="000000"/>
                </a:solidFill>
                <a:latin typeface="Montserrat" pitchFamily="34" charset="0"/>
                <a:ea typeface="Montserrat" pitchFamily="34" charset="-122"/>
                <a:cs typeface="Montserrat" pitchFamily="34" charset="-120"/>
              </a:rPr>
              <a:t> Getter/Setter. Dùng </a:t>
            </a:r>
            <a:r>
              <a:rPr lang="en-US" sz="600" dirty="0">
                <a:solidFill>
                  <a:srgbClr val="000000"/>
                </a:solidFill>
                <a:highlight>
                  <a:srgbClr val="F2F2F2"/>
                </a:highlight>
                <a:latin typeface="Consolas" pitchFamily="34" charset="0"/>
                <a:ea typeface="Consolas" pitchFamily="34" charset="-122"/>
                <a:cs typeface="Consolas" pitchFamily="34" charset="-120"/>
              </a:rPr>
              <a:t>raise</a:t>
            </a:r>
            <a:r>
              <a:rPr lang="en-US" sz="600" dirty="0">
                <a:solidFill>
                  <a:srgbClr val="000000"/>
                </a:solidFill>
                <a:latin typeface="Montserrat" pitchFamily="34" charset="0"/>
                <a:ea typeface="Montserrat" pitchFamily="34" charset="-122"/>
                <a:cs typeface="Montserrat" pitchFamily="34" charset="-120"/>
              </a:rPr>
              <a:t> để báo lỗi rõ ràng.</a:t>
            </a:r>
            <a:endParaRPr lang="en-US" sz="600" dirty="0"/>
          </a:p>
        </p:txBody>
      </p:sp>
      <p:sp>
        <p:nvSpPr>
          <p:cNvPr id="12" name="Shape 9"/>
          <p:cNvSpPr/>
          <p:nvPr/>
        </p:nvSpPr>
        <p:spPr>
          <a:xfrm>
            <a:off x="3518148" y="4140175"/>
            <a:ext cx="2117154" cy="593973"/>
          </a:xfrm>
          <a:prstGeom prst="roundRect">
            <a:avLst>
              <a:gd name="adj" fmla="val 19266"/>
            </a:avLst>
          </a:prstGeom>
          <a:solidFill>
            <a:srgbClr val="C00000"/>
          </a:solidFill>
          <a:ln/>
        </p:spPr>
        <p:txBody>
          <a:bodyPr/>
          <a:lstStyle/>
          <a:p>
            <a:endParaRPr lang="vi-VN"/>
          </a:p>
        </p:txBody>
      </p:sp>
      <p:sp>
        <p:nvSpPr>
          <p:cNvPr id="13" name="Text 10"/>
          <p:cNvSpPr/>
          <p:nvPr/>
        </p:nvSpPr>
        <p:spPr>
          <a:xfrm>
            <a:off x="3597548" y="4191074"/>
            <a:ext cx="1450479" cy="124123"/>
          </a:xfrm>
          <a:prstGeom prst="rect">
            <a:avLst/>
          </a:prstGeom>
          <a:noFill/>
          <a:ln/>
        </p:spPr>
        <p:txBody>
          <a:bodyPr wrap="none" lIns="0" tIns="0" rIns="0" bIns="0" rtlCol="0" anchor="t"/>
          <a:lstStyle/>
          <a:p>
            <a:pPr marL="0" indent="0" algn="l">
              <a:lnSpc>
                <a:spcPct val="104000"/>
              </a:lnSpc>
              <a:buNone/>
            </a:pPr>
            <a:r>
              <a:rPr lang="en-US" sz="750" b="1" dirty="0">
                <a:solidFill>
                  <a:srgbClr val="000000"/>
                </a:solidFill>
                <a:latin typeface="Montserrat Bold" pitchFamily="34" charset="0"/>
                <a:ea typeface="Montserrat Bold" pitchFamily="34" charset="-122"/>
                <a:cs typeface="Montserrat Bold" pitchFamily="34" charset="-120"/>
              </a:rPr>
              <a:t>❌</a:t>
            </a:r>
            <a:r>
              <a:rPr lang="en-US" sz="750" b="1" dirty="0">
                <a:solidFill>
                  <a:srgbClr val="FFFFFF"/>
                </a:solidFill>
                <a:latin typeface="Montserrat Bold" pitchFamily="34" charset="0"/>
                <a:ea typeface="Montserrat Bold" pitchFamily="34" charset="-122"/>
                <a:cs typeface="Montserrat Bold" pitchFamily="34" charset="-120"/>
              </a:rPr>
              <a:t> Không nên</a:t>
            </a:r>
            <a:endParaRPr lang="en-US" sz="750" dirty="0"/>
          </a:p>
        </p:txBody>
      </p:sp>
      <p:sp>
        <p:nvSpPr>
          <p:cNvPr id="14" name="Text 11"/>
          <p:cNvSpPr/>
          <p:nvPr/>
        </p:nvSpPr>
        <p:spPr>
          <a:xfrm>
            <a:off x="3597548" y="4366096"/>
            <a:ext cx="1958355" cy="213271"/>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FFFFFF"/>
                </a:solidFill>
                <a:latin typeface="Montserrat" pitchFamily="34" charset="0"/>
                <a:ea typeface="Montserrat" pitchFamily="34" charset="-122"/>
                <a:cs typeface="Montserrat" pitchFamily="34" charset="-120"/>
              </a:rPr>
              <a:t>Để </a:t>
            </a:r>
            <a:r>
              <a:rPr lang="en-US" sz="600" dirty="0">
                <a:solidFill>
                  <a:srgbClr val="FFFFFF"/>
                </a:solidFill>
                <a:highlight>
                  <a:srgbClr val="CD0D0D"/>
                </a:highlight>
                <a:latin typeface="Consolas" pitchFamily="34" charset="0"/>
                <a:ea typeface="Consolas" pitchFamily="34" charset="-122"/>
                <a:cs typeface="Consolas" pitchFamily="34" charset="-120"/>
              </a:rPr>
              <a:t>balance</a:t>
            </a:r>
            <a:r>
              <a:rPr lang="en-US" sz="600" dirty="0">
                <a:solidFill>
                  <a:srgbClr val="FFFFFF"/>
                </a:solidFill>
                <a:latin typeface="Montserrat" pitchFamily="34" charset="0"/>
                <a:ea typeface="Montserrat" pitchFamily="34" charset="-122"/>
                <a:cs typeface="Montserrat" pitchFamily="34" charset="-120"/>
              </a:rPr>
              <a:t> là Public. Cho phép sửa trực tiếp từ bên ngoài. Bỏ qua kiểm tra điều kiện.</a:t>
            </a:r>
            <a:endParaRPr lang="en-US" sz="600" dirty="0"/>
          </a:p>
        </p:txBody>
      </p:sp>
      <p:sp>
        <p:nvSpPr>
          <p:cNvPr id="15" name="Shape 12"/>
          <p:cNvSpPr/>
          <p:nvPr/>
        </p:nvSpPr>
        <p:spPr>
          <a:xfrm>
            <a:off x="5719390" y="4140175"/>
            <a:ext cx="2052563" cy="593973"/>
          </a:xfrm>
          <a:prstGeom prst="roundRect">
            <a:avLst>
              <a:gd name="adj" fmla="val 19266"/>
            </a:avLst>
          </a:prstGeom>
          <a:solidFill>
            <a:srgbClr val="231651"/>
          </a:solidFill>
          <a:ln/>
        </p:spPr>
        <p:txBody>
          <a:bodyPr/>
          <a:lstStyle/>
          <a:p>
            <a:endParaRPr lang="vi-VN"/>
          </a:p>
        </p:txBody>
      </p:sp>
      <p:sp>
        <p:nvSpPr>
          <p:cNvPr id="16" name="Text 13"/>
          <p:cNvSpPr/>
          <p:nvPr/>
        </p:nvSpPr>
        <p:spPr>
          <a:xfrm>
            <a:off x="5798790" y="4191074"/>
            <a:ext cx="1450479" cy="124123"/>
          </a:xfrm>
          <a:prstGeom prst="rect">
            <a:avLst/>
          </a:prstGeom>
          <a:noFill/>
          <a:ln/>
        </p:spPr>
        <p:txBody>
          <a:bodyPr wrap="none" lIns="0" tIns="0" rIns="0" bIns="0" rtlCol="0" anchor="t"/>
          <a:lstStyle/>
          <a:p>
            <a:pPr marL="0" indent="0" algn="l">
              <a:lnSpc>
                <a:spcPct val="104000"/>
              </a:lnSpc>
              <a:buNone/>
            </a:pPr>
            <a:r>
              <a:rPr lang="en-US" sz="750" b="1" dirty="0">
                <a:solidFill>
                  <a:srgbClr val="000000"/>
                </a:solidFill>
                <a:latin typeface="Montserrat Bold" pitchFamily="34" charset="0"/>
                <a:ea typeface="Montserrat Bold" pitchFamily="34" charset="-122"/>
                <a:cs typeface="Montserrat Bold" pitchFamily="34" charset="-120"/>
              </a:rPr>
              <a:t>🔮</a:t>
            </a:r>
            <a:r>
              <a:rPr lang="en-US" sz="750" b="1" dirty="0">
                <a:solidFill>
                  <a:srgbClr val="FFFFFF"/>
                </a:solidFill>
                <a:latin typeface="Montserrat Bold" pitchFamily="34" charset="0"/>
                <a:ea typeface="Montserrat Bold" pitchFamily="34" charset="-122"/>
                <a:cs typeface="Montserrat Bold" pitchFamily="34" charset="-120"/>
              </a:rPr>
              <a:t> Buổi sau</a:t>
            </a:r>
            <a:endParaRPr lang="en-US" sz="750" dirty="0"/>
          </a:p>
        </p:txBody>
      </p:sp>
      <p:sp>
        <p:nvSpPr>
          <p:cNvPr id="17" name="Text 14"/>
          <p:cNvSpPr/>
          <p:nvPr/>
        </p:nvSpPr>
        <p:spPr>
          <a:xfrm>
            <a:off x="5798790" y="4366096"/>
            <a:ext cx="1893763" cy="322287"/>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FFFFFF"/>
                </a:solidFill>
                <a:latin typeface="Montserrat" pitchFamily="34" charset="0"/>
                <a:ea typeface="Montserrat" pitchFamily="34" charset="-122"/>
                <a:cs typeface="Montserrat" pitchFamily="34" charset="-120"/>
              </a:rPr>
              <a:t>Kế thừa (</a:t>
            </a:r>
            <a:r>
              <a:rPr lang="en-US" sz="600" i="1" dirty="0">
                <a:solidFill>
                  <a:srgbClr val="FFFFFF"/>
                </a:solidFill>
                <a:latin typeface="Montserrat" pitchFamily="34" charset="0"/>
                <a:ea typeface="Montserrat" pitchFamily="34" charset="-122"/>
                <a:cs typeface="Montserrat" pitchFamily="34" charset="-120"/>
              </a:rPr>
              <a:t>Inheritance</a:t>
            </a:r>
            <a:r>
              <a:rPr lang="en-US" sz="600" dirty="0">
                <a:solidFill>
                  <a:srgbClr val="FFFFFF"/>
                </a:solidFill>
                <a:latin typeface="Montserrat" pitchFamily="34" charset="0"/>
                <a:ea typeface="Montserrat" pitchFamily="34" charset="-122"/>
                <a:cs typeface="Montserrat" pitchFamily="34" charset="-120"/>
              </a:rPr>
              <a:t>) — </a:t>
            </a:r>
            <a:r>
              <a:rPr lang="en-US" sz="600" dirty="0">
                <a:solidFill>
                  <a:srgbClr val="FFFFFF"/>
                </a:solidFill>
                <a:highlight>
                  <a:srgbClr val="30235E"/>
                </a:highlight>
                <a:latin typeface="Consolas" pitchFamily="34" charset="0"/>
                <a:ea typeface="Consolas" pitchFamily="34" charset="-122"/>
                <a:cs typeface="Consolas" pitchFamily="34" charset="-120"/>
              </a:rPr>
              <a:t>SavingsAccount</a:t>
            </a:r>
            <a:r>
              <a:rPr lang="en-US" sz="600" dirty="0">
                <a:solidFill>
                  <a:srgbClr val="FFFFFF"/>
                </a:solidFill>
                <a:latin typeface="Montserrat" pitchFamily="34" charset="0"/>
                <a:ea typeface="Montserrat" pitchFamily="34" charset="-122"/>
                <a:cs typeface="Montserrat" pitchFamily="34" charset="-120"/>
              </a:rPr>
              <a:t> và </a:t>
            </a:r>
            <a:r>
              <a:rPr lang="en-US" sz="600" dirty="0">
                <a:solidFill>
                  <a:srgbClr val="FFFFFF"/>
                </a:solidFill>
                <a:highlight>
                  <a:srgbClr val="30235E"/>
                </a:highlight>
                <a:latin typeface="Consolas" pitchFamily="34" charset="0"/>
                <a:ea typeface="Consolas" pitchFamily="34" charset="-122"/>
                <a:cs typeface="Consolas" pitchFamily="34" charset="-120"/>
              </a:rPr>
              <a:t>CheckingAccount</a:t>
            </a:r>
            <a:r>
              <a:rPr lang="en-US" sz="600" dirty="0">
                <a:solidFill>
                  <a:srgbClr val="FFFFFF"/>
                </a:solidFill>
                <a:latin typeface="Montserrat" pitchFamily="34" charset="0"/>
                <a:ea typeface="Montserrat" pitchFamily="34" charset="-122"/>
                <a:cs typeface="Montserrat" pitchFamily="34" charset="-120"/>
              </a:rPr>
              <a:t> kế thừa từ </a:t>
            </a:r>
            <a:r>
              <a:rPr lang="en-US" sz="600" dirty="0">
                <a:solidFill>
                  <a:srgbClr val="FFFFFF"/>
                </a:solidFill>
                <a:highlight>
                  <a:srgbClr val="30235E"/>
                </a:highlight>
                <a:latin typeface="Consolas" pitchFamily="34" charset="0"/>
                <a:ea typeface="Consolas" pitchFamily="34" charset="-122"/>
                <a:cs typeface="Consolas" pitchFamily="34" charset="-120"/>
              </a:rPr>
              <a:t>BankAccount</a:t>
            </a:r>
            <a:r>
              <a:rPr lang="en-US" sz="600" dirty="0">
                <a:solidFill>
                  <a:srgbClr val="FFFFFF"/>
                </a:solidFill>
                <a:latin typeface="Montserrat" pitchFamily="34" charset="0"/>
                <a:ea typeface="Montserrat" pitchFamily="34" charset="-122"/>
                <a:cs typeface="Montserrat" pitchFamily="34" charset="-120"/>
              </a:rPr>
              <a:t>. Tái sử dụng code tối đa!</a:t>
            </a:r>
            <a:endParaRPr lang="en-US" sz="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96119" y="562198"/>
            <a:ext cx="7509793" cy="387548"/>
          </a:xfrm>
          <a:prstGeom prst="rect">
            <a:avLst/>
          </a:prstGeom>
          <a:noFill/>
          <a:ln/>
        </p:spPr>
        <p:txBody>
          <a:bodyPr wrap="none" lIns="0" tIns="0" rIns="0" bIns="0" rtlCol="0" anchor="t"/>
          <a:lstStyle/>
          <a:p>
            <a:pPr marL="0" indent="0" algn="l">
              <a:lnSpc>
                <a:spcPct val="104000"/>
              </a:lnSpc>
              <a:buNone/>
            </a:pPr>
            <a:r>
              <a:rPr lang="en-US" sz="2400" b="1" dirty="0">
                <a:solidFill>
                  <a:srgbClr val="C00000"/>
                </a:solidFill>
                <a:latin typeface="Montserrat Bold" pitchFamily="34" charset="0"/>
                <a:ea typeface="Montserrat Bold" pitchFamily="34" charset="-122"/>
                <a:cs typeface="Montserrat Bold" pitchFamily="34" charset="-120"/>
              </a:rPr>
              <a:t>Tổng Kết — Kiến Thức "Sống Còn" Hôm Nay</a:t>
            </a:r>
            <a:endParaRPr lang="en-US" sz="2400" dirty="0"/>
          </a:p>
        </p:txBody>
      </p:sp>
      <p:sp>
        <p:nvSpPr>
          <p:cNvPr id="3" name="Text 1"/>
          <p:cNvSpPr/>
          <p:nvPr/>
        </p:nvSpPr>
        <p:spPr>
          <a:xfrm>
            <a:off x="496119" y="1197769"/>
            <a:ext cx="8608963" cy="198462"/>
          </a:xfrm>
          <a:prstGeom prst="rect">
            <a:avLst/>
          </a:prstGeom>
          <a:noFill/>
          <a:ln/>
        </p:spPr>
        <p:txBody>
          <a:bodyPr wrap="none" lIns="0" tIns="0" rIns="0" bIns="0" rtlCol="0" anchor="t"/>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Trước khi về, hãy chắc chắn các em nắm chắc 5 điểm cốt lõi này. Đây là nền tảng của mọi dự án OOP thực tế:</a:t>
            </a:r>
            <a:endParaRPr lang="en-US" sz="950" dirty="0"/>
          </a:p>
        </p:txBody>
      </p:sp>
      <p:sp>
        <p:nvSpPr>
          <p:cNvPr id="4" name="Shape 2"/>
          <p:cNvSpPr/>
          <p:nvPr/>
        </p:nvSpPr>
        <p:spPr>
          <a:xfrm>
            <a:off x="496119" y="1535757"/>
            <a:ext cx="279053" cy="279053"/>
          </a:xfrm>
          <a:prstGeom prst="roundRect">
            <a:avLst>
              <a:gd name="adj" fmla="val 40007"/>
            </a:avLst>
          </a:prstGeom>
          <a:solidFill>
            <a:srgbClr val="FFFFFF"/>
          </a:solidFill>
          <a:ln w="4763">
            <a:solidFill>
              <a:srgbClr val="C00000"/>
            </a:solidFill>
            <a:prstDash val="solid"/>
          </a:ln>
        </p:spPr>
        <p:txBody>
          <a:bodyPr/>
          <a:lstStyle/>
          <a:p>
            <a:endParaRPr lang="vi-VN"/>
          </a:p>
        </p:txBody>
      </p:sp>
      <p:sp>
        <p:nvSpPr>
          <p:cNvPr id="5" name="Text 3"/>
          <p:cNvSpPr/>
          <p:nvPr/>
        </p:nvSpPr>
        <p:spPr>
          <a:xfrm>
            <a:off x="542627" y="1559012"/>
            <a:ext cx="186035" cy="232544"/>
          </a:xfrm>
          <a:prstGeom prst="rect">
            <a:avLst/>
          </a:prstGeom>
          <a:noFill/>
          <a:ln/>
        </p:spPr>
        <p:txBody>
          <a:bodyPr wrap="none" lIns="0" tIns="0" rIns="0" bIns="0" rtlCol="0" anchor="ctr"/>
          <a:lstStyle/>
          <a:p>
            <a:pPr marL="0" indent="0" algn="ctr">
              <a:lnSpc>
                <a:spcPct val="100000"/>
              </a:lnSpc>
              <a:buNone/>
            </a:pPr>
            <a:r>
              <a:rPr lang="en-US" sz="1450" b="1" dirty="0">
                <a:solidFill>
                  <a:srgbClr val="000000"/>
                </a:solidFill>
                <a:latin typeface="Montserrat Bold" pitchFamily="34" charset="0"/>
                <a:ea typeface="Montserrat Bold" pitchFamily="34" charset="-122"/>
                <a:cs typeface="Montserrat Bold" pitchFamily="34" charset="-120"/>
              </a:rPr>
              <a:t>1</a:t>
            </a:r>
            <a:endParaRPr lang="en-US" sz="1450" dirty="0"/>
          </a:p>
        </p:txBody>
      </p:sp>
      <p:sp>
        <p:nvSpPr>
          <p:cNvPr id="6" name="Text 4"/>
          <p:cNvSpPr/>
          <p:nvPr/>
        </p:nvSpPr>
        <p:spPr>
          <a:xfrm>
            <a:off x="899145" y="1578397"/>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Class &amp; Object</a:t>
            </a:r>
            <a:endParaRPr lang="en-US" sz="1200" dirty="0"/>
          </a:p>
        </p:txBody>
      </p:sp>
      <p:sp>
        <p:nvSpPr>
          <p:cNvPr id="7" name="Text 5"/>
          <p:cNvSpPr/>
          <p:nvPr/>
        </p:nvSpPr>
        <p:spPr>
          <a:xfrm>
            <a:off x="899145" y="1846659"/>
            <a:ext cx="3595315" cy="595387"/>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000000"/>
                </a:solidFill>
                <a:latin typeface="Montserrat" pitchFamily="34" charset="0"/>
                <a:ea typeface="Montserrat" pitchFamily="34" charset="-122"/>
                <a:cs typeface="Montserrat" pitchFamily="34" charset="-120"/>
              </a:rPr>
              <a:t>Class</a:t>
            </a:r>
            <a:r>
              <a:rPr lang="en-US" sz="950" dirty="0">
                <a:solidFill>
                  <a:srgbClr val="000000"/>
                </a:solidFill>
                <a:latin typeface="Montserrat" pitchFamily="34" charset="0"/>
                <a:ea typeface="Montserrat" pitchFamily="34" charset="-122"/>
                <a:cs typeface="Montserrat" pitchFamily="34" charset="-120"/>
              </a:rPr>
              <a:t> là bản thiết kế (không chiếm RAM). </a:t>
            </a:r>
            <a:r>
              <a:rPr lang="en-US" sz="950" b="1" dirty="0">
                <a:solidFill>
                  <a:srgbClr val="000000"/>
                </a:solidFill>
                <a:latin typeface="Montserrat" pitchFamily="34" charset="0"/>
                <a:ea typeface="Montserrat" pitchFamily="34" charset="-122"/>
                <a:cs typeface="Montserrat" pitchFamily="34" charset="-120"/>
              </a:rPr>
              <a:t>Object</a:t>
            </a:r>
            <a:r>
              <a:rPr lang="en-US" sz="950" dirty="0">
                <a:solidFill>
                  <a:srgbClr val="000000"/>
                </a:solidFill>
                <a:latin typeface="Montserrat" pitchFamily="34" charset="0"/>
                <a:ea typeface="Montserrat" pitchFamily="34" charset="-122"/>
                <a:cs typeface="Montserrat" pitchFamily="34" charset="-120"/>
              </a:rPr>
              <a:t> là thực thể được tạo ra từ bản thiết kế đó (chiếm RAM). Từ 1 Class có thể tạo ra vô số Object độc lập.</a:t>
            </a:r>
            <a:endParaRPr lang="en-US" sz="950" dirty="0"/>
          </a:p>
        </p:txBody>
      </p:sp>
      <p:sp>
        <p:nvSpPr>
          <p:cNvPr id="8" name="Shape 6"/>
          <p:cNvSpPr/>
          <p:nvPr/>
        </p:nvSpPr>
        <p:spPr>
          <a:xfrm>
            <a:off x="4649465" y="1535757"/>
            <a:ext cx="279053" cy="279053"/>
          </a:xfrm>
          <a:prstGeom prst="roundRect">
            <a:avLst>
              <a:gd name="adj" fmla="val 40007"/>
            </a:avLst>
          </a:prstGeom>
          <a:solidFill>
            <a:srgbClr val="FFFFFF"/>
          </a:solidFill>
          <a:ln w="4763">
            <a:solidFill>
              <a:srgbClr val="C00000"/>
            </a:solidFill>
            <a:prstDash val="solid"/>
          </a:ln>
        </p:spPr>
        <p:txBody>
          <a:bodyPr/>
          <a:lstStyle/>
          <a:p>
            <a:endParaRPr lang="vi-VN"/>
          </a:p>
        </p:txBody>
      </p:sp>
      <p:sp>
        <p:nvSpPr>
          <p:cNvPr id="9" name="Text 7"/>
          <p:cNvSpPr/>
          <p:nvPr/>
        </p:nvSpPr>
        <p:spPr>
          <a:xfrm>
            <a:off x="4695974" y="1559012"/>
            <a:ext cx="186035" cy="232544"/>
          </a:xfrm>
          <a:prstGeom prst="rect">
            <a:avLst/>
          </a:prstGeom>
          <a:noFill/>
          <a:ln/>
        </p:spPr>
        <p:txBody>
          <a:bodyPr wrap="none" lIns="0" tIns="0" rIns="0" bIns="0" rtlCol="0" anchor="ctr"/>
          <a:lstStyle/>
          <a:p>
            <a:pPr marL="0" indent="0" algn="ctr">
              <a:lnSpc>
                <a:spcPct val="100000"/>
              </a:lnSpc>
              <a:buNone/>
            </a:pPr>
            <a:r>
              <a:rPr lang="en-US" sz="1450" b="1" dirty="0">
                <a:solidFill>
                  <a:srgbClr val="000000"/>
                </a:solidFill>
                <a:latin typeface="Montserrat Bold" pitchFamily="34" charset="0"/>
                <a:ea typeface="Montserrat Bold" pitchFamily="34" charset="-122"/>
                <a:cs typeface="Montserrat Bold" pitchFamily="34" charset="-120"/>
              </a:rPr>
              <a:t>2</a:t>
            </a:r>
            <a:endParaRPr lang="en-US" sz="1450" dirty="0"/>
          </a:p>
        </p:txBody>
      </p:sp>
      <p:sp>
        <p:nvSpPr>
          <p:cNvPr id="10" name="Text 8"/>
          <p:cNvSpPr/>
          <p:nvPr/>
        </p:nvSpPr>
        <p:spPr>
          <a:xfrm>
            <a:off x="5052492" y="1578397"/>
            <a:ext cx="1550566"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__init__ &amp; self</a:t>
            </a:r>
            <a:endParaRPr lang="en-US" sz="1200" dirty="0"/>
          </a:p>
        </p:txBody>
      </p:sp>
      <p:sp>
        <p:nvSpPr>
          <p:cNvPr id="11" name="Text 9"/>
          <p:cNvSpPr/>
          <p:nvPr/>
        </p:nvSpPr>
        <p:spPr>
          <a:xfrm>
            <a:off x="5052492" y="1846659"/>
            <a:ext cx="3595390" cy="6049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__init__</a:t>
            </a:r>
            <a:r>
              <a:rPr lang="en-US" sz="950" dirty="0">
                <a:solidFill>
                  <a:srgbClr val="000000"/>
                </a:solidFill>
                <a:latin typeface="Montserrat" pitchFamily="34" charset="0"/>
                <a:ea typeface="Montserrat" pitchFamily="34" charset="-122"/>
                <a:cs typeface="Montserrat" pitchFamily="34" charset="-120"/>
              </a:rPr>
              <a:t> tự động chạy đầu tiên khi tạo Object để thiết lập thuộc tính ban đầu. </a:t>
            </a:r>
            <a:r>
              <a:rPr lang="en-US" sz="950" dirty="0">
                <a:solidFill>
                  <a:srgbClr val="000000"/>
                </a:solidFill>
                <a:highlight>
                  <a:srgbClr val="F2F2F2"/>
                </a:highlight>
                <a:latin typeface="Consolas" pitchFamily="34" charset="0"/>
                <a:ea typeface="Consolas" pitchFamily="34" charset="-122"/>
                <a:cs typeface="Consolas" pitchFamily="34" charset="-120"/>
              </a:rPr>
              <a:t>self</a:t>
            </a:r>
            <a:r>
              <a:rPr lang="en-US" sz="950" dirty="0">
                <a:solidFill>
                  <a:srgbClr val="000000"/>
                </a:solidFill>
                <a:latin typeface="Montserrat" pitchFamily="34" charset="0"/>
                <a:ea typeface="Montserrat" pitchFamily="34" charset="-122"/>
                <a:cs typeface="Montserrat" pitchFamily="34" charset="-120"/>
              </a:rPr>
              <a:t> là chiếc gương để đối tượng tự nhìn vào chính mình — luôn là tham số đầu tiên.</a:t>
            </a:r>
            <a:endParaRPr lang="en-US" sz="950" dirty="0"/>
          </a:p>
        </p:txBody>
      </p:sp>
      <p:sp>
        <p:nvSpPr>
          <p:cNvPr id="12" name="Shape 10"/>
          <p:cNvSpPr/>
          <p:nvPr/>
        </p:nvSpPr>
        <p:spPr>
          <a:xfrm>
            <a:off x="496119" y="2699593"/>
            <a:ext cx="279053" cy="279053"/>
          </a:xfrm>
          <a:prstGeom prst="roundRect">
            <a:avLst>
              <a:gd name="adj" fmla="val 40007"/>
            </a:avLst>
          </a:prstGeom>
          <a:solidFill>
            <a:srgbClr val="FFFFFF"/>
          </a:solidFill>
          <a:ln w="4763">
            <a:solidFill>
              <a:srgbClr val="231651"/>
            </a:solidFill>
            <a:prstDash val="solid"/>
          </a:ln>
        </p:spPr>
        <p:txBody>
          <a:bodyPr/>
          <a:lstStyle/>
          <a:p>
            <a:endParaRPr lang="vi-VN"/>
          </a:p>
        </p:txBody>
      </p:sp>
      <p:sp>
        <p:nvSpPr>
          <p:cNvPr id="13" name="Text 11"/>
          <p:cNvSpPr/>
          <p:nvPr/>
        </p:nvSpPr>
        <p:spPr>
          <a:xfrm>
            <a:off x="542627" y="2722848"/>
            <a:ext cx="186035" cy="232544"/>
          </a:xfrm>
          <a:prstGeom prst="rect">
            <a:avLst/>
          </a:prstGeom>
          <a:noFill/>
          <a:ln/>
        </p:spPr>
        <p:txBody>
          <a:bodyPr wrap="none" lIns="0" tIns="0" rIns="0" bIns="0" rtlCol="0" anchor="ctr"/>
          <a:lstStyle/>
          <a:p>
            <a:pPr marL="0" indent="0" algn="ctr">
              <a:lnSpc>
                <a:spcPct val="100000"/>
              </a:lnSpc>
              <a:buNone/>
            </a:pPr>
            <a:r>
              <a:rPr lang="en-US" sz="1450" b="1" dirty="0">
                <a:solidFill>
                  <a:srgbClr val="000000"/>
                </a:solidFill>
                <a:latin typeface="Montserrat Bold" pitchFamily="34" charset="0"/>
                <a:ea typeface="Montserrat Bold" pitchFamily="34" charset="-122"/>
                <a:cs typeface="Montserrat Bold" pitchFamily="34" charset="-120"/>
              </a:rPr>
              <a:t>3</a:t>
            </a:r>
            <a:endParaRPr lang="en-US" sz="1450" dirty="0"/>
          </a:p>
        </p:txBody>
      </p:sp>
      <p:sp>
        <p:nvSpPr>
          <p:cNvPr id="14" name="Text 12"/>
          <p:cNvSpPr/>
          <p:nvPr/>
        </p:nvSpPr>
        <p:spPr>
          <a:xfrm>
            <a:off x="899145" y="2742233"/>
            <a:ext cx="1968922"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Method &amp; Static Method</a:t>
            </a:r>
            <a:endParaRPr lang="en-US" sz="1200" dirty="0"/>
          </a:p>
        </p:txBody>
      </p:sp>
      <p:sp>
        <p:nvSpPr>
          <p:cNvPr id="15" name="Text 13"/>
          <p:cNvSpPr/>
          <p:nvPr/>
        </p:nvSpPr>
        <p:spPr>
          <a:xfrm>
            <a:off x="899145" y="3010495"/>
            <a:ext cx="3595315" cy="6049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Method thông thường cần </a:t>
            </a:r>
            <a:r>
              <a:rPr lang="en-US" sz="950" dirty="0">
                <a:solidFill>
                  <a:srgbClr val="000000"/>
                </a:solidFill>
                <a:highlight>
                  <a:srgbClr val="F2F2F2"/>
                </a:highlight>
                <a:latin typeface="Consolas" pitchFamily="34" charset="0"/>
                <a:ea typeface="Consolas" pitchFamily="34" charset="-122"/>
                <a:cs typeface="Consolas" pitchFamily="34" charset="-120"/>
              </a:rPr>
              <a:t>self</a:t>
            </a:r>
            <a:r>
              <a:rPr lang="en-US" sz="950" dirty="0">
                <a:solidFill>
                  <a:srgbClr val="000000"/>
                </a:solidFill>
                <a:latin typeface="Montserrat" pitchFamily="34" charset="0"/>
                <a:ea typeface="Montserrat" pitchFamily="34" charset="-122"/>
                <a:cs typeface="Montserrat" pitchFamily="34" charset="-120"/>
              </a:rPr>
              <a:t> và phải có Object mới gọi được. </a:t>
            </a:r>
            <a:r>
              <a:rPr lang="en-US" sz="950" dirty="0">
                <a:solidFill>
                  <a:srgbClr val="000000"/>
                </a:solidFill>
                <a:highlight>
                  <a:srgbClr val="F2F2F2"/>
                </a:highlight>
                <a:latin typeface="Consolas" pitchFamily="34" charset="0"/>
                <a:ea typeface="Consolas" pitchFamily="34" charset="-122"/>
                <a:cs typeface="Consolas" pitchFamily="34" charset="-120"/>
              </a:rPr>
              <a:t>@staticmethod</a:t>
            </a:r>
            <a:r>
              <a:rPr lang="en-US" sz="950" dirty="0">
                <a:solidFill>
                  <a:srgbClr val="000000"/>
                </a:solidFill>
                <a:latin typeface="Montserrat" pitchFamily="34" charset="0"/>
                <a:ea typeface="Montserrat" pitchFamily="34" charset="-122"/>
                <a:cs typeface="Montserrat" pitchFamily="34" charset="-120"/>
              </a:rPr>
              <a:t> là hàm tiện ích độc lập, gọi thẳng qua tên Class — không cần tạo Object.</a:t>
            </a:r>
            <a:endParaRPr lang="en-US" sz="950" dirty="0"/>
          </a:p>
        </p:txBody>
      </p:sp>
      <p:sp>
        <p:nvSpPr>
          <p:cNvPr id="16" name="Shape 14"/>
          <p:cNvSpPr/>
          <p:nvPr/>
        </p:nvSpPr>
        <p:spPr>
          <a:xfrm>
            <a:off x="4649465" y="2699593"/>
            <a:ext cx="279053" cy="279053"/>
          </a:xfrm>
          <a:prstGeom prst="roundRect">
            <a:avLst>
              <a:gd name="adj" fmla="val 40007"/>
            </a:avLst>
          </a:prstGeom>
          <a:solidFill>
            <a:srgbClr val="FFFFFF"/>
          </a:solidFill>
          <a:ln w="4763">
            <a:solidFill>
              <a:srgbClr val="8F8E8E"/>
            </a:solidFill>
            <a:prstDash val="solid"/>
          </a:ln>
        </p:spPr>
        <p:txBody>
          <a:bodyPr/>
          <a:lstStyle/>
          <a:p>
            <a:endParaRPr lang="vi-VN"/>
          </a:p>
        </p:txBody>
      </p:sp>
      <p:sp>
        <p:nvSpPr>
          <p:cNvPr id="17" name="Text 15"/>
          <p:cNvSpPr/>
          <p:nvPr/>
        </p:nvSpPr>
        <p:spPr>
          <a:xfrm>
            <a:off x="4695974" y="2722848"/>
            <a:ext cx="186035" cy="232544"/>
          </a:xfrm>
          <a:prstGeom prst="rect">
            <a:avLst/>
          </a:prstGeom>
          <a:noFill/>
          <a:ln/>
        </p:spPr>
        <p:txBody>
          <a:bodyPr wrap="none" lIns="0" tIns="0" rIns="0" bIns="0" rtlCol="0" anchor="ctr"/>
          <a:lstStyle/>
          <a:p>
            <a:pPr marL="0" indent="0" algn="ctr">
              <a:lnSpc>
                <a:spcPct val="100000"/>
              </a:lnSpc>
              <a:buNone/>
            </a:pPr>
            <a:r>
              <a:rPr lang="en-US" sz="1450" b="1" dirty="0">
                <a:solidFill>
                  <a:srgbClr val="000000"/>
                </a:solidFill>
                <a:latin typeface="Montserrat Bold" pitchFamily="34" charset="0"/>
                <a:ea typeface="Montserrat Bold" pitchFamily="34" charset="-122"/>
                <a:cs typeface="Montserrat Bold" pitchFamily="34" charset="-120"/>
              </a:rPr>
              <a:t>4</a:t>
            </a:r>
            <a:endParaRPr lang="en-US" sz="1450" dirty="0"/>
          </a:p>
        </p:txBody>
      </p:sp>
      <p:sp>
        <p:nvSpPr>
          <p:cNvPr id="18" name="Text 16"/>
          <p:cNvSpPr/>
          <p:nvPr/>
        </p:nvSpPr>
        <p:spPr>
          <a:xfrm>
            <a:off x="5052492" y="2742233"/>
            <a:ext cx="2474342" cy="193849"/>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ontserrat Bold" pitchFamily="34" charset="0"/>
                <a:ea typeface="Montserrat Bold" pitchFamily="34" charset="-122"/>
                <a:cs typeface="Montserrat Bold" pitchFamily="34" charset="-120"/>
              </a:rPr>
              <a:t>Tính Đóng Gói (Encapsulation)</a:t>
            </a:r>
            <a:endParaRPr lang="en-US" sz="1200" dirty="0"/>
          </a:p>
        </p:txBody>
      </p:sp>
      <p:sp>
        <p:nvSpPr>
          <p:cNvPr id="19" name="Text 17"/>
          <p:cNvSpPr/>
          <p:nvPr/>
        </p:nvSpPr>
        <p:spPr>
          <a:xfrm>
            <a:off x="5052492" y="3010495"/>
            <a:ext cx="3595390" cy="6049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Luôn ẩn dữ liệu nhạy cảm bằng </a:t>
            </a:r>
            <a:r>
              <a:rPr lang="en-US" sz="950" dirty="0">
                <a:solidFill>
                  <a:srgbClr val="000000"/>
                </a:solidFill>
                <a:highlight>
                  <a:srgbClr val="F2F2F2"/>
                </a:highlight>
                <a:latin typeface="Consolas" pitchFamily="34" charset="0"/>
                <a:ea typeface="Consolas" pitchFamily="34" charset="-122"/>
                <a:cs typeface="Consolas" pitchFamily="34" charset="-120"/>
              </a:rPr>
              <a:t>__</a:t>
            </a:r>
            <a:r>
              <a:rPr lang="en-US" sz="950" dirty="0">
                <a:solidFill>
                  <a:srgbClr val="000000"/>
                </a:solidFill>
                <a:latin typeface="Montserrat" pitchFamily="34" charset="0"/>
                <a:ea typeface="Montserrat" pitchFamily="34" charset="-122"/>
                <a:cs typeface="Montserrat" pitchFamily="34" charset="-120"/>
              </a:rPr>
              <a:t> (Private). Kiểm soát truy cập thông qua </a:t>
            </a:r>
            <a:r>
              <a:rPr lang="en-US" sz="950" dirty="0">
                <a:solidFill>
                  <a:srgbClr val="000000"/>
                </a:solidFill>
                <a:highlight>
                  <a:srgbClr val="F2F2F2"/>
                </a:highlight>
                <a:latin typeface="Consolas" pitchFamily="34" charset="0"/>
                <a:ea typeface="Consolas" pitchFamily="34" charset="-122"/>
                <a:cs typeface="Consolas" pitchFamily="34" charset="-120"/>
              </a:rPr>
              <a:t>@property</a:t>
            </a:r>
            <a:r>
              <a:rPr lang="en-US" sz="950" dirty="0">
                <a:solidFill>
                  <a:srgbClr val="000000"/>
                </a:solidFill>
                <a:latin typeface="Montserrat" pitchFamily="34" charset="0"/>
                <a:ea typeface="Montserrat" pitchFamily="34" charset="-122"/>
                <a:cs typeface="Montserrat" pitchFamily="34" charset="-120"/>
              </a:rPr>
              <a:t> (Getter) và </a:t>
            </a:r>
            <a:r>
              <a:rPr lang="en-US" sz="950" dirty="0">
                <a:solidFill>
                  <a:srgbClr val="000000"/>
                </a:solidFill>
                <a:highlight>
                  <a:srgbClr val="F2F2F2"/>
                </a:highlight>
                <a:latin typeface="Consolas" pitchFamily="34" charset="0"/>
                <a:ea typeface="Consolas" pitchFamily="34" charset="-122"/>
                <a:cs typeface="Consolas" pitchFamily="34" charset="-120"/>
              </a:rPr>
              <a:t>@tên.setter</a:t>
            </a:r>
            <a:r>
              <a:rPr lang="en-US" sz="950" dirty="0">
                <a:solidFill>
                  <a:srgbClr val="000000"/>
                </a:solidFill>
                <a:latin typeface="Montserrat" pitchFamily="34" charset="0"/>
                <a:ea typeface="Montserrat" pitchFamily="34" charset="-122"/>
                <a:cs typeface="Montserrat" pitchFamily="34" charset="-120"/>
              </a:rPr>
              <a:t> (Setter) để đảm bảo toàn vẹn dữ liệu.</a:t>
            </a:r>
            <a:endParaRPr lang="en-US" sz="950" dirty="0"/>
          </a:p>
        </p:txBody>
      </p:sp>
      <p:sp>
        <p:nvSpPr>
          <p:cNvPr id="20" name="Shape 18"/>
          <p:cNvSpPr/>
          <p:nvPr/>
        </p:nvSpPr>
        <p:spPr>
          <a:xfrm>
            <a:off x="496119" y="3754934"/>
            <a:ext cx="8151763" cy="686842"/>
          </a:xfrm>
          <a:prstGeom prst="roundRect">
            <a:avLst>
              <a:gd name="adj" fmla="val 16254"/>
            </a:avLst>
          </a:prstGeom>
          <a:solidFill>
            <a:srgbClr val="FCF2B5"/>
          </a:solidFill>
          <a:ln/>
        </p:spPr>
        <p:txBody>
          <a:bodyPr/>
          <a:lstStyle/>
          <a:p>
            <a:endParaRPr lang="vi-VN"/>
          </a:p>
        </p:txBody>
      </p:sp>
      <p:pic>
        <p:nvPicPr>
          <p:cNvPr id="21" name="Image 0" descr="preencoded.png"/>
          <p:cNvPicPr>
            <a:picLocks noChangeAspect="1"/>
          </p:cNvPicPr>
          <p:nvPr/>
        </p:nvPicPr>
        <p:blipFill>
          <a:blip r:embed="rId3"/>
          <a:stretch>
            <a:fillRect/>
          </a:stretch>
        </p:blipFill>
        <p:spPr>
          <a:xfrm>
            <a:off x="620092" y="3934718"/>
            <a:ext cx="155004" cy="123974"/>
          </a:xfrm>
          <a:prstGeom prst="rect">
            <a:avLst/>
          </a:prstGeom>
        </p:spPr>
      </p:pic>
      <p:sp>
        <p:nvSpPr>
          <p:cNvPr id="22" name="Text 19"/>
          <p:cNvSpPr/>
          <p:nvPr/>
        </p:nvSpPr>
        <p:spPr>
          <a:xfrm>
            <a:off x="899071" y="3897511"/>
            <a:ext cx="7624837" cy="4016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Montserrat" pitchFamily="34" charset="0"/>
                <a:ea typeface="Montserrat" pitchFamily="34" charset="-122"/>
                <a:cs typeface="Montserrat" pitchFamily="34" charset="-120"/>
              </a:rPr>
              <a:t>📝 </a:t>
            </a:r>
            <a:r>
              <a:rPr lang="en-US" sz="950" b="1" dirty="0">
                <a:solidFill>
                  <a:srgbClr val="000000"/>
                </a:solidFill>
                <a:latin typeface="Montserrat" pitchFamily="34" charset="0"/>
                <a:ea typeface="Montserrat" pitchFamily="34" charset="-122"/>
                <a:cs typeface="Montserrat" pitchFamily="34" charset="-120"/>
              </a:rPr>
              <a:t>Bài tập về nhà:</a:t>
            </a:r>
            <a:r>
              <a:rPr lang="en-US" sz="950" dirty="0">
                <a:solidFill>
                  <a:srgbClr val="000000"/>
                </a:solidFill>
                <a:latin typeface="Montserrat" pitchFamily="34" charset="0"/>
                <a:ea typeface="Montserrat" pitchFamily="34" charset="-122"/>
                <a:cs typeface="Montserrat" pitchFamily="34" charset="-120"/>
              </a:rPr>
              <a:t> Gõ lại toàn bộ class </a:t>
            </a:r>
            <a:r>
              <a:rPr lang="en-US" sz="950" dirty="0">
                <a:solidFill>
                  <a:srgbClr val="000000"/>
                </a:solidFill>
                <a:highlight>
                  <a:srgbClr val="F2F2F2"/>
                </a:highlight>
                <a:latin typeface="Consolas" pitchFamily="34" charset="0"/>
                <a:ea typeface="Consolas" pitchFamily="34" charset="-122"/>
                <a:cs typeface="Consolas" pitchFamily="34" charset="-120"/>
              </a:rPr>
              <a:t>SecureBankAccount</a:t>
            </a:r>
            <a:r>
              <a:rPr lang="en-US" sz="950" dirty="0">
                <a:solidFill>
                  <a:srgbClr val="000000"/>
                </a:solidFill>
                <a:latin typeface="Montserrat" pitchFamily="34" charset="0"/>
                <a:ea typeface="Montserrat" pitchFamily="34" charset="-122"/>
                <a:cs typeface="Montserrat" pitchFamily="34" charset="-120"/>
              </a:rPr>
              <a:t> hoàn chỉnh, bao gồm </a:t>
            </a:r>
            <a:r>
              <a:rPr lang="en-US" sz="950" dirty="0">
                <a:solidFill>
                  <a:srgbClr val="000000"/>
                </a:solidFill>
                <a:highlight>
                  <a:srgbClr val="F2F2F2"/>
                </a:highlight>
                <a:latin typeface="Consolas" pitchFamily="34" charset="0"/>
                <a:ea typeface="Consolas" pitchFamily="34" charset="-122"/>
                <a:cs typeface="Consolas" pitchFamily="34" charset="-120"/>
              </a:rPr>
              <a:t>deposit()</a:t>
            </a:r>
            <a:r>
              <a:rPr lang="en-US" sz="950" dirty="0">
                <a:solidFill>
                  <a:srgbClr val="000000"/>
                </a:solidFill>
                <a:latin typeface="Montserrat" pitchFamily="34" charset="0"/>
                <a:ea typeface="Montserrat" pitchFamily="34" charset="-122"/>
                <a:cs typeface="Montserrat" pitchFamily="34" charset="-120"/>
              </a:rPr>
              <a:t>, </a:t>
            </a:r>
            <a:r>
              <a:rPr lang="en-US" sz="950" dirty="0">
                <a:solidFill>
                  <a:srgbClr val="000000"/>
                </a:solidFill>
                <a:highlight>
                  <a:srgbClr val="F2F2F2"/>
                </a:highlight>
                <a:latin typeface="Consolas" pitchFamily="34" charset="0"/>
                <a:ea typeface="Consolas" pitchFamily="34" charset="-122"/>
                <a:cs typeface="Consolas" pitchFamily="34" charset="-120"/>
              </a:rPr>
              <a:t>withdraw()</a:t>
            </a:r>
            <a:r>
              <a:rPr lang="en-US" sz="950" dirty="0">
                <a:solidFill>
                  <a:srgbClr val="000000"/>
                </a:solidFill>
                <a:latin typeface="Montserrat" pitchFamily="34" charset="0"/>
                <a:ea typeface="Montserrat" pitchFamily="34" charset="-122"/>
                <a:cs typeface="Montserrat" pitchFamily="34" charset="-120"/>
              </a:rPr>
              <a:t>, và áp dụng Getter/Setter cho số dư. Không copy-paste nhé!</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3267</Words>
  <Application>Microsoft Office PowerPoint</Application>
  <PresentationFormat>On-screen Show (16:9)</PresentationFormat>
  <Paragraphs>299</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Montserrat Bold</vt:lpstr>
      <vt:lpstr>Consolas</vt:lpstr>
      <vt:lpstr>Montserrat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Quốc  Tuấn</cp:lastModifiedBy>
  <cp:revision>2</cp:revision>
  <dcterms:created xsi:type="dcterms:W3CDTF">2026-06-15T01:53:17Z</dcterms:created>
  <dcterms:modified xsi:type="dcterms:W3CDTF">2026-06-15T02:03:10Z</dcterms:modified>
</cp:coreProperties>
</file>