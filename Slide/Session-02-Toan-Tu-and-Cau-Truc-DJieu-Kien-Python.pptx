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embeddedFontLst>
    <p:embeddedFont>
      <p:font typeface="Montserrat Extra Bold"/>
      <p:regular r:id="rId22"/>
    </p:embeddedFont>
    <p:embeddedFont>
      <p:font typeface="Montserrat Extra Bold"/>
      <p:regular r:id="rId23"/>
    </p:embeddedFont>
    <p:embeddedFont>
      <p:font typeface="Montserrat"/>
      <p:regular r:id="rId24"/>
    </p:embeddedFont>
    <p:embeddedFont>
      <p:font typeface="Montserrat"/>
      <p:regular r:id="rId25"/>
    </p:embeddedFont>
    <p:embeddedFont>
      <p:font typeface="Montserrat"/>
      <p:regular r:id="rId26"/>
    </p:embeddedFont>
    <p:embeddedFont>
      <p:font typeface="Montserrat"/>
      <p:regular r:id="rId2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image" Target="../media/image-10-8.png"/><Relationship Id="rId9" Type="http://schemas.openxmlformats.org/officeDocument/2006/relationships/image" Target="../media/image-10-9.svg"/><Relationship Id="rId10" Type="http://schemas.openxmlformats.org/officeDocument/2006/relationships/image" Target="../media/image-10-10.png"/><Relationship Id="rId11" Type="http://schemas.openxmlformats.org/officeDocument/2006/relationships/slideLayout" Target="../slideLayouts/slideLayout1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slideLayout" Target="../slideLayouts/slideLayout1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svg"/><Relationship Id="rId4" Type="http://schemas.openxmlformats.org/officeDocument/2006/relationships/image" Target="../media/image-15-4.png"/><Relationship Id="rId5" Type="http://schemas.openxmlformats.org/officeDocument/2006/relationships/image" Target="../media/image-15-5.svg"/><Relationship Id="rId6" Type="http://schemas.openxmlformats.org/officeDocument/2006/relationships/image" Target="../media/image-15-6.png"/><Relationship Id="rId7" Type="http://schemas.openxmlformats.org/officeDocument/2006/relationships/image" Target="../media/image-15-7.svg"/><Relationship Id="rId8" Type="http://schemas.openxmlformats.org/officeDocument/2006/relationships/image" Target="../media/image-15-8.png"/><Relationship Id="rId9" Type="http://schemas.openxmlformats.org/officeDocument/2006/relationships/image" Target="../media/image-15-9.svg"/><Relationship Id="rId10" Type="http://schemas.openxmlformats.org/officeDocument/2006/relationships/image" Target="../media/image-15-10.png"/><Relationship Id="rId11" Type="http://schemas.openxmlformats.org/officeDocument/2006/relationships/slideLayout" Target="../slideLayouts/slideLayout16.xml"/><Relationship Id="rId1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701552"/>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Session 02: Toán Tử &amp; Cấu Trúc Điều Kiện Python</a:t>
            </a:r>
            <a:endParaRPr lang="en-US" sz="2400" dirty="0"/>
          </a:p>
        </p:txBody>
      </p:sp>
      <p:sp>
        <p:nvSpPr>
          <p:cNvPr id="4" name="Text 1"/>
          <p:cNvSpPr/>
          <p:nvPr/>
        </p:nvSpPr>
        <p:spPr>
          <a:xfrm>
            <a:off x="3925119" y="2662684"/>
            <a:ext cx="4722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Khám phá sức mạnh của các toán tử và cấu trúc điều kiện — nền tảng giúp bạn viết code thông minh, linh hoạt và giải quyết mọi bài toán thực tế.</a:t>
            </a:r>
            <a:endParaRPr lang="en-US" sz="950" dirty="0"/>
          </a:p>
        </p:txBody>
      </p:sp>
      <p:sp>
        <p:nvSpPr>
          <p:cNvPr id="5" name="Shape 2"/>
          <p:cNvSpPr/>
          <p:nvPr/>
        </p:nvSpPr>
        <p:spPr>
          <a:xfrm>
            <a:off x="3925119" y="3203897"/>
            <a:ext cx="1011287" cy="233214"/>
          </a:xfrm>
          <a:prstGeom prst="roundRect">
            <a:avLst>
              <a:gd name="adj" fmla="val 17872"/>
            </a:avLst>
          </a:prstGeom>
          <a:solidFill>
            <a:srgbClr val="F6D5D5"/>
          </a:solidFill>
          <a:ln/>
        </p:spPr>
      </p:sp>
      <p:sp>
        <p:nvSpPr>
          <p:cNvPr id="6" name="Text 3"/>
          <p:cNvSpPr/>
          <p:nvPr/>
        </p:nvSpPr>
        <p:spPr>
          <a:xfrm>
            <a:off x="3999533" y="3241104"/>
            <a:ext cx="1319659" cy="158800"/>
          </a:xfrm>
          <a:prstGeom prst="rect">
            <a:avLst/>
          </a:prstGeom>
          <a:noFill/>
          <a:ln/>
        </p:spPr>
        <p:txBody>
          <a:bodyPr wrap="none" lIns="0" tIns="0" rIns="0" bIns="0" rtlCol="0" anchor="t"/>
          <a:lstStyle/>
          <a:p>
            <a:pPr algn="l" indent="0" marL="0">
              <a:lnSpc>
                <a:spcPct val="133000"/>
              </a:lnSpc>
              <a:buNone/>
            </a:pPr>
            <a:r>
              <a:rPr lang="en-US" sz="750" dirty="0">
                <a:solidFill>
                  <a:srgbClr val="000000"/>
                </a:solidFill>
                <a:latin typeface="Montserrat" pitchFamily="34" charset="0"/>
                <a:ea typeface="Montserrat" pitchFamily="34" charset="-122"/>
                <a:cs typeface="Montserrat" pitchFamily="34" charset="-120"/>
              </a:rPr>
              <a:t>PYTHON CƠ BẢN</a:t>
            </a:r>
            <a:endParaRPr lang="en-US" sz="750" dirty="0"/>
          </a:p>
        </p:txBody>
      </p:sp>
      <p:sp>
        <p:nvSpPr>
          <p:cNvPr id="7" name="Shape 4"/>
          <p:cNvSpPr/>
          <p:nvPr/>
        </p:nvSpPr>
        <p:spPr>
          <a:xfrm>
            <a:off x="4998393" y="3199135"/>
            <a:ext cx="749573" cy="242739"/>
          </a:xfrm>
          <a:prstGeom prst="roundRect">
            <a:avLst>
              <a:gd name="adj" fmla="val 17171"/>
            </a:avLst>
          </a:prstGeom>
          <a:noFill/>
          <a:ln w="4763">
            <a:solidFill>
              <a:srgbClr val="BE2727"/>
            </a:solidFill>
            <a:prstDash val="solid"/>
          </a:ln>
        </p:spPr>
      </p:sp>
      <p:sp>
        <p:nvSpPr>
          <p:cNvPr id="8" name="Text 5"/>
          <p:cNvSpPr/>
          <p:nvPr/>
        </p:nvSpPr>
        <p:spPr>
          <a:xfrm>
            <a:off x="5077569" y="3241104"/>
            <a:ext cx="1048420" cy="158800"/>
          </a:xfrm>
          <a:prstGeom prst="rect">
            <a:avLst/>
          </a:prstGeom>
          <a:noFill/>
          <a:ln/>
        </p:spPr>
        <p:txBody>
          <a:bodyPr wrap="none" lIns="0" tIns="0" rIns="0" bIns="0" rtlCol="0" anchor="t"/>
          <a:lstStyle/>
          <a:p>
            <a:pPr algn="l" indent="0" marL="0">
              <a:lnSpc>
                <a:spcPct val="133000"/>
              </a:lnSpc>
              <a:buNone/>
            </a:pPr>
            <a:r>
              <a:rPr lang="en-US" sz="750" dirty="0">
                <a:solidFill>
                  <a:srgbClr val="BE2727"/>
                </a:solidFill>
                <a:latin typeface="Montserrat" pitchFamily="34" charset="0"/>
                <a:ea typeface="Montserrat" pitchFamily="34" charset="-122"/>
                <a:cs typeface="Montserrat" pitchFamily="34" charset="-120"/>
              </a:rPr>
              <a:t>SESSION 02</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723379"/>
            <a:ext cx="3558332" cy="387548"/>
          </a:xfrm>
          <a:prstGeom prst="rect">
            <a:avLst/>
          </a:prstGeom>
          <a:noFill/>
          <a:ln/>
        </p:spPr>
        <p:txBody>
          <a:bodyPr wrap="none" lIns="0" tIns="0" rIns="0" bIns="0" rtlCol="0" anchor="t"/>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Mục Tiêu Bài Học</a:t>
            </a:r>
            <a:endParaRPr lang="en-US" sz="2400" dirty="0"/>
          </a:p>
        </p:txBody>
      </p:sp>
      <p:sp>
        <p:nvSpPr>
          <p:cNvPr id="3" name="Text 1"/>
          <p:cNvSpPr/>
          <p:nvPr/>
        </p:nvSpPr>
        <p:spPr>
          <a:xfrm>
            <a:off x="496119" y="1358950"/>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Sau buổi học này, sẽ nắm vững những kỹ năng cốt lõi để làm chủ logic lập trình trong Python.</a:t>
            </a:r>
            <a:endParaRPr lang="en-US" sz="950" dirty="0"/>
          </a:p>
        </p:txBody>
      </p:sp>
      <p:sp>
        <p:nvSpPr>
          <p:cNvPr id="4" name="Shape 2"/>
          <p:cNvSpPr/>
          <p:nvPr/>
        </p:nvSpPr>
        <p:spPr>
          <a:xfrm>
            <a:off x="496119" y="1882973"/>
            <a:ext cx="4013895" cy="1113532"/>
          </a:xfrm>
          <a:prstGeom prst="roundRect">
            <a:avLst>
              <a:gd name="adj" fmla="val 6159"/>
            </a:avLst>
          </a:prstGeom>
          <a:solidFill>
            <a:srgbClr val="FFFFFF"/>
          </a:solidFill>
          <a:ln w="14288">
            <a:solidFill>
              <a:srgbClr val="DCBBBB"/>
            </a:solidFill>
            <a:prstDash val="solid"/>
          </a:ln>
        </p:spPr>
      </p:sp>
      <p:sp>
        <p:nvSpPr>
          <p:cNvPr id="5" name="Shape 3"/>
          <p:cNvSpPr/>
          <p:nvPr/>
        </p:nvSpPr>
        <p:spPr>
          <a:xfrm>
            <a:off x="496119" y="1868686"/>
            <a:ext cx="4013895" cy="57150"/>
          </a:xfrm>
          <a:prstGeom prst="roundRect">
            <a:avLst>
              <a:gd name="adj" fmla="val 91163"/>
            </a:avLst>
          </a:prstGeom>
          <a:solidFill>
            <a:srgbClr val="BE2727"/>
          </a:solidFill>
          <a:ln/>
        </p:spPr>
      </p:sp>
      <p:sp>
        <p:nvSpPr>
          <p:cNvPr id="6" name="Shape 4"/>
          <p:cNvSpPr/>
          <p:nvPr/>
        </p:nvSpPr>
        <p:spPr>
          <a:xfrm>
            <a:off x="2317031" y="1696938"/>
            <a:ext cx="372070" cy="372070"/>
          </a:xfrm>
          <a:prstGeom prst="roundRect">
            <a:avLst>
              <a:gd name="adj" fmla="val 153600"/>
            </a:avLst>
          </a:prstGeom>
          <a:solidFill>
            <a:srgbClr val="BE2727"/>
          </a:solidFill>
          <a:ln/>
        </p:spPr>
      </p:sp>
      <p:sp>
        <p:nvSpPr>
          <p:cNvPr id="7" name="Text 5"/>
          <p:cNvSpPr/>
          <p:nvPr/>
        </p:nvSpPr>
        <p:spPr>
          <a:xfrm>
            <a:off x="2200052" y="1789956"/>
            <a:ext cx="377428" cy="186035"/>
          </a:xfrm>
          <a:prstGeom prst="rect">
            <a:avLst/>
          </a:prstGeom>
          <a:noFill/>
          <a:ln/>
        </p:spPr>
        <p:txBody>
          <a:bodyPr wrap="none" lIns="0" tIns="0" rIns="0" bIns="0" rtlCol="0" anchor="ctr"/>
          <a:lstStyle/>
          <a:p>
            <a:pPr algn="ctr" indent="0" marL="0">
              <a:lnSpc>
                <a:spcPct val="100000"/>
              </a:lnSpc>
              <a:buNone/>
            </a:pPr>
            <a:r>
              <a:rPr lang="en-US" sz="1150" b="1" dirty="0">
                <a:solidFill>
                  <a:srgbClr val="FFFFFF"/>
                </a:solidFill>
                <a:latin typeface="Montserrat Extra Bold" pitchFamily="34" charset="0"/>
                <a:ea typeface="Montserrat Extra Bold" pitchFamily="34" charset="-122"/>
                <a:cs typeface="Montserrat Extra Bold" pitchFamily="34" charset="-120"/>
              </a:rPr>
              <a:t>1</a:t>
            </a:r>
            <a:endParaRPr lang="en-US" sz="1150" dirty="0"/>
          </a:p>
        </p:txBody>
      </p:sp>
      <p:sp>
        <p:nvSpPr>
          <p:cNvPr id="8" name="Text 6"/>
          <p:cNvSpPr/>
          <p:nvPr/>
        </p:nvSpPr>
        <p:spPr>
          <a:xfrm>
            <a:off x="634380" y="2193057"/>
            <a:ext cx="2043410"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Thành thạo toán tử</a:t>
            </a:r>
            <a:endParaRPr lang="en-US" sz="1200" dirty="0"/>
          </a:p>
        </p:txBody>
      </p:sp>
      <p:sp>
        <p:nvSpPr>
          <p:cNvPr id="9" name="Text 7"/>
          <p:cNvSpPr/>
          <p:nvPr/>
        </p:nvSpPr>
        <p:spPr>
          <a:xfrm>
            <a:off x="634380" y="2461320"/>
            <a:ext cx="373737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Hiểu và sử dụng thành thạo các loại toán tử: số học, so sánh và logic trong Python.</a:t>
            </a:r>
            <a:endParaRPr lang="en-US" sz="950" dirty="0"/>
          </a:p>
        </p:txBody>
      </p:sp>
      <p:sp>
        <p:nvSpPr>
          <p:cNvPr id="10" name="Shape 8"/>
          <p:cNvSpPr/>
          <p:nvPr/>
        </p:nvSpPr>
        <p:spPr>
          <a:xfrm>
            <a:off x="4633987" y="1882973"/>
            <a:ext cx="4013895" cy="1113532"/>
          </a:xfrm>
          <a:prstGeom prst="roundRect">
            <a:avLst>
              <a:gd name="adj" fmla="val 6159"/>
            </a:avLst>
          </a:prstGeom>
          <a:solidFill>
            <a:srgbClr val="FFFFFF"/>
          </a:solidFill>
          <a:ln w="14288">
            <a:solidFill>
              <a:srgbClr val="DCBBBB"/>
            </a:solidFill>
            <a:prstDash val="solid"/>
          </a:ln>
        </p:spPr>
      </p:sp>
      <p:sp>
        <p:nvSpPr>
          <p:cNvPr id="11" name="Shape 9"/>
          <p:cNvSpPr/>
          <p:nvPr/>
        </p:nvSpPr>
        <p:spPr>
          <a:xfrm>
            <a:off x="4633987" y="1868686"/>
            <a:ext cx="4013895" cy="57150"/>
          </a:xfrm>
          <a:prstGeom prst="roundRect">
            <a:avLst>
              <a:gd name="adj" fmla="val 91163"/>
            </a:avLst>
          </a:prstGeom>
          <a:solidFill>
            <a:srgbClr val="BE2727"/>
          </a:solidFill>
          <a:ln/>
        </p:spPr>
      </p:sp>
      <p:sp>
        <p:nvSpPr>
          <p:cNvPr id="12" name="Shape 10"/>
          <p:cNvSpPr/>
          <p:nvPr/>
        </p:nvSpPr>
        <p:spPr>
          <a:xfrm>
            <a:off x="6454899" y="1696938"/>
            <a:ext cx="372070" cy="372070"/>
          </a:xfrm>
          <a:prstGeom prst="roundRect">
            <a:avLst>
              <a:gd name="adj" fmla="val 153600"/>
            </a:avLst>
          </a:prstGeom>
          <a:solidFill>
            <a:srgbClr val="BE2727"/>
          </a:solidFill>
          <a:ln/>
        </p:spPr>
      </p:sp>
      <p:sp>
        <p:nvSpPr>
          <p:cNvPr id="13" name="Text 11"/>
          <p:cNvSpPr/>
          <p:nvPr/>
        </p:nvSpPr>
        <p:spPr>
          <a:xfrm>
            <a:off x="6337920" y="1789956"/>
            <a:ext cx="377428" cy="186035"/>
          </a:xfrm>
          <a:prstGeom prst="rect">
            <a:avLst/>
          </a:prstGeom>
          <a:noFill/>
          <a:ln/>
        </p:spPr>
        <p:txBody>
          <a:bodyPr wrap="none" lIns="0" tIns="0" rIns="0" bIns="0" rtlCol="0" anchor="ctr"/>
          <a:lstStyle/>
          <a:p>
            <a:pPr algn="ctr" indent="0" marL="0">
              <a:lnSpc>
                <a:spcPct val="100000"/>
              </a:lnSpc>
              <a:buNone/>
            </a:pPr>
            <a:r>
              <a:rPr lang="en-US" sz="1150" b="1" dirty="0">
                <a:solidFill>
                  <a:srgbClr val="FFFFFF"/>
                </a:solidFill>
                <a:latin typeface="Montserrat Extra Bold" pitchFamily="34" charset="0"/>
                <a:ea typeface="Montserrat Extra Bold" pitchFamily="34" charset="-122"/>
                <a:cs typeface="Montserrat Extra Bold" pitchFamily="34" charset="-120"/>
              </a:rPr>
              <a:t>2</a:t>
            </a:r>
            <a:endParaRPr lang="en-US" sz="1150" dirty="0"/>
          </a:p>
        </p:txBody>
      </p:sp>
      <p:sp>
        <p:nvSpPr>
          <p:cNvPr id="14" name="Text 12"/>
          <p:cNvSpPr/>
          <p:nvPr/>
        </p:nvSpPr>
        <p:spPr>
          <a:xfrm>
            <a:off x="4772248" y="2193057"/>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Cấu trúc điều kiện</a:t>
            </a:r>
            <a:endParaRPr lang="en-US" sz="1200" dirty="0"/>
          </a:p>
        </p:txBody>
      </p:sp>
      <p:sp>
        <p:nvSpPr>
          <p:cNvPr id="15" name="Text 13"/>
          <p:cNvSpPr/>
          <p:nvPr/>
        </p:nvSpPr>
        <p:spPr>
          <a:xfrm>
            <a:off x="4772248" y="2461320"/>
            <a:ext cx="4194572"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Nắm vững cú pháp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if</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elif</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else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và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match-case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(Python 3.10+).</a:t>
            </a:r>
            <a:endParaRPr lang="en-US" sz="950" dirty="0"/>
          </a:p>
        </p:txBody>
      </p:sp>
      <p:sp>
        <p:nvSpPr>
          <p:cNvPr id="16" name="Shape 14"/>
          <p:cNvSpPr/>
          <p:nvPr/>
        </p:nvSpPr>
        <p:spPr>
          <a:xfrm>
            <a:off x="496119" y="3306514"/>
            <a:ext cx="4013895" cy="1113532"/>
          </a:xfrm>
          <a:prstGeom prst="roundRect">
            <a:avLst>
              <a:gd name="adj" fmla="val 6159"/>
            </a:avLst>
          </a:prstGeom>
          <a:solidFill>
            <a:srgbClr val="FFFFFF"/>
          </a:solidFill>
          <a:ln w="14288">
            <a:solidFill>
              <a:srgbClr val="DCBBBB"/>
            </a:solidFill>
            <a:prstDash val="solid"/>
          </a:ln>
        </p:spPr>
      </p:sp>
      <p:sp>
        <p:nvSpPr>
          <p:cNvPr id="17" name="Shape 15"/>
          <p:cNvSpPr/>
          <p:nvPr/>
        </p:nvSpPr>
        <p:spPr>
          <a:xfrm>
            <a:off x="496119" y="3292227"/>
            <a:ext cx="4013895" cy="57150"/>
          </a:xfrm>
          <a:prstGeom prst="roundRect">
            <a:avLst>
              <a:gd name="adj" fmla="val 91163"/>
            </a:avLst>
          </a:prstGeom>
          <a:solidFill>
            <a:srgbClr val="BE2727"/>
          </a:solidFill>
          <a:ln/>
        </p:spPr>
      </p:sp>
      <p:sp>
        <p:nvSpPr>
          <p:cNvPr id="18" name="Shape 16"/>
          <p:cNvSpPr/>
          <p:nvPr/>
        </p:nvSpPr>
        <p:spPr>
          <a:xfrm>
            <a:off x="2317031" y="3120479"/>
            <a:ext cx="372070" cy="372070"/>
          </a:xfrm>
          <a:prstGeom prst="roundRect">
            <a:avLst>
              <a:gd name="adj" fmla="val 153600"/>
            </a:avLst>
          </a:prstGeom>
          <a:solidFill>
            <a:srgbClr val="BE2727"/>
          </a:solidFill>
          <a:ln/>
        </p:spPr>
      </p:sp>
      <p:sp>
        <p:nvSpPr>
          <p:cNvPr id="19" name="Text 17"/>
          <p:cNvSpPr/>
          <p:nvPr/>
        </p:nvSpPr>
        <p:spPr>
          <a:xfrm>
            <a:off x="2200052" y="3213497"/>
            <a:ext cx="377428" cy="186035"/>
          </a:xfrm>
          <a:prstGeom prst="rect">
            <a:avLst/>
          </a:prstGeom>
          <a:noFill/>
          <a:ln/>
        </p:spPr>
        <p:txBody>
          <a:bodyPr wrap="none" lIns="0" tIns="0" rIns="0" bIns="0" rtlCol="0" anchor="ctr"/>
          <a:lstStyle/>
          <a:p>
            <a:pPr algn="ctr" indent="0" marL="0">
              <a:lnSpc>
                <a:spcPct val="100000"/>
              </a:lnSpc>
              <a:buNone/>
            </a:pPr>
            <a:r>
              <a:rPr lang="en-US" sz="1150" b="1" dirty="0">
                <a:solidFill>
                  <a:srgbClr val="FFFFFF"/>
                </a:solidFill>
                <a:latin typeface="Montserrat Extra Bold" pitchFamily="34" charset="0"/>
                <a:ea typeface="Montserrat Extra Bold" pitchFamily="34" charset="-122"/>
                <a:cs typeface="Montserrat Extra Bold" pitchFamily="34" charset="-120"/>
              </a:rPr>
              <a:t>3</a:t>
            </a:r>
            <a:endParaRPr lang="en-US" sz="1150" dirty="0"/>
          </a:p>
        </p:txBody>
      </p:sp>
      <p:sp>
        <p:nvSpPr>
          <p:cNvPr id="20" name="Text 18"/>
          <p:cNvSpPr/>
          <p:nvPr/>
        </p:nvSpPr>
        <p:spPr>
          <a:xfrm>
            <a:off x="634380" y="3616598"/>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Viết code rõ ràng</a:t>
            </a:r>
            <a:endParaRPr lang="en-US" sz="1200" dirty="0"/>
          </a:p>
        </p:txBody>
      </p:sp>
      <p:sp>
        <p:nvSpPr>
          <p:cNvPr id="21" name="Text 19"/>
          <p:cNvSpPr/>
          <p:nvPr/>
        </p:nvSpPr>
        <p:spPr>
          <a:xfrm>
            <a:off x="634380" y="3884861"/>
            <a:ext cx="373737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Biết cách viết code điều kiện ngắn gọn, dễ đọc và hiệu quả theo chuẩn Python.</a:t>
            </a:r>
            <a:endParaRPr lang="en-US" sz="950" dirty="0"/>
          </a:p>
        </p:txBody>
      </p:sp>
      <p:sp>
        <p:nvSpPr>
          <p:cNvPr id="22" name="Shape 20"/>
          <p:cNvSpPr/>
          <p:nvPr/>
        </p:nvSpPr>
        <p:spPr>
          <a:xfrm>
            <a:off x="4633987" y="3306514"/>
            <a:ext cx="4013895" cy="1113532"/>
          </a:xfrm>
          <a:prstGeom prst="roundRect">
            <a:avLst>
              <a:gd name="adj" fmla="val 6159"/>
            </a:avLst>
          </a:prstGeom>
          <a:solidFill>
            <a:srgbClr val="FFFFFF"/>
          </a:solidFill>
          <a:ln w="14288">
            <a:solidFill>
              <a:srgbClr val="DCBBBB"/>
            </a:solidFill>
            <a:prstDash val="solid"/>
          </a:ln>
        </p:spPr>
      </p:sp>
      <p:sp>
        <p:nvSpPr>
          <p:cNvPr id="23" name="Shape 21"/>
          <p:cNvSpPr/>
          <p:nvPr/>
        </p:nvSpPr>
        <p:spPr>
          <a:xfrm>
            <a:off x="4633987" y="3292227"/>
            <a:ext cx="4013895" cy="57150"/>
          </a:xfrm>
          <a:prstGeom prst="roundRect">
            <a:avLst>
              <a:gd name="adj" fmla="val 91163"/>
            </a:avLst>
          </a:prstGeom>
          <a:solidFill>
            <a:srgbClr val="BE2727"/>
          </a:solidFill>
          <a:ln/>
        </p:spPr>
      </p:sp>
      <p:sp>
        <p:nvSpPr>
          <p:cNvPr id="24" name="Shape 22"/>
          <p:cNvSpPr/>
          <p:nvPr/>
        </p:nvSpPr>
        <p:spPr>
          <a:xfrm>
            <a:off x="6454899" y="3120479"/>
            <a:ext cx="372070" cy="372070"/>
          </a:xfrm>
          <a:prstGeom prst="roundRect">
            <a:avLst>
              <a:gd name="adj" fmla="val 153600"/>
            </a:avLst>
          </a:prstGeom>
          <a:solidFill>
            <a:srgbClr val="BE2727"/>
          </a:solidFill>
          <a:ln/>
        </p:spPr>
      </p:sp>
      <p:sp>
        <p:nvSpPr>
          <p:cNvPr id="25" name="Text 23"/>
          <p:cNvSpPr/>
          <p:nvPr/>
        </p:nvSpPr>
        <p:spPr>
          <a:xfrm>
            <a:off x="6337920" y="3213497"/>
            <a:ext cx="377428" cy="186035"/>
          </a:xfrm>
          <a:prstGeom prst="rect">
            <a:avLst/>
          </a:prstGeom>
          <a:noFill/>
          <a:ln/>
        </p:spPr>
        <p:txBody>
          <a:bodyPr wrap="none" lIns="0" tIns="0" rIns="0" bIns="0" rtlCol="0" anchor="ctr"/>
          <a:lstStyle/>
          <a:p>
            <a:pPr algn="ctr" indent="0" marL="0">
              <a:lnSpc>
                <a:spcPct val="100000"/>
              </a:lnSpc>
              <a:buNone/>
            </a:pPr>
            <a:r>
              <a:rPr lang="en-US" sz="1150" b="1" dirty="0">
                <a:solidFill>
                  <a:srgbClr val="FFFFFF"/>
                </a:solidFill>
                <a:latin typeface="Montserrat Extra Bold" pitchFamily="34" charset="0"/>
                <a:ea typeface="Montserrat Extra Bold" pitchFamily="34" charset="-122"/>
                <a:cs typeface="Montserrat Extra Bold" pitchFamily="34" charset="-120"/>
              </a:rPr>
              <a:t>4</a:t>
            </a:r>
            <a:endParaRPr lang="en-US" sz="1150" dirty="0"/>
          </a:p>
        </p:txBody>
      </p:sp>
      <p:sp>
        <p:nvSpPr>
          <p:cNvPr id="26" name="Text 24"/>
          <p:cNvSpPr/>
          <p:nvPr/>
        </p:nvSpPr>
        <p:spPr>
          <a:xfrm>
            <a:off x="4772248" y="3616598"/>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Áp dụng thực tế</a:t>
            </a:r>
            <a:endParaRPr lang="en-US" sz="1200" dirty="0"/>
          </a:p>
        </p:txBody>
      </p:sp>
      <p:sp>
        <p:nvSpPr>
          <p:cNvPr id="27" name="Text 25"/>
          <p:cNvSpPr/>
          <p:nvPr/>
        </p:nvSpPr>
        <p:spPr>
          <a:xfrm>
            <a:off x="4772248" y="3884861"/>
            <a:ext cx="373737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Vận dụng kiến thức vào các bài toán thực tế: phân loại điểm, kiểm tra điều kiện, xử lý dữ liệu.</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520378"/>
            <a:ext cx="6819528" cy="387548"/>
          </a:xfrm>
          <a:prstGeom prst="rect">
            <a:avLst/>
          </a:prstGeom>
          <a:noFill/>
          <a:ln/>
        </p:spPr>
        <p:txBody>
          <a:bodyPr wrap="none" lIns="0" tIns="0" rIns="0" bIns="0" rtlCol="0" anchor="t"/>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Toán Tử Số Học (Arithmetic Operators)</a:t>
            </a:r>
            <a:endParaRPr lang="en-US" sz="2400" dirty="0"/>
          </a:p>
        </p:txBody>
      </p:sp>
      <p:sp>
        <p:nvSpPr>
          <p:cNvPr id="3" name="Text 1"/>
          <p:cNvSpPr/>
          <p:nvPr/>
        </p:nvSpPr>
        <p:spPr>
          <a:xfrm>
            <a:off x="496119" y="1155948"/>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Toán tử số học là công cụ cơ bản nhất trong mọi ngôn ngữ lập trình. Python cung cấp đầy đủ 7 toán tử để thực hiện các phép tính từ đơn giản đến nâng cao.</a:t>
            </a:r>
            <a:endParaRPr lang="en-US" sz="950" dirty="0"/>
          </a:p>
        </p:txBody>
      </p:sp>
      <p:sp>
        <p:nvSpPr>
          <p:cNvPr id="4" name="Shape 2"/>
          <p:cNvSpPr/>
          <p:nvPr/>
        </p:nvSpPr>
        <p:spPr>
          <a:xfrm>
            <a:off x="496119" y="1692399"/>
            <a:ext cx="8151763" cy="2930723"/>
          </a:xfrm>
          <a:prstGeom prst="roundRect">
            <a:avLst>
              <a:gd name="adj" fmla="val 1778"/>
            </a:avLst>
          </a:prstGeom>
          <a:noFill/>
          <a:ln w="4763">
            <a:solidFill>
              <a:srgbClr val="000000">
                <a:alpha val="8000"/>
              </a:srgbClr>
            </a:solidFill>
            <a:prstDash val="solid"/>
          </a:ln>
        </p:spPr>
      </p:sp>
      <p:sp>
        <p:nvSpPr>
          <p:cNvPr id="5" name="Text 3"/>
          <p:cNvSpPr/>
          <p:nvPr/>
        </p:nvSpPr>
        <p:spPr>
          <a:xfrm>
            <a:off x="625004" y="1776338"/>
            <a:ext cx="1428155" cy="198462"/>
          </a:xfrm>
          <a:prstGeom prst="rect">
            <a:avLst/>
          </a:prstGeom>
          <a:noFill/>
          <a:ln/>
        </p:spPr>
        <p:txBody>
          <a:bodyPr wrap="none" lIns="0" tIns="0" rIns="0" bIns="0" rtlCol="0" anchor="t"/>
          <a:lstStyle/>
          <a:p>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Toán tử</a:t>
            </a:r>
            <a:endParaRPr lang="en-US" sz="950" dirty="0"/>
          </a:p>
        </p:txBody>
      </p:sp>
      <p:sp>
        <p:nvSpPr>
          <p:cNvPr id="6" name="Text 4"/>
          <p:cNvSpPr/>
          <p:nvPr/>
        </p:nvSpPr>
        <p:spPr>
          <a:xfrm>
            <a:off x="1848669" y="1776338"/>
            <a:ext cx="3054251" cy="198462"/>
          </a:xfrm>
          <a:prstGeom prst="rect">
            <a:avLst/>
          </a:prstGeom>
          <a:noFill/>
          <a:ln/>
        </p:spPr>
        <p:txBody>
          <a:bodyPr wrap="none" lIns="0" tIns="0" rIns="0" bIns="0" rtlCol="0" anchor="t"/>
          <a:lstStyle/>
          <a:p>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Ý nghĩa</a:t>
            </a:r>
            <a:endParaRPr lang="en-US" sz="950" dirty="0"/>
          </a:p>
        </p:txBody>
      </p:sp>
      <p:sp>
        <p:nvSpPr>
          <p:cNvPr id="7" name="Text 5"/>
          <p:cNvSpPr/>
          <p:nvPr/>
        </p:nvSpPr>
        <p:spPr>
          <a:xfrm>
            <a:off x="4698429" y="1776338"/>
            <a:ext cx="2240012" cy="198462"/>
          </a:xfrm>
          <a:prstGeom prst="rect">
            <a:avLst/>
          </a:prstGeom>
          <a:noFill/>
          <a:ln/>
        </p:spPr>
        <p:txBody>
          <a:bodyPr wrap="none" lIns="0" tIns="0" rIns="0" bIns="0" rtlCol="0" anchor="t"/>
          <a:lstStyle/>
          <a:p>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Ví dụ</a:t>
            </a:r>
            <a:endParaRPr lang="en-US" sz="950" dirty="0"/>
          </a:p>
        </p:txBody>
      </p:sp>
      <p:sp>
        <p:nvSpPr>
          <p:cNvPr id="8" name="Text 6"/>
          <p:cNvSpPr/>
          <p:nvPr/>
        </p:nvSpPr>
        <p:spPr>
          <a:xfrm>
            <a:off x="6733952" y="1776338"/>
            <a:ext cx="2242393" cy="198462"/>
          </a:xfrm>
          <a:prstGeom prst="rect">
            <a:avLst/>
          </a:prstGeom>
          <a:noFill/>
          <a:ln/>
        </p:spPr>
        <p:txBody>
          <a:bodyPr wrap="none" lIns="0" tIns="0" rIns="0" bIns="0" rtlCol="0" anchor="t"/>
          <a:lstStyle/>
          <a:p>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Kết quả</a:t>
            </a:r>
            <a:endParaRPr lang="en-US" sz="950" dirty="0"/>
          </a:p>
        </p:txBody>
      </p:sp>
      <p:sp>
        <p:nvSpPr>
          <p:cNvPr id="9" name="Text 7"/>
          <p:cNvSpPr/>
          <p:nvPr/>
        </p:nvSpPr>
        <p:spPr>
          <a:xfrm>
            <a:off x="625004" y="2137916"/>
            <a:ext cx="1428155"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endParaRPr lang="en-US" sz="950" dirty="0"/>
          </a:p>
        </p:txBody>
      </p:sp>
      <p:sp>
        <p:nvSpPr>
          <p:cNvPr id="10" name="Text 8"/>
          <p:cNvSpPr/>
          <p:nvPr/>
        </p:nvSpPr>
        <p:spPr>
          <a:xfrm>
            <a:off x="1848669" y="2137916"/>
            <a:ext cx="3054251"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Cộng</a:t>
            </a:r>
            <a:endParaRPr lang="en-US" sz="950" dirty="0"/>
          </a:p>
        </p:txBody>
      </p:sp>
      <p:sp>
        <p:nvSpPr>
          <p:cNvPr id="11" name="Text 9"/>
          <p:cNvSpPr/>
          <p:nvPr/>
        </p:nvSpPr>
        <p:spPr>
          <a:xfrm>
            <a:off x="4698429" y="2137916"/>
            <a:ext cx="2240012"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5 + 3</a:t>
            </a:r>
            <a:endParaRPr lang="en-US" sz="950" dirty="0"/>
          </a:p>
        </p:txBody>
      </p:sp>
      <p:sp>
        <p:nvSpPr>
          <p:cNvPr id="12" name="Text 10"/>
          <p:cNvSpPr/>
          <p:nvPr/>
        </p:nvSpPr>
        <p:spPr>
          <a:xfrm>
            <a:off x="6733952" y="2137916"/>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8</a:t>
            </a:r>
            <a:endParaRPr lang="en-US" sz="950" dirty="0"/>
          </a:p>
        </p:txBody>
      </p:sp>
      <p:sp>
        <p:nvSpPr>
          <p:cNvPr id="13" name="Text 11"/>
          <p:cNvSpPr/>
          <p:nvPr/>
        </p:nvSpPr>
        <p:spPr>
          <a:xfrm>
            <a:off x="625004" y="2504256"/>
            <a:ext cx="1428155"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endParaRPr lang="en-US" sz="950" dirty="0"/>
          </a:p>
        </p:txBody>
      </p:sp>
      <p:sp>
        <p:nvSpPr>
          <p:cNvPr id="14" name="Text 12"/>
          <p:cNvSpPr/>
          <p:nvPr/>
        </p:nvSpPr>
        <p:spPr>
          <a:xfrm>
            <a:off x="1848669" y="2504256"/>
            <a:ext cx="3054251"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Trừ</a:t>
            </a:r>
            <a:endParaRPr lang="en-US" sz="950" dirty="0"/>
          </a:p>
        </p:txBody>
      </p:sp>
      <p:sp>
        <p:nvSpPr>
          <p:cNvPr id="15" name="Text 13"/>
          <p:cNvSpPr/>
          <p:nvPr/>
        </p:nvSpPr>
        <p:spPr>
          <a:xfrm>
            <a:off x="4698429" y="2504256"/>
            <a:ext cx="2240012"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10 - 4</a:t>
            </a:r>
            <a:endParaRPr lang="en-US" sz="950" dirty="0"/>
          </a:p>
        </p:txBody>
      </p:sp>
      <p:sp>
        <p:nvSpPr>
          <p:cNvPr id="16" name="Text 14"/>
          <p:cNvSpPr/>
          <p:nvPr/>
        </p:nvSpPr>
        <p:spPr>
          <a:xfrm>
            <a:off x="6733952" y="2504256"/>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6</a:t>
            </a:r>
            <a:endParaRPr lang="en-US" sz="950" dirty="0"/>
          </a:p>
        </p:txBody>
      </p:sp>
      <p:sp>
        <p:nvSpPr>
          <p:cNvPr id="17" name="Text 15"/>
          <p:cNvSpPr/>
          <p:nvPr/>
        </p:nvSpPr>
        <p:spPr>
          <a:xfrm>
            <a:off x="625004" y="2870597"/>
            <a:ext cx="1428155"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endParaRPr lang="en-US" sz="950" dirty="0"/>
          </a:p>
        </p:txBody>
      </p:sp>
      <p:sp>
        <p:nvSpPr>
          <p:cNvPr id="18" name="Text 16"/>
          <p:cNvSpPr/>
          <p:nvPr/>
        </p:nvSpPr>
        <p:spPr>
          <a:xfrm>
            <a:off x="1848669" y="2870597"/>
            <a:ext cx="3054251"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Nhân</a:t>
            </a:r>
            <a:endParaRPr lang="en-US" sz="950" dirty="0"/>
          </a:p>
        </p:txBody>
      </p:sp>
      <p:sp>
        <p:nvSpPr>
          <p:cNvPr id="19" name="Text 17"/>
          <p:cNvSpPr/>
          <p:nvPr/>
        </p:nvSpPr>
        <p:spPr>
          <a:xfrm>
            <a:off x="4698429" y="2870597"/>
            <a:ext cx="2240012"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3 * 4</a:t>
            </a:r>
            <a:endParaRPr lang="en-US" sz="950" dirty="0"/>
          </a:p>
        </p:txBody>
      </p:sp>
      <p:sp>
        <p:nvSpPr>
          <p:cNvPr id="20" name="Text 18"/>
          <p:cNvSpPr/>
          <p:nvPr/>
        </p:nvSpPr>
        <p:spPr>
          <a:xfrm>
            <a:off x="6733952" y="2870597"/>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12</a:t>
            </a:r>
            <a:endParaRPr lang="en-US" sz="950" dirty="0"/>
          </a:p>
        </p:txBody>
      </p:sp>
      <p:sp>
        <p:nvSpPr>
          <p:cNvPr id="21" name="Text 19"/>
          <p:cNvSpPr/>
          <p:nvPr/>
        </p:nvSpPr>
        <p:spPr>
          <a:xfrm>
            <a:off x="625004" y="3236937"/>
            <a:ext cx="1428155"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endParaRPr lang="en-US" sz="950" dirty="0"/>
          </a:p>
        </p:txBody>
      </p:sp>
      <p:sp>
        <p:nvSpPr>
          <p:cNvPr id="22" name="Text 20"/>
          <p:cNvSpPr/>
          <p:nvPr/>
        </p:nvSpPr>
        <p:spPr>
          <a:xfrm>
            <a:off x="1848669" y="3236937"/>
            <a:ext cx="3054251"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Chia (luôn ra float)</a:t>
            </a:r>
            <a:endParaRPr lang="en-US" sz="950" dirty="0"/>
          </a:p>
        </p:txBody>
      </p:sp>
      <p:sp>
        <p:nvSpPr>
          <p:cNvPr id="23" name="Text 21"/>
          <p:cNvSpPr/>
          <p:nvPr/>
        </p:nvSpPr>
        <p:spPr>
          <a:xfrm>
            <a:off x="4698429" y="3236937"/>
            <a:ext cx="2240012"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10 / 3</a:t>
            </a:r>
            <a:endParaRPr lang="en-US" sz="950" dirty="0"/>
          </a:p>
        </p:txBody>
      </p:sp>
      <p:sp>
        <p:nvSpPr>
          <p:cNvPr id="24" name="Text 22"/>
          <p:cNvSpPr/>
          <p:nvPr/>
        </p:nvSpPr>
        <p:spPr>
          <a:xfrm>
            <a:off x="6733952" y="3236937"/>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3.333...</a:t>
            </a:r>
            <a:endParaRPr lang="en-US" sz="950" dirty="0"/>
          </a:p>
        </p:txBody>
      </p:sp>
      <p:sp>
        <p:nvSpPr>
          <p:cNvPr id="25" name="Text 23"/>
          <p:cNvSpPr/>
          <p:nvPr/>
        </p:nvSpPr>
        <p:spPr>
          <a:xfrm>
            <a:off x="625004" y="3603278"/>
            <a:ext cx="1428155"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endParaRPr lang="en-US" sz="950" dirty="0"/>
          </a:p>
        </p:txBody>
      </p:sp>
      <p:sp>
        <p:nvSpPr>
          <p:cNvPr id="26" name="Text 24"/>
          <p:cNvSpPr/>
          <p:nvPr/>
        </p:nvSpPr>
        <p:spPr>
          <a:xfrm>
            <a:off x="1848669" y="3603278"/>
            <a:ext cx="3054251"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Chia lấy nguyên</a:t>
            </a:r>
            <a:endParaRPr lang="en-US" sz="950" dirty="0"/>
          </a:p>
        </p:txBody>
      </p:sp>
      <p:sp>
        <p:nvSpPr>
          <p:cNvPr id="27" name="Text 25"/>
          <p:cNvSpPr/>
          <p:nvPr/>
        </p:nvSpPr>
        <p:spPr>
          <a:xfrm>
            <a:off x="4698429" y="3603278"/>
            <a:ext cx="2240012"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10 // 3</a:t>
            </a:r>
            <a:endParaRPr lang="en-US" sz="950" dirty="0"/>
          </a:p>
        </p:txBody>
      </p:sp>
      <p:sp>
        <p:nvSpPr>
          <p:cNvPr id="28" name="Text 26"/>
          <p:cNvSpPr/>
          <p:nvPr/>
        </p:nvSpPr>
        <p:spPr>
          <a:xfrm>
            <a:off x="6733952" y="3603278"/>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3</a:t>
            </a:r>
            <a:endParaRPr lang="en-US" sz="950" dirty="0"/>
          </a:p>
        </p:txBody>
      </p:sp>
      <p:sp>
        <p:nvSpPr>
          <p:cNvPr id="29" name="Text 27"/>
          <p:cNvSpPr/>
          <p:nvPr/>
        </p:nvSpPr>
        <p:spPr>
          <a:xfrm>
            <a:off x="625004" y="3969618"/>
            <a:ext cx="1428155"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endParaRPr lang="en-US" sz="950" dirty="0"/>
          </a:p>
        </p:txBody>
      </p:sp>
      <p:sp>
        <p:nvSpPr>
          <p:cNvPr id="30" name="Text 28"/>
          <p:cNvSpPr/>
          <p:nvPr/>
        </p:nvSpPr>
        <p:spPr>
          <a:xfrm>
            <a:off x="1848669" y="3969618"/>
            <a:ext cx="3054251"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Chia lấy dư</a:t>
            </a:r>
            <a:endParaRPr lang="en-US" sz="950" dirty="0"/>
          </a:p>
        </p:txBody>
      </p:sp>
      <p:sp>
        <p:nvSpPr>
          <p:cNvPr id="31" name="Text 29"/>
          <p:cNvSpPr/>
          <p:nvPr/>
        </p:nvSpPr>
        <p:spPr>
          <a:xfrm>
            <a:off x="4698429" y="3969618"/>
            <a:ext cx="2240012"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10 % 3</a:t>
            </a:r>
            <a:endParaRPr lang="en-US" sz="950" dirty="0"/>
          </a:p>
        </p:txBody>
      </p:sp>
      <p:sp>
        <p:nvSpPr>
          <p:cNvPr id="32" name="Text 30"/>
          <p:cNvSpPr/>
          <p:nvPr/>
        </p:nvSpPr>
        <p:spPr>
          <a:xfrm>
            <a:off x="6733952" y="3969618"/>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1</a:t>
            </a:r>
            <a:endParaRPr lang="en-US" sz="950" dirty="0"/>
          </a:p>
        </p:txBody>
      </p:sp>
      <p:sp>
        <p:nvSpPr>
          <p:cNvPr id="33" name="Text 31"/>
          <p:cNvSpPr/>
          <p:nvPr/>
        </p:nvSpPr>
        <p:spPr>
          <a:xfrm>
            <a:off x="625004" y="4335959"/>
            <a:ext cx="1428155"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endParaRPr lang="en-US" sz="950" dirty="0"/>
          </a:p>
        </p:txBody>
      </p:sp>
      <p:sp>
        <p:nvSpPr>
          <p:cNvPr id="34" name="Text 32"/>
          <p:cNvSpPr/>
          <p:nvPr/>
        </p:nvSpPr>
        <p:spPr>
          <a:xfrm>
            <a:off x="1848669" y="4335959"/>
            <a:ext cx="3054251"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Lũy thừa</a:t>
            </a:r>
            <a:endParaRPr lang="en-US" sz="950" dirty="0"/>
          </a:p>
        </p:txBody>
      </p:sp>
      <p:sp>
        <p:nvSpPr>
          <p:cNvPr id="35" name="Text 33"/>
          <p:cNvSpPr/>
          <p:nvPr/>
        </p:nvSpPr>
        <p:spPr>
          <a:xfrm>
            <a:off x="4698429" y="4335959"/>
            <a:ext cx="2240012"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2 ** 3</a:t>
            </a:r>
            <a:endParaRPr lang="en-US" sz="950" dirty="0"/>
          </a:p>
        </p:txBody>
      </p:sp>
      <p:sp>
        <p:nvSpPr>
          <p:cNvPr id="36" name="Text 34"/>
          <p:cNvSpPr/>
          <p:nvPr/>
        </p:nvSpPr>
        <p:spPr>
          <a:xfrm>
            <a:off x="6733952" y="4335959"/>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8</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594271"/>
            <a:ext cx="5971133" cy="387548"/>
          </a:xfrm>
          <a:prstGeom prst="rect">
            <a:avLst/>
          </a:prstGeom>
          <a:noFill/>
          <a:ln/>
        </p:spPr>
        <p:txBody>
          <a:bodyPr wrap="none" lIns="0" tIns="0" rIns="0" bIns="0" rtlCol="0" anchor="t"/>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Toán Tử Số Học — Code Minh Họa</a:t>
            </a:r>
            <a:endParaRPr lang="en-US" sz="2400" dirty="0"/>
          </a:p>
        </p:txBody>
      </p:sp>
      <p:sp>
        <p:nvSpPr>
          <p:cNvPr id="3" name="Shape 1"/>
          <p:cNvSpPr/>
          <p:nvPr/>
        </p:nvSpPr>
        <p:spPr>
          <a:xfrm>
            <a:off x="496119" y="1307381"/>
            <a:ext cx="4347270" cy="2232571"/>
          </a:xfrm>
          <a:prstGeom prst="roundRect">
            <a:avLst>
              <a:gd name="adj" fmla="val 2334"/>
            </a:avLst>
          </a:prstGeom>
          <a:solidFill>
            <a:srgbClr val="F2F2F2"/>
          </a:solidFill>
          <a:ln/>
        </p:spPr>
      </p:sp>
      <p:sp>
        <p:nvSpPr>
          <p:cNvPr id="4" name="Shape 2"/>
          <p:cNvSpPr/>
          <p:nvPr/>
        </p:nvSpPr>
        <p:spPr>
          <a:xfrm>
            <a:off x="489942" y="1307381"/>
            <a:ext cx="4359622" cy="2232571"/>
          </a:xfrm>
          <a:prstGeom prst="roundRect">
            <a:avLst>
              <a:gd name="adj" fmla="val 833"/>
            </a:avLst>
          </a:prstGeom>
          <a:solidFill>
            <a:srgbClr val="F2F2F2"/>
          </a:solidFill>
          <a:ln/>
        </p:spPr>
      </p:sp>
      <p:sp>
        <p:nvSpPr>
          <p:cNvPr id="5" name="Text 3"/>
          <p:cNvSpPr/>
          <p:nvPr/>
        </p:nvSpPr>
        <p:spPr>
          <a:xfrm>
            <a:off x="644947" y="1431354"/>
            <a:ext cx="4049613" cy="1984623"/>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2863A"/>
                </a:solidFill>
                <a:highlight>
                  <a:srgbClr val="F2F2F2"/>
                </a:highlight>
                <a:latin typeface="Consolas" pitchFamily="34" charset="0"/>
                <a:ea typeface="Consolas" pitchFamily="34" charset="-122"/>
                <a:cs typeface="Consolas" pitchFamily="34" charset="-120"/>
              </a:rPr>
              <a:t>a = 10</a:t>
            </a:r>
            <a:endParaRPr lang="en-US" sz="950" dirty="0"/>
          </a:p>
          <a:p>
            <a:pPr algn="l" indent="0" marL="0">
              <a:lnSpc>
                <a:spcPct val="133000"/>
              </a:lnSpc>
              <a:buNone/>
            </a:pPr>
            <a:r>
              <a:rPr lang="en-US" sz="950" dirty="0">
                <a:solidFill>
                  <a:srgbClr val="22863A"/>
                </a:solidFill>
                <a:highlight>
                  <a:srgbClr val="F2F2F2"/>
                </a:highlight>
                <a:latin typeface="Consolas" pitchFamily="34" charset="0"/>
                <a:ea typeface="Consolas" pitchFamily="34" charset="-122"/>
                <a:cs typeface="Consolas" pitchFamily="34" charset="-120"/>
              </a:rPr>
              <a:t>b = 3</a:t>
            </a:r>
            <a:endParaRPr lang="en-US" sz="950" dirty="0"/>
          </a:p>
          <a:p>
            <a:pPr algn="l" indent="0" marL="0">
              <a:lnSpc>
                <a:spcPct val="133000"/>
              </a:lnSpc>
              <a:buNone/>
            </a:pPr>
            <a:endParaRPr lang="en-US" sz="950" dirty="0"/>
          </a:p>
          <a:p>
            <a:pPr algn="l" indent="0" marL="0">
              <a:lnSpc>
                <a:spcPct val="133000"/>
              </a:lnSpc>
              <a:buNone/>
            </a:pPr>
            <a:r>
              <a:rPr lang="en-US" sz="950" dirty="0">
                <a:solidFill>
                  <a:srgbClr val="22863A"/>
                </a:solidFill>
                <a:highlight>
                  <a:srgbClr val="F2F2F2"/>
                </a:highlight>
                <a:latin typeface="Consolas" pitchFamily="34" charset="0"/>
                <a:ea typeface="Consolas" pitchFamily="34" charset="-122"/>
                <a:cs typeface="Consolas" pitchFamily="34" charset="-120"/>
              </a:rPr>
              <a:t>print(a + b)   # 13</a:t>
            </a:r>
            <a:endParaRPr lang="en-US" sz="950" dirty="0"/>
          </a:p>
          <a:p>
            <a:pPr algn="l" indent="0" marL="0">
              <a:lnSpc>
                <a:spcPct val="133000"/>
              </a:lnSpc>
              <a:buNone/>
            </a:pPr>
            <a:r>
              <a:rPr lang="en-US" sz="950" dirty="0">
                <a:solidFill>
                  <a:srgbClr val="22863A"/>
                </a:solidFill>
                <a:highlight>
                  <a:srgbClr val="F2F2F2"/>
                </a:highlight>
                <a:latin typeface="Consolas" pitchFamily="34" charset="0"/>
                <a:ea typeface="Consolas" pitchFamily="34" charset="-122"/>
                <a:cs typeface="Consolas" pitchFamily="34" charset="-120"/>
              </a:rPr>
              <a:t>print(a - b)   # 7</a:t>
            </a:r>
            <a:endParaRPr lang="en-US" sz="950" dirty="0"/>
          </a:p>
          <a:p>
            <a:pPr algn="l" indent="0" marL="0">
              <a:lnSpc>
                <a:spcPct val="133000"/>
              </a:lnSpc>
              <a:buNone/>
            </a:pPr>
            <a:r>
              <a:rPr lang="en-US" sz="950" dirty="0">
                <a:solidFill>
                  <a:srgbClr val="22863A"/>
                </a:solidFill>
                <a:highlight>
                  <a:srgbClr val="F2F2F2"/>
                </a:highlight>
                <a:latin typeface="Consolas" pitchFamily="34" charset="0"/>
                <a:ea typeface="Consolas" pitchFamily="34" charset="-122"/>
                <a:cs typeface="Consolas" pitchFamily="34" charset="-120"/>
              </a:rPr>
              <a:t>print(a * b)   # 30</a:t>
            </a:r>
            <a:endParaRPr lang="en-US" sz="950" dirty="0"/>
          </a:p>
          <a:p>
            <a:pPr algn="l" indent="0" marL="0">
              <a:lnSpc>
                <a:spcPct val="133000"/>
              </a:lnSpc>
              <a:buNone/>
            </a:pPr>
            <a:r>
              <a:rPr lang="en-US" sz="950" dirty="0">
                <a:solidFill>
                  <a:srgbClr val="22863A"/>
                </a:solidFill>
                <a:highlight>
                  <a:srgbClr val="F2F2F2"/>
                </a:highlight>
                <a:latin typeface="Consolas" pitchFamily="34" charset="0"/>
                <a:ea typeface="Consolas" pitchFamily="34" charset="-122"/>
                <a:cs typeface="Consolas" pitchFamily="34" charset="-120"/>
              </a:rPr>
              <a:t>print(a / b)   # 3.333...</a:t>
            </a:r>
            <a:endParaRPr lang="en-US" sz="950" dirty="0"/>
          </a:p>
          <a:p>
            <a:pPr algn="l" indent="0" marL="0">
              <a:lnSpc>
                <a:spcPct val="133000"/>
              </a:lnSpc>
              <a:buNone/>
            </a:pPr>
            <a:r>
              <a:rPr lang="en-US" sz="950" dirty="0">
                <a:solidFill>
                  <a:srgbClr val="22863A"/>
                </a:solidFill>
                <a:highlight>
                  <a:srgbClr val="F2F2F2"/>
                </a:highlight>
                <a:latin typeface="Consolas" pitchFamily="34" charset="0"/>
                <a:ea typeface="Consolas" pitchFamily="34" charset="-122"/>
                <a:cs typeface="Consolas" pitchFamily="34" charset="-120"/>
              </a:rPr>
              <a:t>print(a // b)  # 3</a:t>
            </a:r>
            <a:endParaRPr lang="en-US" sz="950" dirty="0"/>
          </a:p>
          <a:p>
            <a:pPr algn="l" indent="0" marL="0">
              <a:lnSpc>
                <a:spcPct val="133000"/>
              </a:lnSpc>
              <a:buNone/>
            </a:pPr>
            <a:r>
              <a:rPr lang="en-US" sz="950" dirty="0">
                <a:solidFill>
                  <a:srgbClr val="22863A"/>
                </a:solidFill>
                <a:highlight>
                  <a:srgbClr val="F2F2F2"/>
                </a:highlight>
                <a:latin typeface="Consolas" pitchFamily="34" charset="0"/>
                <a:ea typeface="Consolas" pitchFamily="34" charset="-122"/>
                <a:cs typeface="Consolas" pitchFamily="34" charset="-120"/>
              </a:rPr>
              <a:t>print(a % b)   # 1</a:t>
            </a:r>
            <a:endParaRPr lang="en-US" sz="950" dirty="0"/>
          </a:p>
          <a:p>
            <a:pPr algn="l" indent="0" marL="0">
              <a:lnSpc>
                <a:spcPct val="133000"/>
              </a:lnSpc>
              <a:buNone/>
            </a:pPr>
            <a:r>
              <a:rPr lang="en-US" sz="950" dirty="0">
                <a:solidFill>
                  <a:srgbClr val="22863A"/>
                </a:solidFill>
                <a:highlight>
                  <a:srgbClr val="F2F2F2"/>
                </a:highlight>
                <a:latin typeface="Consolas" pitchFamily="34" charset="0"/>
                <a:ea typeface="Consolas" pitchFamily="34" charset="-122"/>
                <a:cs typeface="Consolas" pitchFamily="34" charset="-120"/>
              </a:rPr>
              <a:t>print(a ** b)  # 1000</a:t>
            </a:r>
            <a:endParaRPr lang="en-US" sz="950" dirty="0"/>
          </a:p>
        </p:txBody>
      </p:sp>
      <p:sp>
        <p:nvSpPr>
          <p:cNvPr id="6" name="Shape 4"/>
          <p:cNvSpPr/>
          <p:nvPr/>
        </p:nvSpPr>
        <p:spPr>
          <a:xfrm>
            <a:off x="496119" y="3679478"/>
            <a:ext cx="4347270" cy="730225"/>
          </a:xfrm>
          <a:prstGeom prst="roundRect">
            <a:avLst>
              <a:gd name="adj" fmla="val 7135"/>
            </a:avLst>
          </a:prstGeom>
          <a:solidFill>
            <a:srgbClr val="B6D6FC"/>
          </a:solidFill>
          <a:ln/>
        </p:spPr>
      </p:sp>
      <p:pic>
        <p:nvPicPr>
          <p:cNvPr id="7" name="Image 0" descr="preencoded.png">    </p:cNvPr>
          <p:cNvPicPr>
            <a:picLocks noChangeAspect="1"/>
          </p:cNvPicPr>
          <p:nvPr/>
        </p:nvPicPr>
        <p:blipFill>
          <a:blip r:embed="rId1"/>
          <a:stretch>
            <a:fillRect/>
          </a:stretch>
        </p:blipFill>
        <p:spPr>
          <a:xfrm>
            <a:off x="620092" y="3864025"/>
            <a:ext cx="155004" cy="123974"/>
          </a:xfrm>
          <a:prstGeom prst="rect">
            <a:avLst/>
          </a:prstGeom>
        </p:spPr>
      </p:pic>
      <p:sp>
        <p:nvSpPr>
          <p:cNvPr id="8" name="Text 5"/>
          <p:cNvSpPr/>
          <p:nvPr/>
        </p:nvSpPr>
        <p:spPr>
          <a:xfrm>
            <a:off x="899071" y="3834408"/>
            <a:ext cx="3820344"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Lưu ý: Phép chia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luôn trả về kiểu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float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dù chia hết. Dùng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nếu bạn chỉ muốn phần nguyên.</a:t>
            </a:r>
            <a:endParaRPr lang="en-US" sz="950" dirty="0"/>
          </a:p>
        </p:txBody>
      </p:sp>
      <p:sp>
        <p:nvSpPr>
          <p:cNvPr id="9" name="Shape 6"/>
          <p:cNvSpPr/>
          <p:nvPr/>
        </p:nvSpPr>
        <p:spPr>
          <a:xfrm>
            <a:off x="5061421" y="1167854"/>
            <a:ext cx="3680445" cy="3381375"/>
          </a:xfrm>
          <a:prstGeom prst="roundRect">
            <a:avLst>
              <a:gd name="adj" fmla="val 2641"/>
            </a:avLst>
          </a:prstGeom>
          <a:solidFill>
            <a:srgbClr val="BE2727"/>
          </a:solidFill>
          <a:ln/>
        </p:spPr>
      </p:sp>
      <p:sp>
        <p:nvSpPr>
          <p:cNvPr id="10" name="Text 7"/>
          <p:cNvSpPr/>
          <p:nvPr/>
        </p:nvSpPr>
        <p:spPr>
          <a:xfrm>
            <a:off x="5185395" y="1291828"/>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FFFFFF"/>
                </a:solidFill>
                <a:latin typeface="Montserrat Extra Bold" pitchFamily="34" charset="0"/>
                <a:ea typeface="Montserrat Extra Bold" pitchFamily="34" charset="-122"/>
                <a:cs typeface="Montserrat Extra Bold" pitchFamily="34" charset="-120"/>
              </a:rPr>
              <a:t>Ứng dụng thực tế</a:t>
            </a:r>
            <a:endParaRPr lang="en-US" sz="1200" dirty="0"/>
          </a:p>
        </p:txBody>
      </p:sp>
      <p:sp>
        <p:nvSpPr>
          <p:cNvPr id="11" name="Text 8"/>
          <p:cNvSpPr/>
          <p:nvPr/>
        </p:nvSpPr>
        <p:spPr>
          <a:xfrm>
            <a:off x="5185395" y="1609651"/>
            <a:ext cx="3432497" cy="928762"/>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950" dirty="0">
                <a:solidFill>
                  <a:srgbClr val="FFFFFF"/>
                </a:solidFill>
                <a:latin typeface="Montserrat" pitchFamily="34" charset="0"/>
                <a:ea typeface="Montserrat" pitchFamily="34" charset="-122"/>
                <a:cs typeface="Montserrat" pitchFamily="34" charset="-120"/>
              </a:rPr>
              <a:t>Tính tổng tiền, trung bình điểm học sinh</a:t>
            </a:r>
            <a:endParaRPr lang="en-US" sz="950" dirty="0"/>
          </a:p>
          <a:p>
            <a:pPr algn="l" marL="342900" indent="-342900">
              <a:lnSpc>
                <a:spcPct val="133000"/>
              </a:lnSpc>
              <a:buSzPct val="100000"/>
              <a:buChar char="•"/>
            </a:pPr>
            <a:r>
              <a:rPr lang="en-US" sz="950" dirty="0">
                <a:solidFill>
                  <a:srgbClr val="FFFFFF"/>
                </a:solidFill>
                <a:latin typeface="Montserrat" pitchFamily="34" charset="0"/>
                <a:ea typeface="Montserrat" pitchFamily="34" charset="-122"/>
                <a:cs typeface="Montserrat" pitchFamily="34" charset="-120"/>
              </a:rPr>
              <a:t>Tính diện tích, chu vi, thể tích hình học</a:t>
            </a:r>
            <a:endParaRPr lang="en-US" sz="950" dirty="0"/>
          </a:p>
          <a:p>
            <a:pPr algn="l" marL="342900" indent="-342900">
              <a:lnSpc>
                <a:spcPct val="133000"/>
              </a:lnSpc>
              <a:buSzPct val="100000"/>
              <a:buChar char="•"/>
            </a:pPr>
            <a:r>
              <a:rPr lang="en-US" sz="950" dirty="0">
                <a:solidFill>
                  <a:srgbClr val="FFFFFF"/>
                </a:solidFill>
                <a:latin typeface="Montserrat" pitchFamily="34" charset="0"/>
                <a:ea typeface="Montserrat" pitchFamily="34" charset="-122"/>
                <a:cs typeface="Montserrat" pitchFamily="34" charset="-120"/>
              </a:rPr>
              <a:t>Chuyển đổi đơn vị: giờ → phút, km → m</a:t>
            </a:r>
            <a:endParaRPr lang="en-US" sz="950" dirty="0"/>
          </a:p>
          <a:p>
            <a:pPr algn="l" marL="342900" indent="-342900">
              <a:lnSpc>
                <a:spcPct val="133000"/>
              </a:lnSpc>
              <a:buSzPct val="100000"/>
              <a:buChar char="•"/>
            </a:pPr>
            <a:r>
              <a:rPr lang="en-US" sz="950" dirty="0">
                <a:solidFill>
                  <a:srgbClr val="FFFFFF"/>
                </a:solidFill>
                <a:latin typeface="Montserrat" pitchFamily="34" charset="0"/>
                <a:ea typeface="Montserrat" pitchFamily="34" charset="-122"/>
                <a:cs typeface="Montserrat" pitchFamily="34" charset="-120"/>
              </a:rPr>
              <a:t>Kiểm tra số chẵn/lẻ bằng toán tử </a:t>
            </a:r>
            <a:pPr algn="l" marL="342900" indent="-342900">
              <a:lnSpc>
                <a:spcPct val="133000"/>
              </a:lnSpc>
              <a:buSzPct val="100000"/>
              <a:buChar char="•"/>
            </a:pPr>
            <a:r>
              <a:rPr lang="en-US" sz="950" dirty="0">
                <a:solidFill>
                  <a:srgbClr val="FFFFFF"/>
                </a:solidFill>
                <a:highlight>
                  <a:srgbClr val="CB3434"/>
                </a:highlight>
                <a:latin typeface="Consolas" pitchFamily="34" charset="0"/>
                <a:ea typeface="Consolas" pitchFamily="34" charset="-122"/>
                <a:cs typeface="Consolas" pitchFamily="34" charset="-120"/>
              </a:rPr>
              <a: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892722"/>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Toán Tử So Sánh (Comparison Operators)</a:t>
            </a:r>
            <a:endParaRPr lang="en-US" sz="2400" dirty="0"/>
          </a:p>
        </p:txBody>
      </p:sp>
      <p:sp>
        <p:nvSpPr>
          <p:cNvPr id="4" name="Text 1"/>
          <p:cNvSpPr/>
          <p:nvPr/>
        </p:nvSpPr>
        <p:spPr>
          <a:xfrm>
            <a:off x="3925119" y="2853854"/>
            <a:ext cx="4722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Toán tử so sánh dùng để so sánh hai giá trị. Kết quả luôn trả về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True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hoặc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False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đây là nền tảng cho mọi cấu trúc điều kiện.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691083"/>
            <a:ext cx="3868489" cy="387548"/>
          </a:xfrm>
          <a:prstGeom prst="rect">
            <a:avLst/>
          </a:prstGeom>
          <a:noFill/>
          <a:ln/>
        </p:spPr>
        <p:txBody>
          <a:bodyPr wrap="none" lIns="0" tIns="0" rIns="0" bIns="0" rtlCol="0" anchor="t"/>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Các Toán Tử So Sánh</a:t>
            </a:r>
            <a:endParaRPr lang="en-US" sz="2400" dirty="0"/>
          </a:p>
        </p:txBody>
      </p:sp>
      <p:sp>
        <p:nvSpPr>
          <p:cNvPr id="3" name="Shape 1"/>
          <p:cNvSpPr/>
          <p:nvPr/>
        </p:nvSpPr>
        <p:spPr>
          <a:xfrm>
            <a:off x="496119" y="1404193"/>
            <a:ext cx="1900312" cy="797570"/>
          </a:xfrm>
          <a:prstGeom prst="roundRect">
            <a:avLst>
              <a:gd name="adj" fmla="val 6532"/>
            </a:avLst>
          </a:prstGeom>
          <a:solidFill>
            <a:srgbClr val="FFFFFF"/>
          </a:solidFill>
          <a:ln w="14288">
            <a:solidFill>
              <a:srgbClr val="DCBBBB"/>
            </a:solidFill>
            <a:prstDash val="solid"/>
          </a:ln>
        </p:spPr>
      </p:sp>
      <p:sp>
        <p:nvSpPr>
          <p:cNvPr id="4" name="Text 2"/>
          <p:cNvSpPr/>
          <p:nvPr/>
        </p:nvSpPr>
        <p:spPr>
          <a:xfrm>
            <a:off x="634380" y="1542455"/>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highlight>
                  <a:srgbClr val="F2F2F2"/>
                </a:highlight>
                <a:latin typeface="Consolas" pitchFamily="34" charset="0"/>
                <a:ea typeface="Consolas" pitchFamily="34" charset="-122"/>
                <a:cs typeface="Consolas" pitchFamily="34" charset="-120"/>
              </a:rPr>
              <a:t>==</a:t>
            </a:r>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   Bằng nhau</a:t>
            </a:r>
            <a:endParaRPr lang="en-US" sz="1200" dirty="0"/>
          </a:p>
        </p:txBody>
      </p:sp>
      <p:sp>
        <p:nvSpPr>
          <p:cNvPr id="5" name="Text 3"/>
          <p:cNvSpPr/>
          <p:nvPr/>
        </p:nvSpPr>
        <p:spPr>
          <a:xfrm>
            <a:off x="634380" y="1860277"/>
            <a:ext cx="2080989"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age == 20</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True</a:t>
            </a:r>
            <a:endParaRPr lang="en-US" sz="950" dirty="0"/>
          </a:p>
        </p:txBody>
      </p:sp>
      <p:sp>
        <p:nvSpPr>
          <p:cNvPr id="6" name="Shape 4"/>
          <p:cNvSpPr/>
          <p:nvPr/>
        </p:nvSpPr>
        <p:spPr>
          <a:xfrm>
            <a:off x="2520404" y="1404193"/>
            <a:ext cx="1900312" cy="797570"/>
          </a:xfrm>
          <a:prstGeom prst="roundRect">
            <a:avLst>
              <a:gd name="adj" fmla="val 6532"/>
            </a:avLst>
          </a:prstGeom>
          <a:solidFill>
            <a:srgbClr val="FFFFFF"/>
          </a:solidFill>
          <a:ln w="14288">
            <a:solidFill>
              <a:srgbClr val="DCBBBB"/>
            </a:solidFill>
            <a:prstDash val="solid"/>
          </a:ln>
        </p:spPr>
      </p:sp>
      <p:sp>
        <p:nvSpPr>
          <p:cNvPr id="7" name="Text 5"/>
          <p:cNvSpPr/>
          <p:nvPr/>
        </p:nvSpPr>
        <p:spPr>
          <a:xfrm>
            <a:off x="2658666" y="1542455"/>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highlight>
                  <a:srgbClr val="F2F2F2"/>
                </a:highlight>
                <a:latin typeface="Consolas" pitchFamily="34" charset="0"/>
                <a:ea typeface="Consolas" pitchFamily="34" charset="-122"/>
                <a:cs typeface="Consolas" pitchFamily="34" charset="-120"/>
              </a:rPr>
              <a:t>!=</a:t>
            </a:r>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   Khác nhau</a:t>
            </a:r>
            <a:endParaRPr lang="en-US" sz="1200" dirty="0"/>
          </a:p>
        </p:txBody>
      </p:sp>
      <p:sp>
        <p:nvSpPr>
          <p:cNvPr id="8" name="Text 6"/>
          <p:cNvSpPr/>
          <p:nvPr/>
        </p:nvSpPr>
        <p:spPr>
          <a:xfrm>
            <a:off x="2658666" y="1860277"/>
            <a:ext cx="2080989"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age != 25</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True</a:t>
            </a:r>
            <a:endParaRPr lang="en-US" sz="950" dirty="0"/>
          </a:p>
        </p:txBody>
      </p:sp>
      <p:sp>
        <p:nvSpPr>
          <p:cNvPr id="9" name="Shape 7"/>
          <p:cNvSpPr/>
          <p:nvPr/>
        </p:nvSpPr>
        <p:spPr>
          <a:xfrm>
            <a:off x="496119" y="2325737"/>
            <a:ext cx="1900312" cy="991419"/>
          </a:xfrm>
          <a:prstGeom prst="roundRect">
            <a:avLst>
              <a:gd name="adj" fmla="val 5255"/>
            </a:avLst>
          </a:prstGeom>
          <a:solidFill>
            <a:srgbClr val="FFFFFF"/>
          </a:solidFill>
          <a:ln w="14288">
            <a:solidFill>
              <a:srgbClr val="DCBBBB"/>
            </a:solidFill>
            <a:prstDash val="solid"/>
          </a:ln>
        </p:spPr>
      </p:sp>
      <p:sp>
        <p:nvSpPr>
          <p:cNvPr id="10" name="Text 8"/>
          <p:cNvSpPr/>
          <p:nvPr/>
        </p:nvSpPr>
        <p:spPr>
          <a:xfrm>
            <a:off x="634380" y="2463998"/>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highlight>
                  <a:srgbClr val="F2F2F2"/>
                </a:highlight>
                <a:latin typeface="Consolas" pitchFamily="34" charset="0"/>
                <a:ea typeface="Consolas" pitchFamily="34" charset="-122"/>
                <a:cs typeface="Consolas" pitchFamily="34" charset="-120"/>
              </a:rPr>
              <a:t>&gt;</a:t>
            </a:r>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 / </a:t>
            </a:r>
            <a:pPr algn="l" indent="0" marL="0">
              <a:lnSpc>
                <a:spcPct val="104000"/>
              </a:lnSpc>
              <a:buNone/>
            </a:pPr>
            <a:r>
              <a:rPr lang="en-US" sz="1200" b="1" dirty="0">
                <a:solidFill>
                  <a:srgbClr val="000000"/>
                </a:solidFill>
                <a:highlight>
                  <a:srgbClr val="F2F2F2"/>
                </a:highlight>
                <a:latin typeface="Consolas" pitchFamily="34" charset="0"/>
                <a:ea typeface="Consolas" pitchFamily="34" charset="-122"/>
                <a:cs typeface="Consolas" pitchFamily="34" charset="-120"/>
              </a:rPr>
              <a:t>&lt;</a:t>
            </a:r>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   Lớn/Nhỏ hơn</a:t>
            </a:r>
            <a:endParaRPr lang="en-US" sz="1200" dirty="0"/>
          </a:p>
        </p:txBody>
      </p:sp>
      <p:sp>
        <p:nvSpPr>
          <p:cNvPr id="11" name="Text 9"/>
          <p:cNvSpPr/>
          <p:nvPr/>
        </p:nvSpPr>
        <p:spPr>
          <a:xfrm>
            <a:off x="634380" y="2781821"/>
            <a:ext cx="2080989"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score &gt; 9</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False</a:t>
            </a:r>
            <a:endParaRPr lang="en-US" sz="950" dirty="0"/>
          </a:p>
        </p:txBody>
      </p:sp>
      <p:sp>
        <p:nvSpPr>
          <p:cNvPr id="12" name="Shape 10"/>
          <p:cNvSpPr/>
          <p:nvPr/>
        </p:nvSpPr>
        <p:spPr>
          <a:xfrm>
            <a:off x="2520404" y="2325737"/>
            <a:ext cx="1900312" cy="991419"/>
          </a:xfrm>
          <a:prstGeom prst="roundRect">
            <a:avLst>
              <a:gd name="adj" fmla="val 5255"/>
            </a:avLst>
          </a:prstGeom>
          <a:solidFill>
            <a:srgbClr val="FFFFFF"/>
          </a:solidFill>
          <a:ln w="14288">
            <a:solidFill>
              <a:srgbClr val="DCBBBB"/>
            </a:solidFill>
            <a:prstDash val="solid"/>
          </a:ln>
        </p:spPr>
      </p:sp>
      <p:sp>
        <p:nvSpPr>
          <p:cNvPr id="13" name="Text 11"/>
          <p:cNvSpPr/>
          <p:nvPr/>
        </p:nvSpPr>
        <p:spPr>
          <a:xfrm>
            <a:off x="2658666" y="2463998"/>
            <a:ext cx="1623789" cy="387697"/>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000000"/>
                </a:solidFill>
                <a:highlight>
                  <a:srgbClr val="F2F2F2"/>
                </a:highlight>
                <a:latin typeface="Consolas" pitchFamily="34" charset="0"/>
                <a:ea typeface="Consolas" pitchFamily="34" charset="-122"/>
                <a:cs typeface="Consolas" pitchFamily="34" charset="-120"/>
              </a:rPr>
              <a:t>&gt;=</a:t>
            </a:r>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 / </a:t>
            </a:r>
            <a:pPr algn="l" indent="0" marL="0">
              <a:lnSpc>
                <a:spcPct val="104000"/>
              </a:lnSpc>
              <a:buNone/>
            </a:pPr>
            <a:r>
              <a:rPr lang="en-US" sz="1200" b="1" dirty="0">
                <a:solidFill>
                  <a:srgbClr val="000000"/>
                </a:solidFill>
                <a:highlight>
                  <a:srgbClr val="F2F2F2"/>
                </a:highlight>
                <a:latin typeface="Consolas" pitchFamily="34" charset="0"/>
                <a:ea typeface="Consolas" pitchFamily="34" charset="-122"/>
                <a:cs typeface="Consolas" pitchFamily="34" charset="-120"/>
              </a:rPr>
              <a:t>&lt;=</a:t>
            </a:r>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   Lớn/Nhỏ hơn hoặc bằng</a:t>
            </a:r>
            <a:endParaRPr lang="en-US" sz="1200" dirty="0"/>
          </a:p>
        </p:txBody>
      </p:sp>
      <p:sp>
        <p:nvSpPr>
          <p:cNvPr id="14" name="Text 12"/>
          <p:cNvSpPr/>
          <p:nvPr/>
        </p:nvSpPr>
        <p:spPr>
          <a:xfrm>
            <a:off x="2658666" y="2975670"/>
            <a:ext cx="2080989"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age &gt;= 18</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True</a:t>
            </a:r>
            <a:endParaRPr lang="en-US" sz="950" dirty="0"/>
          </a:p>
        </p:txBody>
      </p:sp>
      <p:sp>
        <p:nvSpPr>
          <p:cNvPr id="15" name="Shape 13"/>
          <p:cNvSpPr/>
          <p:nvPr/>
        </p:nvSpPr>
        <p:spPr>
          <a:xfrm>
            <a:off x="4728046" y="1404193"/>
            <a:ext cx="3924598" cy="1637184"/>
          </a:xfrm>
          <a:prstGeom prst="roundRect">
            <a:avLst>
              <a:gd name="adj" fmla="val 3182"/>
            </a:avLst>
          </a:prstGeom>
          <a:solidFill>
            <a:srgbClr val="F2F2F2"/>
          </a:solidFill>
          <a:ln/>
        </p:spPr>
      </p:sp>
      <p:sp>
        <p:nvSpPr>
          <p:cNvPr id="16" name="Shape 14"/>
          <p:cNvSpPr/>
          <p:nvPr/>
        </p:nvSpPr>
        <p:spPr>
          <a:xfrm>
            <a:off x="4721870" y="1404193"/>
            <a:ext cx="3936950" cy="1637184"/>
          </a:xfrm>
          <a:prstGeom prst="roundRect">
            <a:avLst>
              <a:gd name="adj" fmla="val 1137"/>
            </a:avLst>
          </a:prstGeom>
          <a:solidFill>
            <a:srgbClr val="F2F2F2"/>
          </a:solidFill>
          <a:ln/>
        </p:spPr>
      </p:sp>
      <p:sp>
        <p:nvSpPr>
          <p:cNvPr id="17" name="Text 15"/>
          <p:cNvSpPr/>
          <p:nvPr/>
        </p:nvSpPr>
        <p:spPr>
          <a:xfrm>
            <a:off x="4876874" y="1528167"/>
            <a:ext cx="3626941"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age = 20</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score = 8.5</a:t>
            </a:r>
            <a:endParaRPr lang="en-US" sz="950" dirty="0"/>
          </a:p>
          <a:p>
            <a:pPr algn="l" indent="0" marL="0">
              <a:lnSpc>
                <a:spcPct val="133000"/>
              </a:lnSpc>
              <a:buNone/>
            </a:pP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print(age &gt;= 18)   # True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print(score &gt; 9)   # False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print(age == 20)   # True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print(age != 25)   # True</a:t>
            </a:r>
            <a:endParaRPr lang="en-US" sz="950" dirty="0"/>
          </a:p>
        </p:txBody>
      </p:sp>
      <p:sp>
        <p:nvSpPr>
          <p:cNvPr id="18" name="Shape 16"/>
          <p:cNvSpPr/>
          <p:nvPr/>
        </p:nvSpPr>
        <p:spPr>
          <a:xfrm>
            <a:off x="4728046" y="3180904"/>
            <a:ext cx="3924598" cy="1131912"/>
          </a:xfrm>
          <a:prstGeom prst="roundRect">
            <a:avLst>
              <a:gd name="adj" fmla="val 4603"/>
            </a:avLst>
          </a:prstGeom>
          <a:solidFill>
            <a:srgbClr val="FCF2B5"/>
          </a:solidFill>
          <a:ln/>
        </p:spPr>
      </p:sp>
      <p:pic>
        <p:nvPicPr>
          <p:cNvPr id="19" name="Image 0" descr="preencoded.png">    </p:cNvPr>
          <p:cNvPicPr>
            <a:picLocks noChangeAspect="1"/>
          </p:cNvPicPr>
          <p:nvPr/>
        </p:nvPicPr>
        <p:blipFill>
          <a:blip r:embed="rId1"/>
          <a:stretch>
            <a:fillRect/>
          </a:stretch>
        </p:blipFill>
        <p:spPr>
          <a:xfrm>
            <a:off x="4852020" y="3365450"/>
            <a:ext cx="155004" cy="123974"/>
          </a:xfrm>
          <a:prstGeom prst="rect">
            <a:avLst/>
          </a:prstGeom>
        </p:spPr>
      </p:pic>
      <p:sp>
        <p:nvSpPr>
          <p:cNvPr id="20" name="Text 17"/>
          <p:cNvSpPr/>
          <p:nvPr/>
        </p:nvSpPr>
        <p:spPr>
          <a:xfrm>
            <a:off x="5130998" y="3335834"/>
            <a:ext cx="3397672" cy="803374"/>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Lưu ý quan trọng!</a:t>
            </a:r>
            <a:endParaRPr lang="en-US" sz="950" dirty="0"/>
          </a:p>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là so sánh, còn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là gán giá trị. Đây là lỗi phổ biến của người mới học!</a:t>
            </a:r>
            <a:endParaRPr lang="en-US" sz="950" dirty="0"/>
          </a:p>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So sánh chuỗi phân biệt hoa thường: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 != "a"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1482403"/>
            <a:ext cx="5986016" cy="387548"/>
          </a:xfrm>
          <a:prstGeom prst="rect">
            <a:avLst/>
          </a:prstGeom>
          <a:noFill/>
          <a:ln/>
        </p:spPr>
        <p:txBody>
          <a:bodyPr wrap="none" lIns="0" tIns="0" rIns="0" bIns="0" rtlCol="0" anchor="t"/>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Toán Tử Logic (Logical Operators)</a:t>
            </a:r>
            <a:endParaRPr lang="en-US" sz="2400" dirty="0"/>
          </a:p>
        </p:txBody>
      </p:sp>
      <p:sp>
        <p:nvSpPr>
          <p:cNvPr id="3" name="Text 1"/>
          <p:cNvSpPr/>
          <p:nvPr/>
        </p:nvSpPr>
        <p:spPr>
          <a:xfrm>
            <a:off x="496119" y="211797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Toán tử logic cho phép kết hợp nhiều điều kiện lại với nhau, tạo nên những biểu thức điều kiện phức tạp và mạnh mẽ hơn.</a:t>
            </a:r>
            <a:endParaRPr lang="en-US" sz="950" dirty="0"/>
          </a:p>
        </p:txBody>
      </p:sp>
      <p:sp>
        <p:nvSpPr>
          <p:cNvPr id="4" name="Shape 2"/>
          <p:cNvSpPr/>
          <p:nvPr/>
        </p:nvSpPr>
        <p:spPr>
          <a:xfrm>
            <a:off x="496119" y="2455962"/>
            <a:ext cx="2634555" cy="1205061"/>
          </a:xfrm>
          <a:prstGeom prst="roundRect">
            <a:avLst>
              <a:gd name="adj" fmla="val 4323"/>
            </a:avLst>
          </a:prstGeom>
          <a:solidFill>
            <a:srgbClr val="F6D5D5"/>
          </a:solidFill>
          <a:ln w="4763">
            <a:solidFill>
              <a:srgbClr val="DCBBBB"/>
            </a:solidFill>
            <a:prstDash val="solid"/>
          </a:ln>
        </p:spPr>
      </p:sp>
      <p:sp>
        <p:nvSpPr>
          <p:cNvPr id="5" name="Text 3"/>
          <p:cNvSpPr/>
          <p:nvPr/>
        </p:nvSpPr>
        <p:spPr>
          <a:xfrm>
            <a:off x="624855" y="2584698"/>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and — Và</a:t>
            </a:r>
            <a:endParaRPr lang="en-US" sz="1200" dirty="0"/>
          </a:p>
        </p:txBody>
      </p:sp>
      <p:sp>
        <p:nvSpPr>
          <p:cNvPr id="6" name="Text 4"/>
          <p:cNvSpPr/>
          <p:nvPr/>
        </p:nvSpPr>
        <p:spPr>
          <a:xfrm>
            <a:off x="624855" y="2852961"/>
            <a:ext cx="2377083" cy="67932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Tất cả điều kiện phải đúng thì kết quả mới là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True</a:t>
            </a:r>
            <a:pPr algn="l" indent="0" marL="0">
              <a:lnSpc>
                <a:spcPct val="133000"/>
              </a:lnSpc>
              <a:spcAft>
                <a:spcPts val="550"/>
              </a:spcAft>
              <a:buNone/>
            </a:pPr>
            <a:r>
              <a:rPr lang="en-US" sz="950" dirty="0">
                <a:solidFill>
                  <a:srgbClr val="000000"/>
                </a:solidFill>
                <a:latin typeface="Montserrat" pitchFamily="34" charset="0"/>
                <a:ea typeface="Montserrat" pitchFamily="34" charset="-122"/>
                <a:cs typeface="Montserrat" pitchFamily="34" charset="-120"/>
              </a:rPr>
              <a:t>.</a:t>
            </a:r>
            <a:endParaRPr lang="en-US" sz="950" dirty="0"/>
          </a:p>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age &gt; 18 and score &gt;= 5</a:t>
            </a:r>
            <a:endParaRPr lang="en-US" sz="950" dirty="0"/>
          </a:p>
        </p:txBody>
      </p:sp>
      <p:sp>
        <p:nvSpPr>
          <p:cNvPr id="7" name="Shape 5"/>
          <p:cNvSpPr/>
          <p:nvPr/>
        </p:nvSpPr>
        <p:spPr>
          <a:xfrm>
            <a:off x="3254648" y="2455962"/>
            <a:ext cx="2634630" cy="1205061"/>
          </a:xfrm>
          <a:prstGeom prst="roundRect">
            <a:avLst>
              <a:gd name="adj" fmla="val 4323"/>
            </a:avLst>
          </a:prstGeom>
          <a:solidFill>
            <a:srgbClr val="F6D5D5"/>
          </a:solidFill>
          <a:ln w="4763">
            <a:solidFill>
              <a:srgbClr val="DCBBBB"/>
            </a:solidFill>
            <a:prstDash val="solid"/>
          </a:ln>
        </p:spPr>
      </p:sp>
      <p:sp>
        <p:nvSpPr>
          <p:cNvPr id="8" name="Text 6"/>
          <p:cNvSpPr/>
          <p:nvPr/>
        </p:nvSpPr>
        <p:spPr>
          <a:xfrm>
            <a:off x="3383384" y="2584698"/>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or — Hoặc</a:t>
            </a:r>
            <a:endParaRPr lang="en-US" sz="1200" dirty="0"/>
          </a:p>
        </p:txBody>
      </p:sp>
      <p:sp>
        <p:nvSpPr>
          <p:cNvPr id="9" name="Text 7"/>
          <p:cNvSpPr/>
          <p:nvPr/>
        </p:nvSpPr>
        <p:spPr>
          <a:xfrm>
            <a:off x="3383384" y="2852961"/>
            <a:ext cx="2377157" cy="67932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Chỉ cần ít nhất một điều kiện đúng thì kết quả là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True</a:t>
            </a:r>
            <a:pPr algn="l" indent="0" marL="0">
              <a:lnSpc>
                <a:spcPct val="133000"/>
              </a:lnSpc>
              <a:spcAft>
                <a:spcPts val="550"/>
              </a:spcAft>
              <a:buNone/>
            </a:pPr>
            <a:r>
              <a:rPr lang="en-US" sz="950" dirty="0">
                <a:solidFill>
                  <a:srgbClr val="000000"/>
                </a:solidFill>
                <a:latin typeface="Montserrat" pitchFamily="34" charset="0"/>
                <a:ea typeface="Montserrat" pitchFamily="34" charset="-122"/>
                <a:cs typeface="Montserrat" pitchFamily="34" charset="-120"/>
              </a:rPr>
              <a:t>.</a:t>
            </a:r>
            <a:endParaRPr lang="en-US" sz="950" dirty="0"/>
          </a:p>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age &lt; 18 or score &lt; 5</a:t>
            </a:r>
            <a:endParaRPr lang="en-US" sz="950" dirty="0"/>
          </a:p>
        </p:txBody>
      </p:sp>
      <p:sp>
        <p:nvSpPr>
          <p:cNvPr id="10" name="Shape 8"/>
          <p:cNvSpPr/>
          <p:nvPr/>
        </p:nvSpPr>
        <p:spPr>
          <a:xfrm>
            <a:off x="6013252" y="2455962"/>
            <a:ext cx="2634555" cy="1205061"/>
          </a:xfrm>
          <a:prstGeom prst="roundRect">
            <a:avLst>
              <a:gd name="adj" fmla="val 4323"/>
            </a:avLst>
          </a:prstGeom>
          <a:solidFill>
            <a:srgbClr val="F6D5D5"/>
          </a:solidFill>
          <a:ln w="4763">
            <a:solidFill>
              <a:srgbClr val="DCBBBB"/>
            </a:solidFill>
            <a:prstDash val="solid"/>
          </a:ln>
        </p:spPr>
      </p:sp>
      <p:sp>
        <p:nvSpPr>
          <p:cNvPr id="11" name="Text 9"/>
          <p:cNvSpPr/>
          <p:nvPr/>
        </p:nvSpPr>
        <p:spPr>
          <a:xfrm>
            <a:off x="6141988" y="2584698"/>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not — Phủ định</a:t>
            </a:r>
            <a:endParaRPr lang="en-US" sz="1200" dirty="0"/>
          </a:p>
        </p:txBody>
      </p:sp>
      <p:sp>
        <p:nvSpPr>
          <p:cNvPr id="12" name="Text 10"/>
          <p:cNvSpPr/>
          <p:nvPr/>
        </p:nvSpPr>
        <p:spPr>
          <a:xfrm>
            <a:off x="6141988" y="2852961"/>
            <a:ext cx="2377083" cy="67932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Đảo ngược giá trị: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True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thành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False</a:t>
            </a:r>
            <a:pPr algn="l" indent="0" marL="0">
              <a:lnSpc>
                <a:spcPct val="133000"/>
              </a:lnSpc>
              <a:spcAft>
                <a:spcPts val="550"/>
              </a:spcAft>
              <a:buNone/>
            </a:pPr>
            <a:r>
              <a:rPr lang="en-US" sz="950" dirty="0">
                <a:solidFill>
                  <a:srgbClr val="000000"/>
                </a:solidFill>
                <a:latin typeface="Montserrat" pitchFamily="34" charset="0"/>
                <a:ea typeface="Montserrat" pitchFamily="34" charset="-122"/>
                <a:cs typeface="Montserrat" pitchFamily="34" charset="-120"/>
              </a:rPr>
              <a:t> và ngược lại.</a:t>
            </a:r>
            <a:endParaRPr lang="en-US" sz="950" dirty="0"/>
          </a:p>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not (age &lt; 18)</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534591"/>
            <a:ext cx="5469434" cy="387548"/>
          </a:xfrm>
          <a:prstGeom prst="rect">
            <a:avLst/>
          </a:prstGeom>
          <a:noFill/>
          <a:ln/>
        </p:spPr>
        <p:txBody>
          <a:bodyPr wrap="none" lIns="0" tIns="0" rIns="0" bIns="0" rtlCol="0" anchor="t"/>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Bảng Chân Trị &amp; Ví Dụ Thực Tế</a:t>
            </a:r>
            <a:endParaRPr lang="en-US" sz="2400" dirty="0"/>
          </a:p>
        </p:txBody>
      </p:sp>
      <p:sp>
        <p:nvSpPr>
          <p:cNvPr id="3" name="Text 1"/>
          <p:cNvSpPr/>
          <p:nvPr/>
        </p:nvSpPr>
        <p:spPr>
          <a:xfrm>
            <a:off x="496119" y="1232148"/>
            <a:ext cx="2676153" cy="193849"/>
          </a:xfrm>
          <a:prstGeom prst="rect">
            <a:avLst/>
          </a:prstGeom>
          <a:noFill/>
          <a:ln/>
        </p:spPr>
        <p:txBody>
          <a:bodyPr wrap="none" lIns="0" tIns="0" rIns="0" bIns="0" rtlCol="0" anchor="t"/>
          <a:lstStyle/>
          <a:p>
            <a:pPr algn="l" indent="0" marL="0">
              <a:lnSpc>
                <a:spcPct val="104000"/>
              </a:lnSpc>
              <a:buNone/>
            </a:pPr>
            <a:r>
              <a:rPr lang="en-US" sz="1200" b="1" dirty="0">
                <a:solidFill>
                  <a:srgbClr val="BE2727"/>
                </a:solidFill>
                <a:latin typeface="Montserrat Extra Bold" pitchFamily="34" charset="0"/>
                <a:ea typeface="Montserrat Extra Bold" pitchFamily="34" charset="-122"/>
                <a:cs typeface="Montserrat Extra Bold" pitchFamily="34" charset="-120"/>
              </a:rPr>
              <a:t>Bảng chân trị (Truth Table)</a:t>
            </a:r>
            <a:endParaRPr lang="en-US" sz="1200" dirty="0"/>
          </a:p>
        </p:txBody>
      </p:sp>
      <p:sp>
        <p:nvSpPr>
          <p:cNvPr id="4" name="Shape 2"/>
          <p:cNvSpPr/>
          <p:nvPr/>
        </p:nvSpPr>
        <p:spPr>
          <a:xfrm>
            <a:off x="496119" y="1565523"/>
            <a:ext cx="3501851" cy="2535808"/>
          </a:xfrm>
          <a:prstGeom prst="roundRect">
            <a:avLst>
              <a:gd name="adj" fmla="val 2055"/>
            </a:avLst>
          </a:prstGeom>
          <a:noFill/>
          <a:ln w="4763">
            <a:solidFill>
              <a:srgbClr val="000000">
                <a:alpha val="8000"/>
              </a:srgbClr>
            </a:solidFill>
            <a:prstDash val="solid"/>
          </a:ln>
        </p:spPr>
      </p:sp>
      <p:sp>
        <p:nvSpPr>
          <p:cNvPr id="5" name="Shape 3"/>
          <p:cNvSpPr/>
          <p:nvPr/>
        </p:nvSpPr>
        <p:spPr>
          <a:xfrm>
            <a:off x="500881" y="1570286"/>
            <a:ext cx="3492326" cy="356815"/>
          </a:xfrm>
          <a:prstGeom prst="rect">
            <a:avLst/>
          </a:prstGeom>
          <a:solidFill>
            <a:srgbClr val="FFFFFF">
              <a:alpha val="4000"/>
            </a:srgbClr>
          </a:solidFill>
          <a:ln/>
        </p:spPr>
      </p:sp>
      <p:sp>
        <p:nvSpPr>
          <p:cNvPr id="6" name="Text 4"/>
          <p:cNvSpPr/>
          <p:nvPr/>
        </p:nvSpPr>
        <p:spPr>
          <a:xfrm>
            <a:off x="624929" y="1649462"/>
            <a:ext cx="1952997" cy="198462"/>
          </a:xfrm>
          <a:prstGeom prst="rect">
            <a:avLst/>
          </a:prstGeom>
          <a:noFill/>
          <a:ln/>
        </p:spPr>
        <p:txBody>
          <a:bodyPr wrap="none" lIns="0" tIns="0" rIns="0" bIns="0" rtlCol="0" anchor="t"/>
          <a:lstStyle/>
          <a:p>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Biểu thức</a:t>
            </a:r>
            <a:endParaRPr lang="en-US" sz="950" dirty="0"/>
          </a:p>
        </p:txBody>
      </p:sp>
      <p:sp>
        <p:nvSpPr>
          <p:cNvPr id="7" name="Text 5"/>
          <p:cNvSpPr/>
          <p:nvPr/>
        </p:nvSpPr>
        <p:spPr>
          <a:xfrm>
            <a:off x="2373437" y="1649462"/>
            <a:ext cx="1952997" cy="198462"/>
          </a:xfrm>
          <a:prstGeom prst="rect">
            <a:avLst/>
          </a:prstGeom>
          <a:noFill/>
          <a:ln/>
        </p:spPr>
        <p:txBody>
          <a:bodyPr wrap="none" lIns="0" tIns="0" rIns="0" bIns="0" rtlCol="0" anchor="t"/>
          <a:lstStyle/>
          <a:p>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Kết quả</a:t>
            </a:r>
            <a:endParaRPr lang="en-US" sz="950" dirty="0"/>
          </a:p>
        </p:txBody>
      </p:sp>
      <p:sp>
        <p:nvSpPr>
          <p:cNvPr id="8" name="Shape 6"/>
          <p:cNvSpPr/>
          <p:nvPr/>
        </p:nvSpPr>
        <p:spPr>
          <a:xfrm>
            <a:off x="500881" y="1927101"/>
            <a:ext cx="3492326" cy="361578"/>
          </a:xfrm>
          <a:prstGeom prst="rect">
            <a:avLst/>
          </a:prstGeom>
          <a:solidFill>
            <a:srgbClr val="000000">
              <a:alpha val="4000"/>
            </a:srgbClr>
          </a:solidFill>
          <a:ln/>
        </p:spPr>
      </p:sp>
      <p:sp>
        <p:nvSpPr>
          <p:cNvPr id="9" name="Text 7"/>
          <p:cNvSpPr/>
          <p:nvPr/>
        </p:nvSpPr>
        <p:spPr>
          <a:xfrm>
            <a:off x="624929" y="2006278"/>
            <a:ext cx="1952997"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True and True</a:t>
            </a:r>
            <a:endParaRPr lang="en-US" sz="950" dirty="0"/>
          </a:p>
        </p:txBody>
      </p:sp>
      <p:sp>
        <p:nvSpPr>
          <p:cNvPr id="10" name="Text 8"/>
          <p:cNvSpPr/>
          <p:nvPr/>
        </p:nvSpPr>
        <p:spPr>
          <a:xfrm>
            <a:off x="2373437" y="2006278"/>
            <a:ext cx="1952997" cy="198462"/>
          </a:xfrm>
          <a:prstGeom prst="rect">
            <a:avLst/>
          </a:prstGeom>
          <a:noFill/>
          <a:ln/>
        </p:spPr>
        <p:txBody>
          <a:bodyPr wrap="none" lIns="0" tIns="0" rIns="0" bIns="0" rtlCol="0" anchor="t"/>
          <a:lstStyle/>
          <a:p>
            <a:pPr algn="l" indent="0" marL="0">
              <a:lnSpc>
                <a:spcPct val="133000"/>
              </a:lnSpc>
              <a:buNone/>
            </a:pPr>
            <a:r>
              <a:rPr lang="en-US" sz="950" b="1" dirty="0">
                <a:solidFill>
                  <a:srgbClr val="BE2727"/>
                </a:solidFill>
                <a:latin typeface="Montserrat" pitchFamily="34" charset="0"/>
                <a:ea typeface="Montserrat" pitchFamily="34" charset="-122"/>
                <a:cs typeface="Montserrat" pitchFamily="34" charset="-120"/>
              </a:rPr>
              <a:t>True</a:t>
            </a:r>
            <a:endParaRPr lang="en-US" sz="950" dirty="0"/>
          </a:p>
        </p:txBody>
      </p:sp>
      <p:sp>
        <p:nvSpPr>
          <p:cNvPr id="11" name="Shape 9"/>
          <p:cNvSpPr/>
          <p:nvPr/>
        </p:nvSpPr>
        <p:spPr>
          <a:xfrm>
            <a:off x="500881" y="2288679"/>
            <a:ext cx="3492326" cy="361578"/>
          </a:xfrm>
          <a:prstGeom prst="rect">
            <a:avLst/>
          </a:prstGeom>
          <a:solidFill>
            <a:srgbClr val="FFFFFF">
              <a:alpha val="4000"/>
            </a:srgbClr>
          </a:solidFill>
          <a:ln/>
        </p:spPr>
      </p:sp>
      <p:sp>
        <p:nvSpPr>
          <p:cNvPr id="12" name="Text 10"/>
          <p:cNvSpPr/>
          <p:nvPr/>
        </p:nvSpPr>
        <p:spPr>
          <a:xfrm>
            <a:off x="624929" y="2367855"/>
            <a:ext cx="1952997"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True and False</a:t>
            </a:r>
            <a:endParaRPr lang="en-US" sz="950" dirty="0"/>
          </a:p>
        </p:txBody>
      </p:sp>
      <p:sp>
        <p:nvSpPr>
          <p:cNvPr id="13" name="Text 11"/>
          <p:cNvSpPr/>
          <p:nvPr/>
        </p:nvSpPr>
        <p:spPr>
          <a:xfrm>
            <a:off x="2373437" y="2367855"/>
            <a:ext cx="1952997"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False</a:t>
            </a:r>
            <a:endParaRPr lang="en-US" sz="950" dirty="0"/>
          </a:p>
        </p:txBody>
      </p:sp>
      <p:sp>
        <p:nvSpPr>
          <p:cNvPr id="14" name="Shape 12"/>
          <p:cNvSpPr/>
          <p:nvPr/>
        </p:nvSpPr>
        <p:spPr>
          <a:xfrm>
            <a:off x="500881" y="2650257"/>
            <a:ext cx="3492326" cy="361578"/>
          </a:xfrm>
          <a:prstGeom prst="rect">
            <a:avLst/>
          </a:prstGeom>
          <a:solidFill>
            <a:srgbClr val="000000">
              <a:alpha val="4000"/>
            </a:srgbClr>
          </a:solidFill>
          <a:ln/>
        </p:spPr>
      </p:sp>
      <p:sp>
        <p:nvSpPr>
          <p:cNvPr id="15" name="Text 13"/>
          <p:cNvSpPr/>
          <p:nvPr/>
        </p:nvSpPr>
        <p:spPr>
          <a:xfrm>
            <a:off x="624929" y="2729433"/>
            <a:ext cx="1952997"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False or True</a:t>
            </a:r>
            <a:endParaRPr lang="en-US" sz="950" dirty="0"/>
          </a:p>
        </p:txBody>
      </p:sp>
      <p:sp>
        <p:nvSpPr>
          <p:cNvPr id="16" name="Text 14"/>
          <p:cNvSpPr/>
          <p:nvPr/>
        </p:nvSpPr>
        <p:spPr>
          <a:xfrm>
            <a:off x="2373437" y="2729433"/>
            <a:ext cx="1952997" cy="198462"/>
          </a:xfrm>
          <a:prstGeom prst="rect">
            <a:avLst/>
          </a:prstGeom>
          <a:noFill/>
          <a:ln/>
        </p:spPr>
        <p:txBody>
          <a:bodyPr wrap="none" lIns="0" tIns="0" rIns="0" bIns="0" rtlCol="0" anchor="t"/>
          <a:lstStyle/>
          <a:p>
            <a:pPr algn="l" indent="0" marL="0">
              <a:lnSpc>
                <a:spcPct val="133000"/>
              </a:lnSpc>
              <a:buNone/>
            </a:pPr>
            <a:r>
              <a:rPr lang="en-US" sz="950" b="1" dirty="0">
                <a:solidFill>
                  <a:srgbClr val="BE2727"/>
                </a:solidFill>
                <a:latin typeface="Montserrat" pitchFamily="34" charset="0"/>
                <a:ea typeface="Montserrat" pitchFamily="34" charset="-122"/>
                <a:cs typeface="Montserrat" pitchFamily="34" charset="-120"/>
              </a:rPr>
              <a:t>True</a:t>
            </a:r>
            <a:endParaRPr lang="en-US" sz="950" dirty="0"/>
          </a:p>
        </p:txBody>
      </p:sp>
      <p:sp>
        <p:nvSpPr>
          <p:cNvPr id="17" name="Shape 15"/>
          <p:cNvSpPr/>
          <p:nvPr/>
        </p:nvSpPr>
        <p:spPr>
          <a:xfrm>
            <a:off x="500881" y="3011835"/>
            <a:ext cx="3492326" cy="361578"/>
          </a:xfrm>
          <a:prstGeom prst="rect">
            <a:avLst/>
          </a:prstGeom>
          <a:solidFill>
            <a:srgbClr val="FFFFFF">
              <a:alpha val="4000"/>
            </a:srgbClr>
          </a:solidFill>
          <a:ln/>
        </p:spPr>
      </p:sp>
      <p:sp>
        <p:nvSpPr>
          <p:cNvPr id="18" name="Text 16"/>
          <p:cNvSpPr/>
          <p:nvPr/>
        </p:nvSpPr>
        <p:spPr>
          <a:xfrm>
            <a:off x="624929" y="3091011"/>
            <a:ext cx="1952997"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False or False</a:t>
            </a:r>
            <a:endParaRPr lang="en-US" sz="950" dirty="0"/>
          </a:p>
        </p:txBody>
      </p:sp>
      <p:sp>
        <p:nvSpPr>
          <p:cNvPr id="19" name="Text 17"/>
          <p:cNvSpPr/>
          <p:nvPr/>
        </p:nvSpPr>
        <p:spPr>
          <a:xfrm>
            <a:off x="2373437" y="3091011"/>
            <a:ext cx="1952997"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False</a:t>
            </a:r>
            <a:endParaRPr lang="en-US" sz="950" dirty="0"/>
          </a:p>
        </p:txBody>
      </p:sp>
      <p:sp>
        <p:nvSpPr>
          <p:cNvPr id="20" name="Shape 18"/>
          <p:cNvSpPr/>
          <p:nvPr/>
        </p:nvSpPr>
        <p:spPr>
          <a:xfrm>
            <a:off x="500881" y="3373413"/>
            <a:ext cx="3492326" cy="361578"/>
          </a:xfrm>
          <a:prstGeom prst="rect">
            <a:avLst/>
          </a:prstGeom>
          <a:solidFill>
            <a:srgbClr val="000000">
              <a:alpha val="4000"/>
            </a:srgbClr>
          </a:solidFill>
          <a:ln/>
        </p:spPr>
      </p:sp>
      <p:sp>
        <p:nvSpPr>
          <p:cNvPr id="21" name="Text 19"/>
          <p:cNvSpPr/>
          <p:nvPr/>
        </p:nvSpPr>
        <p:spPr>
          <a:xfrm>
            <a:off x="624929" y="3452589"/>
            <a:ext cx="1952997"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not True</a:t>
            </a:r>
            <a:endParaRPr lang="en-US" sz="950" dirty="0"/>
          </a:p>
        </p:txBody>
      </p:sp>
      <p:sp>
        <p:nvSpPr>
          <p:cNvPr id="22" name="Text 20"/>
          <p:cNvSpPr/>
          <p:nvPr/>
        </p:nvSpPr>
        <p:spPr>
          <a:xfrm>
            <a:off x="2373437" y="3452589"/>
            <a:ext cx="1952997"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False</a:t>
            </a:r>
            <a:endParaRPr lang="en-US" sz="950" dirty="0"/>
          </a:p>
        </p:txBody>
      </p:sp>
      <p:sp>
        <p:nvSpPr>
          <p:cNvPr id="23" name="Shape 21"/>
          <p:cNvSpPr/>
          <p:nvPr/>
        </p:nvSpPr>
        <p:spPr>
          <a:xfrm>
            <a:off x="500881" y="3734991"/>
            <a:ext cx="3492326" cy="361578"/>
          </a:xfrm>
          <a:prstGeom prst="rect">
            <a:avLst/>
          </a:prstGeom>
          <a:solidFill>
            <a:srgbClr val="FFFFFF">
              <a:alpha val="4000"/>
            </a:srgbClr>
          </a:solidFill>
          <a:ln/>
        </p:spPr>
      </p:sp>
      <p:sp>
        <p:nvSpPr>
          <p:cNvPr id="24" name="Text 22"/>
          <p:cNvSpPr/>
          <p:nvPr/>
        </p:nvSpPr>
        <p:spPr>
          <a:xfrm>
            <a:off x="624929" y="3814167"/>
            <a:ext cx="1952997"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not False</a:t>
            </a:r>
            <a:endParaRPr lang="en-US" sz="950" dirty="0"/>
          </a:p>
        </p:txBody>
      </p:sp>
      <p:sp>
        <p:nvSpPr>
          <p:cNvPr id="25" name="Text 23"/>
          <p:cNvSpPr/>
          <p:nvPr/>
        </p:nvSpPr>
        <p:spPr>
          <a:xfrm>
            <a:off x="2373437" y="3814167"/>
            <a:ext cx="1952997" cy="198462"/>
          </a:xfrm>
          <a:prstGeom prst="rect">
            <a:avLst/>
          </a:prstGeom>
          <a:noFill/>
          <a:ln/>
        </p:spPr>
        <p:txBody>
          <a:bodyPr wrap="none" lIns="0" tIns="0" rIns="0" bIns="0" rtlCol="0" anchor="t"/>
          <a:lstStyle/>
          <a:p>
            <a:pPr algn="l" indent="0" marL="0">
              <a:lnSpc>
                <a:spcPct val="133000"/>
              </a:lnSpc>
              <a:buNone/>
            </a:pPr>
            <a:r>
              <a:rPr lang="en-US" sz="950" b="1" dirty="0">
                <a:solidFill>
                  <a:srgbClr val="BE2727"/>
                </a:solidFill>
                <a:latin typeface="Montserrat" pitchFamily="34" charset="0"/>
                <a:ea typeface="Montserrat" pitchFamily="34" charset="-122"/>
                <a:cs typeface="Montserrat" pitchFamily="34" charset="-120"/>
              </a:rPr>
              <a:t>True</a:t>
            </a:r>
            <a:endParaRPr lang="en-US" sz="950" dirty="0"/>
          </a:p>
        </p:txBody>
      </p:sp>
      <p:sp>
        <p:nvSpPr>
          <p:cNvPr id="26" name="Text 24"/>
          <p:cNvSpPr/>
          <p:nvPr/>
        </p:nvSpPr>
        <p:spPr>
          <a:xfrm>
            <a:off x="4305300" y="1232148"/>
            <a:ext cx="3758059" cy="193849"/>
          </a:xfrm>
          <a:prstGeom prst="rect">
            <a:avLst/>
          </a:prstGeom>
          <a:noFill/>
          <a:ln/>
        </p:spPr>
        <p:txBody>
          <a:bodyPr wrap="none" lIns="0" tIns="0" rIns="0" bIns="0" rtlCol="0" anchor="t"/>
          <a:lstStyle/>
          <a:p>
            <a:pPr algn="l" indent="0" marL="0">
              <a:lnSpc>
                <a:spcPct val="104000"/>
              </a:lnSpc>
              <a:buNone/>
            </a:pPr>
            <a:r>
              <a:rPr lang="en-US" sz="1200" b="1" dirty="0">
                <a:solidFill>
                  <a:srgbClr val="BE2727"/>
                </a:solidFill>
                <a:latin typeface="Montserrat Extra Bold" pitchFamily="34" charset="0"/>
                <a:ea typeface="Montserrat Extra Bold" pitchFamily="34" charset="-122"/>
                <a:cs typeface="Montserrat Extra Bold" pitchFamily="34" charset="-120"/>
              </a:rPr>
              <a:t>Ví dụ thực tế — Kiểm tra điều kiện lái xe</a:t>
            </a:r>
            <a:endParaRPr lang="en-US" sz="1200" dirty="0"/>
          </a:p>
        </p:txBody>
      </p:sp>
      <p:sp>
        <p:nvSpPr>
          <p:cNvPr id="27" name="Shape 25"/>
          <p:cNvSpPr/>
          <p:nvPr/>
        </p:nvSpPr>
        <p:spPr>
          <a:xfrm>
            <a:off x="4305300" y="1565523"/>
            <a:ext cx="4347270" cy="2034108"/>
          </a:xfrm>
          <a:prstGeom prst="roundRect">
            <a:avLst>
              <a:gd name="adj" fmla="val 2561"/>
            </a:avLst>
          </a:prstGeom>
          <a:solidFill>
            <a:srgbClr val="F2F2F2"/>
          </a:solidFill>
          <a:ln/>
        </p:spPr>
      </p:sp>
      <p:sp>
        <p:nvSpPr>
          <p:cNvPr id="28" name="Shape 26"/>
          <p:cNvSpPr/>
          <p:nvPr/>
        </p:nvSpPr>
        <p:spPr>
          <a:xfrm>
            <a:off x="4299124" y="1565523"/>
            <a:ext cx="4359622" cy="2034108"/>
          </a:xfrm>
          <a:prstGeom prst="roundRect">
            <a:avLst>
              <a:gd name="adj" fmla="val 915"/>
            </a:avLst>
          </a:prstGeom>
          <a:solidFill>
            <a:srgbClr val="F2F2F2"/>
          </a:solidFill>
          <a:ln/>
        </p:spPr>
      </p:sp>
      <p:sp>
        <p:nvSpPr>
          <p:cNvPr id="29" name="Text 27"/>
          <p:cNvSpPr/>
          <p:nvPr/>
        </p:nvSpPr>
        <p:spPr>
          <a:xfrm>
            <a:off x="4454128" y="1689497"/>
            <a:ext cx="4049613" cy="1786161"/>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age = 20</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has_license = True</a:t>
            </a:r>
            <a:endParaRPr lang="en-US" sz="950" dirty="0"/>
          </a:p>
          <a:p>
            <a:pPr algn="l" indent="0" marL="0">
              <a:lnSpc>
                <a:spcPct val="133000"/>
              </a:lnSpc>
              <a:buNone/>
            </a:pP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if age &gt;= 18 and has_license: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print("Được lái xe")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elif age &gt;= 18 and not has_license: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print("Cần có bằng lái")</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else: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print("Chưa đủ tuổi")</a:t>
            </a:r>
            <a:endParaRPr lang="en-US" sz="950" dirty="0"/>
          </a:p>
        </p:txBody>
      </p:sp>
      <p:sp>
        <p:nvSpPr>
          <p:cNvPr id="30" name="Shape 28"/>
          <p:cNvSpPr/>
          <p:nvPr/>
        </p:nvSpPr>
        <p:spPr>
          <a:xfrm>
            <a:off x="4305300" y="3739158"/>
            <a:ext cx="4347270" cy="730225"/>
          </a:xfrm>
          <a:prstGeom prst="roundRect">
            <a:avLst>
              <a:gd name="adj" fmla="val 7135"/>
            </a:avLst>
          </a:prstGeom>
          <a:solidFill>
            <a:srgbClr val="B6FCB8"/>
          </a:solidFill>
          <a:ln/>
        </p:spPr>
      </p:sp>
      <p:pic>
        <p:nvPicPr>
          <p:cNvPr id="31" name="Image 0" descr="preencoded.png">    </p:cNvPr>
          <p:cNvPicPr>
            <a:picLocks noChangeAspect="1"/>
          </p:cNvPicPr>
          <p:nvPr/>
        </p:nvPicPr>
        <p:blipFill>
          <a:blip r:embed="rId1"/>
          <a:stretch>
            <a:fillRect/>
          </a:stretch>
        </p:blipFill>
        <p:spPr>
          <a:xfrm>
            <a:off x="4429274" y="3923705"/>
            <a:ext cx="155004" cy="123974"/>
          </a:xfrm>
          <a:prstGeom prst="rect">
            <a:avLst/>
          </a:prstGeom>
        </p:spPr>
      </p:pic>
      <p:sp>
        <p:nvSpPr>
          <p:cNvPr id="32" name="Text 29"/>
          <p:cNvSpPr/>
          <p:nvPr/>
        </p:nvSpPr>
        <p:spPr>
          <a:xfrm>
            <a:off x="4708252" y="3894088"/>
            <a:ext cx="3820344"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Kết hợp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and</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or</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not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giúp bạn mô tả chính xác mọi logic nghiệp vụ phức tạp!</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892722"/>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Cấu Trúc Điều Kiện: if – elif – else</a:t>
            </a:r>
            <a:endParaRPr lang="en-US" sz="2400" dirty="0"/>
          </a:p>
        </p:txBody>
      </p:sp>
      <p:sp>
        <p:nvSpPr>
          <p:cNvPr id="4" name="Text 1"/>
          <p:cNvSpPr/>
          <p:nvPr/>
        </p:nvSpPr>
        <p:spPr>
          <a:xfrm>
            <a:off x="3925119" y="2853854"/>
            <a:ext cx="4722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Cấu trúc điều kiện là trái tim của lập trình — giúp chương trình đưa ra quyết định và thực hiện hành động khác nhau tùy vào dữ liệu đầu vào.</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499616"/>
            <a:ext cx="3296841" cy="310083"/>
          </a:xfrm>
          <a:prstGeom prst="rect">
            <a:avLst/>
          </a:prstGeom>
          <a:noFill/>
          <a:ln/>
        </p:spPr>
        <p:txBody>
          <a:bodyPr wrap="none" lIns="0" tIns="0" rIns="0" bIns="0" rtlCol="0" anchor="t"/>
          <a:lstStyle/>
          <a:p>
            <a:pPr algn="l" indent="0" marL="0">
              <a:lnSpc>
                <a:spcPct val="104000"/>
              </a:lnSpc>
              <a:buNone/>
            </a:pPr>
            <a:r>
              <a:rPr lang="en-US" sz="1950" b="1" dirty="0">
                <a:solidFill>
                  <a:srgbClr val="BE2727"/>
                </a:solidFill>
                <a:latin typeface="Montserrat Extra Bold" pitchFamily="34" charset="0"/>
                <a:ea typeface="Montserrat Extra Bold" pitchFamily="34" charset="-122"/>
                <a:cs typeface="Montserrat Extra Bold" pitchFamily="34" charset="-120"/>
              </a:rPr>
              <a:t>Cú Pháp if – elif – else</a:t>
            </a:r>
            <a:endParaRPr lang="en-US" sz="1950" dirty="0"/>
          </a:p>
        </p:txBody>
      </p:sp>
      <p:sp>
        <p:nvSpPr>
          <p:cNvPr id="3" name="Text 1"/>
          <p:cNvSpPr/>
          <p:nvPr/>
        </p:nvSpPr>
        <p:spPr>
          <a:xfrm>
            <a:off x="496119" y="1008087"/>
            <a:ext cx="1697608" cy="155004"/>
          </a:xfrm>
          <a:prstGeom prst="rect">
            <a:avLst/>
          </a:prstGeom>
          <a:noFill/>
          <a:ln/>
        </p:spPr>
        <p:txBody>
          <a:bodyPr wrap="none" lIns="0" tIns="0" rIns="0" bIns="0" rtlCol="0" anchor="t"/>
          <a:lstStyle/>
          <a:p>
            <a:pPr algn="l" indent="0" marL="0">
              <a:lnSpc>
                <a:spcPct val="104000"/>
              </a:lnSpc>
              <a:buNone/>
            </a:pPr>
            <a:r>
              <a:rPr lang="en-US" sz="950" b="1" dirty="0">
                <a:solidFill>
                  <a:srgbClr val="BE2727"/>
                </a:solidFill>
                <a:latin typeface="Montserrat Extra Bold" pitchFamily="34" charset="0"/>
                <a:ea typeface="Montserrat Extra Bold" pitchFamily="34" charset="-122"/>
                <a:cs typeface="Montserrat Extra Bold" pitchFamily="34" charset="-120"/>
              </a:rPr>
              <a:t>Cú pháp chuẩn</a:t>
            </a:r>
            <a:endParaRPr lang="en-US" sz="950" dirty="0"/>
          </a:p>
        </p:txBody>
      </p:sp>
      <p:sp>
        <p:nvSpPr>
          <p:cNvPr id="4" name="Shape 2"/>
          <p:cNvSpPr/>
          <p:nvPr/>
        </p:nvSpPr>
        <p:spPr>
          <a:xfrm>
            <a:off x="496119" y="1252389"/>
            <a:ext cx="3954884" cy="1055638"/>
          </a:xfrm>
          <a:prstGeom prst="roundRect">
            <a:avLst>
              <a:gd name="adj" fmla="val 3948"/>
            </a:avLst>
          </a:prstGeom>
          <a:solidFill>
            <a:srgbClr val="F2F2F2"/>
          </a:solidFill>
          <a:ln/>
        </p:spPr>
      </p:sp>
      <p:sp>
        <p:nvSpPr>
          <p:cNvPr id="5" name="Shape 3"/>
          <p:cNvSpPr/>
          <p:nvPr/>
        </p:nvSpPr>
        <p:spPr>
          <a:xfrm>
            <a:off x="491207" y="1252389"/>
            <a:ext cx="3964707" cy="1055638"/>
          </a:xfrm>
          <a:prstGeom prst="roundRect">
            <a:avLst>
              <a:gd name="adj" fmla="val 1410"/>
            </a:avLst>
          </a:prstGeom>
          <a:solidFill>
            <a:srgbClr val="F2F2F2"/>
          </a:solidFill>
          <a:ln/>
        </p:spPr>
      </p:sp>
      <p:sp>
        <p:nvSpPr>
          <p:cNvPr id="6" name="Text 4"/>
          <p:cNvSpPr/>
          <p:nvPr/>
        </p:nvSpPr>
        <p:spPr>
          <a:xfrm>
            <a:off x="615181" y="1351583"/>
            <a:ext cx="3716759" cy="857250"/>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if điều_kiện_1:</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 thực hiện khi đúng</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elif điều_kiện_2:</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 thực hiện khi đk 2 đúng</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else:</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 thực hiện khi tất cả sai</a:t>
            </a:r>
            <a:endParaRPr lang="en-US" sz="750" dirty="0"/>
          </a:p>
        </p:txBody>
      </p:sp>
      <p:sp>
        <p:nvSpPr>
          <p:cNvPr id="7" name="Text 5"/>
          <p:cNvSpPr/>
          <p:nvPr/>
        </p:nvSpPr>
        <p:spPr>
          <a:xfrm>
            <a:off x="496119" y="2397323"/>
            <a:ext cx="2166938" cy="155004"/>
          </a:xfrm>
          <a:prstGeom prst="rect">
            <a:avLst/>
          </a:prstGeom>
          <a:noFill/>
          <a:ln/>
        </p:spPr>
        <p:txBody>
          <a:bodyPr wrap="none" lIns="0" tIns="0" rIns="0" bIns="0" rtlCol="0" anchor="t"/>
          <a:lstStyle/>
          <a:p>
            <a:pPr algn="l" indent="0" marL="0">
              <a:lnSpc>
                <a:spcPct val="104000"/>
              </a:lnSpc>
              <a:buNone/>
            </a:pPr>
            <a:r>
              <a:rPr lang="en-US" sz="950" b="1" dirty="0">
                <a:solidFill>
                  <a:srgbClr val="BE2727"/>
                </a:solidFill>
                <a:latin typeface="Montserrat Extra Bold" pitchFamily="34" charset="0"/>
                <a:ea typeface="Montserrat Extra Bold" pitchFamily="34" charset="-122"/>
                <a:cs typeface="Montserrat Extra Bold" pitchFamily="34" charset="-120"/>
              </a:rPr>
              <a:t>Ví dụ — Phân loại điểm số</a:t>
            </a:r>
            <a:endParaRPr lang="en-US" sz="950" dirty="0"/>
          </a:p>
        </p:txBody>
      </p:sp>
      <p:sp>
        <p:nvSpPr>
          <p:cNvPr id="8" name="Shape 6"/>
          <p:cNvSpPr/>
          <p:nvPr/>
        </p:nvSpPr>
        <p:spPr>
          <a:xfrm>
            <a:off x="496119" y="2641625"/>
            <a:ext cx="3954884" cy="1912888"/>
          </a:xfrm>
          <a:prstGeom prst="roundRect">
            <a:avLst>
              <a:gd name="adj" fmla="val 2179"/>
            </a:avLst>
          </a:prstGeom>
          <a:solidFill>
            <a:srgbClr val="F2F2F2"/>
          </a:solidFill>
          <a:ln/>
        </p:spPr>
      </p:sp>
      <p:sp>
        <p:nvSpPr>
          <p:cNvPr id="9" name="Shape 7"/>
          <p:cNvSpPr/>
          <p:nvPr/>
        </p:nvSpPr>
        <p:spPr>
          <a:xfrm>
            <a:off x="491207" y="2641625"/>
            <a:ext cx="3964707" cy="1912888"/>
          </a:xfrm>
          <a:prstGeom prst="roundRect">
            <a:avLst>
              <a:gd name="adj" fmla="val 778"/>
            </a:avLst>
          </a:prstGeom>
          <a:solidFill>
            <a:srgbClr val="F2F2F2"/>
          </a:solidFill>
          <a:ln/>
        </p:spPr>
      </p:sp>
      <p:sp>
        <p:nvSpPr>
          <p:cNvPr id="10" name="Text 8"/>
          <p:cNvSpPr/>
          <p:nvPr/>
        </p:nvSpPr>
        <p:spPr>
          <a:xfrm>
            <a:off x="615181" y="2740819"/>
            <a:ext cx="3716759" cy="1714500"/>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000000"/>
                </a:solidFill>
                <a:latin typeface="Consolas" pitchFamily="34" charset="0"/>
                <a:ea typeface="Consolas" pitchFamily="34" charset="-122"/>
                <a:cs typeface="Consolas" pitchFamily="34" charset="-120"/>
              </a:rPr>
              <a:t>score = float(input("Nhập điểm: "))</a:t>
            </a:r>
            <a:endParaRPr lang="en-US" sz="750" dirty="0"/>
          </a:p>
          <a:p>
            <a:pPr algn="l" indent="0" marL="0">
              <a:lnSpc>
                <a:spcPct val="120000"/>
              </a:lnSpc>
              <a:buNone/>
            </a:pPr>
            <a:endParaRPr lang="en-US" sz="750" dirty="0"/>
          </a:p>
          <a:p>
            <a:pPr algn="l" indent="0" marL="0">
              <a:lnSpc>
                <a:spcPct val="120000"/>
              </a:lnSpc>
              <a:buNone/>
            </a:pPr>
            <a:r>
              <a:rPr lang="en-US" sz="750" dirty="0">
                <a:solidFill>
                  <a:srgbClr val="000000"/>
                </a:solidFill>
                <a:latin typeface="Consolas" pitchFamily="34" charset="0"/>
                <a:ea typeface="Consolas" pitchFamily="34" charset="-122"/>
                <a:cs typeface="Consolas" pitchFamily="34" charset="-120"/>
              </a:rPr>
              <a:t>if score &gt;= 9:</a:t>
            </a:r>
            <a:endParaRPr lang="en-US" sz="750" dirty="0"/>
          </a:p>
          <a:p>
            <a:pPr algn="l" indent="0" marL="0">
              <a:lnSpc>
                <a:spcPct val="120000"/>
              </a:lnSpc>
              <a:buNone/>
            </a:pPr>
            <a:r>
              <a:rPr lang="en-US" sz="750" dirty="0">
                <a:solidFill>
                  <a:srgbClr val="000000"/>
                </a:solidFill>
                <a:latin typeface="Consolas" pitchFamily="34" charset="0"/>
                <a:ea typeface="Consolas" pitchFamily="34" charset="-122"/>
                <a:cs typeface="Consolas" pitchFamily="34" charset="-120"/>
              </a:rPr>
              <a:t>    print("Xuất sắc")</a:t>
            </a:r>
            <a:endParaRPr lang="en-US" sz="750" dirty="0"/>
          </a:p>
          <a:p>
            <a:pPr algn="l" indent="0" marL="0">
              <a:lnSpc>
                <a:spcPct val="120000"/>
              </a:lnSpc>
              <a:buNone/>
            </a:pPr>
            <a:r>
              <a:rPr lang="en-US" sz="750" dirty="0">
                <a:solidFill>
                  <a:srgbClr val="000000"/>
                </a:solidFill>
                <a:latin typeface="Consolas" pitchFamily="34" charset="0"/>
                <a:ea typeface="Consolas" pitchFamily="34" charset="-122"/>
                <a:cs typeface="Consolas" pitchFamily="34" charset="-120"/>
              </a:rPr>
              <a:t>elif score &gt;= 8:</a:t>
            </a:r>
            <a:endParaRPr lang="en-US" sz="750" dirty="0"/>
          </a:p>
          <a:p>
            <a:pPr algn="l" indent="0" marL="0">
              <a:lnSpc>
                <a:spcPct val="120000"/>
              </a:lnSpc>
              <a:buNone/>
            </a:pPr>
            <a:r>
              <a:rPr lang="en-US" sz="750" dirty="0">
                <a:solidFill>
                  <a:srgbClr val="000000"/>
                </a:solidFill>
                <a:latin typeface="Consolas" pitchFamily="34" charset="0"/>
                <a:ea typeface="Consolas" pitchFamily="34" charset="-122"/>
                <a:cs typeface="Consolas" pitchFamily="34" charset="-120"/>
              </a:rPr>
              <a:t>    print("Giỏi")</a:t>
            </a:r>
            <a:endParaRPr lang="en-US" sz="750" dirty="0"/>
          </a:p>
          <a:p>
            <a:pPr algn="l" indent="0" marL="0">
              <a:lnSpc>
                <a:spcPct val="120000"/>
              </a:lnSpc>
              <a:buNone/>
            </a:pPr>
            <a:r>
              <a:rPr lang="en-US" sz="750" dirty="0">
                <a:solidFill>
                  <a:srgbClr val="000000"/>
                </a:solidFill>
                <a:latin typeface="Consolas" pitchFamily="34" charset="0"/>
                <a:ea typeface="Consolas" pitchFamily="34" charset="-122"/>
                <a:cs typeface="Consolas" pitchFamily="34" charset="-120"/>
              </a:rPr>
              <a:t>elif score &gt;= 6.5:</a:t>
            </a:r>
            <a:endParaRPr lang="en-US" sz="750" dirty="0"/>
          </a:p>
          <a:p>
            <a:pPr algn="l" indent="0" marL="0">
              <a:lnSpc>
                <a:spcPct val="120000"/>
              </a:lnSpc>
              <a:buNone/>
            </a:pPr>
            <a:r>
              <a:rPr lang="en-US" sz="750" dirty="0">
                <a:solidFill>
                  <a:srgbClr val="000000"/>
                </a:solidFill>
                <a:latin typeface="Consolas" pitchFamily="34" charset="0"/>
                <a:ea typeface="Consolas" pitchFamily="34" charset="-122"/>
                <a:cs typeface="Consolas" pitchFamily="34" charset="-120"/>
              </a:rPr>
              <a:t>    print("Khá")</a:t>
            </a:r>
            <a:endParaRPr lang="en-US" sz="750" dirty="0"/>
          </a:p>
          <a:p>
            <a:pPr algn="l" indent="0" marL="0">
              <a:lnSpc>
                <a:spcPct val="120000"/>
              </a:lnSpc>
              <a:buNone/>
            </a:pPr>
            <a:r>
              <a:rPr lang="en-US" sz="750" dirty="0">
                <a:solidFill>
                  <a:srgbClr val="000000"/>
                </a:solidFill>
                <a:latin typeface="Consolas" pitchFamily="34" charset="0"/>
                <a:ea typeface="Consolas" pitchFamily="34" charset="-122"/>
                <a:cs typeface="Consolas" pitchFamily="34" charset="-120"/>
              </a:rPr>
              <a:t>elif score &gt;= 5:</a:t>
            </a:r>
            <a:endParaRPr lang="en-US" sz="750" dirty="0"/>
          </a:p>
          <a:p>
            <a:pPr algn="l" indent="0" marL="0">
              <a:lnSpc>
                <a:spcPct val="120000"/>
              </a:lnSpc>
              <a:buNone/>
            </a:pPr>
            <a:r>
              <a:rPr lang="en-US" sz="750" dirty="0">
                <a:solidFill>
                  <a:srgbClr val="000000"/>
                </a:solidFill>
                <a:latin typeface="Consolas" pitchFamily="34" charset="0"/>
                <a:ea typeface="Consolas" pitchFamily="34" charset="-122"/>
                <a:cs typeface="Consolas" pitchFamily="34" charset="-120"/>
              </a:rPr>
              <a:t>    print("Trung bình")</a:t>
            </a:r>
            <a:endParaRPr lang="en-US" sz="750" dirty="0"/>
          </a:p>
          <a:p>
            <a:pPr algn="l" indent="0" marL="0">
              <a:lnSpc>
                <a:spcPct val="120000"/>
              </a:lnSpc>
              <a:buNone/>
            </a:pPr>
            <a:r>
              <a:rPr lang="en-US" sz="750" dirty="0">
                <a:solidFill>
                  <a:srgbClr val="000000"/>
                </a:solidFill>
                <a:latin typeface="Consolas" pitchFamily="34" charset="0"/>
                <a:ea typeface="Consolas" pitchFamily="34" charset="-122"/>
                <a:cs typeface="Consolas" pitchFamily="34" charset="-120"/>
              </a:rPr>
              <a:t>else:</a:t>
            </a:r>
            <a:endParaRPr lang="en-US" sz="750" dirty="0"/>
          </a:p>
          <a:p>
            <a:pPr algn="l" indent="0" marL="0">
              <a:lnSpc>
                <a:spcPct val="120000"/>
              </a:lnSpc>
              <a:buNone/>
            </a:pPr>
            <a:r>
              <a:rPr lang="en-US" sz="750" dirty="0">
                <a:solidFill>
                  <a:srgbClr val="000000"/>
                </a:solidFill>
                <a:latin typeface="Consolas" pitchFamily="34" charset="0"/>
                <a:ea typeface="Consolas" pitchFamily="34" charset="-122"/>
                <a:cs typeface="Consolas" pitchFamily="34" charset="-120"/>
              </a:rPr>
              <a:t>    print("Yếu")</a:t>
            </a:r>
            <a:endParaRPr lang="en-US" sz="750" dirty="0"/>
          </a:p>
        </p:txBody>
      </p:sp>
      <p:sp>
        <p:nvSpPr>
          <p:cNvPr id="11" name="Text 9"/>
          <p:cNvSpPr/>
          <p:nvPr/>
        </p:nvSpPr>
        <p:spPr>
          <a:xfrm>
            <a:off x="4697760" y="1008087"/>
            <a:ext cx="1697608" cy="155004"/>
          </a:xfrm>
          <a:prstGeom prst="rect">
            <a:avLst/>
          </a:prstGeom>
          <a:noFill/>
          <a:ln/>
        </p:spPr>
        <p:txBody>
          <a:bodyPr wrap="none" lIns="0" tIns="0" rIns="0" bIns="0" rtlCol="0" anchor="t"/>
          <a:lstStyle/>
          <a:p>
            <a:pPr algn="l" indent="0" marL="0">
              <a:lnSpc>
                <a:spcPct val="104000"/>
              </a:lnSpc>
              <a:buNone/>
            </a:pPr>
            <a:r>
              <a:rPr lang="en-US" sz="950" b="1" dirty="0">
                <a:solidFill>
                  <a:srgbClr val="BE2727"/>
                </a:solidFill>
                <a:latin typeface="Montserrat Extra Bold" pitchFamily="34" charset="0"/>
                <a:ea typeface="Montserrat Extra Bold" pitchFamily="34" charset="-122"/>
                <a:cs typeface="Montserrat Extra Bold" pitchFamily="34" charset="-120"/>
              </a:rPr>
              <a:t>Luồng thực thi</a:t>
            </a:r>
            <a:endParaRPr lang="en-US" sz="950" dirty="0"/>
          </a:p>
        </p:txBody>
      </p:sp>
      <p:pic>
        <p:nvPicPr>
          <p:cNvPr id="12" name="Image 0" descr="preencoded.png">    </p:cNvPr>
          <p:cNvPicPr>
            <a:picLocks noChangeAspect="1"/>
          </p:cNvPicPr>
          <p:nvPr/>
        </p:nvPicPr>
        <p:blipFill>
          <a:blip r:embed="rId1"/>
          <a:stretch>
            <a:fillRect/>
          </a:stretch>
        </p:blipFill>
        <p:spPr>
          <a:xfrm>
            <a:off x="5093271" y="1252389"/>
            <a:ext cx="3163863" cy="1555254"/>
          </a:xfrm>
          <a:prstGeom prst="rect">
            <a:avLst/>
          </a:prstGeom>
        </p:spPr>
      </p:pic>
      <p:sp>
        <p:nvSpPr>
          <p:cNvPr id="13" name="Text 10"/>
          <p:cNvSpPr/>
          <p:nvPr/>
        </p:nvSpPr>
        <p:spPr>
          <a:xfrm>
            <a:off x="6641431" y="1392767"/>
            <a:ext cx="1180726" cy="90441"/>
          </a:xfrm>
          <a:prstGeom prst="rect">
            <a:avLst/>
          </a:prstGeom>
          <a:noFill/>
          <a:ln/>
        </p:spPr>
        <p:txBody>
          <a:bodyPr wrap="none" lIns="0" tIns="0" rIns="0" bIns="0" rtlCol="0" anchor="t"/>
          <a:lstStyle/>
          <a:p>
            <a:pPr algn="l" indent="0" marL="0">
              <a:lnSpc>
                <a:spcPct val="104000"/>
              </a:lnSpc>
              <a:buNone/>
            </a:pPr>
            <a:r>
              <a:rPr lang="en-US" sz="550" b="1" dirty="0">
                <a:solidFill>
                  <a:srgbClr val="000000"/>
                </a:solidFill>
                <a:latin typeface="Montserrat Extra Bold" pitchFamily="34" charset="0"/>
                <a:ea typeface="Montserrat Extra Bold" pitchFamily="34" charset="-122"/>
                <a:cs typeface="Montserrat Extra Bold" pitchFamily="34" charset="-120"/>
              </a:rPr>
              <a:t>Thực thi else</a:t>
            </a:r>
            <a:endParaRPr lang="en-US" sz="550" dirty="0"/>
          </a:p>
        </p:txBody>
      </p:sp>
      <p:sp>
        <p:nvSpPr>
          <p:cNvPr id="14" name="Text 11"/>
          <p:cNvSpPr/>
          <p:nvPr/>
        </p:nvSpPr>
        <p:spPr>
          <a:xfrm>
            <a:off x="6641431" y="1508933"/>
            <a:ext cx="1920329" cy="65117"/>
          </a:xfrm>
          <a:prstGeom prst="rect">
            <a:avLst/>
          </a:prstGeom>
          <a:noFill/>
          <a:ln/>
        </p:spPr>
        <p:txBody>
          <a:bodyPr wrap="none" lIns="0" tIns="0" rIns="0" bIns="0" rtlCol="0" anchor="t"/>
          <a:lstStyle/>
          <a:p>
            <a:pPr algn="l" indent="0" marL="0">
              <a:lnSpc>
                <a:spcPct val="94000"/>
              </a:lnSpc>
              <a:buNone/>
            </a:pPr>
            <a:r>
              <a:rPr lang="en-US" sz="450" dirty="0">
                <a:solidFill>
                  <a:srgbClr val="000000"/>
                </a:solidFill>
                <a:latin typeface="Montserrat" pitchFamily="34" charset="0"/>
                <a:ea typeface="Montserrat" pitchFamily="34" charset="-122"/>
                <a:cs typeface="Montserrat" pitchFamily="34" charset="-120"/>
              </a:rPr>
              <a:t>Thực hiện khi tất cả sai</a:t>
            </a:r>
            <a:endParaRPr lang="en-US" sz="450" dirty="0"/>
          </a:p>
        </p:txBody>
      </p:sp>
      <p:pic>
        <p:nvPicPr>
          <p:cNvPr id="1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16612" y="1431958"/>
            <a:ext cx="102901" cy="102901"/>
          </a:xfrm>
          <a:prstGeom prst="rect">
            <a:avLst/>
          </a:prstGeom>
        </p:spPr>
      </p:pic>
      <p:sp>
        <p:nvSpPr>
          <p:cNvPr id="16" name="Text 12"/>
          <p:cNvSpPr/>
          <p:nvPr/>
        </p:nvSpPr>
        <p:spPr>
          <a:xfrm>
            <a:off x="6641431" y="1756138"/>
            <a:ext cx="1180726" cy="90441"/>
          </a:xfrm>
          <a:prstGeom prst="rect">
            <a:avLst/>
          </a:prstGeom>
          <a:noFill/>
          <a:ln/>
        </p:spPr>
        <p:txBody>
          <a:bodyPr wrap="none" lIns="0" tIns="0" rIns="0" bIns="0" rtlCol="0" anchor="t"/>
          <a:lstStyle/>
          <a:p>
            <a:pPr algn="l" indent="0" marL="0">
              <a:lnSpc>
                <a:spcPct val="104000"/>
              </a:lnSpc>
              <a:buNone/>
            </a:pPr>
            <a:r>
              <a:rPr lang="en-US" sz="550" b="1" dirty="0">
                <a:solidFill>
                  <a:srgbClr val="000000"/>
                </a:solidFill>
                <a:latin typeface="Montserrat Extra Bold" pitchFamily="34" charset="0"/>
                <a:ea typeface="Montserrat Extra Bold" pitchFamily="34" charset="-122"/>
                <a:cs typeface="Montserrat Extra Bold" pitchFamily="34" charset="-120"/>
              </a:rPr>
              <a:t>Kiểm tra elif</a:t>
            </a:r>
            <a:endParaRPr lang="en-US" sz="550" dirty="0"/>
          </a:p>
        </p:txBody>
      </p:sp>
      <p:sp>
        <p:nvSpPr>
          <p:cNvPr id="17" name="Text 13"/>
          <p:cNvSpPr/>
          <p:nvPr/>
        </p:nvSpPr>
        <p:spPr>
          <a:xfrm>
            <a:off x="6641431" y="1872304"/>
            <a:ext cx="1920329" cy="65117"/>
          </a:xfrm>
          <a:prstGeom prst="rect">
            <a:avLst/>
          </a:prstGeom>
          <a:noFill/>
          <a:ln/>
        </p:spPr>
        <p:txBody>
          <a:bodyPr wrap="none" lIns="0" tIns="0" rIns="0" bIns="0" rtlCol="0" anchor="t"/>
          <a:lstStyle/>
          <a:p>
            <a:pPr algn="l" indent="0" marL="0">
              <a:lnSpc>
                <a:spcPct val="94000"/>
              </a:lnSpc>
              <a:buNone/>
            </a:pPr>
            <a:r>
              <a:rPr lang="en-US" sz="450" dirty="0">
                <a:solidFill>
                  <a:srgbClr val="000000"/>
                </a:solidFill>
                <a:latin typeface="Montserrat" pitchFamily="34" charset="0"/>
                <a:ea typeface="Montserrat" pitchFamily="34" charset="-122"/>
                <a:cs typeface="Montserrat" pitchFamily="34" charset="-120"/>
              </a:rPr>
              <a:t>So sánh điều_kiện_3</a:t>
            </a:r>
            <a:endParaRPr lang="en-US" sz="450" dirty="0"/>
          </a:p>
        </p:txBody>
      </p:sp>
      <p:pic>
        <p:nvPicPr>
          <p:cNvPr id="1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16612" y="1747094"/>
            <a:ext cx="102901" cy="102901"/>
          </a:xfrm>
          <a:prstGeom prst="rect">
            <a:avLst/>
          </a:prstGeom>
        </p:spPr>
      </p:pic>
      <p:sp>
        <p:nvSpPr>
          <p:cNvPr id="19" name="Text 14"/>
          <p:cNvSpPr/>
          <p:nvPr/>
        </p:nvSpPr>
        <p:spPr>
          <a:xfrm>
            <a:off x="6641431" y="2119508"/>
            <a:ext cx="1180726" cy="90441"/>
          </a:xfrm>
          <a:prstGeom prst="rect">
            <a:avLst/>
          </a:prstGeom>
          <a:noFill/>
          <a:ln/>
        </p:spPr>
        <p:txBody>
          <a:bodyPr wrap="none" lIns="0" tIns="0" rIns="0" bIns="0" rtlCol="0" anchor="t"/>
          <a:lstStyle/>
          <a:p>
            <a:pPr algn="l" indent="0" marL="0">
              <a:lnSpc>
                <a:spcPct val="104000"/>
              </a:lnSpc>
              <a:buNone/>
            </a:pPr>
            <a:r>
              <a:rPr lang="en-US" sz="550" b="1" dirty="0">
                <a:solidFill>
                  <a:srgbClr val="000000"/>
                </a:solidFill>
                <a:latin typeface="Montserrat Extra Bold" pitchFamily="34" charset="0"/>
                <a:ea typeface="Montserrat Extra Bold" pitchFamily="34" charset="-122"/>
                <a:cs typeface="Montserrat Extra Bold" pitchFamily="34" charset="-120"/>
              </a:rPr>
              <a:t>Kiểm tra elif</a:t>
            </a:r>
            <a:endParaRPr lang="en-US" sz="550" dirty="0"/>
          </a:p>
        </p:txBody>
      </p:sp>
      <p:sp>
        <p:nvSpPr>
          <p:cNvPr id="20" name="Text 15"/>
          <p:cNvSpPr/>
          <p:nvPr/>
        </p:nvSpPr>
        <p:spPr>
          <a:xfrm>
            <a:off x="6641431" y="2235674"/>
            <a:ext cx="1920329" cy="65117"/>
          </a:xfrm>
          <a:prstGeom prst="rect">
            <a:avLst/>
          </a:prstGeom>
          <a:noFill/>
          <a:ln/>
        </p:spPr>
        <p:txBody>
          <a:bodyPr wrap="none" lIns="0" tIns="0" rIns="0" bIns="0" rtlCol="0" anchor="t"/>
          <a:lstStyle/>
          <a:p>
            <a:pPr algn="l" indent="0" marL="0">
              <a:lnSpc>
                <a:spcPct val="94000"/>
              </a:lnSpc>
              <a:buNone/>
            </a:pPr>
            <a:r>
              <a:rPr lang="en-US" sz="450" dirty="0">
                <a:solidFill>
                  <a:srgbClr val="000000"/>
                </a:solidFill>
                <a:latin typeface="Montserrat" pitchFamily="34" charset="0"/>
                <a:ea typeface="Montserrat" pitchFamily="34" charset="-122"/>
                <a:cs typeface="Montserrat" pitchFamily="34" charset="-120"/>
              </a:rPr>
              <a:t>So sánh điều_kiện_2</a:t>
            </a:r>
            <a:endParaRPr lang="en-US" sz="450" dirty="0"/>
          </a:p>
        </p:txBody>
      </p:sp>
      <p:pic>
        <p:nvPicPr>
          <p:cNvPr id="2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16612" y="2059013"/>
            <a:ext cx="102901" cy="102901"/>
          </a:xfrm>
          <a:prstGeom prst="rect">
            <a:avLst/>
          </a:prstGeom>
        </p:spPr>
      </p:pic>
      <p:sp>
        <p:nvSpPr>
          <p:cNvPr id="22" name="Text 16"/>
          <p:cNvSpPr/>
          <p:nvPr/>
        </p:nvSpPr>
        <p:spPr>
          <a:xfrm>
            <a:off x="6644647" y="2482879"/>
            <a:ext cx="1180726" cy="90441"/>
          </a:xfrm>
          <a:prstGeom prst="rect">
            <a:avLst/>
          </a:prstGeom>
          <a:noFill/>
          <a:ln/>
        </p:spPr>
        <p:txBody>
          <a:bodyPr wrap="none" lIns="0" tIns="0" rIns="0" bIns="0" rtlCol="0" anchor="t"/>
          <a:lstStyle/>
          <a:p>
            <a:pPr algn="l" indent="0" marL="0">
              <a:lnSpc>
                <a:spcPct val="104000"/>
              </a:lnSpc>
              <a:buNone/>
            </a:pPr>
            <a:r>
              <a:rPr lang="en-US" sz="550" b="1" dirty="0">
                <a:solidFill>
                  <a:srgbClr val="000000"/>
                </a:solidFill>
                <a:latin typeface="Montserrat Extra Bold" pitchFamily="34" charset="0"/>
                <a:ea typeface="Montserrat Extra Bold" pitchFamily="34" charset="-122"/>
                <a:cs typeface="Montserrat Extra Bold" pitchFamily="34" charset="-120"/>
              </a:rPr>
              <a:t>Kiểm tra if</a:t>
            </a:r>
            <a:endParaRPr lang="en-US" sz="550" dirty="0"/>
          </a:p>
        </p:txBody>
      </p:sp>
      <p:sp>
        <p:nvSpPr>
          <p:cNvPr id="23" name="Text 17"/>
          <p:cNvSpPr/>
          <p:nvPr/>
        </p:nvSpPr>
        <p:spPr>
          <a:xfrm>
            <a:off x="6644647" y="2599045"/>
            <a:ext cx="1920329" cy="65118"/>
          </a:xfrm>
          <a:prstGeom prst="rect">
            <a:avLst/>
          </a:prstGeom>
          <a:noFill/>
          <a:ln/>
        </p:spPr>
        <p:txBody>
          <a:bodyPr wrap="none" lIns="0" tIns="0" rIns="0" bIns="0" rtlCol="0" anchor="t"/>
          <a:lstStyle/>
          <a:p>
            <a:pPr algn="l" indent="0" marL="0">
              <a:lnSpc>
                <a:spcPct val="94000"/>
              </a:lnSpc>
              <a:buNone/>
            </a:pPr>
            <a:r>
              <a:rPr lang="en-US" sz="450" dirty="0">
                <a:solidFill>
                  <a:srgbClr val="000000"/>
                </a:solidFill>
                <a:latin typeface="Montserrat" pitchFamily="34" charset="0"/>
                <a:ea typeface="Montserrat" pitchFamily="34" charset="-122"/>
                <a:cs typeface="Montserrat" pitchFamily="34" charset="-120"/>
              </a:rPr>
              <a:t>So sánh điều_kiện_1</a:t>
            </a:r>
            <a:endParaRPr lang="en-US" sz="450" dirty="0"/>
          </a:p>
        </p:txBody>
      </p:sp>
      <p:pic>
        <p:nvPicPr>
          <p:cNvPr id="2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16612" y="2422384"/>
            <a:ext cx="102901" cy="102901"/>
          </a:xfrm>
          <a:prstGeom prst="rect">
            <a:avLst/>
          </a:prstGeom>
        </p:spPr>
      </p:pic>
      <p:sp>
        <p:nvSpPr>
          <p:cNvPr id="25" name="Shape 18"/>
          <p:cNvSpPr/>
          <p:nvPr/>
        </p:nvSpPr>
        <p:spPr>
          <a:xfrm>
            <a:off x="4697760" y="2896939"/>
            <a:ext cx="3954884" cy="510853"/>
          </a:xfrm>
          <a:prstGeom prst="roundRect">
            <a:avLst>
              <a:gd name="adj" fmla="val 8159"/>
            </a:avLst>
          </a:prstGeom>
          <a:solidFill>
            <a:srgbClr val="B6D6FC"/>
          </a:solidFill>
          <a:ln/>
        </p:spPr>
      </p:sp>
      <p:pic>
        <p:nvPicPr>
          <p:cNvPr id="26" name="Image 5" descr="preencoded.png">    </p:cNvPr>
          <p:cNvPicPr>
            <a:picLocks noChangeAspect="1"/>
          </p:cNvPicPr>
          <p:nvPr/>
        </p:nvPicPr>
        <p:blipFill>
          <a:blip r:embed="rId10"/>
          <a:stretch>
            <a:fillRect/>
          </a:stretch>
        </p:blipFill>
        <p:spPr>
          <a:xfrm>
            <a:off x="4796954" y="3038847"/>
            <a:ext cx="123974" cy="99194"/>
          </a:xfrm>
          <a:prstGeom prst="rect">
            <a:avLst/>
          </a:prstGeom>
        </p:spPr>
      </p:pic>
      <p:sp>
        <p:nvSpPr>
          <p:cNvPr id="27" name="Text 19"/>
          <p:cNvSpPr/>
          <p:nvPr/>
        </p:nvSpPr>
        <p:spPr>
          <a:xfrm>
            <a:off x="5020121" y="3001045"/>
            <a:ext cx="3533329" cy="285750"/>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000000"/>
                </a:solidFill>
                <a:latin typeface="Montserrat" pitchFamily="34" charset="0"/>
                <a:ea typeface="Montserrat" pitchFamily="34" charset="-122"/>
                <a:cs typeface="Montserrat" pitchFamily="34" charset="-120"/>
              </a:rPr>
              <a:t>Python kiểm tra từng điều kiện từ trên xuống dưới. Khi gặp điều kiện đúng đầu tiên, nó thực thi khối đó và bỏ qua tất cả các nhánh còn lại.</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628278"/>
            <a:ext cx="7442820" cy="387548"/>
          </a:xfrm>
          <a:prstGeom prst="rect">
            <a:avLst/>
          </a:prstGeom>
          <a:noFill/>
          <a:ln/>
        </p:spPr>
        <p:txBody>
          <a:bodyPr wrap="none" lIns="0" tIns="0" rIns="0" bIns="0" rtlCol="0" anchor="t"/>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match-case — Tính Năng Mới Python 3.10+</a:t>
            </a:r>
            <a:endParaRPr lang="en-US" sz="2400" dirty="0"/>
          </a:p>
        </p:txBody>
      </p:sp>
      <p:sp>
        <p:nvSpPr>
          <p:cNvPr id="3" name="Text 1"/>
          <p:cNvSpPr/>
          <p:nvPr/>
        </p:nvSpPr>
        <p:spPr>
          <a:xfrm>
            <a:off x="496119" y="1263848"/>
            <a:ext cx="8151763"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Câu lệnh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match-case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là phiên bản Python của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switch-case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trong các ngôn ngữ khác. Cú pháp gọn gàng, dễ đọc hơn khi so sánh một biến với nhiều giá trị cụ thể.</a:t>
            </a:r>
            <a:endParaRPr lang="en-US" sz="950" dirty="0"/>
          </a:p>
        </p:txBody>
      </p:sp>
      <p:sp>
        <p:nvSpPr>
          <p:cNvPr id="4" name="Shape 2"/>
          <p:cNvSpPr/>
          <p:nvPr/>
        </p:nvSpPr>
        <p:spPr>
          <a:xfrm>
            <a:off x="496119" y="1944588"/>
            <a:ext cx="4347270" cy="2431033"/>
          </a:xfrm>
          <a:prstGeom prst="roundRect">
            <a:avLst>
              <a:gd name="adj" fmla="val 2143"/>
            </a:avLst>
          </a:prstGeom>
          <a:solidFill>
            <a:srgbClr val="F2F2F2"/>
          </a:solidFill>
          <a:ln/>
        </p:spPr>
      </p:sp>
      <p:sp>
        <p:nvSpPr>
          <p:cNvPr id="5" name="Shape 3"/>
          <p:cNvSpPr/>
          <p:nvPr/>
        </p:nvSpPr>
        <p:spPr>
          <a:xfrm>
            <a:off x="489942" y="1944588"/>
            <a:ext cx="4359622" cy="2431033"/>
          </a:xfrm>
          <a:prstGeom prst="roundRect">
            <a:avLst>
              <a:gd name="adj" fmla="val 765"/>
            </a:avLst>
          </a:prstGeom>
          <a:solidFill>
            <a:srgbClr val="F2F2F2"/>
          </a:solidFill>
          <a:ln/>
        </p:spPr>
      </p:sp>
      <p:sp>
        <p:nvSpPr>
          <p:cNvPr id="6" name="Text 4"/>
          <p:cNvSpPr/>
          <p:nvPr/>
        </p:nvSpPr>
        <p:spPr>
          <a:xfrm>
            <a:off x="644947" y="2068562"/>
            <a:ext cx="4049613" cy="218308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level = input("Chọn level (easy/medium/hard): ")</a:t>
            </a:r>
            <a:endParaRPr lang="en-US" sz="950" dirty="0"/>
          </a:p>
          <a:p>
            <a:pPr algn="l" indent="0" marL="0">
              <a:lnSpc>
                <a:spcPct val="133000"/>
              </a:lnSpc>
              <a:buNone/>
            </a:pP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match level.lower():</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case "easy":</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print("Chế độ dễ — Dành cho người mới")</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case "medium":</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print("Chế độ trung bình")</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case "hard":</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print("Chế độ khó — Thử thách bản thân!")</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case _:</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print("Level không hợp lệ")</a:t>
            </a:r>
            <a:endParaRPr lang="en-US" sz="950" dirty="0"/>
          </a:p>
        </p:txBody>
      </p:sp>
      <p:sp>
        <p:nvSpPr>
          <p:cNvPr id="7" name="Shape 5"/>
          <p:cNvSpPr/>
          <p:nvPr/>
        </p:nvSpPr>
        <p:spPr>
          <a:xfrm>
            <a:off x="5150718" y="1944588"/>
            <a:ext cx="1688902" cy="1194495"/>
          </a:xfrm>
          <a:prstGeom prst="roundRect">
            <a:avLst>
              <a:gd name="adj" fmla="val 5741"/>
            </a:avLst>
          </a:prstGeom>
          <a:solidFill>
            <a:srgbClr val="FFFFFF"/>
          </a:solidFill>
          <a:ln w="14288">
            <a:solidFill>
              <a:srgbClr val="DCBBBB"/>
            </a:solidFill>
            <a:prstDash val="solid"/>
          </a:ln>
        </p:spPr>
      </p:sp>
      <p:sp>
        <p:nvSpPr>
          <p:cNvPr id="8" name="Shape 6"/>
          <p:cNvSpPr/>
          <p:nvPr/>
        </p:nvSpPr>
        <p:spPr>
          <a:xfrm>
            <a:off x="5136431" y="1944588"/>
            <a:ext cx="57150" cy="1194495"/>
          </a:xfrm>
          <a:prstGeom prst="roundRect">
            <a:avLst>
              <a:gd name="adj" fmla="val 91163"/>
            </a:avLst>
          </a:prstGeom>
          <a:solidFill>
            <a:srgbClr val="BE2727"/>
          </a:solidFill>
          <a:ln/>
        </p:spPr>
      </p:sp>
      <p:sp>
        <p:nvSpPr>
          <p:cNvPr id="9" name="Text 7"/>
          <p:cNvSpPr/>
          <p:nvPr/>
        </p:nvSpPr>
        <p:spPr>
          <a:xfrm>
            <a:off x="5331842" y="2082850"/>
            <a:ext cx="182671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case "giá_trị"</a:t>
            </a:r>
            <a:endParaRPr lang="en-US" sz="1200" dirty="0"/>
          </a:p>
        </p:txBody>
      </p:sp>
      <p:sp>
        <p:nvSpPr>
          <p:cNvPr id="10" name="Text 8"/>
          <p:cNvSpPr/>
          <p:nvPr/>
        </p:nvSpPr>
        <p:spPr>
          <a:xfrm>
            <a:off x="5331842" y="2400672"/>
            <a:ext cx="1369516"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So khớp với giá trị cụ thể.</a:t>
            </a:r>
            <a:endParaRPr lang="en-US" sz="950" dirty="0"/>
          </a:p>
        </p:txBody>
      </p:sp>
      <p:sp>
        <p:nvSpPr>
          <p:cNvPr id="11" name="Shape 9"/>
          <p:cNvSpPr/>
          <p:nvPr/>
        </p:nvSpPr>
        <p:spPr>
          <a:xfrm>
            <a:off x="6963594" y="1944588"/>
            <a:ext cx="1688976" cy="1194495"/>
          </a:xfrm>
          <a:prstGeom prst="roundRect">
            <a:avLst>
              <a:gd name="adj" fmla="val 5741"/>
            </a:avLst>
          </a:prstGeom>
          <a:solidFill>
            <a:srgbClr val="FFFFFF"/>
          </a:solidFill>
          <a:ln w="14288">
            <a:solidFill>
              <a:srgbClr val="DCBBBB"/>
            </a:solidFill>
            <a:prstDash val="solid"/>
          </a:ln>
        </p:spPr>
      </p:sp>
      <p:sp>
        <p:nvSpPr>
          <p:cNvPr id="12" name="Shape 10"/>
          <p:cNvSpPr/>
          <p:nvPr/>
        </p:nvSpPr>
        <p:spPr>
          <a:xfrm>
            <a:off x="6949306" y="1944588"/>
            <a:ext cx="57150" cy="1194495"/>
          </a:xfrm>
          <a:prstGeom prst="roundRect">
            <a:avLst>
              <a:gd name="adj" fmla="val 91163"/>
            </a:avLst>
          </a:prstGeom>
          <a:solidFill>
            <a:srgbClr val="BE2727"/>
          </a:solidFill>
          <a:ln/>
        </p:spPr>
      </p:sp>
      <p:sp>
        <p:nvSpPr>
          <p:cNvPr id="13" name="Text 11"/>
          <p:cNvSpPr/>
          <p:nvPr/>
        </p:nvSpPr>
        <p:spPr>
          <a:xfrm>
            <a:off x="7144717" y="2082850"/>
            <a:ext cx="1826791"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case _</a:t>
            </a:r>
            <a:endParaRPr lang="en-US" sz="1200" dirty="0"/>
          </a:p>
        </p:txBody>
      </p:sp>
      <p:sp>
        <p:nvSpPr>
          <p:cNvPr id="14" name="Text 12"/>
          <p:cNvSpPr/>
          <p:nvPr/>
        </p:nvSpPr>
        <p:spPr>
          <a:xfrm>
            <a:off x="7144717" y="2400672"/>
            <a:ext cx="1369591" cy="6001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Trường hợp mặc định (như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else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bắt tất cả giá trị không khớp.</a:t>
            </a:r>
            <a:endParaRPr lang="en-US" sz="950" dirty="0"/>
          </a:p>
        </p:txBody>
      </p:sp>
      <p:sp>
        <p:nvSpPr>
          <p:cNvPr id="15" name="Shape 13"/>
          <p:cNvSpPr/>
          <p:nvPr/>
        </p:nvSpPr>
        <p:spPr>
          <a:xfrm>
            <a:off x="5150718" y="3278609"/>
            <a:ext cx="3501851" cy="730225"/>
          </a:xfrm>
          <a:prstGeom prst="roundRect">
            <a:avLst>
              <a:gd name="adj" fmla="val 7135"/>
            </a:avLst>
          </a:prstGeom>
          <a:solidFill>
            <a:srgbClr val="F2C0C0"/>
          </a:solidFill>
          <a:ln/>
        </p:spPr>
      </p:sp>
      <p:pic>
        <p:nvPicPr>
          <p:cNvPr id="16" name="Image 0" descr="preencoded.png">    </p:cNvPr>
          <p:cNvPicPr>
            <a:picLocks noChangeAspect="1"/>
          </p:cNvPicPr>
          <p:nvPr/>
        </p:nvPicPr>
        <p:blipFill>
          <a:blip r:embed="rId1"/>
          <a:stretch>
            <a:fillRect/>
          </a:stretch>
        </p:blipFill>
        <p:spPr>
          <a:xfrm>
            <a:off x="5274692" y="3463156"/>
            <a:ext cx="155004" cy="123974"/>
          </a:xfrm>
          <a:prstGeom prst="rect">
            <a:avLst/>
          </a:prstGeom>
        </p:spPr>
      </p:pic>
      <p:sp>
        <p:nvSpPr>
          <p:cNvPr id="17" name="Text 14"/>
          <p:cNvSpPr/>
          <p:nvPr/>
        </p:nvSpPr>
        <p:spPr>
          <a:xfrm>
            <a:off x="5553670" y="3433539"/>
            <a:ext cx="2974925"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Chỉ dùng được với Python 3.10 trở lên. Kiểm tra phiên bản bằng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python --version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6119" y="632222"/>
            <a:ext cx="5765899" cy="387548"/>
          </a:xfrm>
          <a:prstGeom prst="rect">
            <a:avLst/>
          </a:prstGeom>
          <a:noFill/>
          <a:ln/>
        </p:spPr>
        <p:txBody>
          <a:bodyPr wrap="none" lIns="0" tIns="0" rIns="0" bIns="0" rtlCol="0" anchor="t"/>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Điều Kiện Lồng Nhau (Nested if)</a:t>
            </a:r>
            <a:endParaRPr lang="en-US" sz="2400" dirty="0"/>
          </a:p>
        </p:txBody>
      </p:sp>
      <p:sp>
        <p:nvSpPr>
          <p:cNvPr id="3" name="Text 1"/>
          <p:cNvSpPr/>
          <p:nvPr/>
        </p:nvSpPr>
        <p:spPr>
          <a:xfrm>
            <a:off x="496119" y="1267792"/>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Đôi khi một điều kiện chỉ có ý nghĩa khi điều kiện khác đã được thỏa mãn — đó là lúc bạn cần dùng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nested if</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(điều kiện lồng nhau).</a:t>
            </a:r>
            <a:endParaRPr lang="en-US" sz="950" dirty="0"/>
          </a:p>
        </p:txBody>
      </p:sp>
      <p:sp>
        <p:nvSpPr>
          <p:cNvPr id="4" name="Shape 2"/>
          <p:cNvSpPr/>
          <p:nvPr/>
        </p:nvSpPr>
        <p:spPr>
          <a:xfrm>
            <a:off x="496119" y="1943770"/>
            <a:ext cx="4347270" cy="2232571"/>
          </a:xfrm>
          <a:prstGeom prst="roundRect">
            <a:avLst>
              <a:gd name="adj" fmla="val 2334"/>
            </a:avLst>
          </a:prstGeom>
          <a:solidFill>
            <a:srgbClr val="F2F2F2"/>
          </a:solidFill>
          <a:ln/>
        </p:spPr>
      </p:sp>
      <p:sp>
        <p:nvSpPr>
          <p:cNvPr id="5" name="Shape 3"/>
          <p:cNvSpPr/>
          <p:nvPr/>
        </p:nvSpPr>
        <p:spPr>
          <a:xfrm>
            <a:off x="489942" y="1943770"/>
            <a:ext cx="4359622" cy="2232571"/>
          </a:xfrm>
          <a:prstGeom prst="roundRect">
            <a:avLst>
              <a:gd name="adj" fmla="val 833"/>
            </a:avLst>
          </a:prstGeom>
          <a:solidFill>
            <a:srgbClr val="F2F2F2"/>
          </a:solidFill>
          <a:ln/>
        </p:spPr>
      </p:sp>
      <p:sp>
        <p:nvSpPr>
          <p:cNvPr id="6" name="Text 4"/>
          <p:cNvSpPr/>
          <p:nvPr/>
        </p:nvSpPr>
        <p:spPr>
          <a:xfrm>
            <a:off x="644947" y="2067744"/>
            <a:ext cx="4049613" cy="1984623"/>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age = 20</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has_ticket = True</a:t>
            </a:r>
            <a:endParaRPr lang="en-US" sz="950" dirty="0"/>
          </a:p>
          <a:p>
            <a:pPr algn="l" indent="0" marL="0">
              <a:lnSpc>
                <a:spcPct val="133000"/>
              </a:lnSpc>
              <a:buNone/>
            </a:pP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if age &gt;= 18:</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if has_ticket:</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print("Vào được — Chúc vui vẻ!")</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else: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print("Cần mua vé trước")</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else: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print("Chưa đủ tuổi vào cửa")</a:t>
            </a:r>
            <a:endParaRPr lang="en-US" sz="950" dirty="0"/>
          </a:p>
        </p:txBody>
      </p:sp>
      <p:sp>
        <p:nvSpPr>
          <p:cNvPr id="7" name="Text 5"/>
          <p:cNvSpPr/>
          <p:nvPr/>
        </p:nvSpPr>
        <p:spPr>
          <a:xfrm>
            <a:off x="5150718" y="1928217"/>
            <a:ext cx="2429024" cy="193849"/>
          </a:xfrm>
          <a:prstGeom prst="rect">
            <a:avLst/>
          </a:prstGeom>
          <a:noFill/>
          <a:ln/>
        </p:spPr>
        <p:txBody>
          <a:bodyPr wrap="none" lIns="0" tIns="0" rIns="0" bIns="0" rtlCol="0" anchor="t"/>
          <a:lstStyle/>
          <a:p>
            <a:pPr algn="l" indent="0" marL="0">
              <a:lnSpc>
                <a:spcPct val="104000"/>
              </a:lnSpc>
              <a:buNone/>
            </a:pPr>
            <a:r>
              <a:rPr lang="en-US" sz="1200" b="1" dirty="0">
                <a:solidFill>
                  <a:srgbClr val="BE2727"/>
                </a:solidFill>
                <a:latin typeface="Montserrat Extra Bold" pitchFamily="34" charset="0"/>
                <a:ea typeface="Montserrat Extra Bold" pitchFamily="34" charset="-122"/>
                <a:cs typeface="Montserrat Extra Bold" pitchFamily="34" charset="-120"/>
              </a:rPr>
              <a:t>Khi nào dùng nested if?</a:t>
            </a:r>
            <a:endParaRPr lang="en-US" sz="12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97227" y="2267694"/>
            <a:ext cx="186035" cy="186035"/>
          </a:xfrm>
          <a:prstGeom prst="rect">
            <a:avLst/>
          </a:prstGeom>
        </p:spPr>
      </p:pic>
      <p:sp>
        <p:nvSpPr>
          <p:cNvPr id="9" name="Text 6"/>
          <p:cNvSpPr/>
          <p:nvPr/>
        </p:nvSpPr>
        <p:spPr>
          <a:xfrm>
            <a:off x="5553745" y="2261592"/>
            <a:ext cx="3098825"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Logic phức tạp, điều kiện phụ thuộc lẫn nhau theo thứ bậc</a:t>
            </a:r>
            <a:endParaRPr lang="en-US" sz="9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97227" y="2912641"/>
            <a:ext cx="186035" cy="186035"/>
          </a:xfrm>
          <a:prstGeom prst="rect">
            <a:avLst/>
          </a:prstGeom>
        </p:spPr>
      </p:pic>
      <p:sp>
        <p:nvSpPr>
          <p:cNvPr id="11" name="Text 7"/>
          <p:cNvSpPr/>
          <p:nvPr/>
        </p:nvSpPr>
        <p:spPr>
          <a:xfrm>
            <a:off x="5553745" y="2906539"/>
            <a:ext cx="3098825"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Khi cần kiểm tra điều kiện thứ cấp chỉ sau khi điều kiện chính đã đúng</a:t>
            </a:r>
            <a:endParaRPr lang="en-US" sz="950" dirty="0"/>
          </a:p>
        </p:txBody>
      </p:sp>
      <p:sp>
        <p:nvSpPr>
          <p:cNvPr id="12" name="Shape 8"/>
          <p:cNvSpPr/>
          <p:nvPr/>
        </p:nvSpPr>
        <p:spPr>
          <a:xfrm>
            <a:off x="5150718" y="3442990"/>
            <a:ext cx="3501851" cy="928688"/>
          </a:xfrm>
          <a:prstGeom prst="roundRect">
            <a:avLst>
              <a:gd name="adj" fmla="val 5610"/>
            </a:avLst>
          </a:prstGeom>
          <a:solidFill>
            <a:srgbClr val="FCF2B5"/>
          </a:solidFill>
          <a:ln/>
        </p:spPr>
      </p:sp>
      <p:pic>
        <p:nvPicPr>
          <p:cNvPr id="13" name="Image 2" descr="preencoded.png">    </p:cNvPr>
          <p:cNvPicPr>
            <a:picLocks noChangeAspect="1"/>
          </p:cNvPicPr>
          <p:nvPr/>
        </p:nvPicPr>
        <p:blipFill>
          <a:blip r:embed="rId5"/>
          <a:stretch>
            <a:fillRect/>
          </a:stretch>
        </p:blipFill>
        <p:spPr>
          <a:xfrm>
            <a:off x="5274692" y="3627537"/>
            <a:ext cx="155004" cy="123974"/>
          </a:xfrm>
          <a:prstGeom prst="rect">
            <a:avLst/>
          </a:prstGeom>
        </p:spPr>
      </p:pic>
      <p:sp>
        <p:nvSpPr>
          <p:cNvPr id="14" name="Text 9"/>
          <p:cNvSpPr/>
          <p:nvPr/>
        </p:nvSpPr>
        <p:spPr>
          <a:xfrm>
            <a:off x="5553670" y="3597920"/>
            <a:ext cx="2974925" cy="6001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Tránh lạm dụng nested if quá nhiều cấp — code sẽ trở nên khó đọc. Hãy thử dùng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and</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để gộp điều kiện khi có thể!</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505867"/>
            <a:ext cx="6279059" cy="387548"/>
          </a:xfrm>
          <a:prstGeom prst="rect">
            <a:avLst/>
          </a:prstGeom>
          <a:noFill/>
          <a:ln/>
        </p:spPr>
        <p:txBody>
          <a:bodyPr wrap="none" lIns="0" tIns="0" rIns="0" bIns="0" rtlCol="0" anchor="t"/>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Toán Tử Ba Ngôi (Ternary Operator)</a:t>
            </a:r>
            <a:endParaRPr lang="en-US" sz="2400" dirty="0"/>
          </a:p>
        </p:txBody>
      </p:sp>
      <p:sp>
        <p:nvSpPr>
          <p:cNvPr id="3" name="Text 1"/>
          <p:cNvSpPr/>
          <p:nvPr/>
        </p:nvSpPr>
        <p:spPr>
          <a:xfrm>
            <a:off x="496119" y="1141437"/>
            <a:ext cx="8608963"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Toán tử ba ngôi cho phép viết một câu lệnh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if-else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đơn giản trên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một dòng duy nhất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giúp code ngắn gọn và Pythonic hơn.</a:t>
            </a:r>
            <a:endParaRPr lang="en-US" sz="950" dirty="0"/>
          </a:p>
        </p:txBody>
      </p:sp>
      <p:sp>
        <p:nvSpPr>
          <p:cNvPr id="4" name="Text 2"/>
          <p:cNvSpPr/>
          <p:nvPr/>
        </p:nvSpPr>
        <p:spPr>
          <a:xfrm>
            <a:off x="496119" y="1608162"/>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BE2727"/>
                </a:solidFill>
                <a:latin typeface="Montserrat Extra Bold" pitchFamily="34" charset="0"/>
                <a:ea typeface="Montserrat Extra Bold" pitchFamily="34" charset="-122"/>
                <a:cs typeface="Montserrat Extra Bold" pitchFamily="34" charset="-120"/>
              </a:rPr>
              <a:t>Cú pháp</a:t>
            </a:r>
            <a:endParaRPr lang="en-US" sz="1200" dirty="0"/>
          </a:p>
        </p:txBody>
      </p:sp>
      <p:sp>
        <p:nvSpPr>
          <p:cNvPr id="5" name="Shape 3"/>
          <p:cNvSpPr/>
          <p:nvPr/>
        </p:nvSpPr>
        <p:spPr>
          <a:xfrm>
            <a:off x="496119" y="1941537"/>
            <a:ext cx="3924598" cy="446410"/>
          </a:xfrm>
          <a:prstGeom prst="roundRect">
            <a:avLst>
              <a:gd name="adj" fmla="val 11671"/>
            </a:avLst>
          </a:prstGeom>
          <a:solidFill>
            <a:srgbClr val="F2F2F2"/>
          </a:solidFill>
          <a:ln/>
        </p:spPr>
      </p:sp>
      <p:sp>
        <p:nvSpPr>
          <p:cNvPr id="6" name="Shape 4"/>
          <p:cNvSpPr/>
          <p:nvPr/>
        </p:nvSpPr>
        <p:spPr>
          <a:xfrm>
            <a:off x="489942" y="1941537"/>
            <a:ext cx="3936950" cy="446410"/>
          </a:xfrm>
          <a:prstGeom prst="roundRect">
            <a:avLst>
              <a:gd name="adj" fmla="val 4168"/>
            </a:avLst>
          </a:prstGeom>
          <a:solidFill>
            <a:srgbClr val="F2F2F2"/>
          </a:solidFill>
          <a:ln/>
        </p:spPr>
      </p:sp>
      <p:sp>
        <p:nvSpPr>
          <p:cNvPr id="7" name="Text 5"/>
          <p:cNvSpPr/>
          <p:nvPr/>
        </p:nvSpPr>
        <p:spPr>
          <a:xfrm>
            <a:off x="644947" y="2065511"/>
            <a:ext cx="4084141"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giá_trị = X if điều_kiện else Y</a:t>
            </a:r>
            <a:endParaRPr lang="en-US" sz="950" dirty="0"/>
          </a:p>
        </p:txBody>
      </p:sp>
      <p:sp>
        <p:nvSpPr>
          <p:cNvPr id="8" name="Text 6"/>
          <p:cNvSpPr/>
          <p:nvPr/>
        </p:nvSpPr>
        <p:spPr>
          <a:xfrm>
            <a:off x="496119" y="2527474"/>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BE2727"/>
                </a:solidFill>
                <a:latin typeface="Montserrat Extra Bold" pitchFamily="34" charset="0"/>
                <a:ea typeface="Montserrat Extra Bold" pitchFamily="34" charset="-122"/>
                <a:cs typeface="Montserrat Extra Bold" pitchFamily="34" charset="-120"/>
              </a:rPr>
              <a:t>Ví dụ thực tế</a:t>
            </a:r>
            <a:endParaRPr lang="en-US" sz="1200" dirty="0"/>
          </a:p>
        </p:txBody>
      </p:sp>
      <p:sp>
        <p:nvSpPr>
          <p:cNvPr id="9" name="Shape 7"/>
          <p:cNvSpPr/>
          <p:nvPr/>
        </p:nvSpPr>
        <p:spPr>
          <a:xfrm>
            <a:off x="496119" y="2860849"/>
            <a:ext cx="3924598" cy="1637184"/>
          </a:xfrm>
          <a:prstGeom prst="roundRect">
            <a:avLst>
              <a:gd name="adj" fmla="val 3182"/>
            </a:avLst>
          </a:prstGeom>
          <a:solidFill>
            <a:srgbClr val="F2F2F2"/>
          </a:solidFill>
          <a:ln/>
        </p:spPr>
      </p:sp>
      <p:sp>
        <p:nvSpPr>
          <p:cNvPr id="10" name="Shape 8"/>
          <p:cNvSpPr/>
          <p:nvPr/>
        </p:nvSpPr>
        <p:spPr>
          <a:xfrm>
            <a:off x="489942" y="2860849"/>
            <a:ext cx="3936950" cy="1637184"/>
          </a:xfrm>
          <a:prstGeom prst="roundRect">
            <a:avLst>
              <a:gd name="adj" fmla="val 1137"/>
            </a:avLst>
          </a:prstGeom>
          <a:solidFill>
            <a:srgbClr val="F2F2F2"/>
          </a:solidFill>
          <a:ln/>
        </p:spPr>
      </p:sp>
      <p:sp>
        <p:nvSpPr>
          <p:cNvPr id="11" name="Text 9"/>
          <p:cNvSpPr/>
          <p:nvPr/>
        </p:nvSpPr>
        <p:spPr>
          <a:xfrm>
            <a:off x="644947" y="2984822"/>
            <a:ext cx="3626941"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score = 7.5</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result = "Đậu" if score &gt;= 5 else "Rớt"</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print(result)  # Đậu</a:t>
            </a:r>
            <a:endParaRPr lang="en-US" sz="950" dirty="0"/>
          </a:p>
          <a:p>
            <a:pPr algn="l" indent="0" marL="0">
              <a:lnSpc>
                <a:spcPct val="133000"/>
              </a:lnSpc>
              <a:buNone/>
            </a:pP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age = 20</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status = "Adult" if age &gt;= 18 else "Minor"</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print(status)  # Adult</a:t>
            </a:r>
            <a:endParaRPr lang="en-US" sz="950" dirty="0"/>
          </a:p>
        </p:txBody>
      </p:sp>
      <p:sp>
        <p:nvSpPr>
          <p:cNvPr id="12" name="Shape 10"/>
          <p:cNvSpPr/>
          <p:nvPr/>
        </p:nvSpPr>
        <p:spPr>
          <a:xfrm>
            <a:off x="4728046" y="1623715"/>
            <a:ext cx="3924598" cy="2514898"/>
          </a:xfrm>
          <a:prstGeom prst="roundRect">
            <a:avLst>
              <a:gd name="adj" fmla="val 2072"/>
            </a:avLst>
          </a:prstGeom>
          <a:solidFill>
            <a:srgbClr val="F6D5D5"/>
          </a:solidFill>
          <a:ln w="4763">
            <a:solidFill>
              <a:srgbClr val="DCBBBB"/>
            </a:solidFill>
            <a:prstDash val="solid"/>
          </a:ln>
        </p:spPr>
      </p:sp>
      <p:sp>
        <p:nvSpPr>
          <p:cNvPr id="13" name="Shape 11"/>
          <p:cNvSpPr/>
          <p:nvPr/>
        </p:nvSpPr>
        <p:spPr>
          <a:xfrm>
            <a:off x="4732809" y="1628477"/>
            <a:ext cx="3915073" cy="1252686"/>
          </a:xfrm>
          <a:prstGeom prst="roundRect">
            <a:avLst>
              <a:gd name="adj" fmla="val 4159"/>
            </a:avLst>
          </a:prstGeom>
          <a:solidFill>
            <a:srgbClr val="F6D5D5"/>
          </a:solidFill>
          <a:ln/>
        </p:spPr>
      </p:sp>
      <p:sp>
        <p:nvSpPr>
          <p:cNvPr id="14" name="Text 12"/>
          <p:cNvSpPr/>
          <p:nvPr/>
        </p:nvSpPr>
        <p:spPr>
          <a:xfrm>
            <a:off x="4856783" y="1752451"/>
            <a:ext cx="2007766" cy="198611"/>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a:t>
            </a:r>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 Ưu điểm</a:t>
            </a:r>
            <a:endParaRPr lang="en-US" sz="1200" dirty="0"/>
          </a:p>
        </p:txBody>
      </p:sp>
      <p:sp>
        <p:nvSpPr>
          <p:cNvPr id="15" name="Text 13"/>
          <p:cNvSpPr/>
          <p:nvPr/>
        </p:nvSpPr>
        <p:spPr>
          <a:xfrm>
            <a:off x="4856783" y="2075036"/>
            <a:ext cx="3667125" cy="682154"/>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950" dirty="0">
                <a:solidFill>
                  <a:srgbClr val="000000"/>
                </a:solidFill>
                <a:latin typeface="Montserrat" pitchFamily="34" charset="0"/>
                <a:ea typeface="Montserrat" pitchFamily="34" charset="-122"/>
                <a:cs typeface="Montserrat" pitchFamily="34" charset="-120"/>
              </a:rPr>
              <a:t>Code ngắn gọn, tiết kiệm dòng</a:t>
            </a:r>
            <a:endParaRPr lang="en-US" sz="950" dirty="0"/>
          </a:p>
          <a:p>
            <a:pPr algn="l" marL="342900" indent="-342900">
              <a:lnSpc>
                <a:spcPct val="133000"/>
              </a:lnSpc>
              <a:buSzPct val="100000"/>
              <a:buChar char="•"/>
            </a:pPr>
            <a:r>
              <a:rPr lang="en-US" sz="950" dirty="0">
                <a:solidFill>
                  <a:srgbClr val="000000"/>
                </a:solidFill>
                <a:latin typeface="Montserrat" pitchFamily="34" charset="0"/>
                <a:ea typeface="Montserrat" pitchFamily="34" charset="-122"/>
                <a:cs typeface="Montserrat" pitchFamily="34" charset="-120"/>
              </a:rPr>
              <a:t>Dễ đọc với logic đơn giản</a:t>
            </a:r>
            <a:endParaRPr lang="en-US" sz="950" dirty="0"/>
          </a:p>
          <a:p>
            <a:pPr algn="l" marL="342900" indent="-342900">
              <a:lnSpc>
                <a:spcPct val="133000"/>
              </a:lnSpc>
              <a:buSzPct val="100000"/>
              <a:buChar char="•"/>
            </a:pPr>
            <a:r>
              <a:rPr lang="en-US" sz="950" dirty="0">
                <a:solidFill>
                  <a:srgbClr val="000000"/>
                </a:solidFill>
                <a:latin typeface="Montserrat" pitchFamily="34" charset="0"/>
                <a:ea typeface="Montserrat" pitchFamily="34" charset="-122"/>
                <a:cs typeface="Montserrat" pitchFamily="34" charset="-120"/>
              </a:rPr>
              <a:t>Pythonic — phong cách chuẩn</a:t>
            </a:r>
            <a:endParaRPr lang="en-US" sz="950" dirty="0"/>
          </a:p>
        </p:txBody>
      </p:sp>
      <p:sp>
        <p:nvSpPr>
          <p:cNvPr id="16" name="Shape 14"/>
          <p:cNvSpPr/>
          <p:nvPr/>
        </p:nvSpPr>
        <p:spPr>
          <a:xfrm>
            <a:off x="4732809" y="2881164"/>
            <a:ext cx="3915073" cy="1252686"/>
          </a:xfrm>
          <a:prstGeom prst="rect">
            <a:avLst/>
          </a:prstGeom>
          <a:solidFill>
            <a:srgbClr val="F6D5D5"/>
          </a:solidFill>
          <a:ln/>
        </p:spPr>
      </p:sp>
      <p:sp>
        <p:nvSpPr>
          <p:cNvPr id="17" name="Shape 15"/>
          <p:cNvSpPr/>
          <p:nvPr/>
        </p:nvSpPr>
        <p:spPr>
          <a:xfrm>
            <a:off x="4732809" y="2881164"/>
            <a:ext cx="3915073" cy="14288"/>
          </a:xfrm>
          <a:prstGeom prst="roundRect">
            <a:avLst>
              <a:gd name="adj" fmla="val 364638"/>
            </a:avLst>
          </a:prstGeom>
          <a:solidFill>
            <a:srgbClr val="DCBBBB"/>
          </a:solidFill>
          <a:ln/>
        </p:spPr>
      </p:sp>
      <p:sp>
        <p:nvSpPr>
          <p:cNvPr id="18" name="Text 16"/>
          <p:cNvSpPr/>
          <p:nvPr/>
        </p:nvSpPr>
        <p:spPr>
          <a:xfrm>
            <a:off x="4856783" y="3005138"/>
            <a:ext cx="2007766" cy="198611"/>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a:t>
            </a:r>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 Nhược điểm</a:t>
            </a:r>
            <a:endParaRPr lang="en-US" sz="1200" dirty="0"/>
          </a:p>
        </p:txBody>
      </p:sp>
      <p:sp>
        <p:nvSpPr>
          <p:cNvPr id="19" name="Text 17"/>
          <p:cNvSpPr/>
          <p:nvPr/>
        </p:nvSpPr>
        <p:spPr>
          <a:xfrm>
            <a:off x="4856783" y="3327722"/>
            <a:ext cx="3667125" cy="682154"/>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950" dirty="0">
                <a:solidFill>
                  <a:srgbClr val="000000"/>
                </a:solidFill>
                <a:latin typeface="Montserrat" pitchFamily="34" charset="0"/>
                <a:ea typeface="Montserrat" pitchFamily="34" charset="-122"/>
                <a:cs typeface="Montserrat" pitchFamily="34" charset="-120"/>
              </a:rPr>
              <a:t>Khó đọc khi logic phức tạp</a:t>
            </a:r>
            <a:endParaRPr lang="en-US" sz="950" dirty="0"/>
          </a:p>
          <a:p>
            <a:pPr algn="l" marL="342900" indent="-342900">
              <a:lnSpc>
                <a:spcPct val="133000"/>
              </a:lnSpc>
              <a:buSzPct val="100000"/>
              <a:buChar char="•"/>
            </a:pPr>
            <a:r>
              <a:rPr lang="en-US" sz="950" dirty="0">
                <a:solidFill>
                  <a:srgbClr val="000000"/>
                </a:solidFill>
                <a:latin typeface="Montserrat" pitchFamily="34" charset="0"/>
                <a:ea typeface="Montserrat" pitchFamily="34" charset="-122"/>
                <a:cs typeface="Montserrat" pitchFamily="34" charset="-120"/>
              </a:rPr>
              <a:t>Không nên lồng nhiều cấp</a:t>
            </a:r>
            <a:endParaRPr lang="en-US" sz="950" dirty="0"/>
          </a:p>
          <a:p>
            <a:pPr algn="l" marL="342900" indent="-342900">
              <a:lnSpc>
                <a:spcPct val="133000"/>
              </a:lnSpc>
              <a:buSzPct val="100000"/>
              <a:buChar char="•"/>
            </a:pPr>
            <a:r>
              <a:rPr lang="en-US" sz="950" dirty="0">
                <a:solidFill>
                  <a:srgbClr val="000000"/>
                </a:solidFill>
                <a:latin typeface="Montserrat" pitchFamily="34" charset="0"/>
                <a:ea typeface="Montserrat" pitchFamily="34" charset="-122"/>
                <a:cs typeface="Montserrat" pitchFamily="34" charset="-120"/>
              </a:rPr>
              <a:t>Chỉ dùng cho logic </a:t>
            </a:r>
            <a:pPr algn="l" marL="342900" indent="-342900">
              <a:lnSpc>
                <a:spcPct val="133000"/>
              </a:lnSpc>
              <a:buSzPct val="100000"/>
              <a:buChar char="•"/>
            </a:pPr>
            <a:r>
              <a:rPr lang="en-US" sz="950" b="1" dirty="0">
                <a:solidFill>
                  <a:srgbClr val="000000"/>
                </a:solidFill>
                <a:latin typeface="Montserrat" pitchFamily="34" charset="0"/>
                <a:ea typeface="Montserrat" pitchFamily="34" charset="-122"/>
                <a:cs typeface="Montserrat" pitchFamily="34" charset="-120"/>
              </a:rPr>
              <a:t>đơn giản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6119" y="1215107"/>
            <a:ext cx="7619851" cy="387548"/>
          </a:xfrm>
          <a:prstGeom prst="rect">
            <a:avLst/>
          </a:prstGeom>
          <a:noFill/>
          <a:ln/>
        </p:spPr>
        <p:txBody>
          <a:bodyPr wrap="none" lIns="0" tIns="0" rIns="0" bIns="0" rtlCol="0" anchor="t"/>
          <a:lstStyle/>
          <a:p>
            <a:pPr algn="l" indent="0" marL="0">
              <a:lnSpc>
                <a:spcPct val="104000"/>
              </a:lnSpc>
              <a:buNone/>
            </a:pPr>
            <a:r>
              <a:rPr lang="en-US" sz="2400" b="1" dirty="0">
                <a:solidFill>
                  <a:srgbClr val="BE2727"/>
                </a:solidFill>
                <a:latin typeface="Montserrat Extra Bold" pitchFamily="34" charset="0"/>
                <a:ea typeface="Montserrat Extra Bold" pitchFamily="34" charset="-122"/>
                <a:cs typeface="Montserrat Extra Bold" pitchFamily="34" charset="-120"/>
              </a:rPr>
              <a:t>So Sánh Tổng Hợp: Các Cách Viết Điều Kiện</a:t>
            </a:r>
            <a:endParaRPr lang="en-US" sz="2400" dirty="0"/>
          </a:p>
        </p:txBody>
      </p:sp>
      <p:sp>
        <p:nvSpPr>
          <p:cNvPr id="3" name="Text 1"/>
          <p:cNvSpPr/>
          <p:nvPr/>
        </p:nvSpPr>
        <p:spPr>
          <a:xfrm>
            <a:off x="496119" y="1850678"/>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Python cung cấp nhiều cách khác nhau để viết logic điều kiện. Chọn đúng cách phù hợp với độ phức tạp của bài toán là kỹ năng quan trọng.</a:t>
            </a:r>
            <a:endParaRPr lang="en-US" sz="950" dirty="0"/>
          </a:p>
        </p:txBody>
      </p:sp>
      <p:pic>
        <p:nvPicPr>
          <p:cNvPr id="4" name="Image 0" descr="preencoded.png">    </p:cNvPr>
          <p:cNvPicPr>
            <a:picLocks noChangeAspect="1"/>
          </p:cNvPicPr>
          <p:nvPr/>
        </p:nvPicPr>
        <p:blipFill>
          <a:blip r:embed="rId1"/>
          <a:stretch>
            <a:fillRect/>
          </a:stretch>
        </p:blipFill>
        <p:spPr>
          <a:xfrm>
            <a:off x="496119" y="2387129"/>
            <a:ext cx="845493" cy="522536"/>
          </a:xfrm>
          <a:prstGeom prst="rect">
            <a:avLst/>
          </a:prstGeom>
        </p:spPr>
      </p:pic>
      <p:sp>
        <p:nvSpPr>
          <p:cNvPr id="5" name="Text 2"/>
          <p:cNvSpPr/>
          <p:nvPr/>
        </p:nvSpPr>
        <p:spPr>
          <a:xfrm>
            <a:off x="496119" y="3064669"/>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if – elif – else</a:t>
            </a:r>
            <a:endParaRPr lang="en-US" sz="1200" dirty="0"/>
          </a:p>
        </p:txBody>
      </p:sp>
      <p:sp>
        <p:nvSpPr>
          <p:cNvPr id="6" name="Text 3"/>
          <p:cNvSpPr/>
          <p:nvPr/>
        </p:nvSpPr>
        <p:spPr>
          <a:xfrm>
            <a:off x="496119" y="3332931"/>
            <a:ext cx="1921669"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Dùng cho logic nhiều nhánh, rõ ràng và dễ đọc. Phù hợp với hầu hết mọi trường hợp.</a:t>
            </a:r>
            <a:endParaRPr lang="en-US" sz="950" dirty="0"/>
          </a:p>
        </p:txBody>
      </p:sp>
      <p:pic>
        <p:nvPicPr>
          <p:cNvPr id="7" name="Image 1" descr="preencoded.png">    </p:cNvPr>
          <p:cNvPicPr>
            <a:picLocks noChangeAspect="1"/>
          </p:cNvPicPr>
          <p:nvPr/>
        </p:nvPicPr>
        <p:blipFill>
          <a:blip r:embed="rId2"/>
          <a:stretch>
            <a:fillRect/>
          </a:stretch>
        </p:blipFill>
        <p:spPr>
          <a:xfrm>
            <a:off x="2572792" y="2387129"/>
            <a:ext cx="845493" cy="522536"/>
          </a:xfrm>
          <a:prstGeom prst="rect">
            <a:avLst/>
          </a:prstGeom>
        </p:spPr>
      </p:pic>
      <p:sp>
        <p:nvSpPr>
          <p:cNvPr id="8" name="Text 4"/>
          <p:cNvSpPr/>
          <p:nvPr/>
        </p:nvSpPr>
        <p:spPr>
          <a:xfrm>
            <a:off x="2572792" y="3064669"/>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Nested if</a:t>
            </a:r>
            <a:endParaRPr lang="en-US" sz="1200" dirty="0"/>
          </a:p>
        </p:txBody>
      </p:sp>
      <p:sp>
        <p:nvSpPr>
          <p:cNvPr id="9" name="Text 5"/>
          <p:cNvSpPr/>
          <p:nvPr/>
        </p:nvSpPr>
        <p:spPr>
          <a:xfrm>
            <a:off x="2572792" y="3332931"/>
            <a:ext cx="1921669"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Dùng khi điều kiện có thứ bậc phụ thuộc nhau. Hạn chế lồng quá 2-3 cấp.</a:t>
            </a:r>
            <a:endParaRPr lang="en-US" sz="950" dirty="0"/>
          </a:p>
        </p:txBody>
      </p:sp>
      <p:pic>
        <p:nvPicPr>
          <p:cNvPr id="10" name="Image 2" descr="preencoded.png">    </p:cNvPr>
          <p:cNvPicPr>
            <a:picLocks noChangeAspect="1"/>
          </p:cNvPicPr>
          <p:nvPr/>
        </p:nvPicPr>
        <p:blipFill>
          <a:blip r:embed="rId3"/>
          <a:stretch>
            <a:fillRect/>
          </a:stretch>
        </p:blipFill>
        <p:spPr>
          <a:xfrm>
            <a:off x="4649465" y="2387129"/>
            <a:ext cx="845493" cy="522536"/>
          </a:xfrm>
          <a:prstGeom prst="rect">
            <a:avLst/>
          </a:prstGeom>
        </p:spPr>
      </p:pic>
      <p:sp>
        <p:nvSpPr>
          <p:cNvPr id="11" name="Text 6"/>
          <p:cNvSpPr/>
          <p:nvPr/>
        </p:nvSpPr>
        <p:spPr>
          <a:xfrm>
            <a:off x="4649465" y="3064669"/>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Ternary Operator</a:t>
            </a:r>
            <a:endParaRPr lang="en-US" sz="1200" dirty="0"/>
          </a:p>
        </p:txBody>
      </p:sp>
      <p:sp>
        <p:nvSpPr>
          <p:cNvPr id="12" name="Text 7"/>
          <p:cNvSpPr/>
          <p:nvPr/>
        </p:nvSpPr>
        <p:spPr>
          <a:xfrm>
            <a:off x="4649465" y="3332931"/>
            <a:ext cx="1921669"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Dùng cho logic đơn giản 2 trường hợp. Ưu tiên khi gán giá trị hoặc trả kết quả.</a:t>
            </a:r>
            <a:endParaRPr lang="en-US" sz="950" dirty="0"/>
          </a:p>
        </p:txBody>
      </p:sp>
      <p:pic>
        <p:nvPicPr>
          <p:cNvPr id="13" name="Image 3" descr="preencoded.png">    </p:cNvPr>
          <p:cNvPicPr>
            <a:picLocks noChangeAspect="1"/>
          </p:cNvPicPr>
          <p:nvPr/>
        </p:nvPicPr>
        <p:blipFill>
          <a:blip r:embed="rId4"/>
          <a:stretch>
            <a:fillRect/>
          </a:stretch>
        </p:blipFill>
        <p:spPr>
          <a:xfrm>
            <a:off x="6726138" y="2387129"/>
            <a:ext cx="845567" cy="522536"/>
          </a:xfrm>
          <a:prstGeom prst="rect">
            <a:avLst/>
          </a:prstGeom>
        </p:spPr>
      </p:pic>
      <p:sp>
        <p:nvSpPr>
          <p:cNvPr id="14" name="Text 8"/>
          <p:cNvSpPr/>
          <p:nvPr/>
        </p:nvSpPr>
        <p:spPr>
          <a:xfrm>
            <a:off x="6726138" y="3064669"/>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Montserrat Extra Bold" pitchFamily="34" charset="0"/>
                <a:ea typeface="Montserrat Extra Bold" pitchFamily="34" charset="-122"/>
                <a:cs typeface="Montserrat Extra Bold" pitchFamily="34" charset="-120"/>
              </a:rPr>
              <a:t>match-case</a:t>
            </a:r>
            <a:endParaRPr lang="en-US" sz="1200" dirty="0"/>
          </a:p>
        </p:txBody>
      </p:sp>
      <p:sp>
        <p:nvSpPr>
          <p:cNvPr id="15" name="Text 9"/>
          <p:cNvSpPr/>
          <p:nvPr/>
        </p:nvSpPr>
        <p:spPr>
          <a:xfrm>
            <a:off x="6726138" y="3332931"/>
            <a:ext cx="192174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Dùng khi so sánh một biến với nhiều giá trị cụ thể. Yêu cầu Python 3.10+.</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453703"/>
            <a:ext cx="3271912" cy="329431"/>
          </a:xfrm>
          <a:prstGeom prst="rect">
            <a:avLst/>
          </a:prstGeom>
          <a:noFill/>
          <a:ln/>
        </p:spPr>
        <p:txBody>
          <a:bodyPr wrap="none" lIns="0" tIns="0" rIns="0" bIns="0" rtlCol="0" anchor="t"/>
          <a:lstStyle/>
          <a:p>
            <a:pPr algn="l" indent="0" marL="0">
              <a:lnSpc>
                <a:spcPct val="104000"/>
              </a:lnSpc>
              <a:buNone/>
            </a:pPr>
            <a:r>
              <a:rPr lang="en-US" sz="2050" b="1" dirty="0">
                <a:solidFill>
                  <a:srgbClr val="BE2727"/>
                </a:solidFill>
                <a:latin typeface="Montserrat Extra Bold" pitchFamily="34" charset="0"/>
                <a:ea typeface="Montserrat Extra Bold" pitchFamily="34" charset="-122"/>
                <a:cs typeface="Montserrat Extra Bold" pitchFamily="34" charset="-120"/>
              </a:rPr>
              <a:t>Tổng Kết Session 02</a:t>
            </a:r>
            <a:endParaRPr lang="en-US" sz="20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119" y="930697"/>
            <a:ext cx="105370" cy="105370"/>
          </a:xfrm>
          <a:prstGeom prst="rect">
            <a:avLst/>
          </a:prstGeom>
        </p:spPr>
      </p:pic>
      <p:sp>
        <p:nvSpPr>
          <p:cNvPr id="5" name="Shape 1"/>
          <p:cNvSpPr/>
          <p:nvPr/>
        </p:nvSpPr>
        <p:spPr>
          <a:xfrm>
            <a:off x="496119" y="1082427"/>
            <a:ext cx="4722763" cy="14288"/>
          </a:xfrm>
          <a:prstGeom prst="rect">
            <a:avLst/>
          </a:prstGeom>
          <a:solidFill>
            <a:srgbClr val="BE2727"/>
          </a:solidFill>
          <a:ln/>
        </p:spPr>
      </p:sp>
      <p:sp>
        <p:nvSpPr>
          <p:cNvPr id="6" name="Text 2"/>
          <p:cNvSpPr/>
          <p:nvPr/>
        </p:nvSpPr>
        <p:spPr>
          <a:xfrm>
            <a:off x="496119" y="1163687"/>
            <a:ext cx="1775147" cy="164678"/>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Montserrat Extra Bold" pitchFamily="34" charset="0"/>
                <a:ea typeface="Montserrat Extra Bold" pitchFamily="34" charset="-122"/>
                <a:cs typeface="Montserrat Extra Bold" pitchFamily="34" charset="-120"/>
              </a:rPr>
              <a:t>Toán tử số học</a:t>
            </a:r>
            <a:endParaRPr lang="en-US" sz="1000" dirty="0"/>
          </a:p>
        </p:txBody>
      </p:sp>
      <p:sp>
        <p:nvSpPr>
          <p:cNvPr id="7" name="Text 3"/>
          <p:cNvSpPr/>
          <p:nvPr/>
        </p:nvSpPr>
        <p:spPr>
          <a:xfrm>
            <a:off x="496119" y="1382092"/>
            <a:ext cx="5179963" cy="165571"/>
          </a:xfrm>
          <a:prstGeom prst="rect">
            <a:avLst/>
          </a:prstGeom>
          <a:noFill/>
          <a:ln/>
        </p:spPr>
        <p:txBody>
          <a:bodyPr wrap="none" lIns="0" tIns="0" rIns="0" bIns="0" rtlCol="0" anchor="t"/>
          <a:lstStyle/>
          <a:p>
            <a:pPr algn="l" indent="0" marL="0">
              <a:lnSpc>
                <a:spcPct val="123000"/>
              </a:lnSpc>
              <a:buNone/>
            </a:pPr>
            <a:r>
              <a:rPr lang="en-US" sz="800" dirty="0">
                <a:solidFill>
                  <a:srgbClr val="000000"/>
                </a:solidFill>
                <a:highlight>
                  <a:srgbClr val="F2F2F2"/>
                </a:highlight>
                <a:latin typeface="Consolas" pitchFamily="34" charset="0"/>
                <a:ea typeface="Consolas" pitchFamily="34" charset="-122"/>
                <a:cs typeface="Consolas" pitchFamily="34" charset="-120"/>
              </a:rPr>
              <a:t>+  -  *  /  //  %  **</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 7 toán tử cơ bản cho mọi phép tính.</a:t>
            </a:r>
            <a:endParaRPr lang="en-US" sz="8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119" y="1729457"/>
            <a:ext cx="105370" cy="105370"/>
          </a:xfrm>
          <a:prstGeom prst="rect">
            <a:avLst/>
          </a:prstGeom>
        </p:spPr>
      </p:pic>
      <p:sp>
        <p:nvSpPr>
          <p:cNvPr id="9" name="Shape 4"/>
          <p:cNvSpPr/>
          <p:nvPr/>
        </p:nvSpPr>
        <p:spPr>
          <a:xfrm>
            <a:off x="496119" y="1881188"/>
            <a:ext cx="4722763" cy="14288"/>
          </a:xfrm>
          <a:prstGeom prst="rect">
            <a:avLst/>
          </a:prstGeom>
          <a:solidFill>
            <a:srgbClr val="BE2727"/>
          </a:solidFill>
          <a:ln/>
        </p:spPr>
      </p:sp>
      <p:sp>
        <p:nvSpPr>
          <p:cNvPr id="10" name="Text 5"/>
          <p:cNvSpPr/>
          <p:nvPr/>
        </p:nvSpPr>
        <p:spPr>
          <a:xfrm>
            <a:off x="496119" y="1962448"/>
            <a:ext cx="1775147" cy="164678"/>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Montserrat Extra Bold" pitchFamily="34" charset="0"/>
                <a:ea typeface="Montserrat Extra Bold" pitchFamily="34" charset="-122"/>
                <a:cs typeface="Montserrat Extra Bold" pitchFamily="34" charset="-120"/>
              </a:rPr>
              <a:t>Toán tử so sánh</a:t>
            </a:r>
            <a:endParaRPr lang="en-US" sz="1000" dirty="0"/>
          </a:p>
        </p:txBody>
      </p:sp>
      <p:sp>
        <p:nvSpPr>
          <p:cNvPr id="11" name="Text 6"/>
          <p:cNvSpPr/>
          <p:nvPr/>
        </p:nvSpPr>
        <p:spPr>
          <a:xfrm>
            <a:off x="496119" y="2180853"/>
            <a:ext cx="5179963" cy="165571"/>
          </a:xfrm>
          <a:prstGeom prst="rect">
            <a:avLst/>
          </a:prstGeom>
          <a:noFill/>
          <a:ln/>
        </p:spPr>
        <p:txBody>
          <a:bodyPr wrap="none" lIns="0" tIns="0" rIns="0" bIns="0" rtlCol="0" anchor="t"/>
          <a:lstStyle/>
          <a:p>
            <a:pPr algn="l" indent="0" marL="0">
              <a:lnSpc>
                <a:spcPct val="123000"/>
              </a:lnSpc>
              <a:buNone/>
            </a:pPr>
            <a:r>
              <a:rPr lang="en-US" sz="800" dirty="0">
                <a:solidFill>
                  <a:srgbClr val="000000"/>
                </a:solidFill>
                <a:highlight>
                  <a:srgbClr val="F2F2F2"/>
                </a:highlight>
                <a:latin typeface="Consolas" pitchFamily="34" charset="0"/>
                <a:ea typeface="Consolas" pitchFamily="34" charset="-122"/>
                <a:cs typeface="Consolas" pitchFamily="34" charset="-120"/>
              </a:rPr>
              <a:t>==  !=  &gt;  &lt;  &gt;=  &lt;=</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 Kết quả luôn là </a:t>
            </a:r>
            <a:pPr algn="l" indent="0" marL="0">
              <a:lnSpc>
                <a:spcPct val="123000"/>
              </a:lnSpc>
              <a:buNone/>
            </a:pPr>
            <a:r>
              <a:rPr lang="en-US" sz="800" dirty="0">
                <a:solidFill>
                  <a:srgbClr val="000000"/>
                </a:solidFill>
                <a:highlight>
                  <a:srgbClr val="F2F2F2"/>
                </a:highlight>
                <a:latin typeface="Consolas" pitchFamily="34" charset="0"/>
                <a:ea typeface="Consolas" pitchFamily="34" charset="-122"/>
                <a:cs typeface="Consolas" pitchFamily="34" charset="-120"/>
              </a:rPr>
              <a:t>True</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hoặc </a:t>
            </a:r>
            <a:pPr algn="l" indent="0" marL="0">
              <a:lnSpc>
                <a:spcPct val="123000"/>
              </a:lnSpc>
              <a:buNone/>
            </a:pPr>
            <a:r>
              <a:rPr lang="en-US" sz="800" dirty="0">
                <a:solidFill>
                  <a:srgbClr val="000000"/>
                </a:solidFill>
                <a:highlight>
                  <a:srgbClr val="F2F2F2"/>
                </a:highlight>
                <a:latin typeface="Consolas" pitchFamily="34" charset="0"/>
                <a:ea typeface="Consolas" pitchFamily="34" charset="-122"/>
                <a:cs typeface="Consolas" pitchFamily="34" charset="-120"/>
              </a:rPr>
              <a:t>False</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a:t>
            </a:r>
            <a:endParaRPr lang="en-US" sz="800" dirty="0"/>
          </a:p>
        </p:txBody>
      </p:sp>
      <p:pic>
        <p:nvPicPr>
          <p:cNvPr id="1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6119" y="2528218"/>
            <a:ext cx="105370" cy="105370"/>
          </a:xfrm>
          <a:prstGeom prst="rect">
            <a:avLst/>
          </a:prstGeom>
        </p:spPr>
      </p:pic>
      <p:sp>
        <p:nvSpPr>
          <p:cNvPr id="13" name="Shape 7"/>
          <p:cNvSpPr/>
          <p:nvPr/>
        </p:nvSpPr>
        <p:spPr>
          <a:xfrm>
            <a:off x="496119" y="2679948"/>
            <a:ext cx="4722763" cy="14288"/>
          </a:xfrm>
          <a:prstGeom prst="rect">
            <a:avLst/>
          </a:prstGeom>
          <a:solidFill>
            <a:srgbClr val="BE2727"/>
          </a:solidFill>
          <a:ln/>
        </p:spPr>
      </p:sp>
      <p:sp>
        <p:nvSpPr>
          <p:cNvPr id="14" name="Text 8"/>
          <p:cNvSpPr/>
          <p:nvPr/>
        </p:nvSpPr>
        <p:spPr>
          <a:xfrm>
            <a:off x="496119" y="2761208"/>
            <a:ext cx="1775147" cy="164678"/>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Montserrat Extra Bold" pitchFamily="34" charset="0"/>
                <a:ea typeface="Montserrat Extra Bold" pitchFamily="34" charset="-122"/>
                <a:cs typeface="Montserrat Extra Bold" pitchFamily="34" charset="-120"/>
              </a:rPr>
              <a:t>Toán tử logic</a:t>
            </a:r>
            <a:endParaRPr lang="en-US" sz="1000" dirty="0"/>
          </a:p>
        </p:txBody>
      </p:sp>
      <p:sp>
        <p:nvSpPr>
          <p:cNvPr id="15" name="Text 9"/>
          <p:cNvSpPr/>
          <p:nvPr/>
        </p:nvSpPr>
        <p:spPr>
          <a:xfrm>
            <a:off x="496119" y="2979613"/>
            <a:ext cx="5179963" cy="165571"/>
          </a:xfrm>
          <a:prstGeom prst="rect">
            <a:avLst/>
          </a:prstGeom>
          <a:noFill/>
          <a:ln/>
        </p:spPr>
        <p:txBody>
          <a:bodyPr wrap="none" lIns="0" tIns="0" rIns="0" bIns="0" rtlCol="0" anchor="t"/>
          <a:lstStyle/>
          <a:p>
            <a:pPr algn="l" indent="0" marL="0">
              <a:lnSpc>
                <a:spcPct val="123000"/>
              </a:lnSpc>
              <a:buNone/>
            </a:pPr>
            <a:r>
              <a:rPr lang="en-US" sz="800" dirty="0">
                <a:solidFill>
                  <a:srgbClr val="000000"/>
                </a:solidFill>
                <a:highlight>
                  <a:srgbClr val="F2F2F2"/>
                </a:highlight>
                <a:latin typeface="Consolas" pitchFamily="34" charset="0"/>
                <a:ea typeface="Consolas" pitchFamily="34" charset="-122"/>
                <a:cs typeface="Consolas" pitchFamily="34" charset="-120"/>
              </a:rPr>
              <a:t>and  or  not</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 Kết hợp nhiều điều kiện để tạo logic phức tạp.</a:t>
            </a:r>
            <a:endParaRPr lang="en-US" sz="80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6119" y="3326978"/>
            <a:ext cx="105370" cy="105370"/>
          </a:xfrm>
          <a:prstGeom prst="rect">
            <a:avLst/>
          </a:prstGeom>
        </p:spPr>
      </p:pic>
      <p:sp>
        <p:nvSpPr>
          <p:cNvPr id="17" name="Shape 10"/>
          <p:cNvSpPr/>
          <p:nvPr/>
        </p:nvSpPr>
        <p:spPr>
          <a:xfrm>
            <a:off x="496119" y="3478709"/>
            <a:ext cx="4722763" cy="14288"/>
          </a:xfrm>
          <a:prstGeom prst="rect">
            <a:avLst/>
          </a:prstGeom>
          <a:solidFill>
            <a:srgbClr val="BE2727"/>
          </a:solidFill>
          <a:ln/>
        </p:spPr>
      </p:sp>
      <p:sp>
        <p:nvSpPr>
          <p:cNvPr id="18" name="Text 11"/>
          <p:cNvSpPr/>
          <p:nvPr/>
        </p:nvSpPr>
        <p:spPr>
          <a:xfrm>
            <a:off x="496119" y="3559969"/>
            <a:ext cx="1775147" cy="164678"/>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Montserrat Extra Bold" pitchFamily="34" charset="0"/>
                <a:ea typeface="Montserrat Extra Bold" pitchFamily="34" charset="-122"/>
                <a:cs typeface="Montserrat Extra Bold" pitchFamily="34" charset="-120"/>
              </a:rPr>
              <a:t>Cấu trúc điều kiện</a:t>
            </a:r>
            <a:endParaRPr lang="en-US" sz="1000" dirty="0"/>
          </a:p>
        </p:txBody>
      </p:sp>
      <p:sp>
        <p:nvSpPr>
          <p:cNvPr id="19" name="Text 12"/>
          <p:cNvSpPr/>
          <p:nvPr/>
        </p:nvSpPr>
        <p:spPr>
          <a:xfrm>
            <a:off x="496119" y="3778374"/>
            <a:ext cx="5179963" cy="165571"/>
          </a:xfrm>
          <a:prstGeom prst="rect">
            <a:avLst/>
          </a:prstGeom>
          <a:noFill/>
          <a:ln/>
        </p:spPr>
        <p:txBody>
          <a:bodyPr wrap="none" lIns="0" tIns="0" rIns="0" bIns="0" rtlCol="0" anchor="t"/>
          <a:lstStyle/>
          <a:p>
            <a:pPr algn="l" indent="0" marL="0">
              <a:lnSpc>
                <a:spcPct val="123000"/>
              </a:lnSpc>
              <a:buNone/>
            </a:pPr>
            <a:r>
              <a:rPr lang="en-US" sz="800" dirty="0">
                <a:solidFill>
                  <a:srgbClr val="000000"/>
                </a:solidFill>
                <a:highlight>
                  <a:srgbClr val="F2F2F2"/>
                </a:highlight>
                <a:latin typeface="Consolas" pitchFamily="34" charset="0"/>
                <a:ea typeface="Consolas" pitchFamily="34" charset="-122"/>
                <a:cs typeface="Consolas" pitchFamily="34" charset="-120"/>
              </a:rPr>
              <a:t>if-elif-else</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a:t>
            </a:r>
            <a:pPr algn="l" indent="0" marL="0">
              <a:lnSpc>
                <a:spcPct val="123000"/>
              </a:lnSpc>
              <a:buNone/>
            </a:pPr>
            <a:r>
              <a:rPr lang="en-US" sz="800" dirty="0">
                <a:solidFill>
                  <a:srgbClr val="000000"/>
                </a:solidFill>
                <a:highlight>
                  <a:srgbClr val="F2F2F2"/>
                </a:highlight>
                <a:latin typeface="Consolas" pitchFamily="34" charset="0"/>
                <a:ea typeface="Consolas" pitchFamily="34" charset="-122"/>
                <a:cs typeface="Consolas" pitchFamily="34" charset="-120"/>
              </a:rPr>
              <a:t>match-case</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Nested if và Ternary Operator — linh hoạt cho mọi nhu cầu.</a:t>
            </a:r>
            <a:endParaRPr lang="en-US" sz="800" dirty="0"/>
          </a:p>
        </p:txBody>
      </p:sp>
      <p:sp>
        <p:nvSpPr>
          <p:cNvPr id="20" name="Shape 13"/>
          <p:cNvSpPr/>
          <p:nvPr/>
        </p:nvSpPr>
        <p:spPr>
          <a:xfrm>
            <a:off x="496119" y="4123730"/>
            <a:ext cx="4722763" cy="566068"/>
          </a:xfrm>
          <a:prstGeom prst="roundRect">
            <a:avLst>
              <a:gd name="adj" fmla="val 7823"/>
            </a:avLst>
          </a:prstGeom>
          <a:solidFill>
            <a:srgbClr val="B6FCB8"/>
          </a:solidFill>
          <a:ln/>
        </p:spPr>
      </p:sp>
      <p:pic>
        <p:nvPicPr>
          <p:cNvPr id="21" name="Image 5" descr="preencoded.png">    </p:cNvPr>
          <p:cNvPicPr>
            <a:picLocks noChangeAspect="1"/>
          </p:cNvPicPr>
          <p:nvPr/>
        </p:nvPicPr>
        <p:blipFill>
          <a:blip r:embed="rId10"/>
          <a:stretch>
            <a:fillRect/>
          </a:stretch>
        </p:blipFill>
        <p:spPr>
          <a:xfrm>
            <a:off x="601489" y="4272781"/>
            <a:ext cx="131787" cy="105370"/>
          </a:xfrm>
          <a:prstGeom prst="rect">
            <a:avLst/>
          </a:prstGeom>
        </p:spPr>
      </p:pic>
      <p:sp>
        <p:nvSpPr>
          <p:cNvPr id="22" name="Text 14"/>
          <p:cNvSpPr/>
          <p:nvPr/>
        </p:nvSpPr>
        <p:spPr>
          <a:xfrm>
            <a:off x="838646" y="4239667"/>
            <a:ext cx="4274865" cy="316855"/>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a:t>
            </a:r>
            <a:pPr algn="l" indent="0" marL="0">
              <a:lnSpc>
                <a:spcPct val="123000"/>
              </a:lnSpc>
              <a:buNone/>
            </a:pPr>
            <a:r>
              <a:rPr lang="en-US" sz="800" b="1" dirty="0">
                <a:solidFill>
                  <a:srgbClr val="000000"/>
                </a:solidFill>
                <a:latin typeface="Montserrat" pitchFamily="34" charset="0"/>
                <a:ea typeface="Montserrat" pitchFamily="34" charset="-122"/>
                <a:cs typeface="Montserrat" pitchFamily="34" charset="-120"/>
              </a:rPr>
              <a:t>Bài tập về nhà:</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Viết chương trình nhập tuổi và điểm số, in ra thông báo phù hợp kết hợp cả toán tử logic và cấu trúc if-elif-else!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2026-05-19T01:37:55Z</dcterms:created>
  <dcterms:modified xsi:type="dcterms:W3CDTF">2026-05-19T01:37:55Z</dcterms:modified>
</cp:coreProperties>
</file>