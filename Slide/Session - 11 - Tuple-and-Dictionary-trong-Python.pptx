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embeddedFontLst>
    <p:embeddedFont>
      <p:font typeface="Montserrat ExtraBold"/>
      <p:regular r:id="rId22"/>
    </p:embeddedFont>
    <p:embeddedFont>
      <p:font typeface="Montserrat"/>
      <p:regular r:id="rId23"/>
    </p:embeddedFont>
    <p:embeddedFont>
      <p:font typeface="Montserrat Bold"/>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slideLayout" Target="../slideLayouts/slideLayout7.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6.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607121"/>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Tuple &amp; Dictionary trong Python</a:t>
            </a:r>
            <a:endParaRPr lang="en-US" sz="2400" dirty="0"/>
          </a:p>
        </p:txBody>
      </p:sp>
      <p:sp>
        <p:nvSpPr>
          <p:cNvPr id="4" name="Text 1"/>
          <p:cNvSpPr/>
          <p:nvPr/>
        </p:nvSpPr>
        <p:spPr>
          <a:xfrm>
            <a:off x="496119" y="2568253"/>
            <a:ext cx="4722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Hai "gã khổng lồ" tiếp theo trong kho vũ khí cấu trúc dữ liệu Python —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Tuple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và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Dictionary</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Hai công cụ không thể thiếu trong bất kỳ dự án thực tế nào!</a:t>
            </a:r>
            <a:endParaRPr lang="en-US" sz="950" dirty="0"/>
          </a:p>
        </p:txBody>
      </p:sp>
      <p:sp>
        <p:nvSpPr>
          <p:cNvPr id="5" name="Shape 2"/>
          <p:cNvSpPr/>
          <p:nvPr/>
        </p:nvSpPr>
        <p:spPr>
          <a:xfrm>
            <a:off x="496119" y="3303166"/>
            <a:ext cx="1105198" cy="233214"/>
          </a:xfrm>
          <a:prstGeom prst="roundRect">
            <a:avLst>
              <a:gd name="adj" fmla="val 17872"/>
            </a:avLst>
          </a:prstGeom>
          <a:solidFill>
            <a:srgbClr val="F6D5D5"/>
          </a:solidFill>
          <a:ln/>
        </p:spPr>
      </p:sp>
      <p:sp>
        <p:nvSpPr>
          <p:cNvPr id="6" name="Text 3"/>
          <p:cNvSpPr/>
          <p:nvPr/>
        </p:nvSpPr>
        <p:spPr>
          <a:xfrm>
            <a:off x="570533" y="3340373"/>
            <a:ext cx="1413570" cy="158800"/>
          </a:xfrm>
          <a:prstGeom prst="rect">
            <a:avLst/>
          </a:prstGeom>
          <a:noFill/>
          <a:ln/>
        </p:spPr>
        <p:txBody>
          <a:bodyPr wrap="none" lIns="0" tIns="0" rIns="0" bIns="0" rtlCol="0" anchor="t"/>
          <a:lstStyle/>
          <a:p>
            <a:pPr algn="l" indent="0" marL="0">
              <a:lnSpc>
                <a:spcPct val="133000"/>
              </a:lnSpc>
              <a:buNone/>
            </a:pPr>
            <a:r>
              <a:rPr lang="en-US" sz="750" dirty="0">
                <a:solidFill>
                  <a:srgbClr val="000000"/>
                </a:solidFill>
                <a:latin typeface="Montserrat" pitchFamily="34" charset="0"/>
                <a:ea typeface="Montserrat" pitchFamily="34" charset="-122"/>
                <a:cs typeface="Montserrat" pitchFamily="34" charset="-120"/>
              </a:rPr>
              <a:t>BÀI HỌC HÔM NAY</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277169"/>
            <a:ext cx="3615110"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Ôn lại &amp; Đặt vấn đề</a:t>
            </a:r>
            <a:endParaRPr lang="en-US" sz="2400" dirty="0"/>
          </a:p>
        </p:txBody>
      </p:sp>
      <p:sp>
        <p:nvSpPr>
          <p:cNvPr id="3" name="Shape 1"/>
          <p:cNvSpPr/>
          <p:nvPr/>
        </p:nvSpPr>
        <p:spPr>
          <a:xfrm>
            <a:off x="406822" y="1850752"/>
            <a:ext cx="4103191" cy="2015579"/>
          </a:xfrm>
          <a:prstGeom prst="roundRect">
            <a:avLst>
              <a:gd name="adj" fmla="val 4431"/>
            </a:avLst>
          </a:prstGeom>
          <a:solidFill>
            <a:srgbClr val="BE2727"/>
          </a:solidFill>
          <a:ln/>
        </p:spPr>
      </p:sp>
      <p:sp>
        <p:nvSpPr>
          <p:cNvPr id="4" name="Text 2"/>
          <p:cNvSpPr/>
          <p:nvPr/>
        </p:nvSpPr>
        <p:spPr>
          <a:xfrm>
            <a:off x="530796" y="1974726"/>
            <a:ext cx="2007766" cy="198611"/>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Montserrat ExtraBold" pitchFamily="34" charset="0"/>
                <a:ea typeface="Montserrat ExtraBold" pitchFamily="34" charset="-122"/>
                <a:cs typeface="Montserrat ExtraBold" pitchFamily="34" charset="-120"/>
              </a:rPr>
              <a:t>Bài trước: List </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endParaRPr lang="en-US" sz="1200" dirty="0"/>
          </a:p>
        </p:txBody>
      </p:sp>
      <p:sp>
        <p:nvSpPr>
          <p:cNvPr id="5" name="Text 3"/>
          <p:cNvSpPr/>
          <p:nvPr/>
        </p:nvSpPr>
        <p:spPr>
          <a:xfrm>
            <a:off x="530796" y="2297311"/>
            <a:ext cx="3855244"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Montserrat" pitchFamily="34" charset="0"/>
                <a:ea typeface="Montserrat" pitchFamily="34" charset="-122"/>
                <a:cs typeface="Montserrat" pitchFamily="34" charset="-120"/>
              </a:rPr>
              <a:t>List như một chiếc </a:t>
            </a:r>
            <a:pPr algn="l" indent="0" marL="0">
              <a:lnSpc>
                <a:spcPct val="133000"/>
              </a:lnSpc>
              <a:buNone/>
            </a:pPr>
            <a:r>
              <a:rPr lang="en-US" sz="950" b="1" dirty="0">
                <a:solidFill>
                  <a:srgbClr val="FFFFFF"/>
                </a:solidFill>
                <a:latin typeface="Montserrat" pitchFamily="34" charset="0"/>
                <a:ea typeface="Montserrat" pitchFamily="34" charset="-122"/>
                <a:cs typeface="Montserrat" pitchFamily="34" charset="-120"/>
              </a:rPr>
              <a:t>kệ sách linh hoạt</a:t>
            </a:r>
            <a:pPr algn="l" indent="0" marL="0">
              <a:lnSpc>
                <a:spcPct val="133000"/>
              </a:lnSpc>
              <a:buNone/>
            </a:pPr>
            <a:r>
              <a:rPr lang="en-US" sz="950" dirty="0">
                <a:solidFill>
                  <a:srgbClr val="FFFFFF"/>
                </a:solidFill>
                <a:latin typeface="Montserrat" pitchFamily="34" charset="0"/>
                <a:ea typeface="Montserrat" pitchFamily="34" charset="-122"/>
                <a:cs typeface="Montserrat" pitchFamily="34" charset="-120"/>
              </a:rPr>
              <a:t> — muốn thêm, sửa, xóa phần tử lúc nào cũng được. Rất tiện lợi cho dữ liệu thay đổi thường xuyên.</a:t>
            </a:r>
            <a:endParaRPr lang="en-US" sz="950" dirty="0"/>
          </a:p>
        </p:txBody>
      </p:sp>
      <p:sp>
        <p:nvSpPr>
          <p:cNvPr id="6" name="Text 4"/>
          <p:cNvSpPr/>
          <p:nvPr/>
        </p:nvSpPr>
        <p:spPr>
          <a:xfrm>
            <a:off x="4728046" y="1974726"/>
            <a:ext cx="3300859" cy="198611"/>
          </a:xfrm>
          <a:prstGeom prst="rect">
            <a:avLst/>
          </a:prstGeom>
          <a:noFill/>
          <a:ln/>
        </p:spPr>
        <p:txBody>
          <a:bodyPr wrap="none" lIns="0" tIns="0" rIns="0" bIns="0" rtlCol="0" anchor="t"/>
          <a:lstStyle/>
          <a:p>
            <a:pPr algn="l" indent="0" marL="0">
              <a:lnSpc>
                <a:spcPct val="104000"/>
              </a:lnSpc>
              <a:buNone/>
            </a:pPr>
            <a:r>
              <a:rPr lang="en-US" sz="1200" dirty="0">
                <a:solidFill>
                  <a:srgbClr val="BE2727"/>
                </a:solidFill>
                <a:latin typeface="Montserrat ExtraBold" pitchFamily="34" charset="0"/>
                <a:ea typeface="Montserrat ExtraBold" pitchFamily="34" charset="-122"/>
                <a:cs typeface="Montserrat ExtraBold" pitchFamily="34" charset="-120"/>
              </a:rPr>
              <a:t>Hôm nay: Khi nào List chưa đủ? </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endParaRPr lang="en-US" sz="1200" dirty="0"/>
          </a:p>
        </p:txBody>
      </p:sp>
      <p:sp>
        <p:nvSpPr>
          <p:cNvPr id="7" name="Text 5"/>
          <p:cNvSpPr/>
          <p:nvPr/>
        </p:nvSpPr>
        <p:spPr>
          <a:xfrm>
            <a:off x="4728046" y="2297311"/>
            <a:ext cx="4381798"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Trong thực tế, đôi khi ta cần:</a:t>
            </a:r>
            <a:endParaRPr lang="en-US" sz="950" dirty="0"/>
          </a:p>
        </p:txBody>
      </p:sp>
      <p:sp>
        <p:nvSpPr>
          <p:cNvPr id="8" name="Text 6"/>
          <p:cNvSpPr/>
          <p:nvPr/>
        </p:nvSpPr>
        <p:spPr>
          <a:xfrm>
            <a:off x="4728046" y="2607394"/>
            <a:ext cx="3924598" cy="837233"/>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950" b="1" dirty="0">
                <a:solidFill>
                  <a:srgbClr val="000000"/>
                </a:solidFill>
                <a:latin typeface="Montserrat" pitchFamily="34" charset="0"/>
                <a:ea typeface="Montserrat" pitchFamily="34" charset="-122"/>
                <a:cs typeface="Montserrat" pitchFamily="34" charset="-120"/>
              </a:rPr>
              <a:t>Dữ liệu tuyệt đối không thay đổi</a:t>
            </a:r>
            <a:pPr algn="l" marL="342900" indent="-342900">
              <a:lnSpc>
                <a:spcPct val="133000"/>
              </a:lnSpc>
              <a:buSzPct val="100000"/>
              <a:buChar char="•"/>
            </a:pPr>
            <a:r>
              <a:rPr lang="en-US" sz="950" dirty="0">
                <a:solidFill>
                  <a:srgbClr val="000000"/>
                </a:solidFill>
                <a:latin typeface="Montserrat" pitchFamily="34" charset="0"/>
                <a:ea typeface="Montserrat" pitchFamily="34" charset="-122"/>
                <a:cs typeface="Montserrat" pitchFamily="34" charset="-120"/>
              </a:rPr>
              <a:t> — tọa độ GPS, cấu hình hệ thống</a:t>
            </a:r>
            <a:endParaRPr lang="en-US" sz="950" dirty="0"/>
          </a:p>
          <a:p>
            <a:pPr algn="l" marL="342900" indent="-342900">
              <a:lnSpc>
                <a:spcPct val="133000"/>
              </a:lnSpc>
              <a:buSzPct val="100000"/>
              <a:buChar char="•"/>
            </a:pPr>
            <a:r>
              <a:rPr lang="en-US" sz="950" b="1" dirty="0">
                <a:solidFill>
                  <a:srgbClr val="000000"/>
                </a:solidFill>
                <a:latin typeface="Montserrat" pitchFamily="34" charset="0"/>
                <a:ea typeface="Montserrat" pitchFamily="34" charset="-122"/>
                <a:cs typeface="Montserrat" pitchFamily="34" charset="-120"/>
              </a:rPr>
              <a:t>Tra cứu siêu tốc theo cặp</a:t>
            </a:r>
            <a:pPr algn="l" marL="342900" indent="-342900">
              <a:lnSpc>
                <a:spcPct val="133000"/>
              </a:lnSpc>
              <a:buSzPct val="100000"/>
              <a:buChar char="•"/>
            </a:pPr>
            <a:r>
              <a:rPr lang="en-US" sz="950" dirty="0">
                <a:solidFill>
                  <a:srgbClr val="000000"/>
                </a:solidFill>
                <a:latin typeface="Montserrat" pitchFamily="34" charset="0"/>
                <a:ea typeface="Montserrat" pitchFamily="34" charset="-122"/>
                <a:cs typeface="Montserrat" pitchFamily="34" charset="-120"/>
              </a:rPr>
              <a:t> — từ điển Anh-Việt, thông tin tài khoản user</a:t>
            </a:r>
            <a:endParaRPr lang="en-US" sz="950" dirty="0"/>
          </a:p>
        </p:txBody>
      </p:sp>
      <p:sp>
        <p:nvSpPr>
          <p:cNvPr id="9" name="Text 7"/>
          <p:cNvSpPr/>
          <p:nvPr/>
        </p:nvSpPr>
        <p:spPr>
          <a:xfrm>
            <a:off x="4728046" y="3556248"/>
            <a:ext cx="4381798"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Đó là lý do ta cần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Tuple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và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Dictionary</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Shape 0"/>
          <p:cNvSpPr/>
          <p:nvPr/>
        </p:nvSpPr>
        <p:spPr>
          <a:xfrm>
            <a:off x="3925119" y="1845841"/>
            <a:ext cx="513308" cy="233214"/>
          </a:xfrm>
          <a:prstGeom prst="roundRect">
            <a:avLst>
              <a:gd name="adj" fmla="val 17872"/>
            </a:avLst>
          </a:prstGeom>
          <a:solidFill>
            <a:srgbClr val="F6D5D5"/>
          </a:solidFill>
          <a:ln/>
        </p:spPr>
      </p:sp>
      <p:sp>
        <p:nvSpPr>
          <p:cNvPr id="4" name="Text 1"/>
          <p:cNvSpPr/>
          <p:nvPr/>
        </p:nvSpPr>
        <p:spPr>
          <a:xfrm>
            <a:off x="3999533" y="1883048"/>
            <a:ext cx="821680" cy="158800"/>
          </a:xfrm>
          <a:prstGeom prst="rect">
            <a:avLst/>
          </a:prstGeom>
          <a:noFill/>
          <a:ln/>
        </p:spPr>
        <p:txBody>
          <a:bodyPr wrap="none" lIns="0" tIns="0" rIns="0" bIns="0" rtlCol="0" anchor="t"/>
          <a:lstStyle/>
          <a:p>
            <a:pPr algn="l" indent="0" marL="0">
              <a:lnSpc>
                <a:spcPct val="133000"/>
              </a:lnSpc>
              <a:buNone/>
            </a:pPr>
            <a:r>
              <a:rPr lang="en-US" sz="750" dirty="0">
                <a:solidFill>
                  <a:srgbClr val="000000"/>
                </a:solidFill>
                <a:latin typeface="Montserrat" pitchFamily="34" charset="0"/>
                <a:ea typeface="Montserrat" pitchFamily="34" charset="-122"/>
                <a:cs typeface="Montserrat" pitchFamily="34" charset="-120"/>
              </a:rPr>
              <a:t>PHẦN 1</a:t>
            </a:r>
            <a:endParaRPr lang="en-US" sz="750" dirty="0"/>
          </a:p>
        </p:txBody>
      </p:sp>
      <p:sp>
        <p:nvSpPr>
          <p:cNvPr id="5" name="Text 2"/>
          <p:cNvSpPr/>
          <p:nvPr/>
        </p:nvSpPr>
        <p:spPr>
          <a:xfrm>
            <a:off x="3925119" y="2128614"/>
            <a:ext cx="4713461"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Tuple — Bản Sao Bất Biến</a:t>
            </a:r>
            <a:endParaRPr lang="en-US" sz="2400" dirty="0"/>
          </a:p>
        </p:txBody>
      </p:sp>
      <p:sp>
        <p:nvSpPr>
          <p:cNvPr id="6" name="Text 3"/>
          <p:cNvSpPr/>
          <p:nvPr/>
        </p:nvSpPr>
        <p:spPr>
          <a:xfrm>
            <a:off x="3925119" y="2702198"/>
            <a:ext cx="4722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Tuple là một tập hợp các phần tử có thứ tự, tương tự như List. Nhưng điểm khác biệt mang tính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"sống còn"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Tuple là kiểu dữ liệu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bất biến (Immutable)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một khi tạo ra, không thể sửa đổi!</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638175"/>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Khai báo Tuple</a:t>
            </a:r>
            <a:endParaRPr lang="en-US" sz="2400" dirty="0"/>
          </a:p>
        </p:txBody>
      </p:sp>
      <p:sp>
        <p:nvSpPr>
          <p:cNvPr id="3" name="Shape 1"/>
          <p:cNvSpPr/>
          <p:nvPr/>
        </p:nvSpPr>
        <p:spPr>
          <a:xfrm>
            <a:off x="496119" y="1273746"/>
            <a:ext cx="4013895" cy="2361754"/>
          </a:xfrm>
          <a:prstGeom prst="roundRect">
            <a:avLst>
              <a:gd name="adj" fmla="val 2206"/>
            </a:avLst>
          </a:prstGeom>
          <a:solidFill>
            <a:srgbClr val="FFFFFF"/>
          </a:solidFill>
          <a:ln w="14288">
            <a:solidFill>
              <a:srgbClr val="DCBBBB"/>
            </a:solidFill>
            <a:prstDash val="solid"/>
          </a:ln>
        </p:spPr>
      </p:sp>
      <p:sp>
        <p:nvSpPr>
          <p:cNvPr id="4" name="Shape 2"/>
          <p:cNvSpPr/>
          <p:nvPr/>
        </p:nvSpPr>
        <p:spPr>
          <a:xfrm>
            <a:off x="510406" y="1288033"/>
            <a:ext cx="3985320" cy="372070"/>
          </a:xfrm>
          <a:prstGeom prst="roundRect">
            <a:avLst>
              <a:gd name="adj" fmla="val 9395"/>
            </a:avLst>
          </a:prstGeom>
          <a:solidFill>
            <a:srgbClr val="F6D5D5"/>
          </a:solidFill>
          <a:ln/>
        </p:spPr>
      </p:sp>
      <p:sp>
        <p:nvSpPr>
          <p:cNvPr id="5" name="Text 3"/>
          <p:cNvSpPr/>
          <p:nvPr/>
        </p:nvSpPr>
        <p:spPr>
          <a:xfrm>
            <a:off x="2410048" y="1355378"/>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000000"/>
                </a:solidFill>
                <a:latin typeface="Montserrat ExtraBold" pitchFamily="34" charset="0"/>
                <a:ea typeface="Montserrat ExtraBold" pitchFamily="34" charset="-122"/>
                <a:cs typeface="Montserrat ExtraBold" pitchFamily="34" charset="-120"/>
              </a:rPr>
              <a:t>1</a:t>
            </a:r>
            <a:endParaRPr lang="en-US" sz="1450" dirty="0"/>
          </a:p>
        </p:txBody>
      </p:sp>
      <p:sp>
        <p:nvSpPr>
          <p:cNvPr id="6" name="Text 4"/>
          <p:cNvSpPr/>
          <p:nvPr/>
        </p:nvSpPr>
        <p:spPr>
          <a:xfrm>
            <a:off x="634380" y="1784077"/>
            <a:ext cx="1553468"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Dùng ngoặc tròn </a:t>
            </a:r>
            <a:pPr algn="l" indent="0" marL="0">
              <a:lnSpc>
                <a:spcPct val="104000"/>
              </a:lnSpc>
              <a:buNone/>
            </a:pPr>
            <a:r>
              <a:rPr lang="en-US" sz="1200" dirty="0">
                <a:solidFill>
                  <a:srgbClr val="000000"/>
                </a:solidFill>
                <a:highlight>
                  <a:srgbClr val="F2F2F2"/>
                </a:highlight>
                <a:latin typeface="Consolas" pitchFamily="34" charset="0"/>
                <a:ea typeface="Consolas" pitchFamily="34" charset="-122"/>
                <a:cs typeface="Consolas" pitchFamily="34" charset="-120"/>
              </a:rPr>
              <a:t>()</a:t>
            </a:r>
            <a:endParaRPr lang="en-US" sz="1200" dirty="0"/>
          </a:p>
        </p:txBody>
      </p:sp>
      <p:sp>
        <p:nvSpPr>
          <p:cNvPr id="7" name="Shape 5"/>
          <p:cNvSpPr/>
          <p:nvPr/>
        </p:nvSpPr>
        <p:spPr>
          <a:xfrm>
            <a:off x="634380" y="2117452"/>
            <a:ext cx="3737372" cy="644872"/>
          </a:xfrm>
          <a:prstGeom prst="roundRect">
            <a:avLst>
              <a:gd name="adj" fmla="val 8079"/>
            </a:avLst>
          </a:prstGeom>
          <a:solidFill>
            <a:srgbClr val="F2F2F2"/>
          </a:solidFill>
          <a:ln/>
        </p:spPr>
      </p:sp>
      <p:sp>
        <p:nvSpPr>
          <p:cNvPr id="8" name="Shape 6"/>
          <p:cNvSpPr/>
          <p:nvPr/>
        </p:nvSpPr>
        <p:spPr>
          <a:xfrm>
            <a:off x="628204" y="2117452"/>
            <a:ext cx="3749725" cy="644872"/>
          </a:xfrm>
          <a:prstGeom prst="roundRect">
            <a:avLst>
              <a:gd name="adj" fmla="val 2885"/>
            </a:avLst>
          </a:prstGeom>
          <a:solidFill>
            <a:srgbClr val="F2F2F2"/>
          </a:solidFill>
          <a:ln/>
        </p:spPr>
      </p:sp>
      <p:sp>
        <p:nvSpPr>
          <p:cNvPr id="9" name="Text 7"/>
          <p:cNvSpPr/>
          <p:nvPr/>
        </p:nvSpPr>
        <p:spPr>
          <a:xfrm>
            <a:off x="783208" y="2241426"/>
            <a:ext cx="3439716"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coordinates = (21.0285, 105.8542)</a:t>
            </a:r>
            <a:endParaRPr lang="en-US" sz="950" dirty="0"/>
          </a:p>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empty_tuple = ()</a:t>
            </a:r>
            <a:endParaRPr lang="en-US" sz="950" dirty="0"/>
          </a:p>
        </p:txBody>
      </p:sp>
      <p:sp>
        <p:nvSpPr>
          <p:cNvPr id="10" name="Text 8"/>
          <p:cNvSpPr/>
          <p:nvPr/>
        </p:nvSpPr>
        <p:spPr>
          <a:xfrm>
            <a:off x="634380" y="2901851"/>
            <a:ext cx="3737372"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Cách phổ biến nhất, dễ nhận biết nhất.</a:t>
            </a:r>
            <a:endParaRPr lang="en-US" sz="950" dirty="0"/>
          </a:p>
        </p:txBody>
      </p:sp>
      <p:sp>
        <p:nvSpPr>
          <p:cNvPr id="11" name="Shape 9"/>
          <p:cNvSpPr/>
          <p:nvPr/>
        </p:nvSpPr>
        <p:spPr>
          <a:xfrm>
            <a:off x="4633987" y="1273746"/>
            <a:ext cx="4013895" cy="2361754"/>
          </a:xfrm>
          <a:prstGeom prst="roundRect">
            <a:avLst>
              <a:gd name="adj" fmla="val 2206"/>
            </a:avLst>
          </a:prstGeom>
          <a:solidFill>
            <a:srgbClr val="FFFFFF"/>
          </a:solidFill>
          <a:ln w="14288">
            <a:solidFill>
              <a:srgbClr val="DCBBBB"/>
            </a:solidFill>
            <a:prstDash val="solid"/>
          </a:ln>
        </p:spPr>
      </p:sp>
      <p:sp>
        <p:nvSpPr>
          <p:cNvPr id="12" name="Shape 10"/>
          <p:cNvSpPr/>
          <p:nvPr/>
        </p:nvSpPr>
        <p:spPr>
          <a:xfrm>
            <a:off x="4648274" y="1288033"/>
            <a:ext cx="3985320" cy="372070"/>
          </a:xfrm>
          <a:prstGeom prst="roundRect">
            <a:avLst>
              <a:gd name="adj" fmla="val 9395"/>
            </a:avLst>
          </a:prstGeom>
          <a:solidFill>
            <a:srgbClr val="F6D5D5"/>
          </a:solidFill>
          <a:ln/>
        </p:spPr>
      </p:sp>
      <p:sp>
        <p:nvSpPr>
          <p:cNvPr id="13" name="Text 11"/>
          <p:cNvSpPr/>
          <p:nvPr/>
        </p:nvSpPr>
        <p:spPr>
          <a:xfrm>
            <a:off x="6547917" y="1355378"/>
            <a:ext cx="186035" cy="232544"/>
          </a:xfrm>
          <a:prstGeom prst="rect">
            <a:avLst/>
          </a:prstGeom>
          <a:noFill/>
          <a:ln/>
        </p:spPr>
        <p:txBody>
          <a:bodyPr wrap="none" lIns="0" tIns="0" rIns="0" bIns="0" rtlCol="0" anchor="ctr"/>
          <a:lstStyle/>
          <a:p>
            <a:pPr algn="ctr" indent="0" marL="0">
              <a:lnSpc>
                <a:spcPct val="100000"/>
              </a:lnSpc>
              <a:buNone/>
            </a:pPr>
            <a:r>
              <a:rPr lang="en-US" sz="1450" dirty="0">
                <a:solidFill>
                  <a:srgbClr val="000000"/>
                </a:solidFill>
                <a:latin typeface="Montserrat ExtraBold" pitchFamily="34" charset="0"/>
                <a:ea typeface="Montserrat ExtraBold" pitchFamily="34" charset="-122"/>
                <a:cs typeface="Montserrat ExtraBold" pitchFamily="34" charset="-120"/>
              </a:rPr>
              <a:t>2</a:t>
            </a:r>
            <a:endParaRPr lang="en-US" sz="1450" dirty="0"/>
          </a:p>
        </p:txBody>
      </p:sp>
      <p:sp>
        <p:nvSpPr>
          <p:cNvPr id="14" name="Text 12"/>
          <p:cNvSpPr/>
          <p:nvPr/>
        </p:nvSpPr>
        <p:spPr>
          <a:xfrm>
            <a:off x="4772248" y="1784077"/>
            <a:ext cx="2783309"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Tuple Packing (Không cần ngoặc)</a:t>
            </a:r>
            <a:endParaRPr lang="en-US" sz="1200" dirty="0"/>
          </a:p>
        </p:txBody>
      </p:sp>
      <p:sp>
        <p:nvSpPr>
          <p:cNvPr id="15" name="Shape 13"/>
          <p:cNvSpPr/>
          <p:nvPr/>
        </p:nvSpPr>
        <p:spPr>
          <a:xfrm>
            <a:off x="4772248" y="2117452"/>
            <a:ext cx="3737372" cy="843335"/>
          </a:xfrm>
          <a:prstGeom prst="roundRect">
            <a:avLst>
              <a:gd name="adj" fmla="val 6178"/>
            </a:avLst>
          </a:prstGeom>
          <a:solidFill>
            <a:srgbClr val="F2F2F2"/>
          </a:solidFill>
          <a:ln/>
        </p:spPr>
      </p:sp>
      <p:sp>
        <p:nvSpPr>
          <p:cNvPr id="16" name="Shape 14"/>
          <p:cNvSpPr/>
          <p:nvPr/>
        </p:nvSpPr>
        <p:spPr>
          <a:xfrm>
            <a:off x="4766072" y="2117452"/>
            <a:ext cx="3749725" cy="843335"/>
          </a:xfrm>
          <a:prstGeom prst="roundRect">
            <a:avLst>
              <a:gd name="adj" fmla="val 2206"/>
            </a:avLst>
          </a:prstGeom>
          <a:solidFill>
            <a:srgbClr val="F2F2F2"/>
          </a:solidFill>
          <a:ln/>
        </p:spPr>
      </p:sp>
      <p:sp>
        <p:nvSpPr>
          <p:cNvPr id="17" name="Text 15"/>
          <p:cNvSpPr/>
          <p:nvPr/>
        </p:nvSpPr>
        <p:spPr>
          <a:xfrm>
            <a:off x="4921076" y="2241426"/>
            <a:ext cx="3439716"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my_tuple = 1, 2, 3, 4</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print(type(my_tuple))</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Kết quả: &lt;class 'tuple'&gt;</a:t>
            </a:r>
            <a:endParaRPr lang="en-US" sz="950" dirty="0"/>
          </a:p>
        </p:txBody>
      </p:sp>
      <p:sp>
        <p:nvSpPr>
          <p:cNvPr id="18" name="Text 16"/>
          <p:cNvSpPr/>
          <p:nvPr/>
        </p:nvSpPr>
        <p:spPr>
          <a:xfrm>
            <a:off x="4772248" y="3100313"/>
            <a:ext cx="373737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Python tự động nhận diện các giá trị cách nhau bằng dấu phẩy là Tuple.</a:t>
            </a:r>
            <a:endParaRPr lang="en-US" sz="950" dirty="0"/>
          </a:p>
        </p:txBody>
      </p:sp>
      <p:sp>
        <p:nvSpPr>
          <p:cNvPr id="19" name="Shape 17"/>
          <p:cNvSpPr/>
          <p:nvPr/>
        </p:nvSpPr>
        <p:spPr>
          <a:xfrm>
            <a:off x="496119" y="3775025"/>
            <a:ext cx="8151763" cy="730225"/>
          </a:xfrm>
          <a:prstGeom prst="roundRect">
            <a:avLst>
              <a:gd name="adj" fmla="val 7135"/>
            </a:avLst>
          </a:prstGeom>
          <a:solidFill>
            <a:srgbClr val="FCF2B5"/>
          </a:solidFill>
          <a:ln/>
        </p:spPr>
      </p:sp>
      <p:pic>
        <p:nvPicPr>
          <p:cNvPr id="20" name="Image 0" descr="preencoded.png">    </p:cNvPr>
          <p:cNvPicPr>
            <a:picLocks noChangeAspect="1"/>
          </p:cNvPicPr>
          <p:nvPr/>
        </p:nvPicPr>
        <p:blipFill>
          <a:blip r:embed="rId1"/>
          <a:stretch>
            <a:fillRect/>
          </a:stretch>
        </p:blipFill>
        <p:spPr>
          <a:xfrm>
            <a:off x="620092" y="3959572"/>
            <a:ext cx="155004" cy="123974"/>
          </a:xfrm>
          <a:prstGeom prst="rect">
            <a:avLst/>
          </a:prstGeom>
        </p:spPr>
      </p:pic>
      <p:sp>
        <p:nvSpPr>
          <p:cNvPr id="21" name="Text 18"/>
          <p:cNvSpPr/>
          <p:nvPr/>
        </p:nvSpPr>
        <p:spPr>
          <a:xfrm>
            <a:off x="899071" y="3929955"/>
            <a:ext cx="7624837"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Bẫy cổ điển — Tuple 1 phần tử!</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Viết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singles = (5)</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Python hiểu là số nguyên! Phải viết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singles = (5,)</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với dấu phẩy mới là Tuple thật sự.</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49610" y="349672"/>
            <a:ext cx="4346972" cy="351309"/>
          </a:xfrm>
          <a:prstGeom prst="rect">
            <a:avLst/>
          </a:prstGeom>
          <a:noFill/>
          <a:ln/>
        </p:spPr>
        <p:txBody>
          <a:bodyPr wrap="none" lIns="0" tIns="0" rIns="0" bIns="0" rtlCol="0" anchor="t"/>
          <a:lstStyle/>
          <a:p>
            <a:pPr algn="l" indent="0" marL="0">
              <a:lnSpc>
                <a:spcPct val="104000"/>
              </a:lnSpc>
              <a:buNone/>
            </a:pPr>
            <a:r>
              <a:rPr lang="en-US" sz="2200" dirty="0">
                <a:solidFill>
                  <a:srgbClr val="BE2727"/>
                </a:solidFill>
                <a:latin typeface="Montserrat ExtraBold" pitchFamily="34" charset="0"/>
                <a:ea typeface="Montserrat ExtraBold" pitchFamily="34" charset="-122"/>
                <a:cs typeface="Montserrat ExtraBold" pitchFamily="34" charset="-120"/>
              </a:rPr>
              <a:t>Minh họa: Tuple 1 Phần Tử</a:t>
            </a:r>
            <a:endParaRPr lang="en-US" sz="2200" dirty="0"/>
          </a:p>
        </p:txBody>
      </p:sp>
      <p:sp>
        <p:nvSpPr>
          <p:cNvPr id="3" name="Text 1"/>
          <p:cNvSpPr/>
          <p:nvPr/>
        </p:nvSpPr>
        <p:spPr>
          <a:xfrm>
            <a:off x="449610" y="904726"/>
            <a:ext cx="8694390" cy="171450"/>
          </a:xfrm>
          <a:prstGeom prst="rect">
            <a:avLst/>
          </a:prstGeom>
          <a:noFill/>
          <a:ln/>
        </p:spPr>
        <p:txBody>
          <a:bodyPr wrap="none" lIns="0" tIns="0" rIns="0" bIns="0" rtlCol="0" anchor="t"/>
          <a:lstStyle/>
          <a:p>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Đây là </a:t>
            </a:r>
            <a:pPr algn="l" indent="0" marL="0">
              <a:lnSpc>
                <a:spcPct val="127000"/>
              </a:lnSpc>
              <a:buNone/>
            </a:pPr>
            <a:r>
              <a:rPr lang="en-US" sz="850" b="1" dirty="0">
                <a:solidFill>
                  <a:srgbClr val="000000"/>
                </a:solidFill>
                <a:latin typeface="Montserrat" pitchFamily="34" charset="0"/>
                <a:ea typeface="Montserrat" pitchFamily="34" charset="-122"/>
                <a:cs typeface="Montserrat" pitchFamily="34" charset="-120"/>
              </a:rPr>
              <a:t>bẫy kinh điển</a:t>
            </a:r>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 xuất hiện thường xuyên trong đề thi và phỏng vấn xin việc. Hãy ghi nhớ kỹ!</a:t>
            </a:r>
            <a:endParaRPr lang="en-US" sz="850" dirty="0"/>
          </a:p>
        </p:txBody>
      </p:sp>
      <p:sp>
        <p:nvSpPr>
          <p:cNvPr id="4" name="Shape 2"/>
          <p:cNvSpPr/>
          <p:nvPr/>
        </p:nvSpPr>
        <p:spPr>
          <a:xfrm>
            <a:off x="449610" y="1190774"/>
            <a:ext cx="8244780" cy="2110680"/>
          </a:xfrm>
          <a:prstGeom prst="roundRect">
            <a:avLst>
              <a:gd name="adj" fmla="val 2237"/>
            </a:avLst>
          </a:prstGeom>
          <a:solidFill>
            <a:srgbClr val="F2F2F2"/>
          </a:solidFill>
          <a:ln/>
        </p:spPr>
      </p:sp>
      <p:sp>
        <p:nvSpPr>
          <p:cNvPr id="5" name="Shape 3"/>
          <p:cNvSpPr/>
          <p:nvPr/>
        </p:nvSpPr>
        <p:spPr>
          <a:xfrm>
            <a:off x="444029" y="1190774"/>
            <a:ext cx="8255943" cy="2110680"/>
          </a:xfrm>
          <a:prstGeom prst="roundRect">
            <a:avLst>
              <a:gd name="adj" fmla="val 799"/>
            </a:avLst>
          </a:prstGeom>
          <a:solidFill>
            <a:srgbClr val="F2F2F2"/>
          </a:solidFill>
          <a:ln/>
        </p:spPr>
      </p:sp>
      <p:sp>
        <p:nvSpPr>
          <p:cNvPr id="6" name="Text 4"/>
          <p:cNvSpPr/>
          <p:nvPr/>
        </p:nvSpPr>
        <p:spPr>
          <a:xfrm>
            <a:off x="584522" y="1303139"/>
            <a:ext cx="7974955" cy="188595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 (5) KHÔNG phải tuple</a:t>
            </a:r>
            <a:endParaRPr lang="en-US" sz="850" dirty="0"/>
          </a:p>
          <a:p>
            <a:pPr algn="l" indent="0" marL="0">
              <a:lnSpc>
                <a:spcPct val="127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not_a_tuple = (5)</a:t>
            </a:r>
            <a:endParaRPr lang="en-US" sz="850" dirty="0"/>
          </a:p>
          <a:p>
            <a:pPr algn="l" indent="0" marL="0">
              <a:lnSpc>
                <a:spcPct val="127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print(type(not_a_tuple))  # &lt;class 'int'&gt;</a:t>
            </a:r>
            <a:endParaRPr lang="en-US" sz="850" dirty="0"/>
          </a:p>
          <a:p>
            <a:pPr algn="l" indent="0" marL="0">
              <a:lnSpc>
                <a:spcPct val="127000"/>
              </a:lnSpc>
              <a:buNone/>
            </a:pPr>
            <a:endParaRPr lang="en-US" sz="850" dirty="0"/>
          </a:p>
          <a:p>
            <a:pPr algn="l" indent="0" marL="0">
              <a:lnSpc>
                <a:spcPct val="127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 (5,) là tuple 1 phần tử</a:t>
            </a:r>
            <a:endParaRPr lang="en-US" sz="850" dirty="0"/>
          </a:p>
          <a:p>
            <a:pPr algn="l" indent="0" marL="0">
              <a:lnSpc>
                <a:spcPct val="127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is_a_tuple = (5,)</a:t>
            </a:r>
            <a:endParaRPr lang="en-US" sz="850" dirty="0"/>
          </a:p>
          <a:p>
            <a:pPr algn="l" indent="0" marL="0">
              <a:lnSpc>
                <a:spcPct val="127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print(type(is_a_tuple))   # &lt;class 'tuple'&gt;</a:t>
            </a:r>
            <a:endParaRPr lang="en-US" sz="850" dirty="0"/>
          </a:p>
          <a:p>
            <a:pPr algn="l" indent="0" marL="0">
              <a:lnSpc>
                <a:spcPct val="127000"/>
              </a:lnSpc>
              <a:buNone/>
            </a:pPr>
            <a:endParaRPr lang="en-US" sz="850" dirty="0"/>
          </a:p>
          <a:p>
            <a:pPr algn="l" indent="0" marL="0">
              <a:lnSpc>
                <a:spcPct val="127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 5, cũng là tuple</a:t>
            </a:r>
            <a:endParaRPr lang="en-US" sz="850" dirty="0"/>
          </a:p>
          <a:p>
            <a:pPr algn="l" indent="0" marL="0">
              <a:lnSpc>
                <a:spcPct val="127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also_tuple = 5,</a:t>
            </a:r>
            <a:endParaRPr lang="en-US" sz="850" dirty="0"/>
          </a:p>
          <a:p>
            <a:pPr algn="l" indent="0" marL="0">
              <a:lnSpc>
                <a:spcPct val="127000"/>
              </a:lnSpc>
              <a:buNone/>
            </a:pPr>
            <a:r>
              <a:rPr lang="en-US" sz="850" dirty="0">
                <a:solidFill>
                  <a:srgbClr val="6A737D"/>
                </a:solidFill>
                <a:highlight>
                  <a:srgbClr val="F2F2F2"/>
                </a:highlight>
                <a:latin typeface="Consolas" pitchFamily="34" charset="0"/>
                <a:ea typeface="Consolas" pitchFamily="34" charset="-122"/>
                <a:cs typeface="Consolas" pitchFamily="34" charset="-120"/>
              </a:rPr>
              <a:t>print(type(also_tuple))   # &lt;class 'tuple'&gt;</a:t>
            </a:r>
            <a:endParaRPr lang="en-US" sz="850" dirty="0"/>
          </a:p>
        </p:txBody>
      </p:sp>
      <p:sp>
        <p:nvSpPr>
          <p:cNvPr id="7" name="Shape 5"/>
          <p:cNvSpPr/>
          <p:nvPr/>
        </p:nvSpPr>
        <p:spPr>
          <a:xfrm>
            <a:off x="449610" y="3416052"/>
            <a:ext cx="8244780" cy="620688"/>
          </a:xfrm>
          <a:prstGeom prst="roundRect">
            <a:avLst>
              <a:gd name="adj" fmla="val 7607"/>
            </a:avLst>
          </a:prstGeom>
          <a:solidFill>
            <a:srgbClr val="FCF2B5"/>
          </a:solidFill>
          <a:ln/>
        </p:spPr>
      </p:sp>
      <p:pic>
        <p:nvPicPr>
          <p:cNvPr id="8" name="Image 0" descr="preencoded.png">    </p:cNvPr>
          <p:cNvPicPr>
            <a:picLocks noChangeAspect="1"/>
          </p:cNvPicPr>
          <p:nvPr/>
        </p:nvPicPr>
        <p:blipFill>
          <a:blip r:embed="rId1"/>
          <a:stretch>
            <a:fillRect/>
          </a:stretch>
        </p:blipFill>
        <p:spPr>
          <a:xfrm>
            <a:off x="561975" y="3581921"/>
            <a:ext cx="140494" cy="112365"/>
          </a:xfrm>
          <a:prstGeom prst="rect">
            <a:avLst/>
          </a:prstGeom>
        </p:spPr>
      </p:pic>
      <p:sp>
        <p:nvSpPr>
          <p:cNvPr id="9" name="Text 6"/>
          <p:cNvSpPr/>
          <p:nvPr/>
        </p:nvSpPr>
        <p:spPr>
          <a:xfrm>
            <a:off x="814834" y="3545979"/>
            <a:ext cx="7767191"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Quy tắc vàng: Tuple 1 phần tử BẮT BUỘC phải có dấu phẩy (,) sau phần tử đó. Không có dấu phẩy → Python hiểu là biểu thức thông thường trong ngoặc!</a:t>
            </a:r>
            <a:endParaRPr lang="en-US" sz="850" dirty="0"/>
          </a:p>
        </p:txBody>
      </p:sp>
      <p:sp>
        <p:nvSpPr>
          <p:cNvPr id="10" name="Shape 7"/>
          <p:cNvSpPr/>
          <p:nvPr/>
        </p:nvSpPr>
        <p:spPr>
          <a:xfrm>
            <a:off x="449610" y="4151337"/>
            <a:ext cx="4071417" cy="642417"/>
          </a:xfrm>
          <a:prstGeom prst="roundRect">
            <a:avLst>
              <a:gd name="adj" fmla="val 7350"/>
            </a:avLst>
          </a:prstGeom>
          <a:solidFill>
            <a:srgbClr val="F6D5D5"/>
          </a:solidFill>
          <a:ln w="4763">
            <a:solidFill>
              <a:srgbClr val="DCBBBB"/>
            </a:solidFill>
            <a:prstDash val="solid"/>
          </a:ln>
        </p:spPr>
      </p:sp>
      <p:sp>
        <p:nvSpPr>
          <p:cNvPr id="11" name="Text 8"/>
          <p:cNvSpPr/>
          <p:nvPr/>
        </p:nvSpPr>
        <p:spPr>
          <a:xfrm>
            <a:off x="566738" y="4268465"/>
            <a:ext cx="1405161" cy="175617"/>
          </a:xfrm>
          <a:prstGeom prst="rect">
            <a:avLst/>
          </a:prstGeom>
          <a:noFill/>
          <a:ln/>
        </p:spPr>
        <p:txBody>
          <a:bodyPr wrap="none" lIns="0" tIns="0" rIns="0" bIns="0" rtlCol="0" anchor="t"/>
          <a:lstStyle/>
          <a:p>
            <a:pPr algn="l" indent="0" marL="0">
              <a:lnSpc>
                <a:spcPct val="104000"/>
              </a:lnSpc>
              <a:buNone/>
            </a:pPr>
            <a:r>
              <a:rPr lang="en-US" sz="1100" dirty="0">
                <a:solidFill>
                  <a:srgbClr val="000000"/>
                </a:solidFill>
                <a:latin typeface="Montserrat ExtraBold" pitchFamily="34" charset="0"/>
                <a:ea typeface="Montserrat ExtraBold" pitchFamily="34" charset="-122"/>
                <a:cs typeface="Montserrat ExtraBold" pitchFamily="34" charset="-120"/>
              </a:rPr>
              <a:t>(5)</a:t>
            </a:r>
            <a:endParaRPr lang="en-US" sz="1100" dirty="0"/>
          </a:p>
        </p:txBody>
      </p:sp>
      <p:sp>
        <p:nvSpPr>
          <p:cNvPr id="12" name="Text 9"/>
          <p:cNvSpPr/>
          <p:nvPr/>
        </p:nvSpPr>
        <p:spPr>
          <a:xfrm>
            <a:off x="566738" y="4505176"/>
            <a:ext cx="3837161" cy="171450"/>
          </a:xfrm>
          <a:prstGeom prst="rect">
            <a:avLst/>
          </a:prstGeom>
          <a:noFill/>
          <a:ln/>
        </p:spPr>
        <p:txBody>
          <a:bodyPr wrap="none" lIns="0" tIns="0" rIns="0" bIns="0" rtlCol="0" anchor="t"/>
          <a:lstStyle/>
          <a:p>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Số nguyên int, KHÔNG phải Tuple</a:t>
            </a:r>
            <a:endParaRPr lang="en-US" sz="850" dirty="0"/>
          </a:p>
        </p:txBody>
      </p:sp>
      <p:sp>
        <p:nvSpPr>
          <p:cNvPr id="13" name="Shape 10"/>
          <p:cNvSpPr/>
          <p:nvPr/>
        </p:nvSpPr>
        <p:spPr>
          <a:xfrm>
            <a:off x="4622899" y="4151337"/>
            <a:ext cx="4071491" cy="642417"/>
          </a:xfrm>
          <a:prstGeom prst="roundRect">
            <a:avLst>
              <a:gd name="adj" fmla="val 7350"/>
            </a:avLst>
          </a:prstGeom>
          <a:solidFill>
            <a:srgbClr val="F6D5D5"/>
          </a:solidFill>
          <a:ln w="4763">
            <a:solidFill>
              <a:srgbClr val="DCBBBB"/>
            </a:solidFill>
            <a:prstDash val="solid"/>
          </a:ln>
        </p:spPr>
      </p:sp>
      <p:sp>
        <p:nvSpPr>
          <p:cNvPr id="14" name="Text 11"/>
          <p:cNvSpPr/>
          <p:nvPr/>
        </p:nvSpPr>
        <p:spPr>
          <a:xfrm>
            <a:off x="4740027" y="4268465"/>
            <a:ext cx="1405161" cy="175617"/>
          </a:xfrm>
          <a:prstGeom prst="rect">
            <a:avLst/>
          </a:prstGeom>
          <a:noFill/>
          <a:ln/>
        </p:spPr>
        <p:txBody>
          <a:bodyPr wrap="none" lIns="0" tIns="0" rIns="0" bIns="0" rtlCol="0" anchor="t"/>
          <a:lstStyle/>
          <a:p>
            <a:pPr algn="l" indent="0" marL="0">
              <a:lnSpc>
                <a:spcPct val="104000"/>
              </a:lnSpc>
              <a:buNone/>
            </a:pPr>
            <a:r>
              <a:rPr lang="en-US" sz="1100" dirty="0">
                <a:solidFill>
                  <a:srgbClr val="000000"/>
                </a:solidFill>
                <a:latin typeface="Montserrat ExtraBold" pitchFamily="34" charset="0"/>
                <a:ea typeface="Montserrat ExtraBold" pitchFamily="34" charset="-122"/>
                <a:cs typeface="Montserrat ExtraBold" pitchFamily="34" charset="-120"/>
              </a:rPr>
              <a:t>(5,)</a:t>
            </a:r>
            <a:endParaRPr lang="en-US" sz="1100" dirty="0"/>
          </a:p>
        </p:txBody>
      </p:sp>
      <p:sp>
        <p:nvSpPr>
          <p:cNvPr id="15" name="Text 12"/>
          <p:cNvSpPr/>
          <p:nvPr/>
        </p:nvSpPr>
        <p:spPr>
          <a:xfrm>
            <a:off x="4740027" y="4505176"/>
            <a:ext cx="3837236" cy="171450"/>
          </a:xfrm>
          <a:prstGeom prst="rect">
            <a:avLst/>
          </a:prstGeom>
          <a:noFill/>
          <a:ln/>
        </p:spPr>
        <p:txBody>
          <a:bodyPr wrap="none" lIns="0" tIns="0" rIns="0" bIns="0" rtlCol="0" anchor="t"/>
          <a:lstStyle/>
          <a:p>
            <a:pPr algn="l" indent="0" marL="0">
              <a:lnSpc>
                <a:spcPct val="127000"/>
              </a:lnSpc>
              <a:buNone/>
            </a:pPr>
            <a:r>
              <a:rPr lang="en-US" sz="850" dirty="0">
                <a:solidFill>
                  <a:srgbClr val="000000"/>
                </a:solidFill>
                <a:latin typeface="Montserrat" pitchFamily="34" charset="0"/>
                <a:ea typeface="Montserrat" pitchFamily="34" charset="-122"/>
                <a:cs typeface="Montserrat" pitchFamily="34" charset="-120"/>
              </a:rPr>
              <a:t>Tuple thật sự, có 1 phần tử</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1490365"/>
            <a:ext cx="5497041"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3 Ưu Điểm Vượt Trội Của Tuple</a:t>
            </a:r>
            <a:endParaRPr lang="en-US" sz="24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125935"/>
            <a:ext cx="310083" cy="310083"/>
          </a:xfrm>
          <a:prstGeom prst="rect">
            <a:avLst/>
          </a:prstGeom>
        </p:spPr>
      </p:pic>
      <p:sp>
        <p:nvSpPr>
          <p:cNvPr id="4" name="Text 1"/>
          <p:cNvSpPr/>
          <p:nvPr/>
        </p:nvSpPr>
        <p:spPr>
          <a:xfrm>
            <a:off x="496119" y="2591023"/>
            <a:ext cx="1840260"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Bảo vệ dữ liệu an toàn</a:t>
            </a:r>
            <a:endParaRPr lang="en-US" sz="1200" dirty="0"/>
          </a:p>
        </p:txBody>
      </p:sp>
      <p:sp>
        <p:nvSpPr>
          <p:cNvPr id="5" name="Text 2"/>
          <p:cNvSpPr/>
          <p:nvPr/>
        </p:nvSpPr>
        <p:spPr>
          <a:xfrm>
            <a:off x="496119" y="2859286"/>
            <a:ext cx="2613868"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Trong dự án lớn, các dữ liệu cấu hình như kết nối Database, hằng số toán học (π = 3.14) không muốn bị vô tình sửa đổi. Đưa vào Tuple là an toàn nhất!</a:t>
            </a:r>
            <a:endParaRPr lang="en-US" sz="9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4991" y="2125935"/>
            <a:ext cx="310083" cy="310083"/>
          </a:xfrm>
          <a:prstGeom prst="rect">
            <a:avLst/>
          </a:prstGeom>
        </p:spPr>
      </p:pic>
      <p:sp>
        <p:nvSpPr>
          <p:cNvPr id="7" name="Text 3"/>
          <p:cNvSpPr/>
          <p:nvPr/>
        </p:nvSpPr>
        <p:spPr>
          <a:xfrm>
            <a:off x="3264991" y="2591023"/>
            <a:ext cx="2175644"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Tốc độ thực thi nhanh hơn</a:t>
            </a:r>
            <a:endParaRPr lang="en-US" sz="1200" dirty="0"/>
          </a:p>
        </p:txBody>
      </p:sp>
      <p:sp>
        <p:nvSpPr>
          <p:cNvPr id="8" name="Text 4"/>
          <p:cNvSpPr/>
          <p:nvPr/>
        </p:nvSpPr>
        <p:spPr>
          <a:xfrm>
            <a:off x="3264991" y="2859286"/>
            <a:ext cx="261394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Vì Tuple bất biến, Python tối ưu hóa vùng nhớ cho nó rất tốt. Duyệt qua Tuple nhanh hơn duyệt qua List có cùng số phần tử.</a:t>
            </a:r>
            <a:endParaRPr lang="en-US" sz="9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33939" y="2125935"/>
            <a:ext cx="310083" cy="310083"/>
          </a:xfrm>
          <a:prstGeom prst="rect">
            <a:avLst/>
          </a:prstGeom>
        </p:spPr>
      </p:pic>
      <p:sp>
        <p:nvSpPr>
          <p:cNvPr id="10" name="Text 5"/>
          <p:cNvSpPr/>
          <p:nvPr/>
        </p:nvSpPr>
        <p:spPr>
          <a:xfrm>
            <a:off x="6033939" y="2591023"/>
            <a:ext cx="1967061"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Làm Key cho Dictionary</a:t>
            </a:r>
            <a:endParaRPr lang="en-US" sz="1200" dirty="0"/>
          </a:p>
        </p:txBody>
      </p:sp>
      <p:sp>
        <p:nvSpPr>
          <p:cNvPr id="11" name="Text 6"/>
          <p:cNvSpPr/>
          <p:nvPr/>
        </p:nvSpPr>
        <p:spPr>
          <a:xfrm>
            <a:off x="6033939" y="2859286"/>
            <a:ext cx="261394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Key của Dictionary bắt buộc phải là dữ liệu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bất biến</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Vì vậy, Tuple có thể làm Key — còn List thì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tuyệt đối không được</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Shape 0"/>
          <p:cNvSpPr/>
          <p:nvPr/>
        </p:nvSpPr>
        <p:spPr>
          <a:xfrm>
            <a:off x="496119" y="1652067"/>
            <a:ext cx="533846" cy="233214"/>
          </a:xfrm>
          <a:prstGeom prst="roundRect">
            <a:avLst>
              <a:gd name="adj" fmla="val 17872"/>
            </a:avLst>
          </a:prstGeom>
          <a:solidFill>
            <a:srgbClr val="F6D5D5"/>
          </a:solidFill>
          <a:ln/>
        </p:spPr>
      </p:sp>
      <p:sp>
        <p:nvSpPr>
          <p:cNvPr id="4" name="Text 1"/>
          <p:cNvSpPr/>
          <p:nvPr/>
        </p:nvSpPr>
        <p:spPr>
          <a:xfrm>
            <a:off x="570533" y="1689274"/>
            <a:ext cx="842218" cy="158800"/>
          </a:xfrm>
          <a:prstGeom prst="rect">
            <a:avLst/>
          </a:prstGeom>
          <a:noFill/>
          <a:ln/>
        </p:spPr>
        <p:txBody>
          <a:bodyPr wrap="none" lIns="0" tIns="0" rIns="0" bIns="0" rtlCol="0" anchor="t"/>
          <a:lstStyle/>
          <a:p>
            <a:pPr algn="l" indent="0" marL="0">
              <a:lnSpc>
                <a:spcPct val="133000"/>
              </a:lnSpc>
              <a:buNone/>
            </a:pPr>
            <a:r>
              <a:rPr lang="en-US" sz="750" dirty="0">
                <a:solidFill>
                  <a:srgbClr val="000000"/>
                </a:solidFill>
                <a:latin typeface="Montserrat" pitchFamily="34" charset="0"/>
                <a:ea typeface="Montserrat" pitchFamily="34" charset="-122"/>
                <a:cs typeface="Montserrat" pitchFamily="34" charset="-120"/>
              </a:rPr>
              <a:t>PHẦN 2</a:t>
            </a:r>
            <a:endParaRPr lang="en-US" sz="750" dirty="0"/>
          </a:p>
        </p:txBody>
      </p:sp>
      <p:sp>
        <p:nvSpPr>
          <p:cNvPr id="5" name="Text 2"/>
          <p:cNvSpPr/>
          <p:nvPr/>
        </p:nvSpPr>
        <p:spPr>
          <a:xfrm>
            <a:off x="496119" y="1934840"/>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Dictionary — Từ Điển Thông Minh</a:t>
            </a:r>
            <a:endParaRPr lang="en-US" sz="2400" dirty="0"/>
          </a:p>
        </p:txBody>
      </p:sp>
      <p:sp>
        <p:nvSpPr>
          <p:cNvPr id="6" name="Text 3"/>
          <p:cNvSpPr/>
          <p:nvPr/>
        </p:nvSpPr>
        <p:spPr>
          <a:xfrm>
            <a:off x="496119" y="2895972"/>
            <a:ext cx="4722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Dictionary là cấu trúc dữ liệu mạnh mẽ nhất Python dành cho việc lưu trữ và tra cứu. Thay vì dùng chỉ số 0, 1, 2… như List, Dictionary dùng các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"nhãn gắn tên" (Key)</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để truy cập dữ liệu trực tiếp và tức thì.</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996553"/>
            <a:ext cx="4371082"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Tại Sao Cần Dictionary?</a:t>
            </a:r>
            <a:endParaRPr lang="en-US" sz="2400" dirty="0"/>
          </a:p>
        </p:txBody>
      </p:sp>
      <p:sp>
        <p:nvSpPr>
          <p:cNvPr id="3" name="Shape 1"/>
          <p:cNvSpPr/>
          <p:nvPr/>
        </p:nvSpPr>
        <p:spPr>
          <a:xfrm>
            <a:off x="406822" y="1570137"/>
            <a:ext cx="4103191" cy="2238821"/>
          </a:xfrm>
          <a:prstGeom prst="roundRect">
            <a:avLst>
              <a:gd name="adj" fmla="val 3989"/>
            </a:avLst>
          </a:prstGeom>
          <a:solidFill>
            <a:srgbClr val="BE2727"/>
          </a:solidFill>
          <a:ln/>
        </p:spPr>
      </p:sp>
      <p:sp>
        <p:nvSpPr>
          <p:cNvPr id="4" name="Text 2"/>
          <p:cNvSpPr/>
          <p:nvPr/>
        </p:nvSpPr>
        <p:spPr>
          <a:xfrm>
            <a:off x="530796" y="1694111"/>
            <a:ext cx="2782937"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FFFFFF"/>
                </a:solidFill>
                <a:latin typeface="Montserrat ExtraBold" pitchFamily="34" charset="0"/>
                <a:ea typeface="Montserrat ExtraBold" pitchFamily="34" charset="-122"/>
                <a:cs typeface="Montserrat ExtraBold" pitchFamily="34" charset="-120"/>
              </a:rPr>
              <a:t> Dùng List — Dễ nhầm lẫn</a:t>
            </a:r>
            <a:endParaRPr lang="en-US" sz="1200" dirty="0"/>
          </a:p>
        </p:txBody>
      </p:sp>
      <p:sp>
        <p:nvSpPr>
          <p:cNvPr id="5" name="Shape 3"/>
          <p:cNvSpPr/>
          <p:nvPr/>
        </p:nvSpPr>
        <p:spPr>
          <a:xfrm>
            <a:off x="530796" y="2032248"/>
            <a:ext cx="3855244" cy="1041797"/>
          </a:xfrm>
          <a:prstGeom prst="roundRect">
            <a:avLst>
              <a:gd name="adj" fmla="val 5001"/>
            </a:avLst>
          </a:prstGeom>
          <a:solidFill>
            <a:srgbClr val="CB3434"/>
          </a:solidFill>
          <a:ln/>
        </p:spPr>
      </p:sp>
      <p:sp>
        <p:nvSpPr>
          <p:cNvPr id="6" name="Shape 4"/>
          <p:cNvSpPr/>
          <p:nvPr/>
        </p:nvSpPr>
        <p:spPr>
          <a:xfrm>
            <a:off x="524619" y="2032248"/>
            <a:ext cx="3867596" cy="1041797"/>
          </a:xfrm>
          <a:prstGeom prst="roundRect">
            <a:avLst>
              <a:gd name="adj" fmla="val 1786"/>
            </a:avLst>
          </a:prstGeom>
          <a:solidFill>
            <a:srgbClr val="CB3434"/>
          </a:solidFill>
          <a:ln/>
        </p:spPr>
      </p:sp>
      <p:sp>
        <p:nvSpPr>
          <p:cNvPr id="7" name="Text 5"/>
          <p:cNvSpPr/>
          <p:nvPr/>
        </p:nvSpPr>
        <p:spPr>
          <a:xfrm>
            <a:off x="679624" y="2156222"/>
            <a:ext cx="3557588"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Consolas" pitchFamily="34" charset="0"/>
                <a:ea typeface="Consolas" pitchFamily="34" charset="-122"/>
                <a:cs typeface="Consolas" pitchFamily="34" charset="-120"/>
              </a:rPr>
              <a:t>student = ["Nguyễn Văn A", 18, "Giỏi"]</a:t>
            </a:r>
            <a:endParaRPr lang="en-US" sz="950" dirty="0"/>
          </a:p>
          <a:p>
            <a:pPr algn="l" indent="0" marL="0">
              <a:lnSpc>
                <a:spcPct val="133000"/>
              </a:lnSpc>
              <a:buNone/>
            </a:pPr>
            <a:r>
              <a:rPr lang="en-US" sz="950" dirty="0">
                <a:solidFill>
                  <a:srgbClr val="FFFFFF"/>
                </a:solidFill>
                <a:latin typeface="Consolas" pitchFamily="34" charset="0"/>
                <a:ea typeface="Consolas" pitchFamily="34" charset="-122"/>
                <a:cs typeface="Consolas" pitchFamily="34" charset="-120"/>
              </a:rPr>
              <a:t># Muốn lấy tuổi → student[1]</a:t>
            </a:r>
            <a:endParaRPr lang="en-US" sz="950" dirty="0"/>
          </a:p>
          <a:p>
            <a:pPr algn="l" indent="0" marL="0">
              <a:lnSpc>
                <a:spcPct val="133000"/>
              </a:lnSpc>
              <a:buNone/>
            </a:pPr>
            <a:r>
              <a:rPr lang="en-US" sz="950" dirty="0">
                <a:solidFill>
                  <a:srgbClr val="FFFFFF"/>
                </a:solidFill>
                <a:latin typeface="Consolas" pitchFamily="34" charset="0"/>
                <a:ea typeface="Consolas" pitchFamily="34" charset="-122"/>
                <a:cs typeface="Consolas" pitchFamily="34" charset="-120"/>
              </a:rPr>
              <a:t># Ai đọc biết [1] là "Tuổi"?</a:t>
            </a:r>
            <a:endParaRPr lang="en-US" sz="950" dirty="0"/>
          </a:p>
          <a:p>
            <a:pPr algn="l" indent="0" marL="0">
              <a:lnSpc>
                <a:spcPct val="133000"/>
              </a:lnSpc>
              <a:buNone/>
            </a:pPr>
            <a:r>
              <a:rPr lang="en-US" sz="950" dirty="0">
                <a:solidFill>
                  <a:srgbClr val="FFFFFF"/>
                </a:solidFill>
                <a:latin typeface="Consolas" pitchFamily="34" charset="0"/>
                <a:ea typeface="Consolas" pitchFamily="34" charset="-122"/>
                <a:cs typeface="Consolas" pitchFamily="34" charset="-120"/>
              </a:rPr>
              <a:t># Nếu thêm SĐT vào đầu → index lệch hết!</a:t>
            </a:r>
            <a:endParaRPr lang="en-US" sz="950" dirty="0"/>
          </a:p>
        </p:txBody>
      </p:sp>
      <p:sp>
        <p:nvSpPr>
          <p:cNvPr id="8" name="Text 6"/>
          <p:cNvSpPr/>
          <p:nvPr/>
        </p:nvSpPr>
        <p:spPr>
          <a:xfrm>
            <a:off x="4728046" y="1694111"/>
            <a:ext cx="3656261"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BE2727"/>
                </a:solidFill>
                <a:latin typeface="Montserrat ExtraBold" pitchFamily="34" charset="0"/>
                <a:ea typeface="Montserrat ExtraBold" pitchFamily="34" charset="-122"/>
                <a:cs typeface="Montserrat ExtraBold" pitchFamily="34" charset="-120"/>
              </a:rPr>
              <a:t> Dùng Dictionary — Rõ ràng, an toàn</a:t>
            </a:r>
            <a:endParaRPr lang="en-US" sz="1200" dirty="0"/>
          </a:p>
        </p:txBody>
      </p:sp>
      <p:sp>
        <p:nvSpPr>
          <p:cNvPr id="9" name="Shape 7"/>
          <p:cNvSpPr/>
          <p:nvPr/>
        </p:nvSpPr>
        <p:spPr>
          <a:xfrm>
            <a:off x="4728046" y="2032248"/>
            <a:ext cx="3924598" cy="1637184"/>
          </a:xfrm>
          <a:prstGeom prst="roundRect">
            <a:avLst>
              <a:gd name="adj" fmla="val 3182"/>
            </a:avLst>
          </a:prstGeom>
          <a:solidFill>
            <a:srgbClr val="F2F2F2"/>
          </a:solidFill>
          <a:ln/>
        </p:spPr>
      </p:sp>
      <p:sp>
        <p:nvSpPr>
          <p:cNvPr id="10" name="Shape 8"/>
          <p:cNvSpPr/>
          <p:nvPr/>
        </p:nvSpPr>
        <p:spPr>
          <a:xfrm>
            <a:off x="4721870" y="2032248"/>
            <a:ext cx="3936950" cy="1637184"/>
          </a:xfrm>
          <a:prstGeom prst="roundRect">
            <a:avLst>
              <a:gd name="adj" fmla="val 1137"/>
            </a:avLst>
          </a:prstGeom>
          <a:solidFill>
            <a:srgbClr val="F2F2F2"/>
          </a:solidFill>
          <a:ln/>
        </p:spPr>
      </p:sp>
      <p:sp>
        <p:nvSpPr>
          <p:cNvPr id="11" name="Text 9"/>
          <p:cNvSpPr/>
          <p:nvPr/>
        </p:nvSpPr>
        <p:spPr>
          <a:xfrm>
            <a:off x="4876874" y="2156222"/>
            <a:ext cx="3626941" cy="138923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student = {</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"name": "Nguyễn Văn A",</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"age": 18,</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"grade": "Giỏi"</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Lấy tuổi → student["age"]</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Cực kỳ rõ ràng, không nhầm!</a:t>
            </a:r>
            <a:endParaRPr lang="en-US" sz="950" dirty="0"/>
          </a:p>
        </p:txBody>
      </p:sp>
      <p:sp>
        <p:nvSpPr>
          <p:cNvPr id="12" name="Text 10"/>
          <p:cNvSpPr/>
          <p:nvPr/>
        </p:nvSpPr>
        <p:spPr>
          <a:xfrm>
            <a:off x="496119" y="3948485"/>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Dictionary giúp code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tự ghi chép</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 người đọc hiểu ngay từng trường dữ liệu đại diện cho thông tin gì mà không cần đoán mò.</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201936"/>
            <a:ext cx="5217988"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Cú Pháp Khai Báo Dictionary</a:t>
            </a:r>
            <a:endParaRPr lang="en-US" sz="2400" dirty="0"/>
          </a:p>
        </p:txBody>
      </p:sp>
      <p:sp>
        <p:nvSpPr>
          <p:cNvPr id="3" name="Shape 1"/>
          <p:cNvSpPr/>
          <p:nvPr/>
        </p:nvSpPr>
        <p:spPr>
          <a:xfrm>
            <a:off x="496119" y="1837506"/>
            <a:ext cx="8151763" cy="1240259"/>
          </a:xfrm>
          <a:prstGeom prst="roundRect">
            <a:avLst>
              <a:gd name="adj" fmla="val 4201"/>
            </a:avLst>
          </a:prstGeom>
          <a:solidFill>
            <a:srgbClr val="F2F2F2"/>
          </a:solidFill>
          <a:ln/>
        </p:spPr>
      </p:sp>
      <p:sp>
        <p:nvSpPr>
          <p:cNvPr id="4" name="Shape 2"/>
          <p:cNvSpPr/>
          <p:nvPr/>
        </p:nvSpPr>
        <p:spPr>
          <a:xfrm>
            <a:off x="489942" y="1837506"/>
            <a:ext cx="8164116" cy="1240259"/>
          </a:xfrm>
          <a:prstGeom prst="roundRect">
            <a:avLst>
              <a:gd name="adj" fmla="val 1500"/>
            </a:avLst>
          </a:prstGeom>
          <a:solidFill>
            <a:srgbClr val="F2F2F2"/>
          </a:solidFill>
          <a:ln/>
        </p:spPr>
      </p:sp>
      <p:sp>
        <p:nvSpPr>
          <p:cNvPr id="5" name="Text 3"/>
          <p:cNvSpPr/>
          <p:nvPr/>
        </p:nvSpPr>
        <p:spPr>
          <a:xfrm>
            <a:off x="644947" y="1961480"/>
            <a:ext cx="7854107"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user = {</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"name":       "Nguyễn Văn A",   # Key: Chuỗi, Value: Chuỗi</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"age":        18,                # Key: Chuỗi, Value: Số nguyên</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"is_married": False              # Key: Chuỗi, Value: Boolean</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a:t>
            </a:r>
            <a:endParaRPr lang="en-US" sz="950" dirty="0"/>
          </a:p>
        </p:txBody>
      </p:sp>
      <p:sp>
        <p:nvSpPr>
          <p:cNvPr id="6" name="Shape 4"/>
          <p:cNvSpPr/>
          <p:nvPr/>
        </p:nvSpPr>
        <p:spPr>
          <a:xfrm>
            <a:off x="496119" y="3217292"/>
            <a:ext cx="1944960" cy="724198"/>
          </a:xfrm>
          <a:prstGeom prst="roundRect">
            <a:avLst>
              <a:gd name="adj" fmla="val 7194"/>
            </a:avLst>
          </a:prstGeom>
          <a:solidFill>
            <a:srgbClr val="F6D5D5"/>
          </a:solidFill>
          <a:ln w="4763">
            <a:solidFill>
              <a:srgbClr val="DCBBBB"/>
            </a:solidFill>
            <a:prstDash val="solid"/>
          </a:ln>
        </p:spPr>
      </p:sp>
      <p:sp>
        <p:nvSpPr>
          <p:cNvPr id="7" name="Text 5"/>
          <p:cNvSpPr/>
          <p:nvPr/>
        </p:nvSpPr>
        <p:spPr>
          <a:xfrm>
            <a:off x="624855" y="3346028"/>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Ngoặc nhọn </a:t>
            </a:r>
            <a:pPr algn="l" indent="0" marL="0">
              <a:lnSpc>
                <a:spcPct val="104000"/>
              </a:lnSpc>
              <a:buNone/>
            </a:pPr>
            <a:r>
              <a:rPr lang="en-US" sz="1200" dirty="0">
                <a:solidFill>
                  <a:srgbClr val="000000"/>
                </a:solidFill>
                <a:highlight>
                  <a:srgbClr val="F2F2F2"/>
                </a:highlight>
                <a:latin typeface="Consolas" pitchFamily="34" charset="0"/>
                <a:ea typeface="Consolas" pitchFamily="34" charset="-122"/>
                <a:cs typeface="Consolas" pitchFamily="34" charset="-120"/>
              </a:rPr>
              <a:t>{}</a:t>
            </a:r>
            <a:endParaRPr lang="en-US" sz="1200" dirty="0"/>
          </a:p>
        </p:txBody>
      </p:sp>
      <p:sp>
        <p:nvSpPr>
          <p:cNvPr id="8" name="Text 6"/>
          <p:cNvSpPr/>
          <p:nvPr/>
        </p:nvSpPr>
        <p:spPr>
          <a:xfrm>
            <a:off x="624855" y="3614291"/>
            <a:ext cx="1687488"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Bọc toàn bộ Dictionary</a:t>
            </a:r>
            <a:endParaRPr lang="en-US" sz="950" dirty="0"/>
          </a:p>
        </p:txBody>
      </p:sp>
      <p:sp>
        <p:nvSpPr>
          <p:cNvPr id="9" name="Shape 7"/>
          <p:cNvSpPr/>
          <p:nvPr/>
        </p:nvSpPr>
        <p:spPr>
          <a:xfrm>
            <a:off x="2565053" y="3217292"/>
            <a:ext cx="1944960" cy="724198"/>
          </a:xfrm>
          <a:prstGeom prst="roundRect">
            <a:avLst>
              <a:gd name="adj" fmla="val 7194"/>
            </a:avLst>
          </a:prstGeom>
          <a:solidFill>
            <a:srgbClr val="F6D5D5"/>
          </a:solidFill>
          <a:ln w="4763">
            <a:solidFill>
              <a:srgbClr val="DCBBBB"/>
            </a:solidFill>
            <a:prstDash val="solid"/>
          </a:ln>
        </p:spPr>
      </p:sp>
      <p:sp>
        <p:nvSpPr>
          <p:cNvPr id="10" name="Text 8"/>
          <p:cNvSpPr/>
          <p:nvPr/>
        </p:nvSpPr>
        <p:spPr>
          <a:xfrm>
            <a:off x="2693789" y="3346028"/>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Dấu hai chấm </a:t>
            </a:r>
            <a:pPr algn="l" indent="0" marL="0">
              <a:lnSpc>
                <a:spcPct val="104000"/>
              </a:lnSpc>
              <a:buNone/>
            </a:pPr>
            <a:r>
              <a:rPr lang="en-US" sz="1200" dirty="0">
                <a:solidFill>
                  <a:srgbClr val="000000"/>
                </a:solidFill>
                <a:highlight>
                  <a:srgbClr val="F2F2F2"/>
                </a:highlight>
                <a:latin typeface="Consolas" pitchFamily="34" charset="0"/>
                <a:ea typeface="Consolas" pitchFamily="34" charset="-122"/>
                <a:cs typeface="Consolas" pitchFamily="34" charset="-120"/>
              </a:rPr>
              <a:t>:</a:t>
            </a:r>
            <a:endParaRPr lang="en-US" sz="1200" dirty="0"/>
          </a:p>
        </p:txBody>
      </p:sp>
      <p:sp>
        <p:nvSpPr>
          <p:cNvPr id="11" name="Text 9"/>
          <p:cNvSpPr/>
          <p:nvPr/>
        </p:nvSpPr>
        <p:spPr>
          <a:xfrm>
            <a:off x="2693789" y="3614291"/>
            <a:ext cx="1687488"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Ngăn cách Key và Value</a:t>
            </a:r>
            <a:endParaRPr lang="en-US" sz="950" dirty="0"/>
          </a:p>
        </p:txBody>
      </p:sp>
      <p:sp>
        <p:nvSpPr>
          <p:cNvPr id="12" name="Shape 10"/>
          <p:cNvSpPr/>
          <p:nvPr/>
        </p:nvSpPr>
        <p:spPr>
          <a:xfrm>
            <a:off x="4633987" y="3217292"/>
            <a:ext cx="1944960" cy="724198"/>
          </a:xfrm>
          <a:prstGeom prst="roundRect">
            <a:avLst>
              <a:gd name="adj" fmla="val 7194"/>
            </a:avLst>
          </a:prstGeom>
          <a:solidFill>
            <a:srgbClr val="F6D5D5"/>
          </a:solidFill>
          <a:ln w="4763">
            <a:solidFill>
              <a:srgbClr val="DCBBBB"/>
            </a:solidFill>
            <a:prstDash val="solid"/>
          </a:ln>
        </p:spPr>
      </p:sp>
      <p:sp>
        <p:nvSpPr>
          <p:cNvPr id="13" name="Text 11"/>
          <p:cNvSpPr/>
          <p:nvPr/>
        </p:nvSpPr>
        <p:spPr>
          <a:xfrm>
            <a:off x="4762723" y="3346028"/>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Dấu phẩy </a:t>
            </a:r>
            <a:pPr algn="l" indent="0" marL="0">
              <a:lnSpc>
                <a:spcPct val="104000"/>
              </a:lnSpc>
              <a:buNone/>
            </a:pPr>
            <a:r>
              <a:rPr lang="en-US" sz="1200" dirty="0">
                <a:solidFill>
                  <a:srgbClr val="000000"/>
                </a:solidFill>
                <a:highlight>
                  <a:srgbClr val="F2F2F2"/>
                </a:highlight>
                <a:latin typeface="Consolas" pitchFamily="34" charset="0"/>
                <a:ea typeface="Consolas" pitchFamily="34" charset="-122"/>
                <a:cs typeface="Consolas" pitchFamily="34" charset="-120"/>
              </a:rPr>
              <a:t>,</a:t>
            </a:r>
            <a:endParaRPr lang="en-US" sz="1200" dirty="0"/>
          </a:p>
        </p:txBody>
      </p:sp>
      <p:sp>
        <p:nvSpPr>
          <p:cNvPr id="14" name="Text 12"/>
          <p:cNvSpPr/>
          <p:nvPr/>
        </p:nvSpPr>
        <p:spPr>
          <a:xfrm>
            <a:off x="4762723" y="3614291"/>
            <a:ext cx="1687488"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Ngăn cách các cặp</a:t>
            </a:r>
            <a:endParaRPr lang="en-US" sz="950" dirty="0"/>
          </a:p>
        </p:txBody>
      </p:sp>
      <p:sp>
        <p:nvSpPr>
          <p:cNvPr id="15" name="Shape 13"/>
          <p:cNvSpPr/>
          <p:nvPr/>
        </p:nvSpPr>
        <p:spPr>
          <a:xfrm>
            <a:off x="6702921" y="3217292"/>
            <a:ext cx="1944960" cy="724198"/>
          </a:xfrm>
          <a:prstGeom prst="roundRect">
            <a:avLst>
              <a:gd name="adj" fmla="val 7194"/>
            </a:avLst>
          </a:prstGeom>
          <a:solidFill>
            <a:srgbClr val="F6D5D5"/>
          </a:solidFill>
          <a:ln w="4763">
            <a:solidFill>
              <a:srgbClr val="DCBBBB"/>
            </a:solidFill>
            <a:prstDash val="solid"/>
          </a:ln>
        </p:spPr>
      </p:sp>
      <p:sp>
        <p:nvSpPr>
          <p:cNvPr id="16" name="Text 14"/>
          <p:cNvSpPr/>
          <p:nvPr/>
        </p:nvSpPr>
        <p:spPr>
          <a:xfrm>
            <a:off x="6831657" y="3346028"/>
            <a:ext cx="1550566"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Key độc nhất</a:t>
            </a:r>
            <a:endParaRPr lang="en-US" sz="1200" dirty="0"/>
          </a:p>
        </p:txBody>
      </p:sp>
      <p:sp>
        <p:nvSpPr>
          <p:cNvPr id="17" name="Text 15"/>
          <p:cNvSpPr/>
          <p:nvPr/>
        </p:nvSpPr>
        <p:spPr>
          <a:xfrm>
            <a:off x="6831657" y="3614291"/>
            <a:ext cx="1687488"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Không được trùng nhau</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675680"/>
            <a:ext cx="4346004"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Đọc &amp; Truy Cập Dữ Liệu</a:t>
            </a:r>
            <a:endParaRPr lang="en-US" sz="2400" dirty="0"/>
          </a:p>
        </p:txBody>
      </p:sp>
      <p:sp>
        <p:nvSpPr>
          <p:cNvPr id="3" name="Text 1"/>
          <p:cNvSpPr/>
          <p:nvPr/>
        </p:nvSpPr>
        <p:spPr>
          <a:xfrm>
            <a:off x="496119" y="1311250"/>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Có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2 trường phái</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để lấy giá trị từ một Key trong Dictionary:</a:t>
            </a:r>
            <a:endParaRPr lang="en-US" sz="950" dirty="0"/>
          </a:p>
        </p:txBody>
      </p:sp>
      <p:sp>
        <p:nvSpPr>
          <p:cNvPr id="4" name="Shape 2"/>
          <p:cNvSpPr/>
          <p:nvPr/>
        </p:nvSpPr>
        <p:spPr>
          <a:xfrm>
            <a:off x="406822" y="1649239"/>
            <a:ext cx="4103191" cy="1948755"/>
          </a:xfrm>
          <a:prstGeom prst="roundRect">
            <a:avLst>
              <a:gd name="adj" fmla="val 4583"/>
            </a:avLst>
          </a:prstGeom>
          <a:solidFill>
            <a:srgbClr val="BE2727"/>
          </a:solidFill>
          <a:ln/>
        </p:spPr>
      </p:sp>
      <p:sp>
        <p:nvSpPr>
          <p:cNvPr id="5" name="Text 3"/>
          <p:cNvSpPr/>
          <p:nvPr/>
        </p:nvSpPr>
        <p:spPr>
          <a:xfrm>
            <a:off x="530796" y="1773213"/>
            <a:ext cx="2879824"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Montserrat ExtraBold" pitchFamily="34" charset="0"/>
                <a:ea typeface="Montserrat ExtraBold" pitchFamily="34" charset="-122"/>
                <a:cs typeface="Montserrat ExtraBold" pitchFamily="34" charset="-120"/>
              </a:rPr>
              <a:t>Cách 1: Ngoặc vuông </a:t>
            </a:r>
            <a:pPr algn="l" indent="0" marL="0">
              <a:lnSpc>
                <a:spcPct val="104000"/>
              </a:lnSpc>
              <a:buNone/>
            </a:pPr>
            <a:r>
              <a:rPr lang="en-US" sz="1200" dirty="0">
                <a:solidFill>
                  <a:srgbClr val="FFFFFF"/>
                </a:solidFill>
                <a:highlight>
                  <a:srgbClr val="CB3434"/>
                </a:highlight>
                <a:latin typeface="Consolas" pitchFamily="34" charset="0"/>
                <a:ea typeface="Consolas" pitchFamily="34" charset="-122"/>
                <a:cs typeface="Consolas" pitchFamily="34" charset="-120"/>
              </a:rPr>
              <a:t>dict[key]</a:t>
            </a:r>
            <a:endParaRPr lang="en-US" sz="1200" dirty="0"/>
          </a:p>
        </p:txBody>
      </p:sp>
      <p:sp>
        <p:nvSpPr>
          <p:cNvPr id="6" name="Shape 4"/>
          <p:cNvSpPr/>
          <p:nvPr/>
        </p:nvSpPr>
        <p:spPr>
          <a:xfrm>
            <a:off x="530796" y="2106588"/>
            <a:ext cx="3855244" cy="843335"/>
          </a:xfrm>
          <a:prstGeom prst="roundRect">
            <a:avLst>
              <a:gd name="adj" fmla="val 6178"/>
            </a:avLst>
          </a:prstGeom>
          <a:solidFill>
            <a:srgbClr val="CB3434"/>
          </a:solidFill>
          <a:ln/>
        </p:spPr>
      </p:sp>
      <p:sp>
        <p:nvSpPr>
          <p:cNvPr id="7" name="Shape 5"/>
          <p:cNvSpPr/>
          <p:nvPr/>
        </p:nvSpPr>
        <p:spPr>
          <a:xfrm>
            <a:off x="524619" y="2106588"/>
            <a:ext cx="3867596" cy="843335"/>
          </a:xfrm>
          <a:prstGeom prst="roundRect">
            <a:avLst>
              <a:gd name="adj" fmla="val 2206"/>
            </a:avLst>
          </a:prstGeom>
          <a:solidFill>
            <a:srgbClr val="CB3434"/>
          </a:solidFill>
          <a:ln/>
        </p:spPr>
      </p:sp>
      <p:sp>
        <p:nvSpPr>
          <p:cNvPr id="8" name="Text 6"/>
          <p:cNvSpPr/>
          <p:nvPr/>
        </p:nvSpPr>
        <p:spPr>
          <a:xfrm>
            <a:off x="679624" y="2230562"/>
            <a:ext cx="3557588"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36209"/>
                </a:solidFill>
                <a:highlight>
                  <a:srgbClr val="CB3434"/>
                </a:highlight>
                <a:latin typeface="Consolas" pitchFamily="34" charset="0"/>
                <a:ea typeface="Consolas" pitchFamily="34" charset="-122"/>
                <a:cs typeface="Consolas" pitchFamily="34" charset="-120"/>
              </a:rPr>
              <a:t>print(user["name"])   # Nguyễn Văn A</a:t>
            </a:r>
            <a:endParaRPr lang="en-US" sz="950" dirty="0"/>
          </a:p>
          <a:p>
            <a:pPr algn="l" indent="0" marL="0">
              <a:lnSpc>
                <a:spcPct val="133000"/>
              </a:lnSpc>
              <a:buNone/>
            </a:pPr>
            <a:r>
              <a:rPr lang="en-US" sz="950" dirty="0">
                <a:solidFill>
                  <a:srgbClr val="E36209"/>
                </a:solidFill>
                <a:highlight>
                  <a:srgbClr val="CB3434"/>
                </a:highlight>
                <a:latin typeface="Consolas" pitchFamily="34" charset="0"/>
                <a:ea typeface="Consolas" pitchFamily="34" charset="-122"/>
                <a:cs typeface="Consolas" pitchFamily="34" charset="-120"/>
              </a:rPr>
              <a:t>print(user["age"])    # 18</a:t>
            </a:r>
            <a:endParaRPr lang="en-US" sz="950" dirty="0"/>
          </a:p>
          <a:p>
            <a:pPr algn="l" indent="0" marL="0">
              <a:lnSpc>
                <a:spcPct val="133000"/>
              </a:lnSpc>
              <a:buNone/>
            </a:pPr>
            <a:r>
              <a:rPr lang="en-US" sz="950" dirty="0">
                <a:solidFill>
                  <a:srgbClr val="E36209"/>
                </a:solidFill>
                <a:highlight>
                  <a:srgbClr val="CB3434"/>
                </a:highlight>
                <a:latin typeface="Consolas" pitchFamily="34" charset="0"/>
                <a:ea typeface="Consolas" pitchFamily="34" charset="-122"/>
                <a:cs typeface="Consolas" pitchFamily="34" charset="-120"/>
              </a:rPr>
              <a:t>print(user["phone"])  # KeyError: 'phone' ← LỖI!</a:t>
            </a:r>
            <a:endParaRPr lang="en-US" sz="950" dirty="0"/>
          </a:p>
        </p:txBody>
      </p:sp>
      <p:sp>
        <p:nvSpPr>
          <p:cNvPr id="9" name="Text 7"/>
          <p:cNvSpPr/>
          <p:nvPr/>
        </p:nvSpPr>
        <p:spPr>
          <a:xfrm>
            <a:off x="530796" y="3089449"/>
            <a:ext cx="3855244"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Montserrat" pitchFamily="34" charset="0"/>
                <a:ea typeface="Montserrat" pitchFamily="34" charset="-122"/>
                <a:cs typeface="Montserrat" pitchFamily="34" charset="-120"/>
              </a:rPr>
              <a:t>Nhanh, gọn. Nhưng nếu Key không tồn tại → chương trình crash ngay lập tức với KeyError!</a:t>
            </a:r>
            <a:endParaRPr lang="en-US" sz="950" dirty="0"/>
          </a:p>
        </p:txBody>
      </p:sp>
      <p:sp>
        <p:nvSpPr>
          <p:cNvPr id="10" name="Text 8"/>
          <p:cNvSpPr/>
          <p:nvPr/>
        </p:nvSpPr>
        <p:spPr>
          <a:xfrm>
            <a:off x="4728046" y="1773213"/>
            <a:ext cx="2886075" cy="193849"/>
          </a:xfrm>
          <a:prstGeom prst="rect">
            <a:avLst/>
          </a:prstGeom>
          <a:noFill/>
          <a:ln/>
        </p:spPr>
        <p:txBody>
          <a:bodyPr wrap="none" lIns="0" tIns="0" rIns="0" bIns="0" rtlCol="0" anchor="t"/>
          <a:lstStyle/>
          <a:p>
            <a:pPr algn="l" indent="0" marL="0">
              <a:lnSpc>
                <a:spcPct val="104000"/>
              </a:lnSpc>
              <a:buNone/>
            </a:pPr>
            <a:r>
              <a:rPr lang="en-US" sz="1200" dirty="0">
                <a:solidFill>
                  <a:srgbClr val="BE2727"/>
                </a:solidFill>
                <a:latin typeface="Montserrat ExtraBold" pitchFamily="34" charset="0"/>
                <a:ea typeface="Montserrat ExtraBold" pitchFamily="34" charset="-122"/>
                <a:cs typeface="Montserrat ExtraBold" pitchFamily="34" charset="-120"/>
              </a:rPr>
              <a:t>Cách 2: Phương thức </a:t>
            </a:r>
            <a:pPr algn="l" indent="0" marL="0">
              <a:lnSpc>
                <a:spcPct val="104000"/>
              </a:lnSpc>
              <a:buNone/>
            </a:pPr>
            <a:r>
              <a:rPr lang="en-US" sz="1200" dirty="0">
                <a:solidFill>
                  <a:srgbClr val="000000"/>
                </a:solidFill>
                <a:highlight>
                  <a:srgbClr val="F2F2F2"/>
                </a:highlight>
                <a:latin typeface="Consolas" pitchFamily="34" charset="0"/>
                <a:ea typeface="Consolas" pitchFamily="34" charset="-122"/>
                <a:cs typeface="Consolas" pitchFamily="34" charset="-120"/>
              </a:rPr>
              <a:t>.get(key)</a:t>
            </a:r>
            <a:endParaRPr lang="en-US" sz="1200" dirty="0"/>
          </a:p>
        </p:txBody>
      </p:sp>
      <p:sp>
        <p:nvSpPr>
          <p:cNvPr id="11" name="Shape 9"/>
          <p:cNvSpPr/>
          <p:nvPr/>
        </p:nvSpPr>
        <p:spPr>
          <a:xfrm>
            <a:off x="4728046" y="2106588"/>
            <a:ext cx="3924598" cy="843335"/>
          </a:xfrm>
          <a:prstGeom prst="roundRect">
            <a:avLst>
              <a:gd name="adj" fmla="val 6178"/>
            </a:avLst>
          </a:prstGeom>
          <a:solidFill>
            <a:srgbClr val="F2F2F2"/>
          </a:solidFill>
          <a:ln/>
        </p:spPr>
      </p:sp>
      <p:sp>
        <p:nvSpPr>
          <p:cNvPr id="12" name="Shape 10"/>
          <p:cNvSpPr/>
          <p:nvPr/>
        </p:nvSpPr>
        <p:spPr>
          <a:xfrm>
            <a:off x="4721870" y="2106588"/>
            <a:ext cx="3936950" cy="843335"/>
          </a:xfrm>
          <a:prstGeom prst="roundRect">
            <a:avLst>
              <a:gd name="adj" fmla="val 2206"/>
            </a:avLst>
          </a:prstGeom>
          <a:solidFill>
            <a:srgbClr val="F2F2F2"/>
          </a:solidFill>
          <a:ln/>
        </p:spPr>
      </p:sp>
      <p:sp>
        <p:nvSpPr>
          <p:cNvPr id="13" name="Text 11"/>
          <p:cNvSpPr/>
          <p:nvPr/>
        </p:nvSpPr>
        <p:spPr>
          <a:xfrm>
            <a:off x="4876874" y="2230562"/>
            <a:ext cx="3626941"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print(user.get("name"))          # Nguyễn Văn A</a:t>
            </a:r>
            <a:endParaRPr lang="en-US" sz="950" dirty="0"/>
          </a:p>
          <a:p>
            <a:pPr algn="l" indent="0" marL="0">
              <a:lnSpc>
                <a:spcPct val="13300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print(user.get("phone"))         # None (không crash!)</a:t>
            </a:r>
            <a:endParaRPr lang="en-US" sz="950" dirty="0"/>
          </a:p>
          <a:p>
            <a:pPr algn="l" indent="0" marL="0">
              <a:lnSpc>
                <a:spcPct val="133000"/>
              </a:lnSpc>
              <a:buNone/>
            </a:pPr>
            <a:r>
              <a:rPr lang="en-US" sz="950" dirty="0">
                <a:solidFill>
                  <a:srgbClr val="E36209"/>
                </a:solidFill>
                <a:highlight>
                  <a:srgbClr val="F2F2F2"/>
                </a:highlight>
                <a:latin typeface="Consolas" pitchFamily="34" charset="0"/>
                <a:ea typeface="Consolas" pitchFamily="34" charset="-122"/>
                <a:cs typeface="Consolas" pitchFamily="34" charset="-120"/>
              </a:rPr>
              <a:t>print(user.get("phone", "N/A"))  # N/A (giá trị mặc định)</a:t>
            </a:r>
            <a:endParaRPr lang="en-US" sz="950" dirty="0"/>
          </a:p>
        </p:txBody>
      </p:sp>
      <p:sp>
        <p:nvSpPr>
          <p:cNvPr id="14" name="Text 12"/>
          <p:cNvSpPr/>
          <p:nvPr/>
        </p:nvSpPr>
        <p:spPr>
          <a:xfrm>
            <a:off x="4728046" y="3089449"/>
            <a:ext cx="392459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An toàn hơn. Nếu Key không tồn tại → trả về None hoặc giá trị mặc định tùy chọn, không crash.</a:t>
            </a:r>
            <a:endParaRPr lang="en-US" sz="950" dirty="0"/>
          </a:p>
        </p:txBody>
      </p:sp>
      <p:sp>
        <p:nvSpPr>
          <p:cNvPr id="15" name="Shape 13"/>
          <p:cNvSpPr/>
          <p:nvPr/>
        </p:nvSpPr>
        <p:spPr>
          <a:xfrm>
            <a:off x="496119" y="3737521"/>
            <a:ext cx="8151763" cy="730225"/>
          </a:xfrm>
          <a:prstGeom prst="roundRect">
            <a:avLst>
              <a:gd name="adj" fmla="val 7135"/>
            </a:avLst>
          </a:prstGeom>
          <a:solidFill>
            <a:srgbClr val="B6D6FC"/>
          </a:solidFill>
          <a:ln/>
        </p:spPr>
      </p:sp>
      <p:pic>
        <p:nvPicPr>
          <p:cNvPr id="16" name="Image 0" descr="preencoded.png">    </p:cNvPr>
          <p:cNvPicPr>
            <a:picLocks noChangeAspect="1"/>
          </p:cNvPicPr>
          <p:nvPr/>
        </p:nvPicPr>
        <p:blipFill>
          <a:blip r:embed="rId1"/>
          <a:stretch>
            <a:fillRect/>
          </a:stretch>
        </p:blipFill>
        <p:spPr>
          <a:xfrm>
            <a:off x="620092" y="3922068"/>
            <a:ext cx="155004" cy="123974"/>
          </a:xfrm>
          <a:prstGeom prst="rect">
            <a:avLst/>
          </a:prstGeom>
        </p:spPr>
      </p:pic>
      <p:sp>
        <p:nvSpPr>
          <p:cNvPr id="17" name="Text 14"/>
          <p:cNvSpPr/>
          <p:nvPr/>
        </p:nvSpPr>
        <p:spPr>
          <a:xfrm>
            <a:off x="899071" y="3892451"/>
            <a:ext cx="7624837"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Khuyến nghị: Trong thực tế, hãy ưu tiên dùng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.get()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khi không chắc Key có tồn tại hay không. Dùng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dict[key]</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khi bạn chắc chắn 100% Key đó có trong Dictionary.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373261"/>
            <a:ext cx="4690467"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Thêm &amp; Cập Nhật Dữ Liệu</a:t>
            </a:r>
            <a:endParaRPr lang="en-US" sz="2400" dirty="0"/>
          </a:p>
        </p:txBody>
      </p:sp>
      <p:sp>
        <p:nvSpPr>
          <p:cNvPr id="3" name="Text 1"/>
          <p:cNvSpPr/>
          <p:nvPr/>
        </p:nvSpPr>
        <p:spPr>
          <a:xfrm>
            <a:off x="496119" y="1008831"/>
            <a:ext cx="8608963"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Cú pháp dùng chung cho cả hai thao tác: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dict[key] = value</a:t>
            </a:r>
            <a:endParaRPr lang="en-US" sz="950" dirty="0"/>
          </a:p>
        </p:txBody>
      </p:sp>
      <p:sp>
        <p:nvSpPr>
          <p:cNvPr id="4" name="Shape 2"/>
          <p:cNvSpPr/>
          <p:nvPr/>
        </p:nvSpPr>
        <p:spPr>
          <a:xfrm>
            <a:off x="406822" y="1351583"/>
            <a:ext cx="4103191" cy="2548905"/>
          </a:xfrm>
          <a:prstGeom prst="roundRect">
            <a:avLst>
              <a:gd name="adj" fmla="val 3504"/>
            </a:avLst>
          </a:prstGeom>
          <a:solidFill>
            <a:srgbClr val="5B81B2"/>
          </a:solidFill>
          <a:ln/>
        </p:spPr>
      </p:sp>
      <p:sp>
        <p:nvSpPr>
          <p:cNvPr id="5" name="Text 3"/>
          <p:cNvSpPr/>
          <p:nvPr/>
        </p:nvSpPr>
        <p:spPr>
          <a:xfrm>
            <a:off x="530796" y="1475556"/>
            <a:ext cx="2737693"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Thêm cặp Key-Value mới</a:t>
            </a:r>
            <a:endParaRPr lang="en-US" sz="1200" dirty="0"/>
          </a:p>
        </p:txBody>
      </p:sp>
      <p:sp>
        <p:nvSpPr>
          <p:cNvPr id="6" name="Shape 4"/>
          <p:cNvSpPr/>
          <p:nvPr/>
        </p:nvSpPr>
        <p:spPr>
          <a:xfrm>
            <a:off x="530796" y="1813694"/>
            <a:ext cx="3855244" cy="1438721"/>
          </a:xfrm>
          <a:prstGeom prst="roundRect">
            <a:avLst>
              <a:gd name="adj" fmla="val 3621"/>
            </a:avLst>
          </a:prstGeom>
          <a:solidFill>
            <a:srgbClr val="688EBF"/>
          </a:solidFill>
          <a:ln/>
        </p:spPr>
      </p:sp>
      <p:sp>
        <p:nvSpPr>
          <p:cNvPr id="7" name="Shape 5"/>
          <p:cNvSpPr/>
          <p:nvPr/>
        </p:nvSpPr>
        <p:spPr>
          <a:xfrm>
            <a:off x="524619" y="1813694"/>
            <a:ext cx="3867596" cy="1438721"/>
          </a:xfrm>
          <a:prstGeom prst="roundRect">
            <a:avLst>
              <a:gd name="adj" fmla="val 1293"/>
            </a:avLst>
          </a:prstGeom>
          <a:solidFill>
            <a:srgbClr val="688EBF"/>
          </a:solidFill>
          <a:ln/>
        </p:spPr>
      </p:sp>
      <p:sp>
        <p:nvSpPr>
          <p:cNvPr id="8" name="Text 6"/>
          <p:cNvSpPr/>
          <p:nvPr/>
        </p:nvSpPr>
        <p:spPr>
          <a:xfrm>
            <a:off x="679624" y="1937668"/>
            <a:ext cx="3557588" cy="119077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D73A49"/>
                </a:solidFill>
                <a:highlight>
                  <a:srgbClr val="688EBF"/>
                </a:highlight>
                <a:latin typeface="Consolas" pitchFamily="34" charset="0"/>
                <a:ea typeface="Consolas" pitchFamily="34" charset="-122"/>
                <a:cs typeface="Consolas" pitchFamily="34" charset="-120"/>
              </a:rPr>
              <a:t>user["phone"] = "0912345678"</a:t>
            </a:r>
            <a:endParaRPr lang="en-US" sz="950" dirty="0"/>
          </a:p>
          <a:p>
            <a:pPr algn="l" indent="0" marL="0">
              <a:lnSpc>
                <a:spcPct val="133000"/>
              </a:lnSpc>
              <a:buNone/>
            </a:pPr>
            <a:r>
              <a:rPr lang="en-US" sz="950" dirty="0">
                <a:solidFill>
                  <a:srgbClr val="D73A49"/>
                </a:solidFill>
                <a:highlight>
                  <a:srgbClr val="688EBF"/>
                </a:highlight>
                <a:latin typeface="Consolas" pitchFamily="34" charset="0"/>
                <a:ea typeface="Consolas" pitchFamily="34" charset="-122"/>
                <a:cs typeface="Consolas" pitchFamily="34" charset="-120"/>
              </a:rPr>
              <a:t>user["city"] = "Hà Nội"</a:t>
            </a:r>
            <a:endParaRPr lang="en-US" sz="950" dirty="0"/>
          </a:p>
          <a:p>
            <a:pPr algn="l" indent="0" marL="0">
              <a:lnSpc>
                <a:spcPct val="133000"/>
              </a:lnSpc>
              <a:buNone/>
            </a:pPr>
            <a:r>
              <a:rPr lang="en-US" sz="950" dirty="0">
                <a:solidFill>
                  <a:srgbClr val="D73A49"/>
                </a:solidFill>
                <a:highlight>
                  <a:srgbClr val="688EBF"/>
                </a:highlight>
                <a:latin typeface="Consolas" pitchFamily="34" charset="0"/>
                <a:ea typeface="Consolas" pitchFamily="34" charset="-122"/>
                <a:cs typeface="Consolas" pitchFamily="34" charset="-120"/>
              </a:rPr>
              <a:t>print(user)</a:t>
            </a:r>
            <a:endParaRPr lang="en-US" sz="950" dirty="0"/>
          </a:p>
          <a:p>
            <a:pPr algn="l" indent="0" marL="0">
              <a:lnSpc>
                <a:spcPct val="133000"/>
              </a:lnSpc>
              <a:buNone/>
            </a:pPr>
            <a:r>
              <a:rPr lang="en-US" sz="950" dirty="0">
                <a:solidFill>
                  <a:srgbClr val="D73A49"/>
                </a:solidFill>
                <a:highlight>
                  <a:srgbClr val="688EBF"/>
                </a:highlight>
                <a:latin typeface="Consolas" pitchFamily="34" charset="0"/>
                <a:ea typeface="Consolas" pitchFamily="34" charset="-122"/>
                <a:cs typeface="Consolas" pitchFamily="34" charset="-120"/>
              </a:rPr>
              <a:t># {'name': 'Nguyễn Văn A', 'age': 18,</a:t>
            </a:r>
            <a:endParaRPr lang="en-US" sz="950" dirty="0"/>
          </a:p>
          <a:p>
            <a:pPr algn="l" indent="0" marL="0">
              <a:lnSpc>
                <a:spcPct val="133000"/>
              </a:lnSpc>
              <a:buNone/>
            </a:pPr>
            <a:r>
              <a:rPr lang="en-US" sz="950" dirty="0">
                <a:solidFill>
                  <a:srgbClr val="D73A49"/>
                </a:solidFill>
                <a:highlight>
                  <a:srgbClr val="688EBF"/>
                </a:highlight>
                <a:latin typeface="Consolas" pitchFamily="34" charset="0"/>
                <a:ea typeface="Consolas" pitchFamily="34" charset="-122"/>
                <a:cs typeface="Consolas" pitchFamily="34" charset="-120"/>
              </a:rPr>
              <a:t>#  'gpa': 3.5, 'phone': '0912345678',</a:t>
            </a:r>
            <a:endParaRPr lang="en-US" sz="950" dirty="0"/>
          </a:p>
          <a:p>
            <a:pPr algn="l" indent="0" marL="0">
              <a:lnSpc>
                <a:spcPct val="133000"/>
              </a:lnSpc>
              <a:buNone/>
            </a:pPr>
            <a:r>
              <a:rPr lang="en-US" sz="950" dirty="0">
                <a:solidFill>
                  <a:srgbClr val="D73A49"/>
                </a:solidFill>
                <a:highlight>
                  <a:srgbClr val="688EBF"/>
                </a:highlight>
                <a:latin typeface="Consolas" pitchFamily="34" charset="0"/>
                <a:ea typeface="Consolas" pitchFamily="34" charset="-122"/>
                <a:cs typeface="Consolas" pitchFamily="34" charset="-120"/>
              </a:rPr>
              <a:t>#  'city': 'Hà Nội'}</a:t>
            </a:r>
            <a:endParaRPr lang="en-US" sz="950" dirty="0"/>
          </a:p>
        </p:txBody>
      </p:sp>
      <p:sp>
        <p:nvSpPr>
          <p:cNvPr id="9" name="Text 7"/>
          <p:cNvSpPr/>
          <p:nvPr/>
        </p:nvSpPr>
        <p:spPr>
          <a:xfrm>
            <a:off x="530796" y="3391942"/>
            <a:ext cx="3855244"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Nếu Key chưa tồn tại → Python tự động tạo cặp Key-Value mới và thêm vào cuối Dictionary.</a:t>
            </a:r>
            <a:endParaRPr lang="en-US" sz="950" dirty="0"/>
          </a:p>
        </p:txBody>
      </p:sp>
      <p:sp>
        <p:nvSpPr>
          <p:cNvPr id="10" name="Text 8"/>
          <p:cNvSpPr/>
          <p:nvPr/>
        </p:nvSpPr>
        <p:spPr>
          <a:xfrm>
            <a:off x="4728046" y="1475556"/>
            <a:ext cx="322190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pPr algn="l" indent="0" marL="0">
              <a:lnSpc>
                <a:spcPct val="104000"/>
              </a:lnSpc>
              <a:buNone/>
            </a:pPr>
            <a:r>
              <a:rPr lang="en-US" sz="1200" dirty="0">
                <a:solidFill>
                  <a:srgbClr val="BE2727"/>
                </a:solidFill>
                <a:latin typeface="Montserrat ExtraBold" pitchFamily="34" charset="0"/>
                <a:ea typeface="Montserrat ExtraBold" pitchFamily="34" charset="-122"/>
                <a:cs typeface="Montserrat ExtraBold" pitchFamily="34" charset="-120"/>
              </a:rPr>
              <a:t> Cập nhật Value của Key có sẵn</a:t>
            </a:r>
            <a:endParaRPr lang="en-US" sz="1200" dirty="0"/>
          </a:p>
        </p:txBody>
      </p:sp>
      <p:sp>
        <p:nvSpPr>
          <p:cNvPr id="11" name="Shape 9"/>
          <p:cNvSpPr/>
          <p:nvPr/>
        </p:nvSpPr>
        <p:spPr>
          <a:xfrm>
            <a:off x="4728046" y="1813694"/>
            <a:ext cx="3924598" cy="1041797"/>
          </a:xfrm>
          <a:prstGeom prst="roundRect">
            <a:avLst>
              <a:gd name="adj" fmla="val 5001"/>
            </a:avLst>
          </a:prstGeom>
          <a:solidFill>
            <a:srgbClr val="F2F2F2"/>
          </a:solidFill>
          <a:ln/>
        </p:spPr>
      </p:sp>
      <p:sp>
        <p:nvSpPr>
          <p:cNvPr id="12" name="Shape 10"/>
          <p:cNvSpPr/>
          <p:nvPr/>
        </p:nvSpPr>
        <p:spPr>
          <a:xfrm>
            <a:off x="4721870" y="1813694"/>
            <a:ext cx="3936950" cy="1041797"/>
          </a:xfrm>
          <a:prstGeom prst="roundRect">
            <a:avLst>
              <a:gd name="adj" fmla="val 1786"/>
            </a:avLst>
          </a:prstGeom>
          <a:solidFill>
            <a:srgbClr val="F2F2F2"/>
          </a:solidFill>
          <a:ln/>
        </p:spPr>
      </p:sp>
      <p:sp>
        <p:nvSpPr>
          <p:cNvPr id="13" name="Text 11"/>
          <p:cNvSpPr/>
          <p:nvPr/>
        </p:nvSpPr>
        <p:spPr>
          <a:xfrm>
            <a:off x="4876874" y="1937668"/>
            <a:ext cx="3626941"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user["age"] = 19</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user["gpa"] = 3.8</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print(user["age"])  # 19</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print(user["gpa"])  # 3.8</a:t>
            </a:r>
            <a:endParaRPr lang="en-US" sz="950" dirty="0"/>
          </a:p>
        </p:txBody>
      </p:sp>
      <p:sp>
        <p:nvSpPr>
          <p:cNvPr id="14" name="Text 12"/>
          <p:cNvSpPr/>
          <p:nvPr/>
        </p:nvSpPr>
        <p:spPr>
          <a:xfrm>
            <a:off x="4728046" y="2995017"/>
            <a:ext cx="392459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Nếu Key đã tồn tại → Python ghi đè Value cũ bằng Value mới. Dữ liệu cũ bị mất hoàn toàn!</a:t>
            </a:r>
            <a:endParaRPr lang="en-US" sz="950" dirty="0"/>
          </a:p>
        </p:txBody>
      </p:sp>
      <p:sp>
        <p:nvSpPr>
          <p:cNvPr id="15" name="Shape 13"/>
          <p:cNvSpPr/>
          <p:nvPr/>
        </p:nvSpPr>
        <p:spPr>
          <a:xfrm>
            <a:off x="496119" y="4040014"/>
            <a:ext cx="8151763" cy="730225"/>
          </a:xfrm>
          <a:prstGeom prst="roundRect">
            <a:avLst>
              <a:gd name="adj" fmla="val 7135"/>
            </a:avLst>
          </a:prstGeom>
          <a:solidFill>
            <a:srgbClr val="FCF2B5"/>
          </a:solidFill>
          <a:ln/>
        </p:spPr>
      </p:sp>
      <p:pic>
        <p:nvPicPr>
          <p:cNvPr id="16" name="Image 0" descr="preencoded.png">    </p:cNvPr>
          <p:cNvPicPr>
            <a:picLocks noChangeAspect="1"/>
          </p:cNvPicPr>
          <p:nvPr/>
        </p:nvPicPr>
        <p:blipFill>
          <a:blip r:embed="rId1"/>
          <a:stretch>
            <a:fillRect/>
          </a:stretch>
        </p:blipFill>
        <p:spPr>
          <a:xfrm>
            <a:off x="620092" y="4224561"/>
            <a:ext cx="155004" cy="123974"/>
          </a:xfrm>
          <a:prstGeom prst="rect">
            <a:avLst/>
          </a:prstGeom>
        </p:spPr>
      </p:pic>
      <p:sp>
        <p:nvSpPr>
          <p:cNvPr id="17" name="Text 14"/>
          <p:cNvSpPr/>
          <p:nvPr/>
        </p:nvSpPr>
        <p:spPr>
          <a:xfrm>
            <a:off x="899071" y="4194944"/>
            <a:ext cx="7624837" cy="4016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Python không phân biệt 'thêm mới' và 'cập nhật' — cùng một cú pháp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dict[key] = value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Hãy cẩn thận khi gán giá trị để tránh vô tình ghi đè dữ liệu quan trọng!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96119" y="1074167"/>
            <a:ext cx="3558332"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Xóa Dữ Liệu</a:t>
            </a:r>
            <a:endParaRPr lang="en-US" sz="2400" dirty="0"/>
          </a:p>
        </p:txBody>
      </p:sp>
      <p:sp>
        <p:nvSpPr>
          <p:cNvPr id="3" name="Shape 1"/>
          <p:cNvSpPr/>
          <p:nvPr/>
        </p:nvSpPr>
        <p:spPr>
          <a:xfrm>
            <a:off x="406822" y="1647751"/>
            <a:ext cx="4103191" cy="1750293"/>
          </a:xfrm>
          <a:prstGeom prst="roundRect">
            <a:avLst>
              <a:gd name="adj" fmla="val 5103"/>
            </a:avLst>
          </a:prstGeom>
          <a:solidFill>
            <a:srgbClr val="5B81B2"/>
          </a:solidFill>
          <a:ln/>
        </p:spPr>
      </p:sp>
      <p:sp>
        <p:nvSpPr>
          <p:cNvPr id="4" name="Text 2"/>
          <p:cNvSpPr/>
          <p:nvPr/>
        </p:nvSpPr>
        <p:spPr>
          <a:xfrm>
            <a:off x="530796" y="1771724"/>
            <a:ext cx="2292548"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Phương thức </a:t>
            </a:r>
            <a:pPr algn="l" indent="0" marL="0">
              <a:lnSpc>
                <a:spcPct val="104000"/>
              </a:lnSpc>
              <a:buNone/>
            </a:pPr>
            <a:r>
              <a:rPr lang="en-US" sz="1200" dirty="0">
                <a:solidFill>
                  <a:srgbClr val="000000"/>
                </a:solidFill>
                <a:highlight>
                  <a:srgbClr val="688EBF"/>
                </a:highlight>
                <a:latin typeface="Consolas" pitchFamily="34" charset="0"/>
                <a:ea typeface="Consolas" pitchFamily="34" charset="-122"/>
                <a:cs typeface="Consolas" pitchFamily="34" charset="-120"/>
              </a:rPr>
              <a:t>.pop(key)</a:t>
            </a:r>
            <a:endParaRPr lang="en-US" sz="1200" dirty="0"/>
          </a:p>
        </p:txBody>
      </p:sp>
      <p:sp>
        <p:nvSpPr>
          <p:cNvPr id="5" name="Shape 3"/>
          <p:cNvSpPr/>
          <p:nvPr/>
        </p:nvSpPr>
        <p:spPr>
          <a:xfrm>
            <a:off x="530796" y="2105099"/>
            <a:ext cx="3855244" cy="843335"/>
          </a:xfrm>
          <a:prstGeom prst="roundRect">
            <a:avLst>
              <a:gd name="adj" fmla="val 6178"/>
            </a:avLst>
          </a:prstGeom>
          <a:solidFill>
            <a:srgbClr val="688EBF"/>
          </a:solidFill>
          <a:ln/>
        </p:spPr>
      </p:sp>
      <p:sp>
        <p:nvSpPr>
          <p:cNvPr id="6" name="Shape 4"/>
          <p:cNvSpPr/>
          <p:nvPr/>
        </p:nvSpPr>
        <p:spPr>
          <a:xfrm>
            <a:off x="524619" y="2105099"/>
            <a:ext cx="3867596" cy="843335"/>
          </a:xfrm>
          <a:prstGeom prst="roundRect">
            <a:avLst>
              <a:gd name="adj" fmla="val 2206"/>
            </a:avLst>
          </a:prstGeom>
          <a:solidFill>
            <a:srgbClr val="688EBF"/>
          </a:solidFill>
          <a:ln/>
        </p:spPr>
      </p:sp>
      <p:sp>
        <p:nvSpPr>
          <p:cNvPr id="7" name="Text 5"/>
          <p:cNvSpPr/>
          <p:nvPr/>
        </p:nvSpPr>
        <p:spPr>
          <a:xfrm>
            <a:off x="679624" y="2229073"/>
            <a:ext cx="3557588"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deleted_age = user.pop("age")</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print(f"Đã xóa, tuổi vừa xóa: {deleted_age}")</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Kết quả: Đã xóa, tuổi vừa xóa: 19</a:t>
            </a:r>
            <a:endParaRPr lang="en-US" sz="950" dirty="0"/>
          </a:p>
        </p:txBody>
      </p:sp>
      <p:sp>
        <p:nvSpPr>
          <p:cNvPr id="8" name="Text 6"/>
          <p:cNvSpPr/>
          <p:nvPr/>
        </p:nvSpPr>
        <p:spPr>
          <a:xfrm>
            <a:off x="530796" y="3087960"/>
            <a:ext cx="4312444"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Xóa cặp Key-Value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và trả lại Value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để tái sử dụng nếu cần.</a:t>
            </a:r>
            <a:endParaRPr lang="en-US" sz="950" dirty="0"/>
          </a:p>
        </p:txBody>
      </p:sp>
      <p:sp>
        <p:nvSpPr>
          <p:cNvPr id="9" name="Text 7"/>
          <p:cNvSpPr/>
          <p:nvPr/>
        </p:nvSpPr>
        <p:spPr>
          <a:xfrm>
            <a:off x="4728046" y="1771724"/>
            <a:ext cx="2114848" cy="193849"/>
          </a:xfrm>
          <a:prstGeom prst="rect">
            <a:avLst/>
          </a:prstGeom>
          <a:noFill/>
          <a:ln/>
        </p:spPr>
        <p:txBody>
          <a:bodyPr wrap="none" lIns="0" tIns="0" rIns="0" bIns="0" rtlCol="0" anchor="t"/>
          <a:lstStyle/>
          <a:p>
            <a:pPr algn="l" indent="0" marL="0">
              <a:lnSpc>
                <a:spcPct val="104000"/>
              </a:lnSpc>
              <a:buNone/>
            </a:pPr>
            <a:r>
              <a:rPr lang="en-US" sz="1200" dirty="0">
                <a:solidFill>
                  <a:srgbClr val="BE2727"/>
                </a:solidFill>
                <a:latin typeface="Montserrat ExtraBold" pitchFamily="34" charset="0"/>
                <a:ea typeface="Montserrat ExtraBold" pitchFamily="34" charset="-122"/>
                <a:cs typeface="Montserrat ExtraBold" pitchFamily="34" charset="-120"/>
              </a:rPr>
              <a:t>Từ khóa </a:t>
            </a:r>
            <a:pPr algn="l" indent="0" marL="0">
              <a:lnSpc>
                <a:spcPct val="104000"/>
              </a:lnSpc>
              <a:buNone/>
            </a:pPr>
            <a:r>
              <a:rPr lang="en-US" sz="1200" dirty="0">
                <a:solidFill>
                  <a:srgbClr val="000000"/>
                </a:solidFill>
                <a:highlight>
                  <a:srgbClr val="F2F2F2"/>
                </a:highlight>
                <a:latin typeface="Consolas" pitchFamily="34" charset="0"/>
                <a:ea typeface="Consolas" pitchFamily="34" charset="-122"/>
                <a:cs typeface="Consolas" pitchFamily="34" charset="-120"/>
              </a:rPr>
              <a:t>del dict[key]</a:t>
            </a:r>
            <a:endParaRPr lang="en-US" sz="1200" dirty="0"/>
          </a:p>
        </p:txBody>
      </p:sp>
      <p:sp>
        <p:nvSpPr>
          <p:cNvPr id="10" name="Shape 8"/>
          <p:cNvSpPr/>
          <p:nvPr/>
        </p:nvSpPr>
        <p:spPr>
          <a:xfrm>
            <a:off x="4728046" y="2105099"/>
            <a:ext cx="3924598" cy="843335"/>
          </a:xfrm>
          <a:prstGeom prst="roundRect">
            <a:avLst>
              <a:gd name="adj" fmla="val 6178"/>
            </a:avLst>
          </a:prstGeom>
          <a:solidFill>
            <a:srgbClr val="F2F2F2"/>
          </a:solidFill>
          <a:ln/>
        </p:spPr>
      </p:sp>
      <p:sp>
        <p:nvSpPr>
          <p:cNvPr id="11" name="Shape 9"/>
          <p:cNvSpPr/>
          <p:nvPr/>
        </p:nvSpPr>
        <p:spPr>
          <a:xfrm>
            <a:off x="4721870" y="2105099"/>
            <a:ext cx="3936950" cy="843335"/>
          </a:xfrm>
          <a:prstGeom prst="roundRect">
            <a:avLst>
              <a:gd name="adj" fmla="val 2206"/>
            </a:avLst>
          </a:prstGeom>
          <a:solidFill>
            <a:srgbClr val="F2F2F2"/>
          </a:solidFill>
          <a:ln/>
        </p:spPr>
      </p:sp>
      <p:sp>
        <p:nvSpPr>
          <p:cNvPr id="12" name="Text 10"/>
          <p:cNvSpPr/>
          <p:nvPr/>
        </p:nvSpPr>
        <p:spPr>
          <a:xfrm>
            <a:off x="4876874" y="2229073"/>
            <a:ext cx="3626941"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del user["is_married"]</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print(user)</a:t>
            </a:r>
            <a:endParaRPr lang="en-US" sz="950" dirty="0"/>
          </a:p>
          <a:p>
            <a:pPr algn="l" indent="0" marL="0">
              <a:lnSpc>
                <a:spcPct val="133000"/>
              </a:lnSpc>
              <a:buNone/>
            </a:pPr>
            <a:r>
              <a:rPr lang="en-US" sz="950" dirty="0">
                <a:solidFill>
                  <a:srgbClr val="000000"/>
                </a:solidFill>
                <a:latin typeface="Consolas" pitchFamily="34" charset="0"/>
                <a:ea typeface="Consolas" pitchFamily="34" charset="-122"/>
                <a:cs typeface="Consolas" pitchFamily="34" charset="-120"/>
              </a:rPr>
              <a:t># Chỉ còn "name" và "gpa"</a:t>
            </a:r>
            <a:endParaRPr lang="en-US" sz="950" dirty="0"/>
          </a:p>
        </p:txBody>
      </p:sp>
      <p:sp>
        <p:nvSpPr>
          <p:cNvPr id="13" name="Text 11"/>
          <p:cNvSpPr/>
          <p:nvPr/>
        </p:nvSpPr>
        <p:spPr>
          <a:xfrm>
            <a:off x="4728046" y="3087960"/>
            <a:ext cx="4381798"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Xóa thẳng,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không trả lại</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giá trị — xóa vĩnh viễn khỏi bộ nhớ.</a:t>
            </a:r>
            <a:endParaRPr lang="en-US" sz="950" dirty="0"/>
          </a:p>
        </p:txBody>
      </p:sp>
      <p:sp>
        <p:nvSpPr>
          <p:cNvPr id="14" name="Shape 12"/>
          <p:cNvSpPr/>
          <p:nvPr/>
        </p:nvSpPr>
        <p:spPr>
          <a:xfrm>
            <a:off x="496119" y="3537570"/>
            <a:ext cx="8151763" cy="531763"/>
          </a:xfrm>
          <a:prstGeom prst="roundRect">
            <a:avLst>
              <a:gd name="adj" fmla="val 9798"/>
            </a:avLst>
          </a:prstGeom>
          <a:solidFill>
            <a:srgbClr val="F2C0C0"/>
          </a:solidFill>
          <a:ln/>
        </p:spPr>
      </p:sp>
      <p:pic>
        <p:nvPicPr>
          <p:cNvPr id="15" name="Image 0" descr="preencoded.png">    </p:cNvPr>
          <p:cNvPicPr>
            <a:picLocks noChangeAspect="1"/>
          </p:cNvPicPr>
          <p:nvPr/>
        </p:nvPicPr>
        <p:blipFill>
          <a:blip r:embed="rId1"/>
          <a:stretch>
            <a:fillRect/>
          </a:stretch>
        </p:blipFill>
        <p:spPr>
          <a:xfrm>
            <a:off x="620092" y="3722117"/>
            <a:ext cx="155004" cy="123974"/>
          </a:xfrm>
          <a:prstGeom prst="rect">
            <a:avLst/>
          </a:prstGeom>
        </p:spPr>
      </p:pic>
      <p:sp>
        <p:nvSpPr>
          <p:cNvPr id="16" name="Text 13"/>
          <p:cNvSpPr/>
          <p:nvPr/>
        </p:nvSpPr>
        <p:spPr>
          <a:xfrm>
            <a:off x="899071" y="3692500"/>
            <a:ext cx="8082037"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Chọn cái nào?</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Dùng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.pop()</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khi cần giữ lại giá trị sau khi xóa. Dùng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del</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khi muốn xóa sạch, không cần giá trị đó nữa.</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973782"/>
            <a:ext cx="6038924" cy="397073"/>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Duyệt Dictionary với Vòng Lặp </a:t>
            </a:r>
            <a:pPr algn="l" indent="0" marL="0">
              <a:lnSpc>
                <a:spcPct val="104000"/>
              </a:lnSpc>
              <a:buNone/>
            </a:pPr>
            <a:r>
              <a:rPr lang="en-US" sz="2400" dirty="0">
                <a:solidFill>
                  <a:srgbClr val="000000"/>
                </a:solidFill>
                <a:highlight>
                  <a:srgbClr val="F2F2F2"/>
                </a:highlight>
                <a:latin typeface="Consolas" pitchFamily="34" charset="0"/>
                <a:ea typeface="Consolas" pitchFamily="34" charset="-122"/>
                <a:cs typeface="Consolas" pitchFamily="34" charset="-120"/>
              </a:rPr>
              <a:t>for</a:t>
            </a:r>
            <a:endParaRPr lang="en-US" sz="2400" dirty="0"/>
          </a:p>
        </p:txBody>
      </p:sp>
      <p:sp>
        <p:nvSpPr>
          <p:cNvPr id="3" name="Shape 1"/>
          <p:cNvSpPr/>
          <p:nvPr/>
        </p:nvSpPr>
        <p:spPr>
          <a:xfrm>
            <a:off x="496119" y="1804913"/>
            <a:ext cx="2634555" cy="2364730"/>
          </a:xfrm>
          <a:prstGeom prst="roundRect">
            <a:avLst>
              <a:gd name="adj" fmla="val 2900"/>
            </a:avLst>
          </a:prstGeom>
          <a:solidFill>
            <a:srgbClr val="FFFFFF"/>
          </a:solidFill>
          <a:ln w="14288">
            <a:solidFill>
              <a:srgbClr val="DCBBBB"/>
            </a:solidFill>
            <a:prstDash val="solid"/>
          </a:ln>
        </p:spPr>
      </p:sp>
      <p:sp>
        <p:nvSpPr>
          <p:cNvPr id="4" name="Shape 2"/>
          <p:cNvSpPr/>
          <p:nvPr/>
        </p:nvSpPr>
        <p:spPr>
          <a:xfrm>
            <a:off x="496119" y="1790626"/>
            <a:ext cx="2634555" cy="57150"/>
          </a:xfrm>
          <a:prstGeom prst="roundRect">
            <a:avLst>
              <a:gd name="adj" fmla="val 91163"/>
            </a:avLst>
          </a:prstGeom>
          <a:solidFill>
            <a:srgbClr val="BE2727"/>
          </a:solidFill>
          <a:ln/>
        </p:spPr>
      </p:sp>
      <p:sp>
        <p:nvSpPr>
          <p:cNvPr id="5" name="Shape 3"/>
          <p:cNvSpPr/>
          <p:nvPr/>
        </p:nvSpPr>
        <p:spPr>
          <a:xfrm>
            <a:off x="1627361" y="1618878"/>
            <a:ext cx="372070" cy="372070"/>
          </a:xfrm>
          <a:prstGeom prst="roundRect">
            <a:avLst>
              <a:gd name="adj" fmla="val 153600"/>
            </a:avLst>
          </a:prstGeom>
          <a:solidFill>
            <a:srgbClr val="BE2727"/>
          </a:solidFill>
          <a:ln/>
        </p:spPr>
      </p:sp>
      <p:sp>
        <p:nvSpPr>
          <p:cNvPr id="6" name="Text 4"/>
          <p:cNvSpPr/>
          <p:nvPr/>
        </p:nvSpPr>
        <p:spPr>
          <a:xfrm>
            <a:off x="1738982" y="1711896"/>
            <a:ext cx="148828" cy="186035"/>
          </a:xfrm>
          <a:prstGeom prst="rect">
            <a:avLst/>
          </a:prstGeom>
          <a:noFill/>
          <a:ln/>
        </p:spPr>
        <p:txBody>
          <a:bodyPr wrap="none" lIns="0" tIns="0" rIns="0" bIns="0" rtlCol="0" anchor="ctr"/>
          <a:lstStyle/>
          <a:p>
            <a:pPr algn="ctr" indent="0" marL="0">
              <a:lnSpc>
                <a:spcPct val="100000"/>
              </a:lnSpc>
              <a:buNone/>
            </a:pPr>
            <a:r>
              <a:rPr lang="en-US" sz="1150" dirty="0">
                <a:solidFill>
                  <a:srgbClr val="FFFFFF"/>
                </a:solidFill>
                <a:latin typeface="Montserrat ExtraBold" pitchFamily="34" charset="0"/>
                <a:ea typeface="Montserrat ExtraBold" pitchFamily="34" charset="-122"/>
                <a:cs typeface="Montserrat ExtraBold" pitchFamily="34" charset="-120"/>
              </a:rPr>
              <a:t>1</a:t>
            </a:r>
            <a:endParaRPr lang="en-US" sz="1150" dirty="0"/>
          </a:p>
        </p:txBody>
      </p:sp>
      <p:sp>
        <p:nvSpPr>
          <p:cNvPr id="7" name="Text 5"/>
          <p:cNvSpPr/>
          <p:nvPr/>
        </p:nvSpPr>
        <p:spPr>
          <a:xfrm>
            <a:off x="634380" y="2114996"/>
            <a:ext cx="1740768"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Chỉ lấy Keys — </a:t>
            </a:r>
            <a:pPr algn="l" indent="0" marL="0">
              <a:lnSpc>
                <a:spcPct val="104000"/>
              </a:lnSpc>
              <a:buNone/>
            </a:pPr>
            <a:r>
              <a:rPr lang="en-US" sz="1200" dirty="0">
                <a:solidFill>
                  <a:srgbClr val="000000"/>
                </a:solidFill>
                <a:highlight>
                  <a:srgbClr val="F2F2F2"/>
                </a:highlight>
                <a:latin typeface="Consolas" pitchFamily="34" charset="0"/>
                <a:ea typeface="Consolas" pitchFamily="34" charset="-122"/>
                <a:cs typeface="Consolas" pitchFamily="34" charset="-120"/>
              </a:rPr>
              <a:t>.keys()</a:t>
            </a:r>
            <a:endParaRPr lang="en-US" sz="1200" dirty="0"/>
          </a:p>
        </p:txBody>
      </p:sp>
      <p:sp>
        <p:nvSpPr>
          <p:cNvPr id="8" name="Shape 6"/>
          <p:cNvSpPr/>
          <p:nvPr/>
        </p:nvSpPr>
        <p:spPr>
          <a:xfrm>
            <a:off x="634380" y="2448371"/>
            <a:ext cx="2358033" cy="644872"/>
          </a:xfrm>
          <a:prstGeom prst="roundRect">
            <a:avLst>
              <a:gd name="adj" fmla="val 8079"/>
            </a:avLst>
          </a:prstGeom>
          <a:solidFill>
            <a:srgbClr val="F2F2F2"/>
          </a:solidFill>
          <a:ln/>
        </p:spPr>
      </p:sp>
      <p:sp>
        <p:nvSpPr>
          <p:cNvPr id="9" name="Shape 7"/>
          <p:cNvSpPr/>
          <p:nvPr/>
        </p:nvSpPr>
        <p:spPr>
          <a:xfrm>
            <a:off x="628204" y="2448371"/>
            <a:ext cx="2370386" cy="644872"/>
          </a:xfrm>
          <a:prstGeom prst="roundRect">
            <a:avLst>
              <a:gd name="adj" fmla="val 2885"/>
            </a:avLst>
          </a:prstGeom>
          <a:solidFill>
            <a:srgbClr val="F2F2F2"/>
          </a:solidFill>
          <a:ln/>
        </p:spPr>
      </p:sp>
      <p:sp>
        <p:nvSpPr>
          <p:cNvPr id="10" name="Text 8"/>
          <p:cNvSpPr/>
          <p:nvPr/>
        </p:nvSpPr>
        <p:spPr>
          <a:xfrm>
            <a:off x="783208" y="2572345"/>
            <a:ext cx="206037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for key in user.keys():</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print(f"Thuộc tính: {key}")</a:t>
            </a:r>
            <a:endParaRPr lang="en-US" sz="950" dirty="0"/>
          </a:p>
        </p:txBody>
      </p:sp>
      <p:sp>
        <p:nvSpPr>
          <p:cNvPr id="11" name="Text 9"/>
          <p:cNvSpPr/>
          <p:nvPr/>
        </p:nvSpPr>
        <p:spPr>
          <a:xfrm>
            <a:off x="634380" y="3232770"/>
            <a:ext cx="2358033"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In ra: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name</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gpa</a:t>
            </a:r>
            <a:endParaRPr lang="en-US" sz="950" dirty="0"/>
          </a:p>
        </p:txBody>
      </p:sp>
      <p:sp>
        <p:nvSpPr>
          <p:cNvPr id="12" name="Shape 10"/>
          <p:cNvSpPr/>
          <p:nvPr/>
        </p:nvSpPr>
        <p:spPr>
          <a:xfrm>
            <a:off x="3254648" y="1804913"/>
            <a:ext cx="2634630" cy="2364730"/>
          </a:xfrm>
          <a:prstGeom prst="roundRect">
            <a:avLst>
              <a:gd name="adj" fmla="val 2900"/>
            </a:avLst>
          </a:prstGeom>
          <a:solidFill>
            <a:srgbClr val="FFFFFF"/>
          </a:solidFill>
          <a:ln w="14288">
            <a:solidFill>
              <a:srgbClr val="DCBBBB"/>
            </a:solidFill>
            <a:prstDash val="solid"/>
          </a:ln>
        </p:spPr>
      </p:sp>
      <p:sp>
        <p:nvSpPr>
          <p:cNvPr id="13" name="Shape 11"/>
          <p:cNvSpPr/>
          <p:nvPr/>
        </p:nvSpPr>
        <p:spPr>
          <a:xfrm>
            <a:off x="3254648" y="1790626"/>
            <a:ext cx="2634630" cy="57150"/>
          </a:xfrm>
          <a:prstGeom prst="roundRect">
            <a:avLst>
              <a:gd name="adj" fmla="val 91163"/>
            </a:avLst>
          </a:prstGeom>
          <a:solidFill>
            <a:srgbClr val="BE2727"/>
          </a:solidFill>
          <a:ln/>
        </p:spPr>
      </p:sp>
      <p:sp>
        <p:nvSpPr>
          <p:cNvPr id="14" name="Shape 12"/>
          <p:cNvSpPr/>
          <p:nvPr/>
        </p:nvSpPr>
        <p:spPr>
          <a:xfrm>
            <a:off x="4385890" y="1618878"/>
            <a:ext cx="372070" cy="372070"/>
          </a:xfrm>
          <a:prstGeom prst="roundRect">
            <a:avLst>
              <a:gd name="adj" fmla="val 153600"/>
            </a:avLst>
          </a:prstGeom>
          <a:solidFill>
            <a:srgbClr val="BE2727"/>
          </a:solidFill>
          <a:ln/>
        </p:spPr>
      </p:sp>
      <p:sp>
        <p:nvSpPr>
          <p:cNvPr id="15" name="Text 13"/>
          <p:cNvSpPr/>
          <p:nvPr/>
        </p:nvSpPr>
        <p:spPr>
          <a:xfrm>
            <a:off x="4497512" y="1711896"/>
            <a:ext cx="148828" cy="186035"/>
          </a:xfrm>
          <a:prstGeom prst="rect">
            <a:avLst/>
          </a:prstGeom>
          <a:noFill/>
          <a:ln/>
        </p:spPr>
        <p:txBody>
          <a:bodyPr wrap="none" lIns="0" tIns="0" rIns="0" bIns="0" rtlCol="0" anchor="ctr"/>
          <a:lstStyle/>
          <a:p>
            <a:pPr algn="ctr" indent="0" marL="0">
              <a:lnSpc>
                <a:spcPct val="100000"/>
              </a:lnSpc>
              <a:buNone/>
            </a:pPr>
            <a:r>
              <a:rPr lang="en-US" sz="1150" dirty="0">
                <a:solidFill>
                  <a:srgbClr val="FFFFFF"/>
                </a:solidFill>
                <a:latin typeface="Montserrat ExtraBold" pitchFamily="34" charset="0"/>
                <a:ea typeface="Montserrat ExtraBold" pitchFamily="34" charset="-122"/>
                <a:cs typeface="Montserrat ExtraBold" pitchFamily="34" charset="-120"/>
              </a:rPr>
              <a:t>2</a:t>
            </a:r>
            <a:endParaRPr lang="en-US" sz="1150" dirty="0"/>
          </a:p>
        </p:txBody>
      </p:sp>
      <p:sp>
        <p:nvSpPr>
          <p:cNvPr id="16" name="Text 14"/>
          <p:cNvSpPr/>
          <p:nvPr/>
        </p:nvSpPr>
        <p:spPr>
          <a:xfrm>
            <a:off x="3392909" y="2114996"/>
            <a:ext cx="2042740" cy="193849"/>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Chỉ lấy Values — </a:t>
            </a:r>
            <a:pPr algn="l" indent="0" marL="0">
              <a:lnSpc>
                <a:spcPct val="104000"/>
              </a:lnSpc>
              <a:buNone/>
            </a:pPr>
            <a:r>
              <a:rPr lang="en-US" sz="1200" dirty="0">
                <a:solidFill>
                  <a:srgbClr val="000000"/>
                </a:solidFill>
                <a:highlight>
                  <a:srgbClr val="F2F2F2"/>
                </a:highlight>
                <a:latin typeface="Consolas" pitchFamily="34" charset="0"/>
                <a:ea typeface="Consolas" pitchFamily="34" charset="-122"/>
                <a:cs typeface="Consolas" pitchFamily="34" charset="-120"/>
              </a:rPr>
              <a:t>.values()</a:t>
            </a:r>
            <a:endParaRPr lang="en-US" sz="1200" dirty="0"/>
          </a:p>
        </p:txBody>
      </p:sp>
      <p:sp>
        <p:nvSpPr>
          <p:cNvPr id="17" name="Shape 15"/>
          <p:cNvSpPr/>
          <p:nvPr/>
        </p:nvSpPr>
        <p:spPr>
          <a:xfrm>
            <a:off x="3392909" y="2448371"/>
            <a:ext cx="2358107" cy="644872"/>
          </a:xfrm>
          <a:prstGeom prst="roundRect">
            <a:avLst>
              <a:gd name="adj" fmla="val 8079"/>
            </a:avLst>
          </a:prstGeom>
          <a:solidFill>
            <a:srgbClr val="F2F2F2"/>
          </a:solidFill>
          <a:ln/>
        </p:spPr>
      </p:sp>
      <p:sp>
        <p:nvSpPr>
          <p:cNvPr id="18" name="Shape 16"/>
          <p:cNvSpPr/>
          <p:nvPr/>
        </p:nvSpPr>
        <p:spPr>
          <a:xfrm>
            <a:off x="3386733" y="2448371"/>
            <a:ext cx="2370460" cy="644872"/>
          </a:xfrm>
          <a:prstGeom prst="roundRect">
            <a:avLst>
              <a:gd name="adj" fmla="val 2885"/>
            </a:avLst>
          </a:prstGeom>
          <a:solidFill>
            <a:srgbClr val="F2F2F2"/>
          </a:solidFill>
          <a:ln/>
        </p:spPr>
      </p:sp>
      <p:sp>
        <p:nvSpPr>
          <p:cNvPr id="19" name="Text 17"/>
          <p:cNvSpPr/>
          <p:nvPr/>
        </p:nvSpPr>
        <p:spPr>
          <a:xfrm>
            <a:off x="3541737" y="2572345"/>
            <a:ext cx="2060451"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for val in user.values():</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print(f"Giá trị: {val}")</a:t>
            </a:r>
            <a:endParaRPr lang="en-US" sz="950" dirty="0"/>
          </a:p>
        </p:txBody>
      </p:sp>
      <p:sp>
        <p:nvSpPr>
          <p:cNvPr id="20" name="Text 18"/>
          <p:cNvSpPr/>
          <p:nvPr/>
        </p:nvSpPr>
        <p:spPr>
          <a:xfrm>
            <a:off x="3392909" y="3232770"/>
            <a:ext cx="2358107"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In ra: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Nguyễn Văn A</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3.6</a:t>
            </a:r>
            <a:endParaRPr lang="en-US" sz="950" dirty="0"/>
          </a:p>
        </p:txBody>
      </p:sp>
      <p:sp>
        <p:nvSpPr>
          <p:cNvPr id="21" name="Shape 19"/>
          <p:cNvSpPr/>
          <p:nvPr/>
        </p:nvSpPr>
        <p:spPr>
          <a:xfrm>
            <a:off x="6013252" y="1804913"/>
            <a:ext cx="2634555" cy="2364730"/>
          </a:xfrm>
          <a:prstGeom prst="roundRect">
            <a:avLst>
              <a:gd name="adj" fmla="val 2900"/>
            </a:avLst>
          </a:prstGeom>
          <a:solidFill>
            <a:srgbClr val="FFFFFF"/>
          </a:solidFill>
          <a:ln w="14288">
            <a:solidFill>
              <a:srgbClr val="DCBBBB"/>
            </a:solidFill>
            <a:prstDash val="solid"/>
          </a:ln>
        </p:spPr>
      </p:sp>
      <p:sp>
        <p:nvSpPr>
          <p:cNvPr id="22" name="Shape 20"/>
          <p:cNvSpPr/>
          <p:nvPr/>
        </p:nvSpPr>
        <p:spPr>
          <a:xfrm>
            <a:off x="6013252" y="1790626"/>
            <a:ext cx="2634555" cy="57150"/>
          </a:xfrm>
          <a:prstGeom prst="roundRect">
            <a:avLst>
              <a:gd name="adj" fmla="val 91163"/>
            </a:avLst>
          </a:prstGeom>
          <a:solidFill>
            <a:srgbClr val="BE2727"/>
          </a:solidFill>
          <a:ln/>
        </p:spPr>
      </p:sp>
      <p:sp>
        <p:nvSpPr>
          <p:cNvPr id="23" name="Shape 21"/>
          <p:cNvSpPr/>
          <p:nvPr/>
        </p:nvSpPr>
        <p:spPr>
          <a:xfrm>
            <a:off x="7144494" y="1618878"/>
            <a:ext cx="372070" cy="372070"/>
          </a:xfrm>
          <a:prstGeom prst="roundRect">
            <a:avLst>
              <a:gd name="adj" fmla="val 153600"/>
            </a:avLst>
          </a:prstGeom>
          <a:solidFill>
            <a:srgbClr val="BE2727"/>
          </a:solidFill>
          <a:ln/>
        </p:spPr>
      </p:sp>
      <p:sp>
        <p:nvSpPr>
          <p:cNvPr id="24" name="Text 22"/>
          <p:cNvSpPr/>
          <p:nvPr/>
        </p:nvSpPr>
        <p:spPr>
          <a:xfrm>
            <a:off x="7256115" y="1711896"/>
            <a:ext cx="148828" cy="186035"/>
          </a:xfrm>
          <a:prstGeom prst="rect">
            <a:avLst/>
          </a:prstGeom>
          <a:noFill/>
          <a:ln/>
        </p:spPr>
        <p:txBody>
          <a:bodyPr wrap="none" lIns="0" tIns="0" rIns="0" bIns="0" rtlCol="0" anchor="ctr"/>
          <a:lstStyle/>
          <a:p>
            <a:pPr algn="ctr" indent="0" marL="0">
              <a:lnSpc>
                <a:spcPct val="100000"/>
              </a:lnSpc>
              <a:buNone/>
            </a:pPr>
            <a:r>
              <a:rPr lang="en-US" sz="1150" dirty="0">
                <a:solidFill>
                  <a:srgbClr val="FFFFFF"/>
                </a:solidFill>
                <a:latin typeface="Montserrat ExtraBold" pitchFamily="34" charset="0"/>
                <a:ea typeface="Montserrat ExtraBold" pitchFamily="34" charset="-122"/>
                <a:cs typeface="Montserrat ExtraBold" pitchFamily="34" charset="-120"/>
              </a:rPr>
              <a:t>3</a:t>
            </a:r>
            <a:endParaRPr lang="en-US" sz="1150" dirty="0"/>
          </a:p>
        </p:txBody>
      </p:sp>
      <p:sp>
        <p:nvSpPr>
          <p:cNvPr id="25" name="Text 23"/>
          <p:cNvSpPr/>
          <p:nvPr/>
        </p:nvSpPr>
        <p:spPr>
          <a:xfrm>
            <a:off x="6151513" y="2114996"/>
            <a:ext cx="2301999"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Cả Key &amp; Value — </a:t>
            </a:r>
            <a:pPr algn="l" indent="0" marL="0">
              <a:lnSpc>
                <a:spcPct val="104000"/>
              </a:lnSpc>
              <a:buNone/>
            </a:pPr>
            <a:r>
              <a:rPr lang="en-US" sz="1200" dirty="0">
                <a:solidFill>
                  <a:srgbClr val="000000"/>
                </a:solidFill>
                <a:highlight>
                  <a:srgbClr val="F2F2F2"/>
                </a:highlight>
                <a:latin typeface="Consolas" pitchFamily="34" charset="0"/>
                <a:ea typeface="Consolas" pitchFamily="34" charset="-122"/>
                <a:cs typeface="Consolas" pitchFamily="34" charset="-120"/>
              </a:rPr>
              <a:t>.items()</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 </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endParaRPr lang="en-US" sz="1200" dirty="0"/>
          </a:p>
        </p:txBody>
      </p:sp>
      <p:sp>
        <p:nvSpPr>
          <p:cNvPr id="26" name="Shape 24"/>
          <p:cNvSpPr/>
          <p:nvPr/>
        </p:nvSpPr>
        <p:spPr>
          <a:xfrm>
            <a:off x="6151513" y="2453134"/>
            <a:ext cx="2358033" cy="1041797"/>
          </a:xfrm>
          <a:prstGeom prst="roundRect">
            <a:avLst>
              <a:gd name="adj" fmla="val 5001"/>
            </a:avLst>
          </a:prstGeom>
          <a:solidFill>
            <a:srgbClr val="F2F2F2"/>
          </a:solidFill>
          <a:ln/>
        </p:spPr>
      </p:sp>
      <p:sp>
        <p:nvSpPr>
          <p:cNvPr id="27" name="Shape 25"/>
          <p:cNvSpPr/>
          <p:nvPr/>
        </p:nvSpPr>
        <p:spPr>
          <a:xfrm>
            <a:off x="6145337" y="2453134"/>
            <a:ext cx="2370386" cy="1041797"/>
          </a:xfrm>
          <a:prstGeom prst="roundRect">
            <a:avLst>
              <a:gd name="adj" fmla="val 1786"/>
            </a:avLst>
          </a:prstGeom>
          <a:solidFill>
            <a:srgbClr val="F2F2F2"/>
          </a:solidFill>
          <a:ln/>
        </p:spPr>
      </p:sp>
      <p:sp>
        <p:nvSpPr>
          <p:cNvPr id="28" name="Text 26"/>
          <p:cNvSpPr/>
          <p:nvPr/>
        </p:nvSpPr>
        <p:spPr>
          <a:xfrm>
            <a:off x="6300341" y="2577108"/>
            <a:ext cx="206037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for key, val in user.items():</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print(f"- {key.upper()}: {val}")</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 NAME: Nguyễn Văn A</a:t>
            </a:r>
            <a:endParaRPr lang="en-US" sz="950" dirty="0"/>
          </a:p>
          <a:p>
            <a:pPr algn="l" indent="0" marL="0">
              <a:lnSpc>
                <a:spcPct val="13300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 GPA: 3.6</a:t>
            </a:r>
            <a:endParaRPr lang="en-US" sz="950" dirty="0"/>
          </a:p>
        </p:txBody>
      </p:sp>
      <p:sp>
        <p:nvSpPr>
          <p:cNvPr id="29" name="Text 27"/>
          <p:cNvSpPr/>
          <p:nvPr/>
        </p:nvSpPr>
        <p:spPr>
          <a:xfrm>
            <a:off x="6151513" y="3634457"/>
            <a:ext cx="235803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Cách dùng nhiều nhất trong thực tế — lấy được cả hai thông tin một lúc!</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96119" y="983679"/>
            <a:ext cx="5297314" cy="387548"/>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Tổng Kết: Tuple vs Dictionary</a:t>
            </a:r>
            <a:endParaRPr lang="en-US" sz="2400" dirty="0"/>
          </a:p>
        </p:txBody>
      </p:sp>
      <p:sp>
        <p:nvSpPr>
          <p:cNvPr id="3" name="Shape 1"/>
          <p:cNvSpPr/>
          <p:nvPr/>
        </p:nvSpPr>
        <p:spPr>
          <a:xfrm>
            <a:off x="496119" y="1619250"/>
            <a:ext cx="8151763" cy="2540571"/>
          </a:xfrm>
          <a:prstGeom prst="roundRect">
            <a:avLst>
              <a:gd name="adj" fmla="val 2051"/>
            </a:avLst>
          </a:prstGeom>
          <a:noFill/>
          <a:ln w="4763">
            <a:solidFill>
              <a:srgbClr val="000000">
                <a:alpha val="8000"/>
              </a:srgbClr>
            </a:solidFill>
            <a:prstDash val="solid"/>
          </a:ln>
        </p:spPr>
      </p:sp>
      <p:sp>
        <p:nvSpPr>
          <p:cNvPr id="4" name="Text 2"/>
          <p:cNvSpPr/>
          <p:nvPr/>
        </p:nvSpPr>
        <p:spPr>
          <a:xfrm>
            <a:off x="625004" y="1703189"/>
            <a:ext cx="2242393" cy="198462"/>
          </a:xfrm>
          <a:prstGeom prst="rect">
            <a:avLst/>
          </a:prstGeom>
          <a:noFill/>
          <a:ln/>
        </p:spPr>
        <p:txBody>
          <a:bodyPr wrap="none" lIns="0" tIns="0" rIns="0" bIns="0" rtlCol="0" anchor="t"/>
          <a:lstStyle/>
          <a:p>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Tiêu chí</a:t>
            </a:r>
            <a:endParaRPr lang="en-US" sz="950" dirty="0"/>
          </a:p>
        </p:txBody>
      </p:sp>
      <p:sp>
        <p:nvSpPr>
          <p:cNvPr id="5" name="Text 3"/>
          <p:cNvSpPr/>
          <p:nvPr/>
        </p:nvSpPr>
        <p:spPr>
          <a:xfrm>
            <a:off x="2662907" y="1703189"/>
            <a:ext cx="3217069" cy="198462"/>
          </a:xfrm>
          <a:prstGeom prst="rect">
            <a:avLst/>
          </a:prstGeom>
          <a:noFill/>
          <a:ln/>
        </p:spPr>
        <p:txBody>
          <a:bodyPr wrap="none" lIns="0" tIns="0" rIns="0" bIns="0" rtlCol="0" anchor="t"/>
          <a:lstStyle/>
          <a:p>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Tuple</a:t>
            </a:r>
            <a:endParaRPr lang="en-US" sz="950" dirty="0"/>
          </a:p>
        </p:txBody>
      </p:sp>
      <p:sp>
        <p:nvSpPr>
          <p:cNvPr id="6" name="Text 4"/>
          <p:cNvSpPr/>
          <p:nvPr/>
        </p:nvSpPr>
        <p:spPr>
          <a:xfrm>
            <a:off x="5675486" y="1703189"/>
            <a:ext cx="3300859" cy="198462"/>
          </a:xfrm>
          <a:prstGeom prst="rect">
            <a:avLst/>
          </a:prstGeom>
          <a:noFill/>
          <a:ln/>
        </p:spPr>
        <p:txBody>
          <a:bodyPr wrap="none" lIns="0" tIns="0" rIns="0" bIns="0" rtlCol="0" anchor="t"/>
          <a:lstStyle/>
          <a:p>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Dictionary</a:t>
            </a:r>
            <a:endParaRPr lang="en-US" sz="950" dirty="0"/>
          </a:p>
        </p:txBody>
      </p:sp>
      <p:sp>
        <p:nvSpPr>
          <p:cNvPr id="7" name="Text 5"/>
          <p:cNvSpPr/>
          <p:nvPr/>
        </p:nvSpPr>
        <p:spPr>
          <a:xfrm>
            <a:off x="625004" y="2064767"/>
            <a:ext cx="224239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Ký hiệu</a:t>
            </a:r>
            <a:endParaRPr lang="en-US" sz="950" dirty="0"/>
          </a:p>
        </p:txBody>
      </p:sp>
      <p:sp>
        <p:nvSpPr>
          <p:cNvPr id="8" name="Text 6"/>
          <p:cNvSpPr/>
          <p:nvPr/>
        </p:nvSpPr>
        <p:spPr>
          <a:xfrm>
            <a:off x="2662907" y="2064767"/>
            <a:ext cx="3217069"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endParaRPr lang="en-US" sz="950" dirty="0"/>
          </a:p>
        </p:txBody>
      </p:sp>
      <p:sp>
        <p:nvSpPr>
          <p:cNvPr id="9" name="Text 7"/>
          <p:cNvSpPr/>
          <p:nvPr/>
        </p:nvSpPr>
        <p:spPr>
          <a:xfrm>
            <a:off x="5675486" y="2064767"/>
            <a:ext cx="3300859"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t>
            </a:r>
            <a:endParaRPr lang="en-US" sz="950" dirty="0"/>
          </a:p>
        </p:txBody>
      </p:sp>
      <p:sp>
        <p:nvSpPr>
          <p:cNvPr id="10" name="Text 8"/>
          <p:cNvSpPr/>
          <p:nvPr/>
        </p:nvSpPr>
        <p:spPr>
          <a:xfrm>
            <a:off x="625004" y="2431107"/>
            <a:ext cx="224239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Có thứ tự</a:t>
            </a:r>
            <a:endParaRPr lang="en-US" sz="950" dirty="0"/>
          </a:p>
        </p:txBody>
      </p:sp>
      <p:sp>
        <p:nvSpPr>
          <p:cNvPr id="11" name="Text 9"/>
          <p:cNvSpPr/>
          <p:nvPr/>
        </p:nvSpPr>
        <p:spPr>
          <a:xfrm>
            <a:off x="2662907" y="2431107"/>
            <a:ext cx="3217069"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Có</a:t>
            </a:r>
            <a:endParaRPr lang="en-US" sz="950" dirty="0"/>
          </a:p>
        </p:txBody>
      </p:sp>
      <p:sp>
        <p:nvSpPr>
          <p:cNvPr id="12" name="Text 10"/>
          <p:cNvSpPr/>
          <p:nvPr/>
        </p:nvSpPr>
        <p:spPr>
          <a:xfrm>
            <a:off x="5675486" y="2431107"/>
            <a:ext cx="3300859"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Có (từ Python 3.7+)</a:t>
            </a:r>
            <a:endParaRPr lang="en-US" sz="950" dirty="0"/>
          </a:p>
        </p:txBody>
      </p:sp>
      <p:sp>
        <p:nvSpPr>
          <p:cNvPr id="13" name="Text 11"/>
          <p:cNvSpPr/>
          <p:nvPr/>
        </p:nvSpPr>
        <p:spPr>
          <a:xfrm>
            <a:off x="625004" y="2792685"/>
            <a:ext cx="224239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Thay đổi được</a:t>
            </a:r>
            <a:endParaRPr lang="en-US" sz="950" dirty="0"/>
          </a:p>
        </p:txBody>
      </p:sp>
      <p:sp>
        <p:nvSpPr>
          <p:cNvPr id="14" name="Text 12"/>
          <p:cNvSpPr/>
          <p:nvPr/>
        </p:nvSpPr>
        <p:spPr>
          <a:xfrm>
            <a:off x="2662907" y="2792685"/>
            <a:ext cx="3217069"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Không (Immutable)</a:t>
            </a:r>
            <a:endParaRPr lang="en-US" sz="950" dirty="0"/>
          </a:p>
        </p:txBody>
      </p:sp>
      <p:sp>
        <p:nvSpPr>
          <p:cNvPr id="15" name="Text 13"/>
          <p:cNvSpPr/>
          <p:nvPr/>
        </p:nvSpPr>
        <p:spPr>
          <a:xfrm>
            <a:off x="5675486" y="2792685"/>
            <a:ext cx="3300859"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Có (Mutable)</a:t>
            </a:r>
            <a:endParaRPr lang="en-US" sz="950" dirty="0"/>
          </a:p>
        </p:txBody>
      </p:sp>
      <p:sp>
        <p:nvSpPr>
          <p:cNvPr id="16" name="Text 14"/>
          <p:cNvSpPr/>
          <p:nvPr/>
        </p:nvSpPr>
        <p:spPr>
          <a:xfrm>
            <a:off x="625004" y="3154263"/>
            <a:ext cx="224239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Truy cập bằng</a:t>
            </a:r>
            <a:endParaRPr lang="en-US" sz="950" dirty="0"/>
          </a:p>
        </p:txBody>
      </p:sp>
      <p:sp>
        <p:nvSpPr>
          <p:cNvPr id="17" name="Text 15"/>
          <p:cNvSpPr/>
          <p:nvPr/>
        </p:nvSpPr>
        <p:spPr>
          <a:xfrm>
            <a:off x="2662907" y="3154263"/>
            <a:ext cx="3217069"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Chỉ số (index)</a:t>
            </a:r>
            <a:endParaRPr lang="en-US" sz="950" dirty="0"/>
          </a:p>
        </p:txBody>
      </p:sp>
      <p:sp>
        <p:nvSpPr>
          <p:cNvPr id="18" name="Text 16"/>
          <p:cNvSpPr/>
          <p:nvPr/>
        </p:nvSpPr>
        <p:spPr>
          <a:xfrm>
            <a:off x="5675486" y="3154263"/>
            <a:ext cx="3300859"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Key (nhãn tên)</a:t>
            </a:r>
            <a:endParaRPr lang="en-US" sz="950" dirty="0"/>
          </a:p>
        </p:txBody>
      </p:sp>
      <p:sp>
        <p:nvSpPr>
          <p:cNvPr id="19" name="Text 17"/>
          <p:cNvSpPr/>
          <p:nvPr/>
        </p:nvSpPr>
        <p:spPr>
          <a:xfrm>
            <a:off x="625004" y="3515841"/>
            <a:ext cx="224239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Dùng khi nào</a:t>
            </a:r>
            <a:endParaRPr lang="en-US" sz="950" dirty="0"/>
          </a:p>
        </p:txBody>
      </p:sp>
      <p:sp>
        <p:nvSpPr>
          <p:cNvPr id="20" name="Text 18"/>
          <p:cNvSpPr/>
          <p:nvPr/>
        </p:nvSpPr>
        <p:spPr>
          <a:xfrm>
            <a:off x="2662907" y="3515841"/>
            <a:ext cx="3217069"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Dữ liệu cố định, bảo vệ</a:t>
            </a:r>
            <a:endParaRPr lang="en-US" sz="950" dirty="0"/>
          </a:p>
        </p:txBody>
      </p:sp>
      <p:sp>
        <p:nvSpPr>
          <p:cNvPr id="21" name="Text 19"/>
          <p:cNvSpPr/>
          <p:nvPr/>
        </p:nvSpPr>
        <p:spPr>
          <a:xfrm>
            <a:off x="5675486" y="3515841"/>
            <a:ext cx="3300859"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Dữ liệu cặp Key-Value</a:t>
            </a:r>
            <a:endParaRPr lang="en-US" sz="950" dirty="0"/>
          </a:p>
        </p:txBody>
      </p:sp>
      <p:sp>
        <p:nvSpPr>
          <p:cNvPr id="22" name="Text 20"/>
          <p:cNvSpPr/>
          <p:nvPr/>
        </p:nvSpPr>
        <p:spPr>
          <a:xfrm>
            <a:off x="625004" y="3877419"/>
            <a:ext cx="224239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Ví dụ thực tế</a:t>
            </a:r>
            <a:endParaRPr lang="en-US" sz="950" dirty="0"/>
          </a:p>
        </p:txBody>
      </p:sp>
      <p:sp>
        <p:nvSpPr>
          <p:cNvPr id="23" name="Text 21"/>
          <p:cNvSpPr/>
          <p:nvPr/>
        </p:nvSpPr>
        <p:spPr>
          <a:xfrm>
            <a:off x="2662907" y="3877419"/>
            <a:ext cx="3217069"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Tọa độ GPS, hằng số</a:t>
            </a:r>
            <a:endParaRPr lang="en-US" sz="950" dirty="0"/>
          </a:p>
        </p:txBody>
      </p:sp>
      <p:sp>
        <p:nvSpPr>
          <p:cNvPr id="24" name="Text 22"/>
          <p:cNvSpPr/>
          <p:nvPr/>
        </p:nvSpPr>
        <p:spPr>
          <a:xfrm>
            <a:off x="5675486" y="3877419"/>
            <a:ext cx="3300859"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Thông tin user, cấu hình</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674340"/>
            <a:ext cx="4023271" cy="397073"/>
          </a:xfrm>
          <a:prstGeom prst="rect">
            <a:avLst/>
          </a:prstGeom>
          <a:noFill/>
          <a:ln/>
        </p:spPr>
        <p:txBody>
          <a:bodyPr wrap="none" lIns="0" tIns="0" rIns="0" bIns="0" rtlCol="0" anchor="t"/>
          <a:lstStyle/>
          <a:p>
            <a:pPr algn="l" indent="0" marL="0">
              <a:lnSpc>
                <a:spcPct val="104000"/>
              </a:lnSpc>
              <a:buNone/>
            </a:pPr>
            <a:r>
              <a:rPr lang="en-US" sz="2400" dirty="0">
                <a:solidFill>
                  <a:srgbClr val="BE2727"/>
                </a:solidFill>
                <a:latin typeface="Montserrat ExtraBold" pitchFamily="34" charset="0"/>
                <a:ea typeface="Montserrat ExtraBold" pitchFamily="34" charset="-122"/>
                <a:cs typeface="Montserrat ExtraBold" pitchFamily="34" charset="-120"/>
              </a:rPr>
              <a:t>Bài Tập Thực Hành </a:t>
            </a:r>
            <a:pPr algn="l" indent="0" marL="0">
              <a:lnSpc>
                <a:spcPct val="104000"/>
              </a:lnSpc>
              <a:buNone/>
            </a:pPr>
            <a:r>
              <a:rPr lang="en-US" sz="2400" dirty="0">
                <a:solidFill>
                  <a:srgbClr val="000000"/>
                </a:solidFill>
                <a:latin typeface="Montserrat ExtraBold" pitchFamily="34" charset="0"/>
                <a:ea typeface="Montserrat ExtraBold" pitchFamily="34" charset="-122"/>
                <a:cs typeface="Montserrat ExtraBold" pitchFamily="34" charset="-120"/>
              </a:rPr>
              <a:t>👨‍💻</a:t>
            </a:r>
            <a:endParaRPr lang="en-US" sz="2400" dirty="0"/>
          </a:p>
        </p:txBody>
      </p:sp>
      <p:sp>
        <p:nvSpPr>
          <p:cNvPr id="4" name="Text 1"/>
          <p:cNvSpPr/>
          <p:nvPr/>
        </p:nvSpPr>
        <p:spPr>
          <a:xfrm>
            <a:off x="3925119" y="1257449"/>
            <a:ext cx="5179963"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Thầy có một tình huống thực tế để các em áp dụng kiến thức hôm nay:</a:t>
            </a:r>
            <a:endParaRPr lang="en-US" sz="950" dirty="0"/>
          </a:p>
        </p:txBody>
      </p:sp>
      <p:sp>
        <p:nvSpPr>
          <p:cNvPr id="5" name="Shape 2"/>
          <p:cNvSpPr/>
          <p:nvPr/>
        </p:nvSpPr>
        <p:spPr>
          <a:xfrm>
            <a:off x="3925119" y="1595438"/>
            <a:ext cx="4722763" cy="1330375"/>
          </a:xfrm>
          <a:prstGeom prst="roundRect">
            <a:avLst>
              <a:gd name="adj" fmla="val 3916"/>
            </a:avLst>
          </a:prstGeom>
          <a:solidFill>
            <a:srgbClr val="B6D6FC"/>
          </a:solidFill>
          <a:ln/>
        </p:spPr>
      </p:sp>
      <p:pic>
        <p:nvPicPr>
          <p:cNvPr id="6" name="Image 1" descr="preencoded.png">    </p:cNvPr>
          <p:cNvPicPr>
            <a:picLocks noChangeAspect="1"/>
          </p:cNvPicPr>
          <p:nvPr/>
        </p:nvPicPr>
        <p:blipFill>
          <a:blip r:embed="rId2"/>
          <a:stretch>
            <a:fillRect/>
          </a:stretch>
        </p:blipFill>
        <p:spPr>
          <a:xfrm>
            <a:off x="4049092" y="1779984"/>
            <a:ext cx="155004" cy="123974"/>
          </a:xfrm>
          <a:prstGeom prst="rect">
            <a:avLst/>
          </a:prstGeom>
        </p:spPr>
      </p:pic>
      <p:sp>
        <p:nvSpPr>
          <p:cNvPr id="7" name="Text 3"/>
          <p:cNvSpPr/>
          <p:nvPr/>
        </p:nvSpPr>
        <p:spPr>
          <a:xfrm>
            <a:off x="4328071" y="1750368"/>
            <a:ext cx="4195837" cy="1001837"/>
          </a:xfrm>
          <a:prstGeom prst="rect">
            <a:avLst/>
          </a:prstGeom>
          <a:noFill/>
          <a:ln/>
        </p:spPr>
        <p:txBody>
          <a:bodyPr wrap="square" lIns="0" tIns="0" rIns="0" bIns="0" rtlCol="0" anchor="t">
            <a:normAutofit/>
          </a:bodyPr>
          <a:lstStyle/>
          <a:p>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Tình huống:</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Quản lý kho hàng siêu thị điện máy:</a:t>
            </a:r>
            <a:endParaRPr lang="en-US" sz="950" dirty="0"/>
          </a:p>
          <a:p>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kho_hang = {"Tivi": 10, "TuLanh": 5, "MayGiat": 0}</a:t>
            </a:r>
            <a:endParaRPr lang="en-US" sz="950" dirty="0"/>
          </a:p>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Hãy viết đoạn code dùng vòng lặp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for</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để duyệt qua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kho_hang</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lọc ra và in tên các sản phẩm đã </a:t>
            </a:r>
            <a:pPr algn="l" indent="0" marL="0">
              <a:lnSpc>
                <a:spcPct val="133000"/>
              </a:lnSpc>
              <a:buNone/>
            </a:pPr>
            <a:r>
              <a:rPr lang="en-US" sz="950" b="1" dirty="0">
                <a:solidFill>
                  <a:srgbClr val="000000"/>
                </a:solidFill>
                <a:latin typeface="Montserrat" pitchFamily="34" charset="0"/>
                <a:ea typeface="Montserrat" pitchFamily="34" charset="-122"/>
                <a:cs typeface="Montserrat" pitchFamily="34" charset="-120"/>
              </a:rPr>
              <a:t>hết hàng</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(số lượng bằng 0).</a:t>
            </a:r>
            <a:endParaRPr lang="en-US" sz="950" dirty="0"/>
          </a:p>
        </p:txBody>
      </p:sp>
      <p:sp>
        <p:nvSpPr>
          <p:cNvPr id="8" name="Shape 4"/>
          <p:cNvSpPr/>
          <p:nvPr/>
        </p:nvSpPr>
        <p:spPr>
          <a:xfrm>
            <a:off x="3910831" y="3051051"/>
            <a:ext cx="28575" cy="708050"/>
          </a:xfrm>
          <a:prstGeom prst="rect">
            <a:avLst/>
          </a:prstGeom>
          <a:solidFill>
            <a:srgbClr val="BE2727"/>
          </a:solidFill>
          <a:ln/>
        </p:spPr>
      </p:sp>
      <p:sp>
        <p:nvSpPr>
          <p:cNvPr id="9" name="Text 5"/>
          <p:cNvSpPr/>
          <p:nvPr/>
        </p:nvSpPr>
        <p:spPr>
          <a:xfrm>
            <a:off x="4077667" y="3065338"/>
            <a:ext cx="155056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Gợi ý </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endParaRPr lang="en-US" sz="1200" dirty="0"/>
          </a:p>
        </p:txBody>
      </p:sp>
      <p:sp>
        <p:nvSpPr>
          <p:cNvPr id="10" name="Text 6"/>
          <p:cNvSpPr/>
          <p:nvPr/>
        </p:nvSpPr>
        <p:spPr>
          <a:xfrm>
            <a:off x="4077667" y="3338364"/>
            <a:ext cx="4570214" cy="406450"/>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Dùng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.items()</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để lấy cả tên sản phẩm lẫn số lượng. Dùng câu lệnh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if</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 để kiểm tra điều kiện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so_luong == 0</a:t>
            </a:r>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a:t>
            </a:r>
            <a:endParaRPr lang="en-US" sz="950" dirty="0"/>
          </a:p>
        </p:txBody>
      </p:sp>
      <p:sp>
        <p:nvSpPr>
          <p:cNvPr id="11" name="Shape 7"/>
          <p:cNvSpPr/>
          <p:nvPr/>
        </p:nvSpPr>
        <p:spPr>
          <a:xfrm>
            <a:off x="3910831" y="3978548"/>
            <a:ext cx="28575" cy="504825"/>
          </a:xfrm>
          <a:prstGeom prst="rect">
            <a:avLst/>
          </a:prstGeom>
          <a:solidFill>
            <a:srgbClr val="BE2727"/>
          </a:solidFill>
          <a:ln/>
        </p:spPr>
      </p:sp>
      <p:sp>
        <p:nvSpPr>
          <p:cNvPr id="12" name="Text 8"/>
          <p:cNvSpPr/>
          <p:nvPr/>
        </p:nvSpPr>
        <p:spPr>
          <a:xfrm>
            <a:off x="4077667" y="3992835"/>
            <a:ext cx="171241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Kết quả mong đợi </a:t>
            </a:r>
            <a:pPr algn="l" indent="0" marL="0">
              <a:lnSpc>
                <a:spcPct val="104000"/>
              </a:lnSpc>
              <a:buNone/>
            </a:pPr>
            <a:r>
              <a:rPr lang="en-US" sz="1200" dirty="0">
                <a:solidFill>
                  <a:srgbClr val="000000"/>
                </a:solidFill>
                <a:latin typeface="Montserrat ExtraBold" pitchFamily="34" charset="0"/>
                <a:ea typeface="Montserrat ExtraBold" pitchFamily="34" charset="-122"/>
                <a:cs typeface="Montserrat ExtraBold" pitchFamily="34" charset="-120"/>
              </a:rPr>
              <a:t>🎯</a:t>
            </a:r>
            <a:endParaRPr lang="en-US" sz="1200" dirty="0"/>
          </a:p>
        </p:txBody>
      </p:sp>
      <p:sp>
        <p:nvSpPr>
          <p:cNvPr id="13" name="Text 9"/>
          <p:cNvSpPr/>
          <p:nvPr/>
        </p:nvSpPr>
        <p:spPr>
          <a:xfrm>
            <a:off x="4077667" y="4265861"/>
            <a:ext cx="4570214"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Montserrat" pitchFamily="34" charset="0"/>
                <a:ea typeface="Montserrat" pitchFamily="34" charset="-122"/>
                <a:cs typeface="Montserrat" pitchFamily="34" charset="-120"/>
              </a:rPr>
              <a:t>Màn hình in ra: </a:t>
            </a:r>
            <a:pPr algn="l" indent="0" marL="0">
              <a:lnSpc>
                <a:spcPct val="13300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Sản phẩm hết hàng: MayGiat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2026-05-28T07:14:16Z</dcterms:created>
  <dcterms:modified xsi:type="dcterms:W3CDTF">2026-05-28T07:14:16Z</dcterms:modified>
</cp:coreProperties>
</file>