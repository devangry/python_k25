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embeddedFontLst>
    <p:embeddedFont>
      <p:font typeface="Montserrat ExtraBold"/>
      <p:regular r:id="rId29"/>
    </p:embeddedFont>
    <p:embeddedFont>
      <p:font typeface="Montserrat"/>
      <p:regular r:id="rId30"/>
    </p:embeddedFont>
    <p:embeddedFont>
      <p:font typeface="Montserrat Bold"/>
      <p:regular r:id="rId3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font" Target="fonts/font1.fntdata"/><Relationship Id="rId30" Type="http://schemas.openxmlformats.org/officeDocument/2006/relationships/font" Target="fonts/font2.fntdata"/><Relationship Id="rId31"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5.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slideLayout" Target="../slideLayouts/slideLayout1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8.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9.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image" Target="../media/image-19-5.png"/><Relationship Id="rId6" Type="http://schemas.openxmlformats.org/officeDocument/2006/relationships/image" Target="../media/image-19-6.svg"/><Relationship Id="rId7" Type="http://schemas.openxmlformats.org/officeDocument/2006/relationships/image" Target="../media/image-19-7.png"/><Relationship Id="rId8" Type="http://schemas.openxmlformats.org/officeDocument/2006/relationships/slideLayout" Target="../slideLayouts/slideLayout20.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image" Target="../media/image-20-5.png"/><Relationship Id="rId6" Type="http://schemas.openxmlformats.org/officeDocument/2006/relationships/image" Target="../media/image-20-6.svg"/><Relationship Id="rId7" Type="http://schemas.openxmlformats.org/officeDocument/2006/relationships/image" Target="../media/image-20-7.png"/><Relationship Id="rId8" Type="http://schemas.openxmlformats.org/officeDocument/2006/relationships/image" Target="../media/image-20-8.svg"/><Relationship Id="rId9" Type="http://schemas.openxmlformats.org/officeDocument/2006/relationships/image" Target="../media/image-20-9.png"/><Relationship Id="rId10" Type="http://schemas.openxmlformats.org/officeDocument/2006/relationships/image" Target="../media/image-20-10.svg"/><Relationship Id="rId11" Type="http://schemas.openxmlformats.org/officeDocument/2006/relationships/image" Target="../media/image-20-11.png"/><Relationship Id="rId12" Type="http://schemas.openxmlformats.org/officeDocument/2006/relationships/slideLayout" Target="../slideLayouts/slideLayout21.xml"/><Relationship Id="rId1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3.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766292"/>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Hàm trong Python</a:t>
            </a:r>
            <a:endParaRPr lang="en-US" sz="2400" dirty="0"/>
          </a:p>
        </p:txBody>
      </p:sp>
      <p:sp>
        <p:nvSpPr>
          <p:cNvPr id="4" name="Text 1"/>
          <p:cNvSpPr/>
          <p:nvPr/>
        </p:nvSpPr>
        <p:spPr>
          <a:xfrm>
            <a:off x="3925119" y="2203400"/>
            <a:ext cx="3691533" cy="193849"/>
          </a:xfrm>
          <a:prstGeom prst="rect">
            <a:avLst/>
          </a:prstGeom>
          <a:noFill/>
          <a:ln/>
        </p:spPr>
        <p:txBody>
          <a:bodyPr wrap="none" lIns="0" tIns="0" rIns="0" bIns="0" rtlCol="0" anchor="t"/>
          <a:lstStyle/>
          <a:p>
            <a:pPr algn="l" indent="0" marL="0">
              <a:lnSpc>
                <a:spcPct val="104000"/>
              </a:lnSpc>
              <a:buNone/>
            </a:pPr>
            <a:r>
              <a:rPr lang="en-US" sz="1200" dirty="0">
                <a:solidFill>
                  <a:srgbClr val="BE2727"/>
                </a:solidFill>
                <a:latin typeface="Montserrat ExtraBold" pitchFamily="34" charset="0"/>
                <a:ea typeface="Montserrat ExtraBold" pitchFamily="34" charset="-122"/>
                <a:cs typeface="Montserrat ExtraBold" pitchFamily="34" charset="-120"/>
              </a:rPr>
              <a:t>Functions – Viết một lần, dùng mãi mãi</a:t>
            </a:r>
            <a:endParaRPr lang="en-US" sz="1200" dirty="0"/>
          </a:p>
        </p:txBody>
      </p:sp>
      <p:sp>
        <p:nvSpPr>
          <p:cNvPr id="5" name="Text 2"/>
          <p:cNvSpPr/>
          <p:nvPr/>
        </p:nvSpPr>
        <p:spPr>
          <a:xfrm>
            <a:off x="3925119" y="2583284"/>
            <a:ext cx="4722763"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Chào mừng các em đến với bài học về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Hàm (Function)</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 một trong những khái niệm quan trọng và mạnh mẽ nhất trong lập trình. Sau bài học này, các em sẽ biết cách tổ chức code thông minh, gọn gàng và chuyên nghiệp hơn rất nhiều.</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1252091"/>
            <a:ext cx="2201168" cy="193849"/>
          </a:xfrm>
          <a:prstGeom prst="rect">
            <a:avLst/>
          </a:prstGeom>
          <a:noFill/>
          <a:ln/>
        </p:spPr>
        <p:txBody>
          <a:bodyPr wrap="none" lIns="0" tIns="0" rIns="0" bIns="0" rtlCol="0" anchor="t"/>
          <a:lstStyle/>
          <a:p>
            <a:pPr algn="l" indent="0" marL="0">
              <a:lnSpc>
                <a:spcPct val="104000"/>
              </a:lnSpc>
              <a:buNone/>
            </a:pPr>
            <a:r>
              <a:rPr lang="en-US" sz="1200" dirty="0">
                <a:solidFill>
                  <a:srgbClr val="BE2727"/>
                </a:solidFill>
                <a:latin typeface="Montserrat ExtraBold" pitchFamily="34" charset="0"/>
                <a:ea typeface="Montserrat ExtraBold" pitchFamily="34" charset="-122"/>
                <a:cs typeface="Montserrat ExtraBold" pitchFamily="34" charset="-120"/>
              </a:rPr>
              <a:t>Chương trình bài học</a:t>
            </a:r>
            <a:endParaRPr lang="en-US" sz="1200" dirty="0"/>
          </a:p>
        </p:txBody>
      </p:sp>
      <p:sp>
        <p:nvSpPr>
          <p:cNvPr id="3" name="Text 1"/>
          <p:cNvSpPr/>
          <p:nvPr/>
        </p:nvSpPr>
        <p:spPr>
          <a:xfrm>
            <a:off x="496119" y="1495499"/>
            <a:ext cx="5242768"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Hôm nay chúng ta sẽ học gì?</a:t>
            </a:r>
            <a:endParaRPr lang="en-US" sz="2400" dirty="0"/>
          </a:p>
        </p:txBody>
      </p:sp>
      <p:sp>
        <p:nvSpPr>
          <p:cNvPr id="4" name="Text 2"/>
          <p:cNvSpPr/>
          <p:nvPr/>
        </p:nvSpPr>
        <p:spPr>
          <a:xfrm>
            <a:off x="496119" y="2069083"/>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000000"/>
                </a:solidFill>
                <a:latin typeface="Montserrat Light" pitchFamily="34" charset="0"/>
                <a:ea typeface="Montserrat Light" pitchFamily="34" charset="-122"/>
                <a:cs typeface="Montserrat Light" pitchFamily="34" charset="-120"/>
              </a:rPr>
              <a:t>01</a:t>
            </a:r>
            <a:endParaRPr lang="en-US" sz="950" dirty="0"/>
          </a:p>
        </p:txBody>
      </p:sp>
      <p:sp>
        <p:nvSpPr>
          <p:cNvPr id="5" name="Shape 3"/>
          <p:cNvSpPr/>
          <p:nvPr/>
        </p:nvSpPr>
        <p:spPr>
          <a:xfrm>
            <a:off x="496119" y="2265536"/>
            <a:ext cx="2634555" cy="14288"/>
          </a:xfrm>
          <a:prstGeom prst="rect">
            <a:avLst/>
          </a:prstGeom>
          <a:solidFill>
            <a:srgbClr val="BE2727"/>
          </a:solidFill>
          <a:ln/>
        </p:spPr>
      </p:sp>
      <p:sp>
        <p:nvSpPr>
          <p:cNvPr id="6" name="Text 4"/>
          <p:cNvSpPr/>
          <p:nvPr/>
        </p:nvSpPr>
        <p:spPr>
          <a:xfrm>
            <a:off x="496119" y="2356098"/>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Hàm là gì?</a:t>
            </a:r>
            <a:endParaRPr lang="en-US" sz="1200" dirty="0"/>
          </a:p>
        </p:txBody>
      </p:sp>
      <p:sp>
        <p:nvSpPr>
          <p:cNvPr id="7" name="Text 5"/>
          <p:cNvSpPr/>
          <p:nvPr/>
        </p:nvSpPr>
        <p:spPr>
          <a:xfrm>
            <a:off x="496119" y="2624361"/>
            <a:ext cx="2634555"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Định nghĩa, lợi ích và cách tư duy về hàm</a:t>
            </a:r>
            <a:endParaRPr lang="en-US" sz="950" dirty="0"/>
          </a:p>
        </p:txBody>
      </p:sp>
      <p:sp>
        <p:nvSpPr>
          <p:cNvPr id="8" name="Text 6"/>
          <p:cNvSpPr/>
          <p:nvPr/>
        </p:nvSpPr>
        <p:spPr>
          <a:xfrm>
            <a:off x="3254648" y="2069083"/>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000000"/>
                </a:solidFill>
                <a:latin typeface="Montserrat Light" pitchFamily="34" charset="0"/>
                <a:ea typeface="Montserrat Light" pitchFamily="34" charset="-122"/>
                <a:cs typeface="Montserrat Light" pitchFamily="34" charset="-120"/>
              </a:rPr>
              <a:t>02</a:t>
            </a:r>
            <a:endParaRPr lang="en-US" sz="950" dirty="0"/>
          </a:p>
        </p:txBody>
      </p:sp>
      <p:sp>
        <p:nvSpPr>
          <p:cNvPr id="9" name="Shape 7"/>
          <p:cNvSpPr/>
          <p:nvPr/>
        </p:nvSpPr>
        <p:spPr>
          <a:xfrm>
            <a:off x="3254648" y="2265536"/>
            <a:ext cx="2634630" cy="14288"/>
          </a:xfrm>
          <a:prstGeom prst="rect">
            <a:avLst/>
          </a:prstGeom>
          <a:solidFill>
            <a:srgbClr val="BE2727"/>
          </a:solidFill>
          <a:ln/>
        </p:spPr>
      </p:sp>
      <p:sp>
        <p:nvSpPr>
          <p:cNvPr id="10" name="Text 8"/>
          <p:cNvSpPr/>
          <p:nvPr/>
        </p:nvSpPr>
        <p:spPr>
          <a:xfrm>
            <a:off x="3254648" y="2356098"/>
            <a:ext cx="2320900"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Cú pháp khai báo &amp; gọi hàm</a:t>
            </a:r>
            <a:endParaRPr lang="en-US" sz="1200" dirty="0"/>
          </a:p>
        </p:txBody>
      </p:sp>
      <p:sp>
        <p:nvSpPr>
          <p:cNvPr id="11" name="Text 9"/>
          <p:cNvSpPr/>
          <p:nvPr/>
        </p:nvSpPr>
        <p:spPr>
          <a:xfrm>
            <a:off x="3254648" y="2624361"/>
            <a:ext cx="2634630"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Từ khóa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def</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indentation và cách gọi hàm</a:t>
            </a:r>
            <a:endParaRPr lang="en-US" sz="950" dirty="0"/>
          </a:p>
        </p:txBody>
      </p:sp>
      <p:sp>
        <p:nvSpPr>
          <p:cNvPr id="12" name="Text 10"/>
          <p:cNvSpPr/>
          <p:nvPr/>
        </p:nvSpPr>
        <p:spPr>
          <a:xfrm>
            <a:off x="6013252" y="2069083"/>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000000"/>
                </a:solidFill>
                <a:latin typeface="Montserrat Light" pitchFamily="34" charset="0"/>
                <a:ea typeface="Montserrat Light" pitchFamily="34" charset="-122"/>
                <a:cs typeface="Montserrat Light" pitchFamily="34" charset="-120"/>
              </a:rPr>
              <a:t>03</a:t>
            </a:r>
            <a:endParaRPr lang="en-US" sz="950" dirty="0"/>
          </a:p>
        </p:txBody>
      </p:sp>
      <p:sp>
        <p:nvSpPr>
          <p:cNvPr id="13" name="Shape 11"/>
          <p:cNvSpPr/>
          <p:nvPr/>
        </p:nvSpPr>
        <p:spPr>
          <a:xfrm>
            <a:off x="6013252" y="2265536"/>
            <a:ext cx="2634555" cy="14288"/>
          </a:xfrm>
          <a:prstGeom prst="rect">
            <a:avLst/>
          </a:prstGeom>
          <a:solidFill>
            <a:srgbClr val="BE2727"/>
          </a:solidFill>
          <a:ln/>
        </p:spPr>
      </p:sp>
      <p:sp>
        <p:nvSpPr>
          <p:cNvPr id="14" name="Text 12"/>
          <p:cNvSpPr/>
          <p:nvPr/>
        </p:nvSpPr>
        <p:spPr>
          <a:xfrm>
            <a:off x="6013252" y="2356098"/>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Các loại tham số</a:t>
            </a:r>
            <a:endParaRPr lang="en-US" sz="1200" dirty="0"/>
          </a:p>
        </p:txBody>
      </p:sp>
      <p:sp>
        <p:nvSpPr>
          <p:cNvPr id="15" name="Text 13"/>
          <p:cNvSpPr/>
          <p:nvPr/>
        </p:nvSpPr>
        <p:spPr>
          <a:xfrm>
            <a:off x="6013252" y="2624361"/>
            <a:ext cx="2634555"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Positional, Default, Keyword và *args</a:t>
            </a:r>
            <a:endParaRPr lang="en-US" sz="950" dirty="0"/>
          </a:p>
        </p:txBody>
      </p:sp>
      <p:sp>
        <p:nvSpPr>
          <p:cNvPr id="16" name="Text 14"/>
          <p:cNvSpPr/>
          <p:nvPr/>
        </p:nvSpPr>
        <p:spPr>
          <a:xfrm>
            <a:off x="496119" y="3044577"/>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000000"/>
                </a:solidFill>
                <a:latin typeface="Montserrat Light" pitchFamily="34" charset="0"/>
                <a:ea typeface="Montserrat Light" pitchFamily="34" charset="-122"/>
                <a:cs typeface="Montserrat Light" pitchFamily="34" charset="-120"/>
              </a:rPr>
              <a:t>04</a:t>
            </a:r>
            <a:endParaRPr lang="en-US" sz="950" dirty="0"/>
          </a:p>
        </p:txBody>
      </p:sp>
      <p:sp>
        <p:nvSpPr>
          <p:cNvPr id="17" name="Shape 15"/>
          <p:cNvSpPr/>
          <p:nvPr/>
        </p:nvSpPr>
        <p:spPr>
          <a:xfrm>
            <a:off x="496119" y="3241030"/>
            <a:ext cx="4013820" cy="14288"/>
          </a:xfrm>
          <a:prstGeom prst="rect">
            <a:avLst/>
          </a:prstGeom>
          <a:solidFill>
            <a:srgbClr val="BE2727"/>
          </a:solidFill>
          <a:ln/>
        </p:spPr>
      </p:sp>
      <p:sp>
        <p:nvSpPr>
          <p:cNvPr id="18" name="Text 16"/>
          <p:cNvSpPr/>
          <p:nvPr/>
        </p:nvSpPr>
        <p:spPr>
          <a:xfrm>
            <a:off x="496119" y="3331592"/>
            <a:ext cx="2490341"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Return value &amp; Variable Scope</a:t>
            </a:r>
            <a:endParaRPr lang="en-US" sz="1200" dirty="0"/>
          </a:p>
        </p:txBody>
      </p:sp>
      <p:sp>
        <p:nvSpPr>
          <p:cNvPr id="19" name="Text 17"/>
          <p:cNvSpPr/>
          <p:nvPr/>
        </p:nvSpPr>
        <p:spPr>
          <a:xfrm>
            <a:off x="496119" y="3599855"/>
            <a:ext cx="4013820"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Giá trị trả về, phạm vi biến Global/Local</a:t>
            </a:r>
            <a:endParaRPr lang="en-US" sz="950" dirty="0"/>
          </a:p>
        </p:txBody>
      </p:sp>
      <p:sp>
        <p:nvSpPr>
          <p:cNvPr id="20" name="Text 18"/>
          <p:cNvSpPr/>
          <p:nvPr/>
        </p:nvSpPr>
        <p:spPr>
          <a:xfrm>
            <a:off x="4633913" y="3044577"/>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000000"/>
                </a:solidFill>
                <a:latin typeface="Montserrat Light" pitchFamily="34" charset="0"/>
                <a:ea typeface="Montserrat Light" pitchFamily="34" charset="-122"/>
                <a:cs typeface="Montserrat Light" pitchFamily="34" charset="-120"/>
              </a:rPr>
              <a:t>05</a:t>
            </a:r>
            <a:endParaRPr lang="en-US" sz="950" dirty="0"/>
          </a:p>
        </p:txBody>
      </p:sp>
      <p:sp>
        <p:nvSpPr>
          <p:cNvPr id="21" name="Shape 19"/>
          <p:cNvSpPr/>
          <p:nvPr/>
        </p:nvSpPr>
        <p:spPr>
          <a:xfrm>
            <a:off x="4633913" y="3241030"/>
            <a:ext cx="4013895" cy="14288"/>
          </a:xfrm>
          <a:prstGeom prst="rect">
            <a:avLst/>
          </a:prstGeom>
          <a:solidFill>
            <a:srgbClr val="BE2727"/>
          </a:solidFill>
          <a:ln/>
        </p:spPr>
      </p:sp>
      <p:sp>
        <p:nvSpPr>
          <p:cNvPr id="22" name="Text 20"/>
          <p:cNvSpPr/>
          <p:nvPr/>
        </p:nvSpPr>
        <p:spPr>
          <a:xfrm>
            <a:off x="4633913" y="3331592"/>
            <a:ext cx="2118494"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Docstring &amp; Best Practice</a:t>
            </a:r>
            <a:endParaRPr lang="en-US" sz="1200" dirty="0"/>
          </a:p>
        </p:txBody>
      </p:sp>
      <p:sp>
        <p:nvSpPr>
          <p:cNvPr id="23" name="Text 21"/>
          <p:cNvSpPr/>
          <p:nvPr/>
        </p:nvSpPr>
        <p:spPr>
          <a:xfrm>
            <a:off x="4633913" y="3599855"/>
            <a:ext cx="4013895"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Viết hàm chuẩn chuyên nghiệp và bài tập Lab</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393427"/>
            <a:ext cx="4514031"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Hàm là gì? — Định nghĩa</a:t>
            </a:r>
            <a:endParaRPr lang="en-US" sz="2400" dirty="0"/>
          </a:p>
        </p:txBody>
      </p:sp>
      <p:sp>
        <p:nvSpPr>
          <p:cNvPr id="4" name="Text 1"/>
          <p:cNvSpPr/>
          <p:nvPr/>
        </p:nvSpPr>
        <p:spPr>
          <a:xfrm>
            <a:off x="496119" y="967011"/>
            <a:ext cx="4722763" cy="595387"/>
          </a:xfrm>
          <a:prstGeom prst="rect">
            <a:avLst/>
          </a:prstGeom>
          <a:noFill/>
          <a:ln/>
        </p:spPr>
        <p:txBody>
          <a:bodyPr wrap="square" lIns="0" tIns="0" rIns="0" bIns="0" rtlCol="0" anchor="t">
            <a:normAutofit/>
          </a:bodyPr>
          <a:lstStyle/>
          <a:p>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Hàm (Function)</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là một chương trình con chứa một tập hợp các câu lệnh được đóng gói lại dưới một cái tên, nhằm thực hiện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một tác vụ logic duy nhất và cụ thể</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a:t>
            </a:r>
            <a:endParaRPr lang="en-US" sz="950" dirty="0"/>
          </a:p>
        </p:txBody>
      </p:sp>
      <p:sp>
        <p:nvSpPr>
          <p:cNvPr id="5" name="Text 2"/>
          <p:cNvSpPr/>
          <p:nvPr/>
        </p:nvSpPr>
        <p:spPr>
          <a:xfrm>
            <a:off x="682154" y="1841450"/>
            <a:ext cx="4536728"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Hãy hình dung hàm giống như một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máy xay sinh tố</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bạn bỏ nguyên liệu vào, máy xử lý bên trong, và trả ra ly sinh tố thơm ngon!</a:t>
            </a:r>
            <a:endParaRPr lang="en-US" sz="950" dirty="0"/>
          </a:p>
        </p:txBody>
      </p:sp>
      <p:sp>
        <p:nvSpPr>
          <p:cNvPr id="6" name="Shape 3"/>
          <p:cNvSpPr/>
          <p:nvPr/>
        </p:nvSpPr>
        <p:spPr>
          <a:xfrm>
            <a:off x="496119" y="1701924"/>
            <a:ext cx="14288" cy="675977"/>
          </a:xfrm>
          <a:prstGeom prst="rect">
            <a:avLst/>
          </a:prstGeom>
          <a:solidFill>
            <a:srgbClr val="BE2727"/>
          </a:solidFill>
          <a:ln/>
        </p:spPr>
      </p:sp>
      <p:pic>
        <p:nvPicPr>
          <p:cNvPr id="7" name="Image 1" descr="preencoded.png">    </p:cNvPr>
          <p:cNvPicPr>
            <a:picLocks noChangeAspect="1"/>
          </p:cNvPicPr>
          <p:nvPr/>
        </p:nvPicPr>
        <p:blipFill>
          <a:blip r:embed="rId2"/>
          <a:stretch>
            <a:fillRect/>
          </a:stretch>
        </p:blipFill>
        <p:spPr>
          <a:xfrm>
            <a:off x="496119" y="2517428"/>
            <a:ext cx="620167" cy="744215"/>
          </a:xfrm>
          <a:prstGeom prst="rect">
            <a:avLst/>
          </a:prstGeom>
        </p:spPr>
      </p:pic>
      <p:sp>
        <p:nvSpPr>
          <p:cNvPr id="8" name="Text 4"/>
          <p:cNvSpPr/>
          <p:nvPr/>
        </p:nvSpPr>
        <p:spPr>
          <a:xfrm>
            <a:off x="1240259" y="2641402"/>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Input (Parameter)</a:t>
            </a:r>
            <a:endParaRPr lang="en-US" sz="1200" dirty="0"/>
          </a:p>
        </p:txBody>
      </p:sp>
      <p:sp>
        <p:nvSpPr>
          <p:cNvPr id="9" name="Text 5"/>
          <p:cNvSpPr/>
          <p:nvPr/>
        </p:nvSpPr>
        <p:spPr>
          <a:xfrm>
            <a:off x="1240259" y="2909664"/>
            <a:ext cx="3978622"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Nguyên liệu bỏ vào máy</a:t>
            </a:r>
            <a:endParaRPr lang="en-US" sz="950" dirty="0"/>
          </a:p>
        </p:txBody>
      </p:sp>
      <p:pic>
        <p:nvPicPr>
          <p:cNvPr id="10" name="Image 2" descr="preencoded.png">    </p:cNvPr>
          <p:cNvPicPr>
            <a:picLocks noChangeAspect="1"/>
          </p:cNvPicPr>
          <p:nvPr/>
        </p:nvPicPr>
        <p:blipFill>
          <a:blip r:embed="rId3"/>
          <a:stretch>
            <a:fillRect/>
          </a:stretch>
        </p:blipFill>
        <p:spPr>
          <a:xfrm>
            <a:off x="496119" y="3261643"/>
            <a:ext cx="620167" cy="744215"/>
          </a:xfrm>
          <a:prstGeom prst="rect">
            <a:avLst/>
          </a:prstGeom>
        </p:spPr>
      </p:pic>
      <p:sp>
        <p:nvSpPr>
          <p:cNvPr id="11" name="Text 6"/>
          <p:cNvSpPr/>
          <p:nvPr/>
        </p:nvSpPr>
        <p:spPr>
          <a:xfrm>
            <a:off x="1240259" y="3385617"/>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Logic bên trong</a:t>
            </a:r>
            <a:endParaRPr lang="en-US" sz="1200" dirty="0"/>
          </a:p>
        </p:txBody>
      </p:sp>
      <p:sp>
        <p:nvSpPr>
          <p:cNvPr id="12" name="Text 7"/>
          <p:cNvSpPr/>
          <p:nvPr/>
        </p:nvSpPr>
        <p:spPr>
          <a:xfrm>
            <a:off x="1240259" y="3653879"/>
            <a:ext cx="3978622"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Máy thực hiện nhiệm vụ: xay nhuyễn</a:t>
            </a:r>
            <a:endParaRPr lang="en-US" sz="950" dirty="0"/>
          </a:p>
        </p:txBody>
      </p:sp>
      <p:pic>
        <p:nvPicPr>
          <p:cNvPr id="13" name="Image 3" descr="preencoded.png">    </p:cNvPr>
          <p:cNvPicPr>
            <a:picLocks noChangeAspect="1"/>
          </p:cNvPicPr>
          <p:nvPr/>
        </p:nvPicPr>
        <p:blipFill>
          <a:blip r:embed="rId4"/>
          <a:stretch>
            <a:fillRect/>
          </a:stretch>
        </p:blipFill>
        <p:spPr>
          <a:xfrm>
            <a:off x="496119" y="4005858"/>
            <a:ext cx="620167" cy="744215"/>
          </a:xfrm>
          <a:prstGeom prst="rect">
            <a:avLst/>
          </a:prstGeom>
        </p:spPr>
      </p:pic>
      <p:sp>
        <p:nvSpPr>
          <p:cNvPr id="14" name="Text 8"/>
          <p:cNvSpPr/>
          <p:nvPr/>
        </p:nvSpPr>
        <p:spPr>
          <a:xfrm>
            <a:off x="1240259" y="4129832"/>
            <a:ext cx="1809080"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Output (Return value)</a:t>
            </a:r>
            <a:endParaRPr lang="en-US" sz="1200" dirty="0"/>
          </a:p>
        </p:txBody>
      </p:sp>
      <p:sp>
        <p:nvSpPr>
          <p:cNvPr id="15" name="Text 9"/>
          <p:cNvSpPr/>
          <p:nvPr/>
        </p:nvSpPr>
        <p:spPr>
          <a:xfrm>
            <a:off x="1240259" y="4398094"/>
            <a:ext cx="3978622"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Ly sinh tố thơm ngon trả ra</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1217116"/>
            <a:ext cx="4403080"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Tại sao phải dùng Hàm?</a:t>
            </a:r>
            <a:endParaRPr lang="en-US" sz="2400" dirty="0"/>
          </a:p>
        </p:txBody>
      </p:sp>
      <p:sp>
        <p:nvSpPr>
          <p:cNvPr id="3" name="Text 1"/>
          <p:cNvSpPr/>
          <p:nvPr/>
        </p:nvSpPr>
        <p:spPr>
          <a:xfrm>
            <a:off x="496119" y="1852687"/>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Thay vì viết code từ trên xuống dưới một mạch, tại sao chúng ta lại cần tổ chức code thành các hàm? Đây là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3 lý do vàng</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mà mọi lập trình viên đều phải biết:</a:t>
            </a:r>
            <a:endParaRPr lang="en-US" sz="9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81831" y="2389138"/>
            <a:ext cx="2648843" cy="1537246"/>
          </a:xfrm>
          <a:prstGeom prst="rect">
            <a:avLst/>
          </a:prstGeom>
        </p:spPr>
      </p:pic>
      <p:sp>
        <p:nvSpPr>
          <p:cNvPr id="5" name="Text 2"/>
          <p:cNvSpPr/>
          <p:nvPr/>
        </p:nvSpPr>
        <p:spPr>
          <a:xfrm>
            <a:off x="677242" y="2527399"/>
            <a:ext cx="2315170" cy="392460"/>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 Tái sử dụng Code (Reusability)</a:t>
            </a:r>
            <a:endParaRPr lang="en-US" sz="1200" dirty="0"/>
          </a:p>
        </p:txBody>
      </p:sp>
      <p:sp>
        <p:nvSpPr>
          <p:cNvPr id="6" name="Text 3"/>
          <p:cNvSpPr/>
          <p:nvPr/>
        </p:nvSpPr>
        <p:spPr>
          <a:xfrm>
            <a:off x="677242" y="2994273"/>
            <a:ext cx="2315170"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Viết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một lần</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dùng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N lần</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Không cần copy-paste code đi copy-paste lại. Gọi tên hàm là xong — tiết kiệm hàng chục dòng code.</a:t>
            </a:r>
            <a:endParaRPr lang="en-US" sz="9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40360" y="2389138"/>
            <a:ext cx="2648917" cy="1537246"/>
          </a:xfrm>
          <a:prstGeom prst="rect">
            <a:avLst/>
          </a:prstGeom>
        </p:spPr>
      </p:pic>
      <p:sp>
        <p:nvSpPr>
          <p:cNvPr id="8" name="Text 4"/>
          <p:cNvSpPr/>
          <p:nvPr/>
        </p:nvSpPr>
        <p:spPr>
          <a:xfrm>
            <a:off x="3435772" y="2527399"/>
            <a:ext cx="2315245" cy="392460"/>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 Dễ bảo trì (Maintainability)</a:t>
            </a:r>
            <a:endParaRPr lang="en-US" sz="1200" dirty="0"/>
          </a:p>
        </p:txBody>
      </p:sp>
      <p:sp>
        <p:nvSpPr>
          <p:cNvPr id="9" name="Text 5"/>
          <p:cNvSpPr/>
          <p:nvPr/>
        </p:nvSpPr>
        <p:spPr>
          <a:xfrm>
            <a:off x="3435772" y="2994273"/>
            <a:ext cx="2315245"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Khi logic cần thay đổi, chỉ cần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sửa tại một nơi duy nhất</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trong hàm. Không lo bỏ sót chỗ nào vì code chỉ tồn tại ở một điểm.</a:t>
            </a:r>
            <a:endParaRPr lang="en-US" sz="9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98964" y="2389138"/>
            <a:ext cx="2648843" cy="1537246"/>
          </a:xfrm>
          <a:prstGeom prst="rect">
            <a:avLst/>
          </a:prstGeom>
        </p:spPr>
      </p:pic>
      <p:sp>
        <p:nvSpPr>
          <p:cNvPr id="11" name="Text 6"/>
          <p:cNvSpPr/>
          <p:nvPr/>
        </p:nvSpPr>
        <p:spPr>
          <a:xfrm>
            <a:off x="6194375" y="2527399"/>
            <a:ext cx="2315170" cy="392460"/>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 Code sạch &amp; dễ đọc (Readability)</a:t>
            </a:r>
            <a:endParaRPr lang="en-US" sz="1200" dirty="0"/>
          </a:p>
        </p:txBody>
      </p:sp>
      <p:sp>
        <p:nvSpPr>
          <p:cNvPr id="12" name="Text 7"/>
          <p:cNvSpPr/>
          <p:nvPr/>
        </p:nvSpPr>
        <p:spPr>
          <a:xfrm>
            <a:off x="6194375" y="2994273"/>
            <a:ext cx="2315170"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Chia bài toán lớn thành các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module nhỏ</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Nhìn vào tên hàm là biết ngay chương trình đang làm gì — như đọc một cuốn sách có mục lục rõ ràng.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759991"/>
            <a:ext cx="701799" cy="233214"/>
          </a:xfrm>
          <a:prstGeom prst="roundRect">
            <a:avLst>
              <a:gd name="adj" fmla="val 17872"/>
            </a:avLst>
          </a:prstGeom>
          <a:solidFill>
            <a:srgbClr val="F6D5D5"/>
          </a:solidFill>
          <a:ln/>
        </p:spPr>
      </p:sp>
      <p:sp>
        <p:nvSpPr>
          <p:cNvPr id="3" name="Text 1"/>
          <p:cNvSpPr/>
          <p:nvPr/>
        </p:nvSpPr>
        <p:spPr>
          <a:xfrm>
            <a:off x="570533" y="797198"/>
            <a:ext cx="1010171" cy="158800"/>
          </a:xfrm>
          <a:prstGeom prst="rect">
            <a:avLst/>
          </a:prstGeom>
          <a:noFill/>
          <a:ln/>
        </p:spPr>
        <p:txBody>
          <a:bodyPr wrap="none" lIns="0" tIns="0" rIns="0" bIns="0" rtlCol="0" anchor="t"/>
          <a:lstStyle/>
          <a:p>
            <a:pPr algn="l" indent="0" marL="0">
              <a:lnSpc>
                <a:spcPct val="133000"/>
              </a:lnSpc>
              <a:buNone/>
            </a:pPr>
            <a:r>
              <a:rPr lang="en-US" sz="750" dirty="0">
                <a:solidFill>
                  <a:srgbClr val="000000"/>
                </a:solidFill>
                <a:latin typeface="Montserrat" pitchFamily="34" charset="0"/>
                <a:ea typeface="Montserrat" pitchFamily="34" charset="-122"/>
                <a:cs typeface="Montserrat" pitchFamily="34" charset="-120"/>
              </a:rPr>
              <a:t>CHƯƠNG 2</a:t>
            </a:r>
            <a:endParaRPr lang="en-US" sz="750" dirty="0"/>
          </a:p>
        </p:txBody>
      </p:sp>
      <p:sp>
        <p:nvSpPr>
          <p:cNvPr id="4" name="Text 2"/>
          <p:cNvSpPr/>
          <p:nvPr/>
        </p:nvSpPr>
        <p:spPr>
          <a:xfrm>
            <a:off x="496119" y="1042764"/>
            <a:ext cx="5143500"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Cú pháp Khai báo &amp; Gọi hàm</a:t>
            </a:r>
            <a:endParaRPr lang="en-US" sz="2400" dirty="0"/>
          </a:p>
        </p:txBody>
      </p:sp>
      <p:sp>
        <p:nvSpPr>
          <p:cNvPr id="5" name="Text 3"/>
          <p:cNvSpPr/>
          <p:nvPr/>
        </p:nvSpPr>
        <p:spPr>
          <a:xfrm>
            <a:off x="496119" y="1616348"/>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Để sử dụng hàm trong Python, chúng ta có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2 bước bắt buộc</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Khai báo</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(định nghĩa hàm) và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Gọi hàm</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(thực thi hàm). Thiếu một trong hai bước, hàm sẽ không hoạt động!</a:t>
            </a:r>
            <a:endParaRPr lang="en-US" sz="950" dirty="0"/>
          </a:p>
        </p:txBody>
      </p:sp>
      <p:sp>
        <p:nvSpPr>
          <p:cNvPr id="6" name="Shape 4"/>
          <p:cNvSpPr/>
          <p:nvPr/>
        </p:nvSpPr>
        <p:spPr>
          <a:xfrm>
            <a:off x="406822" y="2152799"/>
            <a:ext cx="4103191" cy="2230710"/>
          </a:xfrm>
          <a:prstGeom prst="roundRect">
            <a:avLst>
              <a:gd name="adj" fmla="val 4004"/>
            </a:avLst>
          </a:prstGeom>
          <a:solidFill>
            <a:srgbClr val="BE2727"/>
          </a:solidFill>
          <a:ln/>
        </p:spPr>
      </p:sp>
      <p:sp>
        <p:nvSpPr>
          <p:cNvPr id="7" name="Text 5"/>
          <p:cNvSpPr/>
          <p:nvPr/>
        </p:nvSpPr>
        <p:spPr>
          <a:xfrm>
            <a:off x="530796" y="2276773"/>
            <a:ext cx="2212032"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Montserrat ExtraBold" pitchFamily="34" charset="0"/>
                <a:ea typeface="Montserrat ExtraBold" pitchFamily="34" charset="-122"/>
                <a:cs typeface="Montserrat ExtraBold" pitchFamily="34" charset="-120"/>
              </a:rPr>
              <a:t>Bước 1: Khai báo hàm</a:t>
            </a:r>
            <a:endParaRPr lang="en-US" sz="1200" dirty="0"/>
          </a:p>
        </p:txBody>
      </p:sp>
      <p:sp>
        <p:nvSpPr>
          <p:cNvPr id="8" name="Text 6"/>
          <p:cNvSpPr/>
          <p:nvPr/>
        </p:nvSpPr>
        <p:spPr>
          <a:xfrm>
            <a:off x="530796" y="2594595"/>
            <a:ext cx="4312444" cy="203225"/>
          </a:xfrm>
          <a:prstGeom prst="rect">
            <a:avLst/>
          </a:prstGeom>
          <a:noFill/>
          <a:ln/>
        </p:spPr>
        <p:txBody>
          <a:bodyPr wrap="none" lIns="0" tIns="0" rIns="0" bIns="0" rtlCol="0" anchor="t"/>
          <a:lstStyle/>
          <a:p>
            <a:pPr algn="l" indent="0" marL="0">
              <a:lnSpc>
                <a:spcPct val="133000"/>
              </a:lnSpc>
              <a:buNone/>
            </a:pPr>
            <a:r>
              <a:rPr lang="en-US" sz="950" dirty="0">
                <a:solidFill>
                  <a:srgbClr val="FFFFFF"/>
                </a:solidFill>
                <a:latin typeface="Montserrat" pitchFamily="34" charset="0"/>
                <a:ea typeface="Montserrat" pitchFamily="34" charset="-122"/>
                <a:cs typeface="Montserrat" pitchFamily="34" charset="-120"/>
              </a:rPr>
              <a:t>Dùng từ khóa </a:t>
            </a:r>
            <a:pPr algn="l" indent="0" marL="0">
              <a:lnSpc>
                <a:spcPct val="133000"/>
              </a:lnSpc>
              <a:buNone/>
            </a:pPr>
            <a:r>
              <a:rPr lang="en-US" sz="950" dirty="0">
                <a:solidFill>
                  <a:srgbClr val="FFFFFF"/>
                </a:solidFill>
                <a:highlight>
                  <a:srgbClr val="CB3434"/>
                </a:highlight>
                <a:latin typeface="Consolas" pitchFamily="34" charset="0"/>
                <a:ea typeface="Consolas" pitchFamily="34" charset="-122"/>
                <a:cs typeface="Consolas" pitchFamily="34" charset="-120"/>
              </a:rPr>
              <a:t>def</a:t>
            </a:r>
            <a:pPr algn="l" indent="0" marL="0">
              <a:lnSpc>
                <a:spcPct val="133000"/>
              </a:lnSpc>
              <a:buNone/>
            </a:pPr>
            <a:r>
              <a:rPr lang="en-US" sz="950" dirty="0">
                <a:solidFill>
                  <a:srgbClr val="FFFFFF"/>
                </a:solidFill>
                <a:latin typeface="Montserrat" pitchFamily="34" charset="0"/>
                <a:ea typeface="Montserrat" pitchFamily="34" charset="-122"/>
                <a:cs typeface="Montserrat" pitchFamily="34" charset="-120"/>
              </a:rPr>
              <a:t> (viết tắt của </a:t>
            </a:r>
            <a:pPr algn="l" indent="0" marL="0">
              <a:lnSpc>
                <a:spcPct val="133000"/>
              </a:lnSpc>
              <a:buNone/>
            </a:pPr>
            <a:r>
              <a:rPr lang="en-US" sz="950" i="1" dirty="0">
                <a:solidFill>
                  <a:srgbClr val="FFFFFF"/>
                </a:solidFill>
                <a:latin typeface="Montserrat" pitchFamily="34" charset="0"/>
                <a:ea typeface="Montserrat" pitchFamily="34" charset="-122"/>
                <a:cs typeface="Montserrat" pitchFamily="34" charset="-120"/>
              </a:rPr>
              <a:t>define</a:t>
            </a:r>
            <a:pPr algn="l" indent="0" marL="0">
              <a:lnSpc>
                <a:spcPct val="133000"/>
              </a:lnSpc>
              <a:buNone/>
            </a:pPr>
            <a:r>
              <a:rPr lang="en-US" sz="950" dirty="0">
                <a:solidFill>
                  <a:srgbClr val="FFFFFF"/>
                </a:solidFill>
                <a:latin typeface="Montserrat" pitchFamily="34" charset="0"/>
                <a:ea typeface="Montserrat" pitchFamily="34" charset="-122"/>
                <a:cs typeface="Montserrat" pitchFamily="34" charset="-120"/>
              </a:rPr>
              <a:t>):</a:t>
            </a:r>
            <a:endParaRPr lang="en-US" sz="950" dirty="0"/>
          </a:p>
        </p:txBody>
      </p:sp>
      <p:sp>
        <p:nvSpPr>
          <p:cNvPr id="9" name="Shape 7"/>
          <p:cNvSpPr/>
          <p:nvPr/>
        </p:nvSpPr>
        <p:spPr>
          <a:xfrm>
            <a:off x="530796" y="2937346"/>
            <a:ext cx="3855244" cy="843335"/>
          </a:xfrm>
          <a:prstGeom prst="roundRect">
            <a:avLst>
              <a:gd name="adj" fmla="val 6178"/>
            </a:avLst>
          </a:prstGeom>
          <a:solidFill>
            <a:srgbClr val="CB3434"/>
          </a:solidFill>
          <a:ln/>
        </p:spPr>
      </p:sp>
      <p:sp>
        <p:nvSpPr>
          <p:cNvPr id="10" name="Shape 8"/>
          <p:cNvSpPr/>
          <p:nvPr/>
        </p:nvSpPr>
        <p:spPr>
          <a:xfrm>
            <a:off x="524619" y="2937346"/>
            <a:ext cx="3867596" cy="843335"/>
          </a:xfrm>
          <a:prstGeom prst="roundRect">
            <a:avLst>
              <a:gd name="adj" fmla="val 2206"/>
            </a:avLst>
          </a:prstGeom>
          <a:solidFill>
            <a:srgbClr val="CB3434"/>
          </a:solidFill>
          <a:ln/>
        </p:spPr>
      </p:sp>
      <p:sp>
        <p:nvSpPr>
          <p:cNvPr id="11" name="Text 9"/>
          <p:cNvSpPr/>
          <p:nvPr/>
        </p:nvSpPr>
        <p:spPr>
          <a:xfrm>
            <a:off x="679624" y="3061320"/>
            <a:ext cx="3557588"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D73A49"/>
                </a:solidFill>
                <a:highlight>
                  <a:srgbClr val="CB3434"/>
                </a:highlight>
                <a:latin typeface="Consolas" pitchFamily="34" charset="0"/>
                <a:ea typeface="Consolas" pitchFamily="34" charset="-122"/>
                <a:cs typeface="Consolas" pitchFamily="34" charset="-120"/>
              </a:rPr>
              <a:t>def function_name(param_1, param_2):</a:t>
            </a:r>
            <a:endParaRPr lang="en-US" sz="950" dirty="0"/>
          </a:p>
          <a:p>
            <a:pPr algn="l" indent="0" marL="0">
              <a:lnSpc>
                <a:spcPct val="133000"/>
              </a:lnSpc>
              <a:buNone/>
            </a:pPr>
            <a:r>
              <a:rPr lang="en-US" sz="950" dirty="0">
                <a:solidFill>
                  <a:srgbClr val="D73A49"/>
                </a:solidFill>
                <a:highlight>
                  <a:srgbClr val="CB3434"/>
                </a:highlight>
                <a:latin typeface="Consolas" pitchFamily="34" charset="0"/>
                <a:ea typeface="Consolas" pitchFamily="34" charset="-122"/>
                <a:cs typeface="Consolas" pitchFamily="34" charset="-120"/>
              </a:rPr>
              <a:t>    # Block code xử lý</a:t>
            </a:r>
            <a:endParaRPr lang="en-US" sz="950" dirty="0"/>
          </a:p>
          <a:p>
            <a:pPr algn="l" indent="0" marL="0">
              <a:lnSpc>
                <a:spcPct val="133000"/>
              </a:lnSpc>
              <a:buNone/>
            </a:pPr>
            <a:r>
              <a:rPr lang="en-US" sz="950" dirty="0">
                <a:solidFill>
                  <a:srgbClr val="D73A49"/>
                </a:solidFill>
                <a:highlight>
                  <a:srgbClr val="CB3434"/>
                </a:highlight>
                <a:latin typeface="Consolas" pitchFamily="34" charset="0"/>
                <a:ea typeface="Consolas" pitchFamily="34" charset="-122"/>
                <a:cs typeface="Consolas" pitchFamily="34" charset="-120"/>
              </a:rPr>
              <a:t>    # Lưu ý: Luôn lùi đầu dòng!</a:t>
            </a:r>
            <a:endParaRPr lang="en-US" sz="950" dirty="0"/>
          </a:p>
        </p:txBody>
      </p:sp>
      <p:sp>
        <p:nvSpPr>
          <p:cNvPr id="12" name="Text 10"/>
          <p:cNvSpPr/>
          <p:nvPr/>
        </p:nvSpPr>
        <p:spPr>
          <a:xfrm>
            <a:off x="4728046" y="2276773"/>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BE2727"/>
                </a:solidFill>
                <a:latin typeface="Montserrat ExtraBold" pitchFamily="34" charset="0"/>
                <a:ea typeface="Montserrat ExtraBold" pitchFamily="34" charset="-122"/>
                <a:cs typeface="Montserrat ExtraBold" pitchFamily="34" charset="-120"/>
              </a:rPr>
              <a:t>Bước 2: Gọi hàm</a:t>
            </a:r>
            <a:endParaRPr lang="en-US" sz="1200" dirty="0"/>
          </a:p>
        </p:txBody>
      </p:sp>
      <p:sp>
        <p:nvSpPr>
          <p:cNvPr id="13" name="Text 11"/>
          <p:cNvSpPr/>
          <p:nvPr/>
        </p:nvSpPr>
        <p:spPr>
          <a:xfrm>
            <a:off x="4728046" y="2594595"/>
            <a:ext cx="4381798"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Viết tên hàm và truyền các giá trị vào:</a:t>
            </a:r>
            <a:endParaRPr lang="en-US" sz="950" dirty="0"/>
          </a:p>
        </p:txBody>
      </p:sp>
      <p:sp>
        <p:nvSpPr>
          <p:cNvPr id="14" name="Shape 12"/>
          <p:cNvSpPr/>
          <p:nvPr/>
        </p:nvSpPr>
        <p:spPr>
          <a:xfrm>
            <a:off x="4728046" y="2932584"/>
            <a:ext cx="3924598" cy="446410"/>
          </a:xfrm>
          <a:prstGeom prst="roundRect">
            <a:avLst>
              <a:gd name="adj" fmla="val 11671"/>
            </a:avLst>
          </a:prstGeom>
          <a:solidFill>
            <a:srgbClr val="F2F2F2"/>
          </a:solidFill>
          <a:ln/>
        </p:spPr>
      </p:sp>
      <p:sp>
        <p:nvSpPr>
          <p:cNvPr id="15" name="Shape 13"/>
          <p:cNvSpPr/>
          <p:nvPr/>
        </p:nvSpPr>
        <p:spPr>
          <a:xfrm>
            <a:off x="4721870" y="2932584"/>
            <a:ext cx="3936950" cy="446410"/>
          </a:xfrm>
          <a:prstGeom prst="roundRect">
            <a:avLst>
              <a:gd name="adj" fmla="val 4168"/>
            </a:avLst>
          </a:prstGeom>
          <a:solidFill>
            <a:srgbClr val="F2F2F2"/>
          </a:solidFill>
          <a:ln/>
        </p:spPr>
      </p:sp>
      <p:sp>
        <p:nvSpPr>
          <p:cNvPr id="16" name="Text 14"/>
          <p:cNvSpPr/>
          <p:nvPr/>
        </p:nvSpPr>
        <p:spPr>
          <a:xfrm>
            <a:off x="4876874" y="3056558"/>
            <a:ext cx="4084141" cy="198462"/>
          </a:xfrm>
          <a:prstGeom prst="rect">
            <a:avLst/>
          </a:prstGeom>
          <a:noFill/>
          <a:ln/>
        </p:spPr>
        <p:txBody>
          <a:bodyPr wrap="none" lIns="0" tIns="0" rIns="0" bIns="0" rtlCol="0" anchor="t"/>
          <a:lstStyle/>
          <a:p>
            <a:pPr algn="l" indent="0" marL="0">
              <a:lnSpc>
                <a:spcPct val="133000"/>
              </a:lnSpc>
              <a:buNone/>
            </a:pPr>
            <a:r>
              <a:rPr lang="en-US" sz="950" dirty="0">
                <a:solidFill>
                  <a:srgbClr val="E36209"/>
                </a:solidFill>
                <a:highlight>
                  <a:srgbClr val="F2F2F2"/>
                </a:highlight>
                <a:latin typeface="Consolas" pitchFamily="34" charset="0"/>
                <a:ea typeface="Consolas" pitchFamily="34" charset="-122"/>
                <a:cs typeface="Consolas" pitchFamily="34" charset="-120"/>
              </a:rPr>
              <a:t>function_name(argument_1, argument_2)</a:t>
            </a:r>
            <a:endParaRPr lang="en-US" sz="950" dirty="0"/>
          </a:p>
        </p:txBody>
      </p:sp>
      <p:sp>
        <p:nvSpPr>
          <p:cNvPr id="17" name="Shape 15"/>
          <p:cNvSpPr/>
          <p:nvPr/>
        </p:nvSpPr>
        <p:spPr>
          <a:xfrm>
            <a:off x="4728046" y="3518520"/>
            <a:ext cx="3924598" cy="725463"/>
          </a:xfrm>
          <a:prstGeom prst="roundRect">
            <a:avLst>
              <a:gd name="adj" fmla="val 7182"/>
            </a:avLst>
          </a:prstGeom>
          <a:solidFill>
            <a:srgbClr val="B6D6FC"/>
          </a:solidFill>
          <a:ln/>
        </p:spPr>
      </p:sp>
      <p:pic>
        <p:nvPicPr>
          <p:cNvPr id="18" name="Image 0" descr="preencoded.png">    </p:cNvPr>
          <p:cNvPicPr>
            <a:picLocks noChangeAspect="1"/>
          </p:cNvPicPr>
          <p:nvPr/>
        </p:nvPicPr>
        <p:blipFill>
          <a:blip r:embed="rId1"/>
          <a:stretch>
            <a:fillRect/>
          </a:stretch>
        </p:blipFill>
        <p:spPr>
          <a:xfrm>
            <a:off x="4852020" y="3703067"/>
            <a:ext cx="155004" cy="123974"/>
          </a:xfrm>
          <a:prstGeom prst="rect">
            <a:avLst/>
          </a:prstGeom>
        </p:spPr>
      </p:pic>
      <p:sp>
        <p:nvSpPr>
          <p:cNvPr id="19" name="Text 16"/>
          <p:cNvSpPr/>
          <p:nvPr/>
        </p:nvSpPr>
        <p:spPr>
          <a:xfrm>
            <a:off x="5130998" y="3673450"/>
            <a:ext cx="3397672"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Khai báo hàm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không tự chạy</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 phải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gọi hàm</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thì code bên trong mới được thực thi!</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730523"/>
            <a:ext cx="5076899"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Ví dụ thực tế: Hàm xin_chào</a:t>
            </a:r>
            <a:endParaRPr lang="en-US" sz="2400" dirty="0"/>
          </a:p>
        </p:txBody>
      </p:sp>
      <p:sp>
        <p:nvSpPr>
          <p:cNvPr id="3" name="Text 1"/>
          <p:cNvSpPr/>
          <p:nvPr/>
        </p:nvSpPr>
        <p:spPr>
          <a:xfrm>
            <a:off x="496119" y="1366093"/>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Hãy xem ví dụ đơn giản sau để hiểu rõ cách khai báo và gọi hàm trong thực tế:</a:t>
            </a:r>
            <a:endParaRPr lang="en-US" sz="950" dirty="0"/>
          </a:p>
        </p:txBody>
      </p:sp>
      <p:sp>
        <p:nvSpPr>
          <p:cNvPr id="4" name="Shape 2"/>
          <p:cNvSpPr/>
          <p:nvPr/>
        </p:nvSpPr>
        <p:spPr>
          <a:xfrm>
            <a:off x="496119" y="1704082"/>
            <a:ext cx="8151763" cy="1637184"/>
          </a:xfrm>
          <a:prstGeom prst="roundRect">
            <a:avLst>
              <a:gd name="adj" fmla="val 3182"/>
            </a:avLst>
          </a:prstGeom>
          <a:solidFill>
            <a:srgbClr val="F2F2F2"/>
          </a:solidFill>
          <a:ln/>
        </p:spPr>
      </p:sp>
      <p:sp>
        <p:nvSpPr>
          <p:cNvPr id="5" name="Shape 3"/>
          <p:cNvSpPr/>
          <p:nvPr/>
        </p:nvSpPr>
        <p:spPr>
          <a:xfrm>
            <a:off x="489942" y="1704082"/>
            <a:ext cx="8164116" cy="1637184"/>
          </a:xfrm>
          <a:prstGeom prst="roundRect">
            <a:avLst>
              <a:gd name="adj" fmla="val 1137"/>
            </a:avLst>
          </a:prstGeom>
          <a:solidFill>
            <a:srgbClr val="F2F2F2"/>
          </a:solidFill>
          <a:ln/>
        </p:spPr>
      </p:sp>
      <p:sp>
        <p:nvSpPr>
          <p:cNvPr id="6" name="Text 4"/>
          <p:cNvSpPr/>
          <p:nvPr/>
        </p:nvSpPr>
        <p:spPr>
          <a:xfrm>
            <a:off x="644947" y="1828056"/>
            <a:ext cx="7854107" cy="1389236"/>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 BƯỚC 1: KHAI BÁO HÀM =====</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def xin_chao(ten):</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print(f"Chào mừng em {ten} đã đến với lớp học Python!")</a:t>
            </a:r>
            <a:endParaRPr lang="en-US" sz="950" dirty="0"/>
          </a:p>
          <a:p>
            <a:pPr algn="l" indent="0" marL="0">
              <a:lnSpc>
                <a:spcPct val="133000"/>
              </a:lnSpc>
              <a:buNone/>
            </a:pP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 BƯỚC 2: GỌI HÀM (nhiều lần) =====</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xin_chao("Minh")     # In ra: Chào mừng em Minh đã đến với lớp học Python!</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xin_chao("Phương")   # In ra: Chào mừng em Phương đã đến với lớp học Python!</a:t>
            </a:r>
            <a:endParaRPr lang="en-US" sz="950" dirty="0"/>
          </a:p>
        </p:txBody>
      </p:sp>
      <p:sp>
        <p:nvSpPr>
          <p:cNvPr id="7" name="Shape 5"/>
          <p:cNvSpPr/>
          <p:nvPr/>
        </p:nvSpPr>
        <p:spPr>
          <a:xfrm>
            <a:off x="496119" y="3480792"/>
            <a:ext cx="2634555" cy="932185"/>
          </a:xfrm>
          <a:prstGeom prst="roundRect">
            <a:avLst>
              <a:gd name="adj" fmla="val 5589"/>
            </a:avLst>
          </a:prstGeom>
          <a:solidFill>
            <a:srgbClr val="F6D5D5"/>
          </a:solidFill>
          <a:ln w="4763">
            <a:solidFill>
              <a:srgbClr val="DCBBBB"/>
            </a:solidFill>
            <a:prstDash val="solid"/>
          </a:ln>
        </p:spPr>
      </p:sp>
      <p:sp>
        <p:nvSpPr>
          <p:cNvPr id="8" name="Text 6"/>
          <p:cNvSpPr/>
          <p:nvPr/>
        </p:nvSpPr>
        <p:spPr>
          <a:xfrm>
            <a:off x="624855" y="3609529"/>
            <a:ext cx="1556965"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 Định nghĩa 1 lần</a:t>
            </a:r>
            <a:endParaRPr lang="en-US" sz="1200" dirty="0"/>
          </a:p>
        </p:txBody>
      </p:sp>
      <p:sp>
        <p:nvSpPr>
          <p:cNvPr id="9" name="Text 7"/>
          <p:cNvSpPr/>
          <p:nvPr/>
        </p:nvSpPr>
        <p:spPr>
          <a:xfrm>
            <a:off x="624855" y="3882554"/>
            <a:ext cx="2377083" cy="4016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Hàm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xin_chao</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chỉ cần viết 1 lần duy nhất</a:t>
            </a:r>
            <a:endParaRPr lang="en-US" sz="950" dirty="0"/>
          </a:p>
        </p:txBody>
      </p:sp>
      <p:sp>
        <p:nvSpPr>
          <p:cNvPr id="10" name="Shape 8"/>
          <p:cNvSpPr/>
          <p:nvPr/>
        </p:nvSpPr>
        <p:spPr>
          <a:xfrm>
            <a:off x="3254648" y="3480792"/>
            <a:ext cx="2634630" cy="932185"/>
          </a:xfrm>
          <a:prstGeom prst="roundRect">
            <a:avLst>
              <a:gd name="adj" fmla="val 5589"/>
            </a:avLst>
          </a:prstGeom>
          <a:solidFill>
            <a:srgbClr val="F6D5D5"/>
          </a:solidFill>
          <a:ln w="4763">
            <a:solidFill>
              <a:srgbClr val="DCBBBB"/>
            </a:solidFill>
            <a:prstDash val="solid"/>
          </a:ln>
        </p:spPr>
      </p:sp>
      <p:sp>
        <p:nvSpPr>
          <p:cNvPr id="11" name="Text 9"/>
          <p:cNvSpPr/>
          <p:nvPr/>
        </p:nvSpPr>
        <p:spPr>
          <a:xfrm>
            <a:off x="3383384" y="3609529"/>
            <a:ext cx="1550566"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 Gọi N lần</a:t>
            </a:r>
            <a:endParaRPr lang="en-US" sz="1200" dirty="0"/>
          </a:p>
        </p:txBody>
      </p:sp>
      <p:sp>
        <p:nvSpPr>
          <p:cNvPr id="12" name="Text 10"/>
          <p:cNvSpPr/>
          <p:nvPr/>
        </p:nvSpPr>
        <p:spPr>
          <a:xfrm>
            <a:off x="3383384" y="3882554"/>
            <a:ext cx="2377157"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Có thể gọi hàm bao nhiêu lần tuỳ ý với các tên khác nhau</a:t>
            </a:r>
            <a:endParaRPr lang="en-US" sz="950" dirty="0"/>
          </a:p>
        </p:txBody>
      </p:sp>
      <p:sp>
        <p:nvSpPr>
          <p:cNvPr id="13" name="Shape 11"/>
          <p:cNvSpPr/>
          <p:nvPr/>
        </p:nvSpPr>
        <p:spPr>
          <a:xfrm>
            <a:off x="6013252" y="3480792"/>
            <a:ext cx="2634555" cy="932185"/>
          </a:xfrm>
          <a:prstGeom prst="roundRect">
            <a:avLst>
              <a:gd name="adj" fmla="val 5589"/>
            </a:avLst>
          </a:prstGeom>
          <a:solidFill>
            <a:srgbClr val="F6D5D5"/>
          </a:solidFill>
          <a:ln w="4763">
            <a:solidFill>
              <a:srgbClr val="DCBBBB"/>
            </a:solidFill>
            <a:prstDash val="solid"/>
          </a:ln>
        </p:spPr>
      </p:sp>
      <p:sp>
        <p:nvSpPr>
          <p:cNvPr id="14" name="Text 12"/>
          <p:cNvSpPr/>
          <p:nvPr/>
        </p:nvSpPr>
        <p:spPr>
          <a:xfrm>
            <a:off x="6141988" y="3609529"/>
            <a:ext cx="1793007"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 Kết quả khác nhau</a:t>
            </a:r>
            <a:endParaRPr lang="en-US" sz="1200" dirty="0"/>
          </a:p>
        </p:txBody>
      </p:sp>
      <p:sp>
        <p:nvSpPr>
          <p:cNvPr id="15" name="Text 13"/>
          <p:cNvSpPr/>
          <p:nvPr/>
        </p:nvSpPr>
        <p:spPr>
          <a:xfrm>
            <a:off x="6141988" y="3882554"/>
            <a:ext cx="2377083" cy="4016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Mỗi lần gọi, tên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ten</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nhận giá trị mới được truyền vào</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482650"/>
            <a:ext cx="7122765"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Parameter vs. Argument — Phân biệt rõ!</a:t>
            </a:r>
            <a:endParaRPr lang="en-US" sz="2400" dirty="0"/>
          </a:p>
        </p:txBody>
      </p:sp>
      <p:sp>
        <p:nvSpPr>
          <p:cNvPr id="3" name="Text 1"/>
          <p:cNvSpPr/>
          <p:nvPr/>
        </p:nvSpPr>
        <p:spPr>
          <a:xfrm>
            <a:off x="496119" y="1118220"/>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Đây là cặp khái niệm khiến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rất nhiều lập trình viên kinh nghiệm vẫn nhầm lẫn</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Hãy ghi nhớ kỹ sự khác biệt này một lần và mãi mãi:</a:t>
            </a:r>
            <a:endParaRPr lang="en-US" sz="950" dirty="0"/>
          </a:p>
        </p:txBody>
      </p:sp>
      <p:sp>
        <p:nvSpPr>
          <p:cNvPr id="4" name="Shape 2"/>
          <p:cNvSpPr/>
          <p:nvPr/>
        </p:nvSpPr>
        <p:spPr>
          <a:xfrm>
            <a:off x="406822" y="1654671"/>
            <a:ext cx="4103191" cy="1158329"/>
          </a:xfrm>
          <a:prstGeom prst="roundRect">
            <a:avLst>
              <a:gd name="adj" fmla="val 7711"/>
            </a:avLst>
          </a:prstGeom>
          <a:solidFill>
            <a:srgbClr val="5B81B2"/>
          </a:solidFill>
          <a:ln/>
        </p:spPr>
      </p:sp>
      <p:sp>
        <p:nvSpPr>
          <p:cNvPr id="5" name="Text 3"/>
          <p:cNvSpPr/>
          <p:nvPr/>
        </p:nvSpPr>
        <p:spPr>
          <a:xfrm>
            <a:off x="530796" y="1778645"/>
            <a:ext cx="2420541"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 Parameter (Tham số)</a:t>
            </a:r>
            <a:endParaRPr lang="en-US" sz="1200" dirty="0"/>
          </a:p>
        </p:txBody>
      </p:sp>
      <p:sp>
        <p:nvSpPr>
          <p:cNvPr id="6" name="Text 4"/>
          <p:cNvSpPr/>
          <p:nvPr/>
        </p:nvSpPr>
        <p:spPr>
          <a:xfrm>
            <a:off x="530796" y="2101230"/>
            <a:ext cx="3855244" cy="6001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Là các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biến đại diện</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được định nghĩa trong cặp ngoặc đơn </a:t>
            </a:r>
            <a:pPr algn="l" indent="0" marL="0">
              <a:lnSpc>
                <a:spcPct val="133000"/>
              </a:lnSpc>
              <a:buNone/>
            </a:pPr>
            <a:r>
              <a:rPr lang="en-US" sz="950" dirty="0">
                <a:solidFill>
                  <a:srgbClr val="000000"/>
                </a:solidFill>
                <a:highlight>
                  <a:srgbClr val="688EBF"/>
                </a:highlight>
                <a:latin typeface="Consolas" pitchFamily="34" charset="0"/>
                <a:ea typeface="Consolas" pitchFamily="34" charset="-122"/>
                <a:cs typeface="Consolas" pitchFamily="34" charset="-120"/>
              </a:rPr>
              <a:t>()</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lúc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khai báo hàm</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Nó đóng vai trò như một "ô trống" chờ nhận giá trị.</a:t>
            </a:r>
            <a:endParaRPr lang="en-US" sz="950" dirty="0"/>
          </a:p>
        </p:txBody>
      </p:sp>
      <p:sp>
        <p:nvSpPr>
          <p:cNvPr id="7" name="Text 5"/>
          <p:cNvSpPr/>
          <p:nvPr/>
        </p:nvSpPr>
        <p:spPr>
          <a:xfrm>
            <a:off x="4728046" y="1778645"/>
            <a:ext cx="2216125"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200" dirty="0">
                <a:solidFill>
                  <a:srgbClr val="BE2727"/>
                </a:solidFill>
                <a:latin typeface="Montserrat ExtraBold" pitchFamily="34" charset="0"/>
                <a:ea typeface="Montserrat ExtraBold" pitchFamily="34" charset="-122"/>
                <a:cs typeface="Montserrat ExtraBold" pitchFamily="34" charset="-120"/>
              </a:rPr>
              <a:t> Argument (Đối số)</a:t>
            </a:r>
            <a:endParaRPr lang="en-US" sz="1200" dirty="0"/>
          </a:p>
        </p:txBody>
      </p:sp>
      <p:sp>
        <p:nvSpPr>
          <p:cNvPr id="8" name="Text 6"/>
          <p:cNvSpPr/>
          <p:nvPr/>
        </p:nvSpPr>
        <p:spPr>
          <a:xfrm>
            <a:off x="4728046" y="2101230"/>
            <a:ext cx="3924598"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Là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giá trị thực tế</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mà các em truyền vào hàm khi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gọi hàm</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Đây là dữ liệu cụ thể điền vào "ô trống" ở trên.</a:t>
            </a:r>
            <a:endParaRPr lang="en-US" sz="950" dirty="0"/>
          </a:p>
        </p:txBody>
      </p:sp>
      <p:sp>
        <p:nvSpPr>
          <p:cNvPr id="9" name="Shape 7"/>
          <p:cNvSpPr/>
          <p:nvPr/>
        </p:nvSpPr>
        <p:spPr>
          <a:xfrm>
            <a:off x="496119" y="2952527"/>
            <a:ext cx="8151763" cy="1041797"/>
          </a:xfrm>
          <a:prstGeom prst="roundRect">
            <a:avLst>
              <a:gd name="adj" fmla="val 5001"/>
            </a:avLst>
          </a:prstGeom>
          <a:solidFill>
            <a:srgbClr val="F2F2F2"/>
          </a:solidFill>
          <a:ln/>
        </p:spPr>
      </p:sp>
      <p:sp>
        <p:nvSpPr>
          <p:cNvPr id="10" name="Shape 8"/>
          <p:cNvSpPr/>
          <p:nvPr/>
        </p:nvSpPr>
        <p:spPr>
          <a:xfrm>
            <a:off x="489942" y="2952527"/>
            <a:ext cx="8164116" cy="1041797"/>
          </a:xfrm>
          <a:prstGeom prst="roundRect">
            <a:avLst>
              <a:gd name="adj" fmla="val 1786"/>
            </a:avLst>
          </a:prstGeom>
          <a:solidFill>
            <a:srgbClr val="F2F2F2"/>
          </a:solidFill>
          <a:ln/>
        </p:spPr>
      </p:sp>
      <p:sp>
        <p:nvSpPr>
          <p:cNvPr id="11" name="Text 9"/>
          <p:cNvSpPr/>
          <p:nvPr/>
        </p:nvSpPr>
        <p:spPr>
          <a:xfrm>
            <a:off x="644947" y="3076501"/>
            <a:ext cx="7854107"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def tinh_tong(a, b):   # ← a và b là PARAMETERS (tham số)</a:t>
            </a:r>
            <a:endParaRPr lang="en-US" sz="950" dirty="0"/>
          </a:p>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print(a + b)</a:t>
            </a:r>
            <a:endParaRPr lang="en-US" sz="950" dirty="0"/>
          </a:p>
          <a:p>
            <a:pPr algn="l" indent="0" marL="0">
              <a:lnSpc>
                <a:spcPct val="133000"/>
              </a:lnSpc>
              <a:buNone/>
            </a:pPr>
            <a:endParaRPr lang="en-US" sz="950" dirty="0"/>
          </a:p>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tinh_tong(5, 10)       # ← 5 và 10 là ARGUMENTS (đối số)</a:t>
            </a:r>
            <a:endParaRPr lang="en-US" sz="950" dirty="0"/>
          </a:p>
        </p:txBody>
      </p:sp>
      <p:sp>
        <p:nvSpPr>
          <p:cNvPr id="12" name="Shape 10"/>
          <p:cNvSpPr/>
          <p:nvPr/>
        </p:nvSpPr>
        <p:spPr>
          <a:xfrm>
            <a:off x="496119" y="4133850"/>
            <a:ext cx="8151763" cy="527000"/>
          </a:xfrm>
          <a:prstGeom prst="roundRect">
            <a:avLst>
              <a:gd name="adj" fmla="val 9886"/>
            </a:avLst>
          </a:prstGeom>
          <a:solidFill>
            <a:srgbClr val="B6FCB8"/>
          </a:solidFill>
          <a:ln/>
        </p:spPr>
      </p:sp>
      <p:pic>
        <p:nvPicPr>
          <p:cNvPr id="13" name="Image 0" descr="preencoded.png">    </p:cNvPr>
          <p:cNvPicPr>
            <a:picLocks noChangeAspect="1"/>
          </p:cNvPicPr>
          <p:nvPr/>
        </p:nvPicPr>
        <p:blipFill>
          <a:blip r:embed="rId1"/>
          <a:stretch>
            <a:fillRect/>
          </a:stretch>
        </p:blipFill>
        <p:spPr>
          <a:xfrm>
            <a:off x="620092" y="4318397"/>
            <a:ext cx="155004" cy="123974"/>
          </a:xfrm>
          <a:prstGeom prst="rect">
            <a:avLst/>
          </a:prstGeom>
        </p:spPr>
      </p:pic>
      <p:sp>
        <p:nvSpPr>
          <p:cNvPr id="14" name="Text 11"/>
          <p:cNvSpPr/>
          <p:nvPr/>
        </p:nvSpPr>
        <p:spPr>
          <a:xfrm>
            <a:off x="899071" y="4288780"/>
            <a:ext cx="8082037"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Cách nhớ nhanh: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Parameter</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 "P" = định nghĩa khi viết hàm.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Argument</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 "A" = giá trị thực khi gọi hàm.</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364331" y="257696"/>
            <a:ext cx="515094" cy="155674"/>
          </a:xfrm>
          <a:prstGeom prst="roundRect">
            <a:avLst>
              <a:gd name="adj" fmla="val 19662"/>
            </a:avLst>
          </a:prstGeom>
          <a:solidFill>
            <a:srgbClr val="F6D5D5"/>
          </a:solidFill>
          <a:ln/>
        </p:spPr>
      </p:sp>
      <p:sp>
        <p:nvSpPr>
          <p:cNvPr id="3" name="Text 1"/>
          <p:cNvSpPr/>
          <p:nvPr/>
        </p:nvSpPr>
        <p:spPr>
          <a:xfrm>
            <a:off x="418951" y="285006"/>
            <a:ext cx="863054" cy="101054"/>
          </a:xfrm>
          <a:prstGeom prst="rect">
            <a:avLst/>
          </a:prstGeom>
          <a:noFill/>
          <a:ln/>
        </p:spPr>
        <p:txBody>
          <a:bodyPr wrap="none" lIns="0" tIns="0" rIns="0" bIns="0" rtlCol="0" anchor="t"/>
          <a:lstStyle/>
          <a:p>
            <a:pPr algn="l" indent="0" marL="0">
              <a:lnSpc>
                <a:spcPct val="116000"/>
              </a:lnSpc>
              <a:buNone/>
            </a:pPr>
            <a:r>
              <a:rPr lang="en-US" sz="550" dirty="0">
                <a:solidFill>
                  <a:srgbClr val="000000"/>
                </a:solidFill>
                <a:latin typeface="Montserrat" pitchFamily="34" charset="0"/>
                <a:ea typeface="Montserrat" pitchFamily="34" charset="-122"/>
                <a:cs typeface="Montserrat" pitchFamily="34" charset="-120"/>
              </a:rPr>
              <a:t>CHƯƠNG 3</a:t>
            </a:r>
            <a:endParaRPr lang="en-US" sz="550" dirty="0"/>
          </a:p>
        </p:txBody>
      </p:sp>
      <p:sp>
        <p:nvSpPr>
          <p:cNvPr id="4" name="Text 2"/>
          <p:cNvSpPr/>
          <p:nvPr/>
        </p:nvSpPr>
        <p:spPr>
          <a:xfrm>
            <a:off x="364331" y="440085"/>
            <a:ext cx="3988073" cy="284634"/>
          </a:xfrm>
          <a:prstGeom prst="rect">
            <a:avLst/>
          </a:prstGeom>
          <a:noFill/>
          <a:ln/>
        </p:spPr>
        <p:txBody>
          <a:bodyPr wrap="none" lIns="0" tIns="0" rIns="0" bIns="0" rtlCol="0" anchor="t"/>
          <a:lstStyle/>
          <a:p>
            <a:pPr algn="l" indent="0" marL="0">
              <a:lnSpc>
                <a:spcPct val="104000"/>
              </a:lnSpc>
              <a:buNone/>
            </a:pPr>
            <a:r>
              <a:rPr lang="en-US" sz="1750" dirty="0">
                <a:solidFill>
                  <a:srgbClr val="BE2727"/>
                </a:solidFill>
                <a:latin typeface="Montserrat ExtraBold" pitchFamily="34" charset="0"/>
                <a:ea typeface="Montserrat ExtraBold" pitchFamily="34" charset="-122"/>
                <a:cs typeface="Montserrat ExtraBold" pitchFamily="34" charset="-120"/>
              </a:rPr>
              <a:t>4 Loại Tham Số trong Python</a:t>
            </a:r>
            <a:endParaRPr lang="en-US" sz="1750" dirty="0"/>
          </a:p>
        </p:txBody>
      </p:sp>
      <p:sp>
        <p:nvSpPr>
          <p:cNvPr id="5" name="Text 3"/>
          <p:cNvSpPr/>
          <p:nvPr/>
        </p:nvSpPr>
        <p:spPr>
          <a:xfrm>
            <a:off x="364331" y="825029"/>
            <a:ext cx="8779669" cy="126355"/>
          </a:xfrm>
          <a:prstGeom prst="rect">
            <a:avLst/>
          </a:prstGeom>
          <a:noFill/>
          <a:ln/>
        </p:spPr>
        <p:txBody>
          <a:bodyPr wrap="none" lIns="0" tIns="0" rIns="0" bIns="0" rtlCol="0" anchor="t"/>
          <a:lstStyle/>
          <a:p>
            <a:pPr algn="l" indent="0" marL="0">
              <a:lnSpc>
                <a:spcPct val="116000"/>
              </a:lnSpc>
              <a:buNone/>
            </a:pPr>
            <a:r>
              <a:rPr lang="en-US" sz="700" dirty="0">
                <a:solidFill>
                  <a:srgbClr val="000000"/>
                </a:solidFill>
                <a:latin typeface="Montserrat" pitchFamily="34" charset="0"/>
                <a:ea typeface="Montserrat" pitchFamily="34" charset="-122"/>
                <a:cs typeface="Montserrat" pitchFamily="34" charset="-120"/>
              </a:rPr>
              <a:t>Python cực kỳ linh hoạt trong việc xử lý tham số. Hiểu rõ 4 loại tham số này sẽ giúp các em viết hàm mạnh mẽ và chuyên nghiệp hơn rất nhiều.</a:t>
            </a:r>
            <a:endParaRPr lang="en-US" sz="700" dirty="0"/>
          </a:p>
        </p:txBody>
      </p:sp>
      <p:pic>
        <p:nvPicPr>
          <p:cNvPr id="6" name="Image 0" descr="preencoded.png">    </p:cNvPr>
          <p:cNvPicPr>
            <a:picLocks noChangeAspect="1"/>
          </p:cNvPicPr>
          <p:nvPr/>
        </p:nvPicPr>
        <p:blipFill>
          <a:blip r:embed="rId1"/>
          <a:stretch>
            <a:fillRect/>
          </a:stretch>
        </p:blipFill>
        <p:spPr>
          <a:xfrm>
            <a:off x="364331" y="1026616"/>
            <a:ext cx="6553200" cy="3657600"/>
          </a:xfrm>
          <a:prstGeom prst="rect">
            <a:avLst/>
          </a:prstGeom>
        </p:spPr>
      </p:pic>
      <p:sp>
        <p:nvSpPr>
          <p:cNvPr id="7" name="Text 4"/>
          <p:cNvSpPr/>
          <p:nvPr/>
        </p:nvSpPr>
        <p:spPr>
          <a:xfrm>
            <a:off x="364331" y="4759449"/>
            <a:ext cx="8779669" cy="126355"/>
          </a:xfrm>
          <a:prstGeom prst="rect">
            <a:avLst/>
          </a:prstGeom>
          <a:noFill/>
          <a:ln/>
        </p:spPr>
        <p:txBody>
          <a:bodyPr wrap="none" lIns="0" tIns="0" rIns="0" bIns="0" rtlCol="0" anchor="t"/>
          <a:lstStyle/>
          <a:p>
            <a:pPr algn="l" indent="0" marL="0">
              <a:lnSpc>
                <a:spcPct val="116000"/>
              </a:lnSpc>
              <a:buNone/>
            </a:pPr>
            <a:r>
              <a:rPr lang="en-US" sz="700" dirty="0">
                <a:solidFill>
                  <a:srgbClr val="000000"/>
                </a:solidFill>
                <a:latin typeface="Montserrat" pitchFamily="34" charset="0"/>
                <a:ea typeface="Montserrat" pitchFamily="34" charset="-122"/>
                <a:cs typeface="Montserrat" pitchFamily="34" charset="-120"/>
              </a:rPr>
              <a:t>Mỗi loại tham số phục vụ một mục đích khác nhau — hãy cùng khám phá từng loại qua các ví dụ thực tế ngay sau đây!</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18654" y="340444"/>
            <a:ext cx="7869734" cy="327050"/>
          </a:xfrm>
          <a:prstGeom prst="rect">
            <a:avLst/>
          </a:prstGeom>
          <a:noFill/>
          <a:ln/>
        </p:spPr>
        <p:txBody>
          <a:bodyPr wrap="none" lIns="0" tIns="0" rIns="0" bIns="0" rtlCol="0" anchor="t"/>
          <a:lstStyle/>
          <a:p>
            <a:pPr algn="l" indent="0" marL="0">
              <a:lnSpc>
                <a:spcPct val="104000"/>
              </a:lnSpc>
              <a:buNone/>
            </a:pPr>
            <a:r>
              <a:rPr lang="en-US" sz="2050" dirty="0">
                <a:solidFill>
                  <a:srgbClr val="BE2727"/>
                </a:solidFill>
                <a:latin typeface="Montserrat ExtraBold" pitchFamily="34" charset="0"/>
                <a:ea typeface="Montserrat ExtraBold" pitchFamily="34" charset="-122"/>
                <a:cs typeface="Montserrat ExtraBold" pitchFamily="34" charset="-120"/>
              </a:rPr>
              <a:t>Loại 1: Tham số thông thường (Positional Arguments)</a:t>
            </a:r>
            <a:endParaRPr lang="en-US" sz="2050" dirty="0"/>
          </a:p>
        </p:txBody>
      </p:sp>
      <p:sp>
        <p:nvSpPr>
          <p:cNvPr id="3" name="Text 1"/>
          <p:cNvSpPr/>
          <p:nvPr/>
        </p:nvSpPr>
        <p:spPr>
          <a:xfrm>
            <a:off x="418654" y="844079"/>
            <a:ext cx="8725346" cy="154409"/>
          </a:xfrm>
          <a:prstGeom prst="rect">
            <a:avLst/>
          </a:prstGeom>
          <a:noFill/>
          <a:ln/>
        </p:spPr>
        <p:txBody>
          <a:bodyPr wrap="none" lIns="0" tIns="0" rIns="0" bIns="0" rtlCol="0" anchor="t"/>
          <a:lstStyle/>
          <a:p>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Đây là loại tham số </a:t>
            </a:r>
            <a:pPr algn="l" indent="0" marL="0">
              <a:lnSpc>
                <a:spcPct val="123000"/>
              </a:lnSpc>
              <a:buNone/>
            </a:pPr>
            <a:r>
              <a:rPr lang="en-US" sz="800" b="1" dirty="0">
                <a:solidFill>
                  <a:srgbClr val="000000"/>
                </a:solidFill>
                <a:latin typeface="Montserrat" pitchFamily="34" charset="0"/>
                <a:ea typeface="Montserrat" pitchFamily="34" charset="-122"/>
                <a:cs typeface="Montserrat" pitchFamily="34" charset="-120"/>
              </a:rPr>
              <a:t>cơ bản nhất</a:t>
            </a:r>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 Giá trị truyền vào sẽ được gán cho các tham số </a:t>
            </a:r>
            <a:pPr algn="l" indent="0" marL="0">
              <a:lnSpc>
                <a:spcPct val="123000"/>
              </a:lnSpc>
              <a:buNone/>
            </a:pPr>
            <a:r>
              <a:rPr lang="en-US" sz="800" b="1" dirty="0">
                <a:solidFill>
                  <a:srgbClr val="000000"/>
                </a:solidFill>
                <a:latin typeface="Montserrat" pitchFamily="34" charset="0"/>
                <a:ea typeface="Montserrat" pitchFamily="34" charset="-122"/>
                <a:cs typeface="Montserrat" pitchFamily="34" charset="-120"/>
              </a:rPr>
              <a:t>theo đúng thứ tự từ trái sang phải</a:t>
            </a:r>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 — sai thứ tự là sai logic!</a:t>
            </a:r>
            <a:endParaRPr lang="en-US" sz="800" dirty="0"/>
          </a:p>
        </p:txBody>
      </p:sp>
      <p:sp>
        <p:nvSpPr>
          <p:cNvPr id="4" name="Shape 2"/>
          <p:cNvSpPr/>
          <p:nvPr/>
        </p:nvSpPr>
        <p:spPr>
          <a:xfrm>
            <a:off x="418654" y="1097831"/>
            <a:ext cx="8306693" cy="2062163"/>
          </a:xfrm>
          <a:prstGeom prst="roundRect">
            <a:avLst>
              <a:gd name="adj" fmla="val 2132"/>
            </a:avLst>
          </a:prstGeom>
          <a:solidFill>
            <a:srgbClr val="F2F2F2"/>
          </a:solidFill>
          <a:ln/>
        </p:spPr>
      </p:sp>
      <p:sp>
        <p:nvSpPr>
          <p:cNvPr id="5" name="Shape 3"/>
          <p:cNvSpPr/>
          <p:nvPr/>
        </p:nvSpPr>
        <p:spPr>
          <a:xfrm>
            <a:off x="413445" y="1097831"/>
            <a:ext cx="8317111" cy="2062163"/>
          </a:xfrm>
          <a:prstGeom prst="roundRect">
            <a:avLst>
              <a:gd name="adj" fmla="val 761"/>
            </a:avLst>
          </a:prstGeom>
          <a:solidFill>
            <a:srgbClr val="F2F2F2"/>
          </a:solidFill>
          <a:ln/>
        </p:spPr>
      </p:sp>
      <p:sp>
        <p:nvSpPr>
          <p:cNvPr id="6" name="Text 4"/>
          <p:cNvSpPr/>
          <p:nvPr/>
        </p:nvSpPr>
        <p:spPr>
          <a:xfrm>
            <a:off x="544264" y="1202457"/>
            <a:ext cx="8055471" cy="1852910"/>
          </a:xfrm>
          <a:prstGeom prst="rect">
            <a:avLst/>
          </a:prstGeom>
          <a:noFill/>
          <a:ln/>
        </p:spPr>
        <p:txBody>
          <a:bodyPr wrap="square" lIns="0" tIns="0" rIns="0" bIns="0" rtlCol="0" anchor="t">
            <a:normAutofit/>
          </a:bodyPr>
          <a:lstStyle/>
          <a:p>
            <a:pPr algn="l" indent="0" marL="0">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def mo_ta_sv(ten, tuoi):</a:t>
            </a:r>
            <a:endParaRPr lang="en-US" sz="800" dirty="0"/>
          </a:p>
          <a:p>
            <a:pPr algn="l" indent="0" marL="0">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print(f"Sinh vien {ten}, {tuoi} tuoi.")</a:t>
            </a:r>
            <a:endParaRPr lang="en-US" sz="800" dirty="0"/>
          </a:p>
          <a:p>
            <a:pPr algn="l" indent="0" marL="0">
              <a:lnSpc>
                <a:spcPct val="123000"/>
              </a:lnSpc>
              <a:buNone/>
            </a:pPr>
            <a:endParaRPr lang="en-US" sz="800" dirty="0"/>
          </a:p>
          <a:p>
            <a:pPr algn="l" indent="0" marL="0">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mo_ta_sv("Hoang", 20)</a:t>
            </a:r>
            <a:endParaRPr lang="en-US" sz="800" dirty="0"/>
          </a:p>
          <a:p>
            <a:pPr algn="l" indent="0" marL="0">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In ra: Sinh vien Hoang, 20 tuoi.</a:t>
            </a:r>
            <a:endParaRPr lang="en-US" sz="800" dirty="0"/>
          </a:p>
          <a:p>
            <a:pPr algn="l" indent="0" marL="0">
              <a:lnSpc>
                <a:spcPct val="123000"/>
              </a:lnSpc>
              <a:buNone/>
            </a:pPr>
            <a:endParaRPr lang="en-US" sz="800" dirty="0"/>
          </a:p>
          <a:p>
            <a:pPr algn="l" indent="0" marL="0">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mo_ta_sv("Phuong", 18)</a:t>
            </a:r>
            <a:endParaRPr lang="en-US" sz="800" dirty="0"/>
          </a:p>
          <a:p>
            <a:pPr algn="l" indent="0" marL="0">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In ra: Sinh vien Phuong, 18 tuoi.</a:t>
            </a:r>
            <a:endParaRPr lang="en-US" sz="800" dirty="0"/>
          </a:p>
          <a:p>
            <a:pPr algn="l" indent="0" marL="0">
              <a:lnSpc>
                <a:spcPct val="123000"/>
              </a:lnSpc>
              <a:buNone/>
            </a:pPr>
            <a:endParaRPr lang="en-US" sz="800" dirty="0"/>
          </a:p>
          <a:p>
            <a:pPr algn="l" indent="0" marL="0">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Sai thu tu → sai logic!</a:t>
            </a:r>
            <a:endParaRPr lang="en-US" sz="800" dirty="0"/>
          </a:p>
          <a:p>
            <a:pPr algn="l" indent="0" marL="0">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mo_ta_sv(20, "Hoang")</a:t>
            </a:r>
            <a:endParaRPr lang="en-US" sz="800" dirty="0"/>
          </a:p>
          <a:p>
            <a:pPr algn="l" indent="0" marL="0">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In ra: Sinh vien 20, Hoang tuoi.  ← Ket qua sai!</a:t>
            </a:r>
            <a:endParaRPr lang="en-US" sz="800" dirty="0"/>
          </a:p>
        </p:txBody>
      </p:sp>
      <p:sp>
        <p:nvSpPr>
          <p:cNvPr id="7" name="Shape 5"/>
          <p:cNvSpPr/>
          <p:nvPr/>
        </p:nvSpPr>
        <p:spPr>
          <a:xfrm>
            <a:off x="418654" y="3259336"/>
            <a:ext cx="2710011" cy="889397"/>
          </a:xfrm>
          <a:prstGeom prst="roundRect">
            <a:avLst>
              <a:gd name="adj" fmla="val 4943"/>
            </a:avLst>
          </a:prstGeom>
          <a:solidFill>
            <a:srgbClr val="F6D5D5"/>
          </a:solidFill>
          <a:ln w="4763">
            <a:solidFill>
              <a:srgbClr val="DCBBBB"/>
            </a:solidFill>
            <a:prstDash val="solid"/>
          </a:ln>
        </p:spPr>
      </p:sp>
      <p:sp>
        <p:nvSpPr>
          <p:cNvPr id="8" name="Text 6"/>
          <p:cNvSpPr/>
          <p:nvPr/>
        </p:nvSpPr>
        <p:spPr>
          <a:xfrm>
            <a:off x="528042" y="3368725"/>
            <a:ext cx="2491234" cy="516210"/>
          </a:xfrm>
          <a:prstGeom prst="rect">
            <a:avLst/>
          </a:prstGeom>
          <a:noFill/>
          <a:ln/>
        </p:spPr>
        <p:txBody>
          <a:bodyPr wrap="square" lIns="0" tIns="0" rIns="0" bIns="0" rtlCol="0" anchor="t"/>
          <a:lstStyle/>
          <a:p>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a:t>
            </a:r>
            <a:pPr algn="l" indent="0" marL="0">
              <a:lnSpc>
                <a:spcPct val="123000"/>
              </a:lnSpc>
              <a:spcAft>
                <a:spcPts val="400"/>
              </a:spcAft>
              <a:buNone/>
            </a:pPr>
            <a:r>
              <a:rPr lang="en-US" sz="800" dirty="0">
                <a:solidFill>
                  <a:srgbClr val="000000"/>
                </a:solidFill>
                <a:latin typeface="Montserrat" pitchFamily="34" charset="0"/>
                <a:ea typeface="Montserrat" pitchFamily="34" charset="-122"/>
                <a:cs typeface="Montserrat" pitchFamily="34" charset="-120"/>
              </a:rPr>
              <a:t> Truyền theo thứ tự</a:t>
            </a:r>
            <a:endParaRPr lang="en-US" sz="800" dirty="0"/>
          </a:p>
          <a:p>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Đối số thứ 1 → tham số thứ 1, đối số thứ 2 → tham số thứ 2. Thứ tự quyết định tất cả!</a:t>
            </a:r>
            <a:endParaRPr lang="en-US" sz="800" dirty="0"/>
          </a:p>
        </p:txBody>
      </p:sp>
      <p:sp>
        <p:nvSpPr>
          <p:cNvPr id="9" name="Shape 7"/>
          <p:cNvSpPr/>
          <p:nvPr/>
        </p:nvSpPr>
        <p:spPr>
          <a:xfrm>
            <a:off x="3216920" y="3259336"/>
            <a:ext cx="2710086" cy="889397"/>
          </a:xfrm>
          <a:prstGeom prst="roundRect">
            <a:avLst>
              <a:gd name="adj" fmla="val 4943"/>
            </a:avLst>
          </a:prstGeom>
          <a:solidFill>
            <a:srgbClr val="F6D5D5"/>
          </a:solidFill>
          <a:ln w="4763">
            <a:solidFill>
              <a:srgbClr val="DCBBBB"/>
            </a:solidFill>
            <a:prstDash val="solid"/>
          </a:ln>
        </p:spPr>
      </p:sp>
      <p:sp>
        <p:nvSpPr>
          <p:cNvPr id="10" name="Text 8"/>
          <p:cNvSpPr/>
          <p:nvPr/>
        </p:nvSpPr>
        <p:spPr>
          <a:xfrm>
            <a:off x="3326309" y="3368725"/>
            <a:ext cx="2491308" cy="670620"/>
          </a:xfrm>
          <a:prstGeom prst="rect">
            <a:avLst/>
          </a:prstGeom>
          <a:noFill/>
          <a:ln/>
        </p:spPr>
        <p:txBody>
          <a:bodyPr wrap="square" lIns="0" tIns="0" rIns="0" bIns="0" rtlCol="0" anchor="t"/>
          <a:lstStyle/>
          <a:p>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a:t>
            </a:r>
            <a:pPr algn="l" indent="0" marL="0">
              <a:lnSpc>
                <a:spcPct val="123000"/>
              </a:lnSpc>
              <a:spcAft>
                <a:spcPts val="400"/>
              </a:spcAft>
              <a:buNone/>
            </a:pPr>
            <a:r>
              <a:rPr lang="en-US" sz="800" dirty="0">
                <a:solidFill>
                  <a:srgbClr val="000000"/>
                </a:solidFill>
                <a:latin typeface="Montserrat" pitchFamily="34" charset="0"/>
                <a:ea typeface="Montserrat" pitchFamily="34" charset="-122"/>
                <a:cs typeface="Montserrat" pitchFamily="34" charset="-120"/>
              </a:rPr>
              <a:t> Sai thứ tự = Sai logic</a:t>
            </a:r>
            <a:endParaRPr lang="en-US" sz="800" dirty="0"/>
          </a:p>
          <a:p>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Python không báo lỗi nếu kiểu dữ liệu khớp, nhưng kết quả sẽ sai hoàn toàn. Hãy luôn kiểm tra thứ tự!</a:t>
            </a:r>
            <a:endParaRPr lang="en-US" sz="800" dirty="0"/>
          </a:p>
        </p:txBody>
      </p:sp>
      <p:sp>
        <p:nvSpPr>
          <p:cNvPr id="11" name="Shape 9"/>
          <p:cNvSpPr/>
          <p:nvPr/>
        </p:nvSpPr>
        <p:spPr>
          <a:xfrm>
            <a:off x="6015261" y="3259336"/>
            <a:ext cx="2710011" cy="889397"/>
          </a:xfrm>
          <a:prstGeom prst="roundRect">
            <a:avLst>
              <a:gd name="adj" fmla="val 4943"/>
            </a:avLst>
          </a:prstGeom>
          <a:solidFill>
            <a:srgbClr val="F6D5D5"/>
          </a:solidFill>
          <a:ln w="4763">
            <a:solidFill>
              <a:srgbClr val="DCBBBB"/>
            </a:solidFill>
            <a:prstDash val="solid"/>
          </a:ln>
        </p:spPr>
      </p:sp>
      <p:sp>
        <p:nvSpPr>
          <p:cNvPr id="12" name="Text 10"/>
          <p:cNvSpPr/>
          <p:nvPr/>
        </p:nvSpPr>
        <p:spPr>
          <a:xfrm>
            <a:off x="6124649" y="3368725"/>
            <a:ext cx="2491234" cy="670620"/>
          </a:xfrm>
          <a:prstGeom prst="rect">
            <a:avLst/>
          </a:prstGeom>
          <a:noFill/>
          <a:ln/>
        </p:spPr>
        <p:txBody>
          <a:bodyPr wrap="square" lIns="0" tIns="0" rIns="0" bIns="0" rtlCol="0" anchor="t"/>
          <a:lstStyle/>
          <a:p>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a:t>
            </a:r>
            <a:pPr algn="l" indent="0" marL="0">
              <a:lnSpc>
                <a:spcPct val="123000"/>
              </a:lnSpc>
              <a:spcAft>
                <a:spcPts val="400"/>
              </a:spcAft>
              <a:buNone/>
            </a:pPr>
            <a:r>
              <a:rPr lang="en-US" sz="800" dirty="0">
                <a:solidFill>
                  <a:srgbClr val="000000"/>
                </a:solidFill>
                <a:latin typeface="Montserrat" pitchFamily="34" charset="0"/>
                <a:ea typeface="Montserrat" pitchFamily="34" charset="-122"/>
                <a:cs typeface="Montserrat" pitchFamily="34" charset="-120"/>
              </a:rPr>
              <a:t> Phổ biến nhất</a:t>
            </a:r>
            <a:endParaRPr lang="en-US" sz="800" dirty="0"/>
          </a:p>
          <a:p>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Đây là cách truyền tham số được dùng nhiều nhất. Nắm vững loại này trước khi học các loại khác.</a:t>
            </a:r>
            <a:endParaRPr lang="en-US" sz="800" dirty="0"/>
          </a:p>
        </p:txBody>
      </p:sp>
      <p:sp>
        <p:nvSpPr>
          <p:cNvPr id="13" name="Shape 11"/>
          <p:cNvSpPr/>
          <p:nvPr/>
        </p:nvSpPr>
        <p:spPr>
          <a:xfrm>
            <a:off x="418654" y="4248076"/>
            <a:ext cx="8306693" cy="554980"/>
          </a:xfrm>
          <a:prstGeom prst="roundRect">
            <a:avLst>
              <a:gd name="adj" fmla="val 7921"/>
            </a:avLst>
          </a:prstGeom>
          <a:solidFill>
            <a:srgbClr val="FCF2B5"/>
          </a:solidFill>
          <a:ln/>
        </p:spPr>
      </p:sp>
      <p:pic>
        <p:nvPicPr>
          <p:cNvPr id="14" name="Image 0" descr="preencoded.png">    </p:cNvPr>
          <p:cNvPicPr>
            <a:picLocks noChangeAspect="1"/>
          </p:cNvPicPr>
          <p:nvPr/>
        </p:nvPicPr>
        <p:blipFill>
          <a:blip r:embed="rId1"/>
          <a:stretch>
            <a:fillRect/>
          </a:stretch>
        </p:blipFill>
        <p:spPr>
          <a:xfrm>
            <a:off x="523280" y="4396755"/>
            <a:ext cx="130820" cy="104626"/>
          </a:xfrm>
          <a:prstGeom prst="rect">
            <a:avLst/>
          </a:prstGeom>
        </p:spPr>
      </p:pic>
      <p:sp>
        <p:nvSpPr>
          <p:cNvPr id="15" name="Text 12"/>
          <p:cNvSpPr/>
          <p:nvPr/>
        </p:nvSpPr>
        <p:spPr>
          <a:xfrm>
            <a:off x="758726" y="4362450"/>
            <a:ext cx="7861995" cy="308818"/>
          </a:xfrm>
          <a:prstGeom prst="rect">
            <a:avLst/>
          </a:prstGeom>
          <a:noFill/>
          <a:ln/>
        </p:spPr>
        <p:txBody>
          <a:bodyPr wrap="square" lIns="0" tIns="0" rIns="0" bIns="0" rtlCol="0" anchor="t">
            <a:normAutofit/>
          </a:bodyPr>
          <a:lstStyle/>
          <a:p>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Lỗi sai thứ tự tham số rất khó phát hiện vì Python không báo lỗi — chương trình vẫn chạy nhưng cho kết quả sai. Luôn đọc lại định nghĩa hàm trước khi gọi!</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26393" y="356890"/>
            <a:ext cx="7077298" cy="333077"/>
          </a:xfrm>
          <a:prstGeom prst="rect">
            <a:avLst/>
          </a:prstGeom>
          <a:noFill/>
          <a:ln/>
        </p:spPr>
        <p:txBody>
          <a:bodyPr wrap="none" lIns="0" tIns="0" rIns="0" bIns="0" rtlCol="0" anchor="t"/>
          <a:lstStyle/>
          <a:p>
            <a:pPr algn="l" indent="0" marL="0">
              <a:lnSpc>
                <a:spcPct val="104000"/>
              </a:lnSpc>
              <a:buNone/>
            </a:pPr>
            <a:r>
              <a:rPr lang="en-US" sz="2050" dirty="0">
                <a:solidFill>
                  <a:srgbClr val="BE2727"/>
                </a:solidFill>
                <a:latin typeface="Montserrat ExtraBold" pitchFamily="34" charset="0"/>
                <a:ea typeface="Montserrat ExtraBold" pitchFamily="34" charset="-122"/>
                <a:cs typeface="Montserrat ExtraBold" pitchFamily="34" charset="-120"/>
              </a:rPr>
              <a:t>Loại 2: Tham số mặc định (Default Parameters)</a:t>
            </a:r>
            <a:endParaRPr lang="en-US" sz="2050" dirty="0"/>
          </a:p>
        </p:txBody>
      </p:sp>
      <p:sp>
        <p:nvSpPr>
          <p:cNvPr id="3" name="Text 1"/>
          <p:cNvSpPr/>
          <p:nvPr/>
        </p:nvSpPr>
        <p:spPr>
          <a:xfrm>
            <a:off x="426393" y="873175"/>
            <a:ext cx="8717607" cy="158576"/>
          </a:xfrm>
          <a:prstGeom prst="rect">
            <a:avLst/>
          </a:prstGeom>
          <a:noFill/>
          <a:ln/>
        </p:spPr>
        <p:txBody>
          <a:bodyPr wrap="none" lIns="0" tIns="0" rIns="0" bIns="0" rtlCol="0" anchor="t"/>
          <a:lstStyle/>
          <a:p>
            <a:pPr algn="l" indent="0" marL="0">
              <a:lnSpc>
                <a:spcPct val="124000"/>
              </a:lnSpc>
              <a:buNone/>
            </a:pPr>
            <a:r>
              <a:rPr lang="en-US" sz="800" dirty="0">
                <a:solidFill>
                  <a:srgbClr val="000000"/>
                </a:solidFill>
                <a:latin typeface="Montserrat" pitchFamily="34" charset="0"/>
                <a:ea typeface="Montserrat" pitchFamily="34" charset="-122"/>
                <a:cs typeface="Montserrat" pitchFamily="34" charset="-120"/>
              </a:rPr>
              <a:t>Cho phép ta </a:t>
            </a:r>
            <a:pPr algn="l" indent="0" marL="0">
              <a:lnSpc>
                <a:spcPct val="124000"/>
              </a:lnSpc>
              <a:buNone/>
            </a:pPr>
            <a:r>
              <a:rPr lang="en-US" sz="800" b="1" dirty="0">
                <a:solidFill>
                  <a:srgbClr val="000000"/>
                </a:solidFill>
                <a:latin typeface="Montserrat" pitchFamily="34" charset="0"/>
                <a:ea typeface="Montserrat" pitchFamily="34" charset="-122"/>
                <a:cs typeface="Montserrat" pitchFamily="34" charset="-120"/>
              </a:rPr>
              <a:t>gán sẵn một giá trị</a:t>
            </a:r>
            <a:pPr algn="l" indent="0" marL="0">
              <a:lnSpc>
                <a:spcPct val="124000"/>
              </a:lnSpc>
              <a:buNone/>
            </a:pPr>
            <a:r>
              <a:rPr lang="en-US" sz="800" dirty="0">
                <a:solidFill>
                  <a:srgbClr val="000000"/>
                </a:solidFill>
                <a:latin typeface="Montserrat" pitchFamily="34" charset="0"/>
                <a:ea typeface="Montserrat" pitchFamily="34" charset="-122"/>
                <a:cs typeface="Montserrat" pitchFamily="34" charset="-120"/>
              </a:rPr>
              <a:t> cho tham số khi khai báo. Nếu lúc gọi hàm không truyền giá trị, hàm sẽ tự động dùng giá trị mặc định này — rất tiện lợi!</a:t>
            </a:r>
            <a:endParaRPr lang="en-US" sz="800" dirty="0"/>
          </a:p>
        </p:txBody>
      </p:sp>
      <p:sp>
        <p:nvSpPr>
          <p:cNvPr id="4" name="Shape 2"/>
          <p:cNvSpPr/>
          <p:nvPr/>
        </p:nvSpPr>
        <p:spPr>
          <a:xfrm>
            <a:off x="426393" y="1134740"/>
            <a:ext cx="8291215" cy="2274615"/>
          </a:xfrm>
          <a:prstGeom prst="roundRect">
            <a:avLst>
              <a:gd name="adj" fmla="val 1968"/>
            </a:avLst>
          </a:prstGeom>
          <a:solidFill>
            <a:srgbClr val="F2F2F2"/>
          </a:solidFill>
          <a:ln/>
        </p:spPr>
      </p:sp>
      <p:sp>
        <p:nvSpPr>
          <p:cNvPr id="5" name="Shape 3"/>
          <p:cNvSpPr/>
          <p:nvPr/>
        </p:nvSpPr>
        <p:spPr>
          <a:xfrm>
            <a:off x="421109" y="1134740"/>
            <a:ext cx="8301782" cy="2274615"/>
          </a:xfrm>
          <a:prstGeom prst="roundRect">
            <a:avLst>
              <a:gd name="adj" fmla="val 703"/>
            </a:avLst>
          </a:prstGeom>
          <a:solidFill>
            <a:srgbClr val="F2F2F2"/>
          </a:solidFill>
          <a:ln/>
        </p:spPr>
      </p:sp>
      <p:sp>
        <p:nvSpPr>
          <p:cNvPr id="6" name="Text 4"/>
          <p:cNvSpPr/>
          <p:nvPr/>
        </p:nvSpPr>
        <p:spPr>
          <a:xfrm>
            <a:off x="554310" y="1241301"/>
            <a:ext cx="8035379" cy="2061493"/>
          </a:xfrm>
          <a:prstGeom prst="rect">
            <a:avLst/>
          </a:prstGeom>
          <a:noFill/>
          <a:ln/>
        </p:spPr>
        <p:txBody>
          <a:bodyPr wrap="square" lIns="0" tIns="0" rIns="0" bIns="0" rtlCol="0" anchor="t">
            <a:normAutofit/>
          </a:bodyPr>
          <a:lstStyle/>
          <a:p>
            <a:pPr algn="l" indent="0" marL="0">
              <a:lnSpc>
                <a:spcPct val="124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def chao_khoa_hoc(ten, lop="Python Co Ban"):</a:t>
            </a:r>
            <a:endParaRPr lang="en-US" sz="800" dirty="0"/>
          </a:p>
          <a:p>
            <a:pPr algn="l" indent="0" marL="0">
              <a:lnSpc>
                <a:spcPct val="124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print(f"Chao {ten}, chao mung em den voi lop {lop}")</a:t>
            </a:r>
            <a:endParaRPr lang="en-US" sz="800" dirty="0"/>
          </a:p>
          <a:p>
            <a:pPr algn="l" indent="0" marL="0">
              <a:lnSpc>
                <a:spcPct val="124000"/>
              </a:lnSpc>
              <a:buNone/>
            </a:pPr>
            <a:endParaRPr lang="en-US" sz="800" dirty="0"/>
          </a:p>
          <a:p>
            <a:pPr algn="l" indent="0" marL="0">
              <a:lnSpc>
                <a:spcPct val="124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Goi ham KHONG truyen lop → dung gia tri mac dinh</a:t>
            </a:r>
            <a:endParaRPr lang="en-US" sz="800" dirty="0"/>
          </a:p>
          <a:p>
            <a:pPr algn="l" indent="0" marL="0">
              <a:lnSpc>
                <a:spcPct val="124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chao_khoa_hoc("An")</a:t>
            </a:r>
            <a:endParaRPr lang="en-US" sz="800" dirty="0"/>
          </a:p>
          <a:p>
            <a:pPr algn="l" indent="0" marL="0">
              <a:lnSpc>
                <a:spcPct val="124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In ra: Chao An, chao mung em den voi lop Python Co Ban</a:t>
            </a:r>
            <a:endParaRPr lang="en-US" sz="800" dirty="0"/>
          </a:p>
          <a:p>
            <a:pPr algn="l" indent="0" marL="0">
              <a:lnSpc>
                <a:spcPct val="124000"/>
              </a:lnSpc>
              <a:buNone/>
            </a:pPr>
            <a:endParaRPr lang="en-US" sz="800" dirty="0"/>
          </a:p>
          <a:p>
            <a:pPr algn="l" indent="0" marL="0">
              <a:lnSpc>
                <a:spcPct val="124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Goi ham CO truyen lop → ghi de gia tri mac dinh</a:t>
            </a:r>
            <a:endParaRPr lang="en-US" sz="800" dirty="0"/>
          </a:p>
          <a:p>
            <a:pPr algn="l" indent="0" marL="0">
              <a:lnSpc>
                <a:spcPct val="124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chao_khoa_hoc("Binh", "Python Nang Cao")</a:t>
            </a:r>
            <a:endParaRPr lang="en-US" sz="800" dirty="0"/>
          </a:p>
          <a:p>
            <a:pPr algn="l" indent="0" marL="0">
              <a:lnSpc>
                <a:spcPct val="124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In ra: Chao Binh, chao mung em den voi lop Python Nang Cao</a:t>
            </a:r>
            <a:endParaRPr lang="en-US" sz="800" dirty="0"/>
          </a:p>
          <a:p>
            <a:pPr algn="l" indent="0" marL="0">
              <a:lnSpc>
                <a:spcPct val="124000"/>
              </a:lnSpc>
              <a:buNone/>
            </a:pPr>
            <a:endParaRPr lang="en-US" sz="800" dirty="0"/>
          </a:p>
          <a:p>
            <a:pPr algn="l" indent="0" marL="0">
              <a:lnSpc>
                <a:spcPct val="124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chao_khoa_hoc("Chi", "Data Science")</a:t>
            </a:r>
            <a:endParaRPr lang="en-US" sz="800" dirty="0"/>
          </a:p>
          <a:p>
            <a:pPr algn="l" indent="0" marL="0">
              <a:lnSpc>
                <a:spcPct val="124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In ra: Chao Chi, chao mung em den voi lop Data Science</a:t>
            </a:r>
            <a:endParaRPr lang="en-US" sz="800" dirty="0"/>
          </a:p>
        </p:txBody>
      </p:sp>
      <p:sp>
        <p:nvSpPr>
          <p:cNvPr id="7" name="Shape 5"/>
          <p:cNvSpPr/>
          <p:nvPr/>
        </p:nvSpPr>
        <p:spPr>
          <a:xfrm>
            <a:off x="349672" y="3512344"/>
            <a:ext cx="4169048" cy="754038"/>
          </a:xfrm>
          <a:prstGeom prst="roundRect">
            <a:avLst>
              <a:gd name="adj" fmla="val 10179"/>
            </a:avLst>
          </a:prstGeom>
          <a:solidFill>
            <a:srgbClr val="5B81B2"/>
          </a:solidFill>
          <a:ln/>
        </p:spPr>
      </p:sp>
      <p:sp>
        <p:nvSpPr>
          <p:cNvPr id="8" name="Text 6"/>
          <p:cNvSpPr/>
          <p:nvPr/>
        </p:nvSpPr>
        <p:spPr>
          <a:xfrm>
            <a:off x="456233" y="3603947"/>
            <a:ext cx="2042740" cy="171301"/>
          </a:xfrm>
          <a:prstGeom prst="rect">
            <a:avLst/>
          </a:prstGeom>
          <a:noFill/>
          <a:ln/>
        </p:spPr>
        <p:txBody>
          <a:bodyPr wrap="none" lIns="0" tIns="0" rIns="0" bIns="0" rtlCol="0" anchor="t"/>
          <a:lstStyle/>
          <a:p>
            <a:pPr algn="l" indent="0" marL="0">
              <a:lnSpc>
                <a:spcPct val="104000"/>
              </a:lnSpc>
              <a:buNone/>
            </a:pPr>
            <a:r>
              <a:rPr lang="en-US" sz="10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000" dirty="0">
                <a:solidFill>
                  <a:srgbClr val="000000"/>
                </a:solidFill>
                <a:latin typeface="Montserrat ExtraBold" pitchFamily="34" charset="0"/>
                <a:ea typeface="Montserrat ExtraBold" pitchFamily="34" charset="-122"/>
                <a:cs typeface="Montserrat ExtraBold" pitchFamily="34" charset="-120"/>
              </a:rPr>
              <a:t> Quy tắc quan trọng</a:t>
            </a:r>
            <a:endParaRPr lang="en-US" sz="1000" dirty="0"/>
          </a:p>
        </p:txBody>
      </p:sp>
      <p:sp>
        <p:nvSpPr>
          <p:cNvPr id="9" name="Text 7"/>
          <p:cNvSpPr/>
          <p:nvPr/>
        </p:nvSpPr>
        <p:spPr>
          <a:xfrm>
            <a:off x="456233" y="3866852"/>
            <a:ext cx="3955926" cy="317153"/>
          </a:xfrm>
          <a:prstGeom prst="rect">
            <a:avLst/>
          </a:prstGeom>
          <a:noFill/>
          <a:ln/>
        </p:spPr>
        <p:txBody>
          <a:bodyPr wrap="square" lIns="0" tIns="0" rIns="0" bIns="0" rtlCol="0" anchor="t">
            <a:normAutofit/>
          </a:bodyPr>
          <a:lstStyle/>
          <a:p>
            <a:pPr algn="l" indent="0" marL="0">
              <a:lnSpc>
                <a:spcPct val="124000"/>
              </a:lnSpc>
              <a:buNone/>
            </a:pPr>
            <a:r>
              <a:rPr lang="en-US" sz="800" dirty="0">
                <a:solidFill>
                  <a:srgbClr val="000000"/>
                </a:solidFill>
                <a:latin typeface="Montserrat" pitchFamily="34" charset="0"/>
                <a:ea typeface="Montserrat" pitchFamily="34" charset="-122"/>
                <a:cs typeface="Montserrat" pitchFamily="34" charset="-120"/>
              </a:rPr>
              <a:t>Tham số có giá trị mặc định phải đặt SAU tất cả tham số thông thường. Sai vị trí → Python báo lỗi SyntaxError ngay lập tức!</a:t>
            </a:r>
            <a:endParaRPr lang="en-US" sz="800" dirty="0"/>
          </a:p>
        </p:txBody>
      </p:sp>
      <p:sp>
        <p:nvSpPr>
          <p:cNvPr id="10" name="Text 8"/>
          <p:cNvSpPr/>
          <p:nvPr/>
        </p:nvSpPr>
        <p:spPr>
          <a:xfrm>
            <a:off x="4706764" y="3603947"/>
            <a:ext cx="1912516" cy="171301"/>
          </a:xfrm>
          <a:prstGeom prst="rect">
            <a:avLst/>
          </a:prstGeom>
          <a:noFill/>
          <a:ln/>
        </p:spPr>
        <p:txBody>
          <a:bodyPr wrap="none" lIns="0" tIns="0" rIns="0" bIns="0" rtlCol="0" anchor="t"/>
          <a:lstStyle/>
          <a:p>
            <a:pPr algn="l" indent="0" marL="0">
              <a:lnSpc>
                <a:spcPct val="104000"/>
              </a:lnSpc>
              <a:buNone/>
            </a:pPr>
            <a:r>
              <a:rPr lang="en-US" sz="10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000" dirty="0">
                <a:solidFill>
                  <a:srgbClr val="BE2727"/>
                </a:solidFill>
                <a:latin typeface="Montserrat ExtraBold" pitchFamily="34" charset="0"/>
                <a:ea typeface="Montserrat ExtraBold" pitchFamily="34" charset="-122"/>
                <a:cs typeface="Montserrat ExtraBold" pitchFamily="34" charset="-120"/>
              </a:rPr>
              <a:t> Ứng dụng thực tế</a:t>
            </a:r>
            <a:endParaRPr lang="en-US" sz="1000" dirty="0"/>
          </a:p>
        </p:txBody>
      </p:sp>
      <p:sp>
        <p:nvSpPr>
          <p:cNvPr id="11" name="Text 9"/>
          <p:cNvSpPr/>
          <p:nvPr/>
        </p:nvSpPr>
        <p:spPr>
          <a:xfrm>
            <a:off x="4706764" y="3866852"/>
            <a:ext cx="4015606" cy="317153"/>
          </a:xfrm>
          <a:prstGeom prst="rect">
            <a:avLst/>
          </a:prstGeom>
          <a:noFill/>
          <a:ln/>
        </p:spPr>
        <p:txBody>
          <a:bodyPr wrap="square" lIns="0" tIns="0" rIns="0" bIns="0" rtlCol="0" anchor="t">
            <a:normAutofit/>
          </a:bodyPr>
          <a:lstStyle/>
          <a:p>
            <a:pPr algn="l" indent="0" marL="0">
              <a:lnSpc>
                <a:spcPct val="124000"/>
              </a:lnSpc>
              <a:buNone/>
            </a:pPr>
            <a:r>
              <a:rPr lang="en-US" sz="800" dirty="0">
                <a:solidFill>
                  <a:srgbClr val="000000"/>
                </a:solidFill>
                <a:latin typeface="Montserrat" pitchFamily="34" charset="0"/>
                <a:ea typeface="Montserrat" pitchFamily="34" charset="-122"/>
                <a:cs typeface="Montserrat" pitchFamily="34" charset="-120"/>
              </a:rPr>
              <a:t>Dùng Default Parameters khi có một giá trị "thường gặp nhất". Ví dụ: quốc gia mặc định là "Việt Nam", đơn vị tiền tệ mặc định là "VND"... </a:t>
            </a:r>
            <a:endParaRPr lang="en-US" sz="800" dirty="0"/>
          </a:p>
        </p:txBody>
      </p:sp>
      <p:sp>
        <p:nvSpPr>
          <p:cNvPr id="12" name="Shape 10"/>
          <p:cNvSpPr/>
          <p:nvPr/>
        </p:nvSpPr>
        <p:spPr>
          <a:xfrm>
            <a:off x="426393" y="4369371"/>
            <a:ext cx="8291215" cy="417240"/>
          </a:xfrm>
          <a:prstGeom prst="roundRect">
            <a:avLst>
              <a:gd name="adj" fmla="val 10731"/>
            </a:avLst>
          </a:prstGeom>
          <a:solidFill>
            <a:srgbClr val="B6D6FC"/>
          </a:solidFill>
          <a:ln/>
        </p:spPr>
      </p:sp>
      <p:pic>
        <p:nvPicPr>
          <p:cNvPr id="13" name="Image 0" descr="preencoded.png">    </p:cNvPr>
          <p:cNvPicPr>
            <a:picLocks noChangeAspect="1"/>
          </p:cNvPicPr>
          <p:nvPr/>
        </p:nvPicPr>
        <p:blipFill>
          <a:blip r:embed="rId1"/>
          <a:stretch>
            <a:fillRect/>
          </a:stretch>
        </p:blipFill>
        <p:spPr>
          <a:xfrm>
            <a:off x="532954" y="4523631"/>
            <a:ext cx="133201" cy="106561"/>
          </a:xfrm>
          <a:prstGeom prst="rect">
            <a:avLst/>
          </a:prstGeom>
        </p:spPr>
      </p:pic>
      <p:sp>
        <p:nvSpPr>
          <p:cNvPr id="14" name="Text 11"/>
          <p:cNvSpPr/>
          <p:nvPr/>
        </p:nvSpPr>
        <p:spPr>
          <a:xfrm>
            <a:off x="772716" y="4487614"/>
            <a:ext cx="8295531" cy="163339"/>
          </a:xfrm>
          <a:prstGeom prst="rect">
            <a:avLst/>
          </a:prstGeom>
          <a:noFill/>
          <a:ln/>
        </p:spPr>
        <p:txBody>
          <a:bodyPr wrap="none" lIns="0" tIns="0" rIns="0" bIns="0" rtlCol="0" anchor="t"/>
          <a:lstStyle/>
          <a:p>
            <a:pPr algn="l" indent="0" marL="0">
              <a:lnSpc>
                <a:spcPct val="124000"/>
              </a:lnSpc>
              <a:buNone/>
            </a:pPr>
            <a:r>
              <a:rPr lang="en-US" sz="800" dirty="0">
                <a:solidFill>
                  <a:srgbClr val="000000"/>
                </a:solidFill>
                <a:latin typeface="Montserrat" pitchFamily="34" charset="0"/>
                <a:ea typeface="Montserrat" pitchFamily="34" charset="-122"/>
                <a:cs typeface="Montserrat" pitchFamily="34" charset="-120"/>
              </a:rPr>
              <a:t>Ví dụ sai: </a:t>
            </a:r>
            <a:pPr algn="l" indent="0" marL="0">
              <a:lnSpc>
                <a:spcPct val="124000"/>
              </a:lnSpc>
              <a:buNone/>
            </a:pPr>
            <a:r>
              <a:rPr lang="en-US" sz="800" dirty="0">
                <a:solidFill>
                  <a:srgbClr val="000000"/>
                </a:solidFill>
                <a:highlight>
                  <a:srgbClr val="F2F2F2"/>
                </a:highlight>
                <a:latin typeface="Consolas" pitchFamily="34" charset="0"/>
                <a:ea typeface="Consolas" pitchFamily="34" charset="-122"/>
                <a:cs typeface="Consolas" pitchFamily="34" charset="-120"/>
              </a:rPr>
              <a:t>def ham(lop="Python", ten)</a:t>
            </a:r>
            <a:pPr algn="l" indent="0" marL="0">
              <a:lnSpc>
                <a:spcPct val="124000"/>
              </a:lnSpc>
              <a:buNone/>
            </a:pPr>
            <a:r>
              <a:rPr lang="en-US" sz="800" dirty="0">
                <a:solidFill>
                  <a:srgbClr val="000000"/>
                </a:solidFill>
                <a:latin typeface="Montserrat" pitchFamily="34" charset="0"/>
                <a:ea typeface="Montserrat" pitchFamily="34" charset="-122"/>
                <a:cs typeface="Montserrat" pitchFamily="34" charset="-120"/>
              </a:rPr>
              <a:t> — SyntaxError! Đúng phải là: </a:t>
            </a:r>
            <a:pPr algn="l" indent="0" marL="0">
              <a:lnSpc>
                <a:spcPct val="124000"/>
              </a:lnSpc>
              <a:buNone/>
            </a:pPr>
            <a:r>
              <a:rPr lang="en-US" sz="800" dirty="0">
                <a:solidFill>
                  <a:srgbClr val="000000"/>
                </a:solidFill>
                <a:highlight>
                  <a:srgbClr val="F2F2F2"/>
                </a:highlight>
                <a:latin typeface="Consolas" pitchFamily="34" charset="0"/>
                <a:ea typeface="Consolas" pitchFamily="34" charset="-122"/>
                <a:cs typeface="Consolas" pitchFamily="34" charset="-120"/>
              </a:rPr>
              <a:t>def ham(ten, lop="Python")</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10840" y="301823"/>
            <a:ext cx="6777633" cy="320948"/>
          </a:xfrm>
          <a:prstGeom prst="rect">
            <a:avLst/>
          </a:prstGeom>
          <a:noFill/>
          <a:ln/>
        </p:spPr>
        <p:txBody>
          <a:bodyPr wrap="none" lIns="0" tIns="0" rIns="0" bIns="0" rtlCol="0" anchor="t"/>
          <a:lstStyle/>
          <a:p>
            <a:pPr algn="l" indent="0" marL="0">
              <a:lnSpc>
                <a:spcPct val="104000"/>
              </a:lnSpc>
              <a:buNone/>
            </a:pPr>
            <a:r>
              <a:rPr lang="en-US" sz="2000" dirty="0">
                <a:solidFill>
                  <a:srgbClr val="BE2727"/>
                </a:solidFill>
                <a:latin typeface="Montserrat ExtraBold" pitchFamily="34" charset="0"/>
                <a:ea typeface="Montserrat ExtraBold" pitchFamily="34" charset="-122"/>
                <a:cs typeface="Montserrat ExtraBold" pitchFamily="34" charset="-120"/>
              </a:rPr>
              <a:t>Loại 3: Tham số từ khóa (Keyword Arguments)</a:t>
            </a:r>
            <a:endParaRPr lang="en-US" sz="2000" dirty="0"/>
          </a:p>
        </p:txBody>
      </p:sp>
      <p:sp>
        <p:nvSpPr>
          <p:cNvPr id="3" name="Text 1"/>
          <p:cNvSpPr/>
          <p:nvPr/>
        </p:nvSpPr>
        <p:spPr>
          <a:xfrm>
            <a:off x="410840" y="792882"/>
            <a:ext cx="8733160" cy="154930"/>
          </a:xfrm>
          <a:prstGeom prst="rect">
            <a:avLst/>
          </a:prstGeom>
          <a:noFill/>
          <a:ln/>
        </p:spPr>
        <p:txBody>
          <a:bodyPr wrap="none" lIns="0" tIns="0" rIns="0" bIns="0" rtlCol="0" anchor="t"/>
          <a:lstStyle/>
          <a:p>
            <a:pPr algn="l" indent="0" marL="0">
              <a:lnSpc>
                <a:spcPct val="122000"/>
              </a:lnSpc>
              <a:buNone/>
            </a:pPr>
            <a:r>
              <a:rPr lang="en-US" sz="800" dirty="0">
                <a:solidFill>
                  <a:srgbClr val="000000"/>
                </a:solidFill>
                <a:latin typeface="Montserrat" pitchFamily="34" charset="0"/>
                <a:ea typeface="Montserrat" pitchFamily="34" charset="-122"/>
                <a:cs typeface="Montserrat" pitchFamily="34" charset="-120"/>
              </a:rPr>
              <a:t>Khi gọi hàm, ta chỉ định rõ ràng </a:t>
            </a:r>
            <a:pPr algn="l" indent="0" marL="0">
              <a:lnSpc>
                <a:spcPct val="122000"/>
              </a:lnSpc>
              <a:buNone/>
            </a:pPr>
            <a:r>
              <a:rPr lang="en-US" sz="800" dirty="0">
                <a:solidFill>
                  <a:srgbClr val="000000"/>
                </a:solidFill>
                <a:highlight>
                  <a:srgbClr val="F2F2F2"/>
                </a:highlight>
                <a:latin typeface="Consolas" pitchFamily="34" charset="0"/>
                <a:ea typeface="Consolas" pitchFamily="34" charset="-122"/>
                <a:cs typeface="Consolas" pitchFamily="34" charset="-120"/>
              </a:rPr>
              <a:t>tên_tham_số = giá_trị</a:t>
            </a:r>
            <a:pPr algn="l" indent="0" marL="0">
              <a:lnSpc>
                <a:spcPct val="122000"/>
              </a:lnSpc>
              <a:buNone/>
            </a:pPr>
            <a:r>
              <a:rPr lang="en-US" sz="800" dirty="0">
                <a:solidFill>
                  <a:srgbClr val="000000"/>
                </a:solidFill>
                <a:latin typeface="Montserrat" pitchFamily="34" charset="0"/>
                <a:ea typeface="Montserrat" pitchFamily="34" charset="-122"/>
                <a:cs typeface="Montserrat" pitchFamily="34" charset="-120"/>
              </a:rPr>
              <a:t>. Cách này giúp ta </a:t>
            </a:r>
            <a:pPr algn="l" indent="0" marL="0">
              <a:lnSpc>
                <a:spcPct val="122000"/>
              </a:lnSpc>
              <a:buNone/>
            </a:pPr>
            <a:r>
              <a:rPr lang="en-US" sz="800" b="1" dirty="0">
                <a:solidFill>
                  <a:srgbClr val="000000"/>
                </a:solidFill>
                <a:latin typeface="Montserrat" pitchFamily="34" charset="0"/>
                <a:ea typeface="Montserrat" pitchFamily="34" charset="-122"/>
                <a:cs typeface="Montserrat" pitchFamily="34" charset="-120"/>
              </a:rPr>
              <a:t>không cần quan tâm đến thứ tự</a:t>
            </a:r>
            <a:pPr algn="l" indent="0" marL="0">
              <a:lnSpc>
                <a:spcPct val="122000"/>
              </a:lnSpc>
              <a:buNone/>
            </a:pPr>
            <a:r>
              <a:rPr lang="en-US" sz="800" dirty="0">
                <a:solidFill>
                  <a:srgbClr val="000000"/>
                </a:solidFill>
                <a:latin typeface="Montserrat" pitchFamily="34" charset="0"/>
                <a:ea typeface="Montserrat" pitchFamily="34" charset="-122"/>
                <a:cs typeface="Montserrat" pitchFamily="34" charset="-120"/>
              </a:rPr>
              <a:t> của các tham số — code dễ đọc và ít lỗi hơn.</a:t>
            </a:r>
            <a:endParaRPr lang="en-US" sz="800" dirty="0"/>
          </a:p>
        </p:txBody>
      </p:sp>
      <p:sp>
        <p:nvSpPr>
          <p:cNvPr id="4" name="Shape 2"/>
          <p:cNvSpPr/>
          <p:nvPr/>
        </p:nvSpPr>
        <p:spPr>
          <a:xfrm>
            <a:off x="410840" y="1043508"/>
            <a:ext cx="8322320" cy="2307729"/>
          </a:xfrm>
          <a:prstGeom prst="roundRect">
            <a:avLst>
              <a:gd name="adj" fmla="val 1870"/>
            </a:avLst>
          </a:prstGeom>
          <a:solidFill>
            <a:srgbClr val="F2F2F2"/>
          </a:solidFill>
          <a:ln/>
        </p:spPr>
      </p:sp>
      <p:sp>
        <p:nvSpPr>
          <p:cNvPr id="5" name="Shape 3"/>
          <p:cNvSpPr/>
          <p:nvPr/>
        </p:nvSpPr>
        <p:spPr>
          <a:xfrm>
            <a:off x="405705" y="1043508"/>
            <a:ext cx="8332589" cy="2307729"/>
          </a:xfrm>
          <a:prstGeom prst="roundRect">
            <a:avLst>
              <a:gd name="adj" fmla="val 668"/>
            </a:avLst>
          </a:prstGeom>
          <a:solidFill>
            <a:srgbClr val="F2F2F2"/>
          </a:solidFill>
          <a:ln/>
        </p:spPr>
      </p:sp>
      <p:sp>
        <p:nvSpPr>
          <p:cNvPr id="6" name="Text 4"/>
          <p:cNvSpPr/>
          <p:nvPr/>
        </p:nvSpPr>
        <p:spPr>
          <a:xfrm>
            <a:off x="534070" y="1146200"/>
            <a:ext cx="8075861" cy="2102346"/>
          </a:xfrm>
          <a:prstGeom prst="rect">
            <a:avLst/>
          </a:prstGeom>
          <a:noFill/>
          <a:ln/>
        </p:spPr>
        <p:txBody>
          <a:bodyPr wrap="square" lIns="0" tIns="0" rIns="0" bIns="0" rtlCol="0" anchor="t">
            <a:normAutofit/>
          </a:bodyPr>
          <a:lstStyle/>
          <a:p>
            <a:pPr algn="l" indent="0" marL="0">
              <a:lnSpc>
                <a:spcPct val="122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def dang_ky(ho, ten):</a:t>
            </a:r>
            <a:endParaRPr lang="en-US" sz="800" dirty="0"/>
          </a:p>
          <a:p>
            <a:pPr algn="l" indent="0" marL="0">
              <a:lnSpc>
                <a:spcPct val="122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print(f"Ho ten day du: {ho} {ten}")</a:t>
            </a:r>
            <a:endParaRPr lang="en-US" sz="800" dirty="0"/>
          </a:p>
          <a:p>
            <a:pPr algn="l" indent="0" marL="0">
              <a:lnSpc>
                <a:spcPct val="122000"/>
              </a:lnSpc>
              <a:buNone/>
            </a:pPr>
            <a:endParaRPr lang="en-US" sz="800" dirty="0"/>
          </a:p>
          <a:p>
            <a:pPr algn="l" indent="0" marL="0">
              <a:lnSpc>
                <a:spcPct val="122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Goi theo thu tu thong thuong (Positional)</a:t>
            </a:r>
            <a:endParaRPr lang="en-US" sz="800" dirty="0"/>
          </a:p>
          <a:p>
            <a:pPr algn="l" indent="0" marL="0">
              <a:lnSpc>
                <a:spcPct val="122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dang_ky("Nguyen", "Vinh")</a:t>
            </a:r>
            <a:endParaRPr lang="en-US" sz="800" dirty="0"/>
          </a:p>
          <a:p>
            <a:pPr algn="l" indent="0" marL="0">
              <a:lnSpc>
                <a:spcPct val="122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In ra: Ho ten day du: Nguyen Vinh</a:t>
            </a:r>
            <a:endParaRPr lang="en-US" sz="800" dirty="0"/>
          </a:p>
          <a:p>
            <a:pPr algn="l" indent="0" marL="0">
              <a:lnSpc>
                <a:spcPct val="122000"/>
              </a:lnSpc>
              <a:buNone/>
            </a:pPr>
            <a:endParaRPr lang="en-US" sz="800" dirty="0"/>
          </a:p>
          <a:p>
            <a:pPr algn="l" indent="0" marL="0">
              <a:lnSpc>
                <a:spcPct val="122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Goi bang Keyword Arguments - chi dinh ro ten tham so</a:t>
            </a:r>
            <a:endParaRPr lang="en-US" sz="800" dirty="0"/>
          </a:p>
          <a:p>
            <a:pPr algn="l" indent="0" marL="0">
              <a:lnSpc>
                <a:spcPct val="122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dang_ky(ten="Vinh", ho="Nguyen")</a:t>
            </a:r>
            <a:endParaRPr lang="en-US" sz="800" dirty="0"/>
          </a:p>
          <a:p>
            <a:pPr algn="l" indent="0" marL="0">
              <a:lnSpc>
                <a:spcPct val="122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In ra: Ho ten day du: Nguyen Vinh  ← Ket qua GIONG NHAU!</a:t>
            </a:r>
            <a:endParaRPr lang="en-US" sz="800" dirty="0"/>
          </a:p>
          <a:p>
            <a:pPr algn="l" indent="0" marL="0">
              <a:lnSpc>
                <a:spcPct val="122000"/>
              </a:lnSpc>
              <a:buNone/>
            </a:pPr>
            <a:endParaRPr lang="en-US" sz="800" dirty="0"/>
          </a:p>
          <a:p>
            <a:pPr algn="l" indent="0" marL="0">
              <a:lnSpc>
                <a:spcPct val="122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Ket hop: Positional truoc, Keyword sau</a:t>
            </a:r>
            <a:endParaRPr lang="en-US" sz="800" dirty="0"/>
          </a:p>
          <a:p>
            <a:pPr algn="l" indent="0" marL="0">
              <a:lnSpc>
                <a:spcPct val="122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dang_ky("Nguyen", ten="Vinh")</a:t>
            </a:r>
            <a:endParaRPr lang="en-US" sz="800" dirty="0"/>
          </a:p>
          <a:p>
            <a:pPr algn="l" indent="0" marL="0">
              <a:lnSpc>
                <a:spcPct val="122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In ra: Ho ten day du: Nguyen Vinh</a:t>
            </a:r>
            <a:endParaRPr lang="en-US" sz="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96553" y="3446934"/>
            <a:ext cx="2731666" cy="910233"/>
          </a:xfrm>
          <a:prstGeom prst="rect">
            <a:avLst/>
          </a:prstGeom>
        </p:spPr>
      </p:pic>
      <p:sp>
        <p:nvSpPr>
          <p:cNvPr id="8" name="Text 5"/>
          <p:cNvSpPr/>
          <p:nvPr/>
        </p:nvSpPr>
        <p:spPr>
          <a:xfrm>
            <a:off x="570681" y="3563913"/>
            <a:ext cx="1284015" cy="165274"/>
          </a:xfrm>
          <a:prstGeom prst="rect">
            <a:avLst/>
          </a:prstGeom>
          <a:noFill/>
          <a:ln/>
        </p:spPr>
        <p:txBody>
          <a:bodyPr wrap="none" lIns="0" tIns="0" rIns="0" bIns="0" rtlCol="0" anchor="t"/>
          <a:lstStyle/>
          <a:p>
            <a:pPr algn="l" indent="0" marL="0">
              <a:lnSpc>
                <a:spcPct val="104000"/>
              </a:lnSpc>
              <a:buNone/>
            </a:pPr>
            <a:r>
              <a:rPr lang="en-US" sz="10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000" dirty="0">
                <a:solidFill>
                  <a:srgbClr val="000000"/>
                </a:solidFill>
                <a:latin typeface="Montserrat ExtraBold" pitchFamily="34" charset="0"/>
                <a:ea typeface="Montserrat ExtraBold" pitchFamily="34" charset="-122"/>
                <a:cs typeface="Montserrat ExtraBold" pitchFamily="34" charset="-120"/>
              </a:rPr>
              <a:t> Tự do về thứ tự</a:t>
            </a:r>
            <a:endParaRPr lang="en-US" sz="1000" dirty="0"/>
          </a:p>
        </p:txBody>
      </p:sp>
      <p:sp>
        <p:nvSpPr>
          <p:cNvPr id="9" name="Text 6"/>
          <p:cNvSpPr/>
          <p:nvPr/>
        </p:nvSpPr>
        <p:spPr>
          <a:xfrm>
            <a:off x="570681" y="3780160"/>
            <a:ext cx="2440558" cy="450503"/>
          </a:xfrm>
          <a:prstGeom prst="rect">
            <a:avLst/>
          </a:prstGeom>
          <a:noFill/>
          <a:ln/>
        </p:spPr>
        <p:txBody>
          <a:bodyPr wrap="square" lIns="0" tIns="0" rIns="0" bIns="0" rtlCol="0" anchor="t">
            <a:normAutofit/>
          </a:bodyPr>
          <a:lstStyle/>
          <a:p>
            <a:pPr algn="l" indent="0" marL="0">
              <a:lnSpc>
                <a:spcPct val="122000"/>
              </a:lnSpc>
              <a:buNone/>
            </a:pPr>
            <a:r>
              <a:rPr lang="en-US" sz="800" dirty="0">
                <a:solidFill>
                  <a:srgbClr val="000000"/>
                </a:solidFill>
                <a:latin typeface="Montserrat" pitchFamily="34" charset="0"/>
                <a:ea typeface="Montserrat" pitchFamily="34" charset="-122"/>
                <a:cs typeface="Montserrat" pitchFamily="34" charset="-120"/>
              </a:rPr>
              <a:t>Khi dùng Keyword Arguments, có thể truyền tham số theo bất kỳ thứ tự nào. Python tự khớp tên tham số với giá trị tương ứng.</a:t>
            </a:r>
            <a:endParaRPr lang="en-US" sz="8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98986" y="3446934"/>
            <a:ext cx="2731666" cy="910233"/>
          </a:xfrm>
          <a:prstGeom prst="rect">
            <a:avLst/>
          </a:prstGeom>
        </p:spPr>
      </p:pic>
      <p:sp>
        <p:nvSpPr>
          <p:cNvPr id="11" name="Text 7"/>
          <p:cNvSpPr/>
          <p:nvPr/>
        </p:nvSpPr>
        <p:spPr>
          <a:xfrm>
            <a:off x="3373115" y="3563913"/>
            <a:ext cx="1411560" cy="165274"/>
          </a:xfrm>
          <a:prstGeom prst="rect">
            <a:avLst/>
          </a:prstGeom>
          <a:noFill/>
          <a:ln/>
        </p:spPr>
        <p:txBody>
          <a:bodyPr wrap="none" lIns="0" tIns="0" rIns="0" bIns="0" rtlCol="0" anchor="t"/>
          <a:lstStyle/>
          <a:p>
            <a:pPr algn="l" indent="0" marL="0">
              <a:lnSpc>
                <a:spcPct val="104000"/>
              </a:lnSpc>
              <a:buNone/>
            </a:pPr>
            <a:r>
              <a:rPr lang="en-US" sz="10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000" dirty="0">
                <a:solidFill>
                  <a:srgbClr val="000000"/>
                </a:solidFill>
                <a:latin typeface="Montserrat ExtraBold" pitchFamily="34" charset="0"/>
                <a:ea typeface="Montserrat ExtraBold" pitchFamily="34" charset="-122"/>
                <a:cs typeface="Montserrat ExtraBold" pitchFamily="34" charset="-120"/>
              </a:rPr>
              <a:t> Code tự giải thích</a:t>
            </a:r>
            <a:endParaRPr lang="en-US" sz="1000" dirty="0"/>
          </a:p>
        </p:txBody>
      </p:sp>
      <p:sp>
        <p:nvSpPr>
          <p:cNvPr id="12" name="Text 8"/>
          <p:cNvSpPr/>
          <p:nvPr/>
        </p:nvSpPr>
        <p:spPr>
          <a:xfrm>
            <a:off x="3373115" y="3780160"/>
            <a:ext cx="2440558" cy="460028"/>
          </a:xfrm>
          <a:prstGeom prst="rect">
            <a:avLst/>
          </a:prstGeom>
          <a:noFill/>
          <a:ln/>
        </p:spPr>
        <p:txBody>
          <a:bodyPr wrap="square" lIns="0" tIns="0" rIns="0" bIns="0" rtlCol="0" anchor="t">
            <a:normAutofit/>
          </a:bodyPr>
          <a:lstStyle/>
          <a:p>
            <a:pPr algn="l" indent="0" marL="0">
              <a:lnSpc>
                <a:spcPct val="122000"/>
              </a:lnSpc>
              <a:buNone/>
            </a:pPr>
            <a:r>
              <a:rPr lang="en-US" sz="800" dirty="0">
                <a:solidFill>
                  <a:srgbClr val="000000"/>
                </a:solidFill>
                <a:highlight>
                  <a:srgbClr val="F2F2F2"/>
                </a:highlight>
                <a:latin typeface="Consolas" pitchFamily="34" charset="0"/>
                <a:ea typeface="Consolas" pitchFamily="34" charset="-122"/>
                <a:cs typeface="Consolas" pitchFamily="34" charset="-120"/>
              </a:rPr>
              <a:t>dang_ky(ho="Nguyen", ten="Vinh")</a:t>
            </a:r>
            <a:pPr algn="l" indent="0" marL="0">
              <a:lnSpc>
                <a:spcPct val="122000"/>
              </a:lnSpc>
              <a:buNone/>
            </a:pPr>
            <a:r>
              <a:rPr lang="en-US" sz="800" dirty="0">
                <a:solidFill>
                  <a:srgbClr val="000000"/>
                </a:solidFill>
                <a:latin typeface="Montserrat" pitchFamily="34" charset="0"/>
                <a:ea typeface="Montserrat" pitchFamily="34" charset="-122"/>
                <a:cs typeface="Montserrat" pitchFamily="34" charset="-120"/>
              </a:rPr>
              <a:t> rõ ràng hơn nhiều so với </a:t>
            </a:r>
            <a:pPr algn="l" indent="0" marL="0">
              <a:lnSpc>
                <a:spcPct val="122000"/>
              </a:lnSpc>
              <a:buNone/>
            </a:pPr>
            <a:r>
              <a:rPr lang="en-US" sz="800" dirty="0">
                <a:solidFill>
                  <a:srgbClr val="000000"/>
                </a:solidFill>
                <a:highlight>
                  <a:srgbClr val="F2F2F2"/>
                </a:highlight>
                <a:latin typeface="Consolas" pitchFamily="34" charset="0"/>
                <a:ea typeface="Consolas" pitchFamily="34" charset="-122"/>
                <a:cs typeface="Consolas" pitchFamily="34" charset="-120"/>
              </a:rPr>
              <a:t>dang_ky("Nguyen", "Vinh")</a:t>
            </a:r>
            <a:pPr algn="l" indent="0" marL="0">
              <a:lnSpc>
                <a:spcPct val="122000"/>
              </a:lnSpc>
              <a:buNone/>
            </a:pPr>
            <a:r>
              <a:rPr lang="en-US" sz="800" dirty="0">
                <a:solidFill>
                  <a:srgbClr val="000000"/>
                </a:solidFill>
                <a:latin typeface="Montserrat" pitchFamily="34" charset="0"/>
                <a:ea typeface="Montserrat" pitchFamily="34" charset="-122"/>
                <a:cs typeface="Montserrat" pitchFamily="34" charset="-120"/>
              </a:rPr>
              <a:t>. Người đọc hiểu ngay không cần xem định nghĩa hàm.</a:t>
            </a:r>
            <a:endParaRPr lang="en-US" sz="8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01420" y="3446934"/>
            <a:ext cx="2731666" cy="910233"/>
          </a:xfrm>
          <a:prstGeom prst="rect">
            <a:avLst/>
          </a:prstGeom>
        </p:spPr>
      </p:pic>
      <p:sp>
        <p:nvSpPr>
          <p:cNvPr id="14" name="Text 9"/>
          <p:cNvSpPr/>
          <p:nvPr/>
        </p:nvSpPr>
        <p:spPr>
          <a:xfrm>
            <a:off x="6175549" y="3563913"/>
            <a:ext cx="1289000" cy="165274"/>
          </a:xfrm>
          <a:prstGeom prst="rect">
            <a:avLst/>
          </a:prstGeom>
          <a:noFill/>
          <a:ln/>
        </p:spPr>
        <p:txBody>
          <a:bodyPr wrap="none" lIns="0" tIns="0" rIns="0" bIns="0" rtlCol="0" anchor="t"/>
          <a:lstStyle/>
          <a:p>
            <a:pPr algn="l" indent="0" marL="0">
              <a:lnSpc>
                <a:spcPct val="104000"/>
              </a:lnSpc>
              <a:buNone/>
            </a:pPr>
            <a:r>
              <a:rPr lang="en-US" sz="10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000" dirty="0">
                <a:solidFill>
                  <a:srgbClr val="000000"/>
                </a:solidFill>
                <a:latin typeface="Montserrat ExtraBold" pitchFamily="34" charset="0"/>
                <a:ea typeface="Montserrat ExtraBold" pitchFamily="34" charset="-122"/>
                <a:cs typeface="Montserrat ExtraBold" pitchFamily="34" charset="-120"/>
              </a:rPr>
              <a:t> Quy tắc kết hợp</a:t>
            </a:r>
            <a:endParaRPr lang="en-US" sz="1000" dirty="0"/>
          </a:p>
        </p:txBody>
      </p:sp>
      <p:sp>
        <p:nvSpPr>
          <p:cNvPr id="15" name="Text 10"/>
          <p:cNvSpPr/>
          <p:nvPr/>
        </p:nvSpPr>
        <p:spPr>
          <a:xfrm>
            <a:off x="6175549" y="3780160"/>
            <a:ext cx="2440558" cy="450503"/>
          </a:xfrm>
          <a:prstGeom prst="rect">
            <a:avLst/>
          </a:prstGeom>
          <a:noFill/>
          <a:ln/>
        </p:spPr>
        <p:txBody>
          <a:bodyPr wrap="square" lIns="0" tIns="0" rIns="0" bIns="0" rtlCol="0" anchor="t">
            <a:normAutofit/>
          </a:bodyPr>
          <a:lstStyle/>
          <a:p>
            <a:pPr algn="l" indent="0" marL="0">
              <a:lnSpc>
                <a:spcPct val="122000"/>
              </a:lnSpc>
              <a:buNone/>
            </a:pPr>
            <a:r>
              <a:rPr lang="en-US" sz="800" dirty="0">
                <a:solidFill>
                  <a:srgbClr val="000000"/>
                </a:solidFill>
                <a:latin typeface="Montserrat" pitchFamily="34" charset="0"/>
                <a:ea typeface="Montserrat" pitchFamily="34" charset="-122"/>
                <a:cs typeface="Montserrat" pitchFamily="34" charset="-120"/>
              </a:rPr>
              <a:t>Khi kết hợp Positional và Keyword, Positional phải đứng TRƯỚC. Không được đặt Keyword trước Positional — Python sẽ báo SyntaxError.</a:t>
            </a:r>
            <a:endParaRPr lang="en-US" sz="800" dirty="0"/>
          </a:p>
        </p:txBody>
      </p:sp>
      <p:sp>
        <p:nvSpPr>
          <p:cNvPr id="16" name="Shape 11"/>
          <p:cNvSpPr/>
          <p:nvPr/>
        </p:nvSpPr>
        <p:spPr>
          <a:xfrm>
            <a:off x="410840" y="4452863"/>
            <a:ext cx="8322320" cy="388739"/>
          </a:xfrm>
          <a:prstGeom prst="roundRect">
            <a:avLst>
              <a:gd name="adj" fmla="val 11099"/>
            </a:avLst>
          </a:prstGeom>
          <a:solidFill>
            <a:srgbClr val="B6FCB8"/>
          </a:solidFill>
          <a:ln/>
        </p:spPr>
      </p:sp>
      <p:pic>
        <p:nvPicPr>
          <p:cNvPr id="17" name="Image 3" descr="preencoded.png">    </p:cNvPr>
          <p:cNvPicPr>
            <a:picLocks noChangeAspect="1"/>
          </p:cNvPicPr>
          <p:nvPr/>
        </p:nvPicPr>
        <p:blipFill>
          <a:blip r:embed="rId7"/>
          <a:stretch>
            <a:fillRect/>
          </a:stretch>
        </p:blipFill>
        <p:spPr>
          <a:xfrm>
            <a:off x="513531" y="4600873"/>
            <a:ext cx="128364" cy="102691"/>
          </a:xfrm>
          <a:prstGeom prst="rect">
            <a:avLst/>
          </a:prstGeom>
        </p:spPr>
      </p:pic>
      <p:sp>
        <p:nvSpPr>
          <p:cNvPr id="18" name="Text 12"/>
          <p:cNvSpPr/>
          <p:nvPr/>
        </p:nvSpPr>
        <p:spPr>
          <a:xfrm>
            <a:off x="744587" y="4563591"/>
            <a:ext cx="8343081" cy="150168"/>
          </a:xfrm>
          <a:prstGeom prst="rect">
            <a:avLst/>
          </a:prstGeom>
          <a:noFill/>
          <a:ln/>
        </p:spPr>
        <p:txBody>
          <a:bodyPr wrap="none" lIns="0" tIns="0" rIns="0" bIns="0" rtlCol="0" anchor="t"/>
          <a:lstStyle/>
          <a:p>
            <a:pPr algn="l" indent="0" marL="0">
              <a:lnSpc>
                <a:spcPct val="122000"/>
              </a:lnSpc>
              <a:buNone/>
            </a:pPr>
            <a:r>
              <a:rPr lang="en-US" sz="800" dirty="0">
                <a:solidFill>
                  <a:srgbClr val="000000"/>
                </a:solidFill>
                <a:latin typeface="Montserrat" pitchFamily="34" charset="0"/>
                <a:ea typeface="Montserrat" pitchFamily="34" charset="-122"/>
                <a:cs typeface="Montserrat" pitchFamily="34" charset="-120"/>
              </a:rPr>
              <a:t>Keyword Arguments đặc biệt hữu ích khi gọi hàm có nhiều tham số (4-5 tham số trở lên) — giúp tránh nhầm lẫn và code dễ đọc hơn rất nhiều!</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96119" y="430411"/>
            <a:ext cx="5749454"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Loại 4: Tham số biến thiên *args</a:t>
            </a:r>
            <a:endParaRPr lang="en-US" sz="2400" dirty="0"/>
          </a:p>
        </p:txBody>
      </p:sp>
      <p:sp>
        <p:nvSpPr>
          <p:cNvPr id="3" name="Text 1"/>
          <p:cNvSpPr/>
          <p:nvPr/>
        </p:nvSpPr>
        <p:spPr>
          <a:xfrm>
            <a:off x="496119" y="1065981"/>
            <a:ext cx="8151763" cy="4016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Dùng khi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không biết trước</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người dùng sẽ truyền vào bao nhiêu đối số. Dấu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sẽ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gom tất cả các đối số</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truyền vào thành một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Tuple</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để xử lý.</a:t>
            </a:r>
            <a:endParaRPr lang="en-US" sz="950" dirty="0"/>
          </a:p>
        </p:txBody>
      </p:sp>
      <p:sp>
        <p:nvSpPr>
          <p:cNvPr id="4" name="Shape 2"/>
          <p:cNvSpPr/>
          <p:nvPr/>
        </p:nvSpPr>
        <p:spPr>
          <a:xfrm>
            <a:off x="496119" y="1607195"/>
            <a:ext cx="8151763" cy="2034108"/>
          </a:xfrm>
          <a:prstGeom prst="roundRect">
            <a:avLst>
              <a:gd name="adj" fmla="val 2561"/>
            </a:avLst>
          </a:prstGeom>
          <a:solidFill>
            <a:srgbClr val="F2F2F2"/>
          </a:solidFill>
          <a:ln/>
        </p:spPr>
      </p:sp>
      <p:sp>
        <p:nvSpPr>
          <p:cNvPr id="5" name="Shape 3"/>
          <p:cNvSpPr/>
          <p:nvPr/>
        </p:nvSpPr>
        <p:spPr>
          <a:xfrm>
            <a:off x="489942" y="1607195"/>
            <a:ext cx="8164116" cy="2034108"/>
          </a:xfrm>
          <a:prstGeom prst="roundRect">
            <a:avLst>
              <a:gd name="adj" fmla="val 915"/>
            </a:avLst>
          </a:prstGeom>
          <a:solidFill>
            <a:srgbClr val="F2F2F2"/>
          </a:solidFill>
          <a:ln/>
        </p:spPr>
      </p:sp>
      <p:sp>
        <p:nvSpPr>
          <p:cNvPr id="6" name="Text 4"/>
          <p:cNvSpPr/>
          <p:nvPr/>
        </p:nvSpPr>
        <p:spPr>
          <a:xfrm>
            <a:off x="644947" y="1731169"/>
            <a:ext cx="7854107" cy="1786161"/>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def tinh_trung_binh(*diem_so):</a:t>
            </a:r>
            <a:endParaRPr lang="en-US" sz="950" dirty="0"/>
          </a:p>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 diem_so lúc này là một Tuple chứa tất cả số truyền vào</a:t>
            </a:r>
            <a:endParaRPr lang="en-US" sz="950" dirty="0"/>
          </a:p>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tong = sum(diem_so)</a:t>
            </a:r>
            <a:endParaRPr lang="en-US" sz="950" dirty="0"/>
          </a:p>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ket_qua = tong / len(diem_so)</a:t>
            </a:r>
            <a:endParaRPr lang="en-US" sz="950" dirty="0"/>
          </a:p>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return ket_qua</a:t>
            </a:r>
            <a:endParaRPr lang="en-US" sz="950" dirty="0"/>
          </a:p>
          <a:p>
            <a:pPr algn="l" indent="0" marL="0">
              <a:lnSpc>
                <a:spcPct val="133000"/>
              </a:lnSpc>
              <a:buNone/>
            </a:pPr>
            <a:endParaRPr lang="en-US" sz="950" dirty="0"/>
          </a:p>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print(tinh_trung_binh(8, 9, 7, 10))      # 4 điểm → Kết quả: 8.5</a:t>
            </a:r>
            <a:endParaRPr lang="en-US" sz="950" dirty="0"/>
          </a:p>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print(tinh_trung_binh(5, 6, 7, 8, 9, 10)) # 6 điểm → Kết quả: 7.5</a:t>
            </a:r>
            <a:endParaRPr lang="en-US" sz="950" dirty="0"/>
          </a:p>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print(tinh_trung_binh(10, 10))             # 2 điểm → Kết quả: 10.0</a:t>
            </a:r>
            <a:endParaRPr lang="en-US" sz="950" dirty="0"/>
          </a:p>
        </p:txBody>
      </p:sp>
      <p:sp>
        <p:nvSpPr>
          <p:cNvPr id="7" name="Shape 5"/>
          <p:cNvSpPr/>
          <p:nvPr/>
        </p:nvSpPr>
        <p:spPr>
          <a:xfrm>
            <a:off x="496119" y="3780830"/>
            <a:ext cx="2634555" cy="932185"/>
          </a:xfrm>
          <a:prstGeom prst="roundRect">
            <a:avLst>
              <a:gd name="adj" fmla="val 5589"/>
            </a:avLst>
          </a:prstGeom>
          <a:solidFill>
            <a:srgbClr val="F6D5D5"/>
          </a:solidFill>
          <a:ln w="4763">
            <a:solidFill>
              <a:srgbClr val="DCBBBB"/>
            </a:solidFill>
            <a:prstDash val="solid"/>
          </a:ln>
        </p:spPr>
      </p:sp>
      <p:sp>
        <p:nvSpPr>
          <p:cNvPr id="8" name="Text 6"/>
          <p:cNvSpPr/>
          <p:nvPr/>
        </p:nvSpPr>
        <p:spPr>
          <a:xfrm>
            <a:off x="624855" y="3909566"/>
            <a:ext cx="1550566"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 Tuple tự động</a:t>
            </a:r>
            <a:endParaRPr lang="en-US" sz="1200" dirty="0"/>
          </a:p>
        </p:txBody>
      </p:sp>
      <p:sp>
        <p:nvSpPr>
          <p:cNvPr id="9" name="Text 7"/>
          <p:cNvSpPr/>
          <p:nvPr/>
        </p:nvSpPr>
        <p:spPr>
          <a:xfrm>
            <a:off x="624855" y="4182591"/>
            <a:ext cx="237708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Python tự gom các đối số thành Tuple — không cần khai báo thêm gì</a:t>
            </a:r>
            <a:endParaRPr lang="en-US" sz="950" dirty="0"/>
          </a:p>
        </p:txBody>
      </p:sp>
      <p:sp>
        <p:nvSpPr>
          <p:cNvPr id="10" name="Shape 8"/>
          <p:cNvSpPr/>
          <p:nvPr/>
        </p:nvSpPr>
        <p:spPr>
          <a:xfrm>
            <a:off x="3254648" y="3780830"/>
            <a:ext cx="2634630" cy="932185"/>
          </a:xfrm>
          <a:prstGeom prst="roundRect">
            <a:avLst>
              <a:gd name="adj" fmla="val 5589"/>
            </a:avLst>
          </a:prstGeom>
          <a:solidFill>
            <a:srgbClr val="F6D5D5"/>
          </a:solidFill>
          <a:ln w="4763">
            <a:solidFill>
              <a:srgbClr val="DCBBBB"/>
            </a:solidFill>
            <a:prstDash val="solid"/>
          </a:ln>
        </p:spPr>
      </p:sp>
      <p:sp>
        <p:nvSpPr>
          <p:cNvPr id="11" name="Text 9"/>
          <p:cNvSpPr/>
          <p:nvPr/>
        </p:nvSpPr>
        <p:spPr>
          <a:xfrm>
            <a:off x="3383384" y="3909566"/>
            <a:ext cx="1550566"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 Số lượng tuỳ ý</a:t>
            </a:r>
            <a:endParaRPr lang="en-US" sz="1200" dirty="0"/>
          </a:p>
        </p:txBody>
      </p:sp>
      <p:sp>
        <p:nvSpPr>
          <p:cNvPr id="12" name="Text 10"/>
          <p:cNvSpPr/>
          <p:nvPr/>
        </p:nvSpPr>
        <p:spPr>
          <a:xfrm>
            <a:off x="3383384" y="4182591"/>
            <a:ext cx="2377157"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Truyền 2 hay 100 đối số đều được — hàm luôn hoạt động đúng</a:t>
            </a:r>
            <a:endParaRPr lang="en-US" sz="950" dirty="0"/>
          </a:p>
        </p:txBody>
      </p:sp>
      <p:sp>
        <p:nvSpPr>
          <p:cNvPr id="13" name="Shape 11"/>
          <p:cNvSpPr/>
          <p:nvPr/>
        </p:nvSpPr>
        <p:spPr>
          <a:xfrm>
            <a:off x="6013252" y="3780830"/>
            <a:ext cx="2634555" cy="932185"/>
          </a:xfrm>
          <a:prstGeom prst="roundRect">
            <a:avLst>
              <a:gd name="adj" fmla="val 5589"/>
            </a:avLst>
          </a:prstGeom>
          <a:solidFill>
            <a:srgbClr val="F6D5D5"/>
          </a:solidFill>
          <a:ln w="4763">
            <a:solidFill>
              <a:srgbClr val="DCBBBB"/>
            </a:solidFill>
            <a:prstDash val="solid"/>
          </a:ln>
        </p:spPr>
      </p:sp>
      <p:sp>
        <p:nvSpPr>
          <p:cNvPr id="14" name="Text 12"/>
          <p:cNvSpPr/>
          <p:nvPr/>
        </p:nvSpPr>
        <p:spPr>
          <a:xfrm>
            <a:off x="6141988" y="3909566"/>
            <a:ext cx="1567309"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 Dùng như Tuple</a:t>
            </a:r>
            <a:endParaRPr lang="en-US" sz="1200" dirty="0"/>
          </a:p>
        </p:txBody>
      </p:sp>
      <p:sp>
        <p:nvSpPr>
          <p:cNvPr id="15" name="Text 13"/>
          <p:cNvSpPr/>
          <p:nvPr/>
        </p:nvSpPr>
        <p:spPr>
          <a:xfrm>
            <a:off x="6141988" y="4182591"/>
            <a:ext cx="2377083" cy="4016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Bên trong hàm, dùng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sum()</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len()</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vòng lặp... như Tuple thông thường</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Shape 0"/>
          <p:cNvSpPr/>
          <p:nvPr/>
        </p:nvSpPr>
        <p:spPr>
          <a:xfrm>
            <a:off x="3925119" y="1942728"/>
            <a:ext cx="711026" cy="233214"/>
          </a:xfrm>
          <a:prstGeom prst="roundRect">
            <a:avLst>
              <a:gd name="adj" fmla="val 17872"/>
            </a:avLst>
          </a:prstGeom>
          <a:solidFill>
            <a:srgbClr val="F6D5D5"/>
          </a:solidFill>
          <a:ln/>
        </p:spPr>
      </p:sp>
      <p:sp>
        <p:nvSpPr>
          <p:cNvPr id="4" name="Text 1"/>
          <p:cNvSpPr/>
          <p:nvPr/>
        </p:nvSpPr>
        <p:spPr>
          <a:xfrm>
            <a:off x="3999533" y="1979935"/>
            <a:ext cx="1019398" cy="158800"/>
          </a:xfrm>
          <a:prstGeom prst="rect">
            <a:avLst/>
          </a:prstGeom>
          <a:noFill/>
          <a:ln/>
        </p:spPr>
        <p:txBody>
          <a:bodyPr wrap="none" lIns="0" tIns="0" rIns="0" bIns="0" rtlCol="0" anchor="t"/>
          <a:lstStyle/>
          <a:p>
            <a:pPr algn="l" indent="0" marL="0">
              <a:lnSpc>
                <a:spcPct val="133000"/>
              </a:lnSpc>
              <a:buNone/>
            </a:pPr>
            <a:r>
              <a:rPr lang="en-US" sz="750" dirty="0">
                <a:solidFill>
                  <a:srgbClr val="000000"/>
                </a:solidFill>
                <a:latin typeface="Montserrat" pitchFamily="34" charset="0"/>
                <a:ea typeface="Montserrat" pitchFamily="34" charset="-122"/>
                <a:cs typeface="Montserrat" pitchFamily="34" charset="-120"/>
              </a:rPr>
              <a:t>CHƯƠNG 4</a:t>
            </a:r>
            <a:endParaRPr lang="en-US" sz="750" dirty="0"/>
          </a:p>
        </p:txBody>
      </p:sp>
      <p:sp>
        <p:nvSpPr>
          <p:cNvPr id="5" name="Text 2"/>
          <p:cNvSpPr/>
          <p:nvPr/>
        </p:nvSpPr>
        <p:spPr>
          <a:xfrm>
            <a:off x="3925119" y="2225501"/>
            <a:ext cx="5118422"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Giá trị trả về — Return Value</a:t>
            </a:r>
            <a:endParaRPr lang="en-US" sz="2400" dirty="0"/>
          </a:p>
        </p:txBody>
      </p:sp>
      <p:sp>
        <p:nvSpPr>
          <p:cNvPr id="6" name="Text 3"/>
          <p:cNvSpPr/>
          <p:nvPr/>
        </p:nvSpPr>
        <p:spPr>
          <a:xfrm>
            <a:off x="3925119" y="2799085"/>
            <a:ext cx="4722763" cy="4016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Hàm có hai "tính cách": loại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thực hiện hành động</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(in ra màn hình, lưu file...) và loại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tính toán rồi trả kết quả</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về ngoài bằng từ khóa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return</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96119" y="486519"/>
            <a:ext cx="7169944"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Từ khóa return — 2 nhiệm vụ quan trọng</a:t>
            </a:r>
            <a:endParaRPr lang="en-US" sz="2400" dirty="0"/>
          </a:p>
        </p:txBody>
      </p:sp>
      <p:sp>
        <p:nvSpPr>
          <p:cNvPr id="3" name="Shape 1"/>
          <p:cNvSpPr/>
          <p:nvPr/>
        </p:nvSpPr>
        <p:spPr>
          <a:xfrm>
            <a:off x="406822" y="1060103"/>
            <a:ext cx="4103191" cy="950342"/>
          </a:xfrm>
          <a:prstGeom prst="roundRect">
            <a:avLst>
              <a:gd name="adj" fmla="val 9398"/>
            </a:avLst>
          </a:prstGeom>
          <a:solidFill>
            <a:srgbClr val="BE2727"/>
          </a:solidFill>
          <a:ln/>
        </p:spPr>
      </p:sp>
      <p:sp>
        <p:nvSpPr>
          <p:cNvPr id="4" name="Text 2"/>
          <p:cNvSpPr/>
          <p:nvPr/>
        </p:nvSpPr>
        <p:spPr>
          <a:xfrm>
            <a:off x="530796" y="1184077"/>
            <a:ext cx="2441153"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Montserrat ExtraBold" pitchFamily="34" charset="0"/>
                <a:ea typeface="Montserrat ExtraBold" pitchFamily="34" charset="-122"/>
                <a:cs typeface="Montserrat ExtraBold" pitchFamily="34" charset="-120"/>
              </a:rPr>
              <a:t>Nhiệm vụ 1: Xuất dữ liệu</a:t>
            </a:r>
            <a:endParaRPr lang="en-US" sz="1200" dirty="0"/>
          </a:p>
        </p:txBody>
      </p:sp>
      <p:sp>
        <p:nvSpPr>
          <p:cNvPr id="5" name="Text 3"/>
          <p:cNvSpPr/>
          <p:nvPr/>
        </p:nvSpPr>
        <p:spPr>
          <a:xfrm>
            <a:off x="530796" y="1501899"/>
            <a:ext cx="3855244"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Montserrat" pitchFamily="34" charset="0"/>
                <a:ea typeface="Montserrat" pitchFamily="34" charset="-122"/>
                <a:cs typeface="Montserrat" pitchFamily="34" charset="-120"/>
              </a:rPr>
              <a:t>Đưa kết quả từ </a:t>
            </a:r>
            <a:pPr algn="l" indent="0" marL="0">
              <a:lnSpc>
                <a:spcPct val="133000"/>
              </a:lnSpc>
              <a:buNone/>
            </a:pPr>
            <a:r>
              <a:rPr lang="en-US" sz="950" b="1" dirty="0">
                <a:solidFill>
                  <a:srgbClr val="FFFFFF"/>
                </a:solidFill>
                <a:latin typeface="Montserrat" pitchFamily="34" charset="0"/>
                <a:ea typeface="Montserrat" pitchFamily="34" charset="-122"/>
                <a:cs typeface="Montserrat" pitchFamily="34" charset="-120"/>
              </a:rPr>
              <a:t>bên trong hàm ra ngoài</a:t>
            </a:r>
            <a:pPr algn="l" indent="0" marL="0">
              <a:lnSpc>
                <a:spcPct val="133000"/>
              </a:lnSpc>
              <a:buNone/>
            </a:pPr>
            <a:r>
              <a:rPr lang="en-US" sz="950" dirty="0">
                <a:solidFill>
                  <a:srgbClr val="FFFFFF"/>
                </a:solidFill>
                <a:latin typeface="Montserrat" pitchFamily="34" charset="0"/>
                <a:ea typeface="Montserrat" pitchFamily="34" charset="-122"/>
                <a:cs typeface="Montserrat" pitchFamily="34" charset="-120"/>
              </a:rPr>
              <a:t> để có thể lưu vào biến hoặc tiếp tục tính toán với kết quả đó.</a:t>
            </a:r>
            <a:endParaRPr lang="en-US" sz="950" dirty="0"/>
          </a:p>
        </p:txBody>
      </p:sp>
      <p:sp>
        <p:nvSpPr>
          <p:cNvPr id="6" name="Text 4"/>
          <p:cNvSpPr/>
          <p:nvPr/>
        </p:nvSpPr>
        <p:spPr>
          <a:xfrm>
            <a:off x="4728046" y="1184077"/>
            <a:ext cx="3432572" cy="193849"/>
          </a:xfrm>
          <a:prstGeom prst="rect">
            <a:avLst/>
          </a:prstGeom>
          <a:noFill/>
          <a:ln/>
        </p:spPr>
        <p:txBody>
          <a:bodyPr wrap="none" lIns="0" tIns="0" rIns="0" bIns="0" rtlCol="0" anchor="t"/>
          <a:lstStyle/>
          <a:p>
            <a:pPr algn="l" indent="0" marL="0">
              <a:lnSpc>
                <a:spcPct val="104000"/>
              </a:lnSpc>
              <a:buNone/>
            </a:pPr>
            <a:r>
              <a:rPr lang="en-US" sz="1200" dirty="0">
                <a:solidFill>
                  <a:srgbClr val="BE2727"/>
                </a:solidFill>
                <a:latin typeface="Montserrat ExtraBold" pitchFamily="34" charset="0"/>
                <a:ea typeface="Montserrat ExtraBold" pitchFamily="34" charset="-122"/>
                <a:cs typeface="Montserrat ExtraBold" pitchFamily="34" charset="-120"/>
              </a:rPr>
              <a:t>Nhiệm vụ 2: Thoát hàm ngay lập tức</a:t>
            </a:r>
            <a:endParaRPr lang="en-US" sz="1200" dirty="0"/>
          </a:p>
        </p:txBody>
      </p:sp>
      <p:sp>
        <p:nvSpPr>
          <p:cNvPr id="7" name="Text 5"/>
          <p:cNvSpPr/>
          <p:nvPr/>
        </p:nvSpPr>
        <p:spPr>
          <a:xfrm>
            <a:off x="4728046" y="1501899"/>
            <a:ext cx="3924598"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Bất kỳ đoạn code nào viết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sau từ khóa return</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đều trở thành </a:t>
            </a:r>
            <a:pPr algn="l" indent="0" marL="0">
              <a:lnSpc>
                <a:spcPct val="133000"/>
              </a:lnSpc>
              <a:buNone/>
            </a:pPr>
            <a:r>
              <a:rPr lang="en-US" sz="950" i="1" dirty="0">
                <a:solidFill>
                  <a:srgbClr val="000000"/>
                </a:solidFill>
                <a:latin typeface="Montserrat" pitchFamily="34" charset="0"/>
                <a:ea typeface="Montserrat" pitchFamily="34" charset="-122"/>
                <a:cs typeface="Montserrat" pitchFamily="34" charset="-120"/>
              </a:rPr>
              <a:t>Dead code</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 sẽ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không bao giờ được chạy</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a:t>
            </a:r>
            <a:endParaRPr lang="en-US" sz="950" dirty="0"/>
          </a:p>
        </p:txBody>
      </p:sp>
      <p:sp>
        <p:nvSpPr>
          <p:cNvPr id="8" name="Shape 6"/>
          <p:cNvSpPr/>
          <p:nvPr/>
        </p:nvSpPr>
        <p:spPr>
          <a:xfrm>
            <a:off x="496119" y="2149971"/>
            <a:ext cx="8151763" cy="1835646"/>
          </a:xfrm>
          <a:prstGeom prst="roundRect">
            <a:avLst>
              <a:gd name="adj" fmla="val 2838"/>
            </a:avLst>
          </a:prstGeom>
          <a:solidFill>
            <a:srgbClr val="F2F2F2"/>
          </a:solidFill>
          <a:ln/>
        </p:spPr>
      </p:sp>
      <p:sp>
        <p:nvSpPr>
          <p:cNvPr id="9" name="Shape 7"/>
          <p:cNvSpPr/>
          <p:nvPr/>
        </p:nvSpPr>
        <p:spPr>
          <a:xfrm>
            <a:off x="489942" y="2149971"/>
            <a:ext cx="8164116" cy="1835646"/>
          </a:xfrm>
          <a:prstGeom prst="roundRect">
            <a:avLst>
              <a:gd name="adj" fmla="val 1014"/>
            </a:avLst>
          </a:prstGeom>
          <a:solidFill>
            <a:srgbClr val="F2F2F2"/>
          </a:solidFill>
          <a:ln/>
        </p:spPr>
      </p:sp>
      <p:sp>
        <p:nvSpPr>
          <p:cNvPr id="10" name="Text 8"/>
          <p:cNvSpPr/>
          <p:nvPr/>
        </p:nvSpPr>
        <p:spPr>
          <a:xfrm>
            <a:off x="644947" y="2273945"/>
            <a:ext cx="7854107" cy="1587698"/>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def tinh_binh_phuong(x):</a:t>
            </a:r>
            <a:endParaRPr lang="en-US" sz="950" dirty="0"/>
          </a:p>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ket_qua = x ** 2</a:t>
            </a:r>
            <a:endParaRPr lang="en-US" sz="950" dirty="0"/>
          </a:p>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return ket_qua</a:t>
            </a:r>
            <a:endParaRPr lang="en-US" sz="950" dirty="0"/>
          </a:p>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print("Dòng này sẽ KHÔNG BAO GIỜ được chạy!")  # Dead code!</a:t>
            </a:r>
            <a:endParaRPr lang="en-US" sz="950" dirty="0"/>
          </a:p>
          <a:p>
            <a:pPr algn="l" indent="0" marL="0">
              <a:lnSpc>
                <a:spcPct val="133000"/>
              </a:lnSpc>
              <a:buNone/>
            </a:pPr>
            <a:endParaRPr lang="en-US" sz="950" dirty="0"/>
          </a:p>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Lấy kết quả từ hàm để tiếp tục tính toán</a:t>
            </a:r>
            <a:endParaRPr lang="en-US" sz="950" dirty="0"/>
          </a:p>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so_an_tuong = tinh_binh_phuong(4)   # so_an_tuong = 16</a:t>
            </a:r>
            <a:endParaRPr lang="en-US" sz="950" dirty="0"/>
          </a:p>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print(so_an_tuong + 4)               # Kết quả: 20</a:t>
            </a:r>
            <a:endParaRPr lang="en-US" sz="950" dirty="0"/>
          </a:p>
        </p:txBody>
      </p:sp>
      <p:sp>
        <p:nvSpPr>
          <p:cNvPr id="11" name="Shape 9"/>
          <p:cNvSpPr/>
          <p:nvPr/>
        </p:nvSpPr>
        <p:spPr>
          <a:xfrm>
            <a:off x="496119" y="4125144"/>
            <a:ext cx="8151763" cy="531763"/>
          </a:xfrm>
          <a:prstGeom prst="roundRect">
            <a:avLst>
              <a:gd name="adj" fmla="val 9798"/>
            </a:avLst>
          </a:prstGeom>
          <a:solidFill>
            <a:srgbClr val="B6D6FC"/>
          </a:solidFill>
          <a:ln/>
        </p:spPr>
      </p:sp>
      <p:pic>
        <p:nvPicPr>
          <p:cNvPr id="12" name="Image 0" descr="preencoded.png">    </p:cNvPr>
          <p:cNvPicPr>
            <a:picLocks noChangeAspect="1"/>
          </p:cNvPicPr>
          <p:nvPr/>
        </p:nvPicPr>
        <p:blipFill>
          <a:blip r:embed="rId1"/>
          <a:stretch>
            <a:fillRect/>
          </a:stretch>
        </p:blipFill>
        <p:spPr>
          <a:xfrm>
            <a:off x="620092" y="4309690"/>
            <a:ext cx="155004" cy="123974"/>
          </a:xfrm>
          <a:prstGeom prst="rect">
            <a:avLst/>
          </a:prstGeom>
        </p:spPr>
      </p:pic>
      <p:sp>
        <p:nvSpPr>
          <p:cNvPr id="13" name="Text 10"/>
          <p:cNvSpPr/>
          <p:nvPr/>
        </p:nvSpPr>
        <p:spPr>
          <a:xfrm>
            <a:off x="899071" y="4280074"/>
            <a:ext cx="8082037"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Hàm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không có</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return</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sẽ tự động trả về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None</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Nếu cố lấy giá trị từ hàm đó và dùng tiếp, chương trình sẽ báo lỗi!</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10840" y="287908"/>
            <a:ext cx="581025" cy="181719"/>
          </a:xfrm>
          <a:prstGeom prst="roundRect">
            <a:avLst>
              <a:gd name="adj" fmla="val 18994"/>
            </a:avLst>
          </a:prstGeom>
          <a:solidFill>
            <a:srgbClr val="F6D5D5"/>
          </a:solidFill>
          <a:ln/>
        </p:spPr>
      </p:sp>
      <p:sp>
        <p:nvSpPr>
          <p:cNvPr id="3" name="Text 1"/>
          <p:cNvSpPr/>
          <p:nvPr/>
        </p:nvSpPr>
        <p:spPr>
          <a:xfrm>
            <a:off x="472455" y="318715"/>
            <a:ext cx="914995" cy="120104"/>
          </a:xfrm>
          <a:prstGeom prst="rect">
            <a:avLst/>
          </a:prstGeom>
          <a:noFill/>
          <a:ln/>
        </p:spPr>
        <p:txBody>
          <a:bodyPr wrap="none" lIns="0" tIns="0" rIns="0" bIns="0" rtlCol="0" anchor="t"/>
          <a:lstStyle/>
          <a:p>
            <a:pPr algn="l" indent="0" marL="0">
              <a:lnSpc>
                <a:spcPct val="122000"/>
              </a:lnSpc>
              <a:buNone/>
            </a:pPr>
            <a:r>
              <a:rPr lang="en-US" sz="600" dirty="0">
                <a:solidFill>
                  <a:srgbClr val="000000"/>
                </a:solidFill>
                <a:latin typeface="Montserrat" pitchFamily="34" charset="0"/>
                <a:ea typeface="Montserrat" pitchFamily="34" charset="-122"/>
                <a:cs typeface="Montserrat" pitchFamily="34" charset="-120"/>
              </a:rPr>
              <a:t>CHƯƠNG 5</a:t>
            </a:r>
            <a:endParaRPr lang="en-US" sz="600" dirty="0"/>
          </a:p>
        </p:txBody>
      </p:sp>
      <p:sp>
        <p:nvSpPr>
          <p:cNvPr id="4" name="Text 2"/>
          <p:cNvSpPr/>
          <p:nvPr/>
        </p:nvSpPr>
        <p:spPr>
          <a:xfrm>
            <a:off x="410840" y="503634"/>
            <a:ext cx="4682430" cy="320948"/>
          </a:xfrm>
          <a:prstGeom prst="rect">
            <a:avLst/>
          </a:prstGeom>
          <a:noFill/>
          <a:ln/>
        </p:spPr>
        <p:txBody>
          <a:bodyPr wrap="none" lIns="0" tIns="0" rIns="0" bIns="0" rtlCol="0" anchor="t"/>
          <a:lstStyle/>
          <a:p>
            <a:pPr algn="l" indent="0" marL="0">
              <a:lnSpc>
                <a:spcPct val="104000"/>
              </a:lnSpc>
              <a:buNone/>
            </a:pPr>
            <a:r>
              <a:rPr lang="en-US" sz="2000" dirty="0">
                <a:solidFill>
                  <a:srgbClr val="BE2727"/>
                </a:solidFill>
                <a:latin typeface="Montserrat ExtraBold" pitchFamily="34" charset="0"/>
                <a:ea typeface="Montserrat ExtraBold" pitchFamily="34" charset="-122"/>
                <a:cs typeface="Montserrat ExtraBold" pitchFamily="34" charset="-120"/>
              </a:rPr>
              <a:t>Phạm vi biến — Variable Scope</a:t>
            </a:r>
            <a:endParaRPr lang="en-US" sz="2000" dirty="0"/>
          </a:p>
        </p:txBody>
      </p:sp>
      <p:sp>
        <p:nvSpPr>
          <p:cNvPr id="5" name="Text 3"/>
          <p:cNvSpPr/>
          <p:nvPr/>
        </p:nvSpPr>
        <p:spPr>
          <a:xfrm>
            <a:off x="410840" y="952128"/>
            <a:ext cx="8733160" cy="150168"/>
          </a:xfrm>
          <a:prstGeom prst="rect">
            <a:avLst/>
          </a:prstGeom>
          <a:noFill/>
          <a:ln/>
        </p:spPr>
        <p:txBody>
          <a:bodyPr wrap="none" lIns="0" tIns="0" rIns="0" bIns="0" rtlCol="0" anchor="t"/>
          <a:lstStyle/>
          <a:p>
            <a:pPr algn="l" indent="0" marL="0">
              <a:lnSpc>
                <a:spcPct val="122000"/>
              </a:lnSpc>
              <a:buNone/>
            </a:pPr>
            <a:r>
              <a:rPr lang="en-US" sz="800" dirty="0">
                <a:solidFill>
                  <a:srgbClr val="000000"/>
                </a:solidFill>
                <a:latin typeface="Montserrat" pitchFamily="34" charset="0"/>
                <a:ea typeface="Montserrat" pitchFamily="34" charset="-122"/>
                <a:cs typeface="Montserrat" pitchFamily="34" charset="-120"/>
              </a:rPr>
              <a:t>Biến được khai báo ở đâu thì sẽ </a:t>
            </a:r>
            <a:pPr algn="l" indent="0" marL="0">
              <a:lnSpc>
                <a:spcPct val="122000"/>
              </a:lnSpc>
              <a:buNone/>
            </a:pPr>
            <a:r>
              <a:rPr lang="en-US" sz="800" b="1" dirty="0">
                <a:solidFill>
                  <a:srgbClr val="000000"/>
                </a:solidFill>
                <a:latin typeface="Montserrat" pitchFamily="34" charset="0"/>
                <a:ea typeface="Montserrat" pitchFamily="34" charset="-122"/>
                <a:cs typeface="Montserrat" pitchFamily="34" charset="-120"/>
              </a:rPr>
              <a:t>"sống"</a:t>
            </a:r>
            <a:pPr algn="l" indent="0" marL="0">
              <a:lnSpc>
                <a:spcPct val="122000"/>
              </a:lnSpc>
              <a:buNone/>
            </a:pPr>
            <a:r>
              <a:rPr lang="en-US" sz="800" dirty="0">
                <a:solidFill>
                  <a:srgbClr val="000000"/>
                </a:solidFill>
                <a:latin typeface="Montserrat" pitchFamily="34" charset="0"/>
                <a:ea typeface="Montserrat" pitchFamily="34" charset="-122"/>
                <a:cs typeface="Montserrat" pitchFamily="34" charset="-120"/>
              </a:rPr>
              <a:t> và có hiệu lực ở đó. Hiểu rõ Scope giúp tránh rất nhiều bug bí ẩn trong Python!</a:t>
            </a:r>
            <a:endParaRPr lang="en-US" sz="800" dirty="0"/>
          </a:p>
        </p:txBody>
      </p:sp>
      <p:pic>
        <p:nvPicPr>
          <p:cNvPr id="6" name="Image 0" descr="preencoded.png">    </p:cNvPr>
          <p:cNvPicPr>
            <a:picLocks noChangeAspect="1"/>
          </p:cNvPicPr>
          <p:nvPr/>
        </p:nvPicPr>
        <p:blipFill>
          <a:blip r:embed="rId1"/>
          <a:stretch>
            <a:fillRect/>
          </a:stretch>
        </p:blipFill>
        <p:spPr>
          <a:xfrm>
            <a:off x="410840" y="1197992"/>
            <a:ext cx="6553200" cy="3657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34132" y="348258"/>
            <a:ext cx="6079406" cy="339179"/>
          </a:xfrm>
          <a:prstGeom prst="rect">
            <a:avLst/>
          </a:prstGeom>
          <a:noFill/>
          <a:ln/>
        </p:spPr>
        <p:txBody>
          <a:bodyPr wrap="none" lIns="0" tIns="0" rIns="0" bIns="0" rtlCol="0" anchor="t"/>
          <a:lstStyle/>
          <a:p>
            <a:pPr algn="l" indent="0" marL="0">
              <a:lnSpc>
                <a:spcPct val="104000"/>
              </a:lnSpc>
              <a:buNone/>
            </a:pPr>
            <a:r>
              <a:rPr lang="en-US" sz="2100" dirty="0">
                <a:solidFill>
                  <a:srgbClr val="BE2727"/>
                </a:solidFill>
                <a:latin typeface="Montserrat ExtraBold" pitchFamily="34" charset="0"/>
                <a:ea typeface="Montserrat ExtraBold" pitchFamily="34" charset="-122"/>
                <a:cs typeface="Montserrat ExtraBold" pitchFamily="34" charset="-120"/>
              </a:rPr>
              <a:t>Global &amp; Local Scope — Ví dụ minh hoạ</a:t>
            </a:r>
            <a:endParaRPr lang="en-US" sz="2100" dirty="0"/>
          </a:p>
        </p:txBody>
      </p:sp>
      <p:sp>
        <p:nvSpPr>
          <p:cNvPr id="3" name="Shape 1"/>
          <p:cNvSpPr/>
          <p:nvPr/>
        </p:nvSpPr>
        <p:spPr>
          <a:xfrm>
            <a:off x="434132" y="877342"/>
            <a:ext cx="8275737" cy="2496443"/>
          </a:xfrm>
          <a:prstGeom prst="roundRect">
            <a:avLst>
              <a:gd name="adj" fmla="val 1826"/>
            </a:avLst>
          </a:prstGeom>
          <a:solidFill>
            <a:srgbClr val="F2F2F2"/>
          </a:solidFill>
          <a:ln/>
        </p:spPr>
      </p:sp>
      <p:sp>
        <p:nvSpPr>
          <p:cNvPr id="4" name="Shape 2"/>
          <p:cNvSpPr/>
          <p:nvPr/>
        </p:nvSpPr>
        <p:spPr>
          <a:xfrm>
            <a:off x="428774" y="877342"/>
            <a:ext cx="8286452" cy="2496443"/>
          </a:xfrm>
          <a:prstGeom prst="roundRect">
            <a:avLst>
              <a:gd name="adj" fmla="val 652"/>
            </a:avLst>
          </a:prstGeom>
          <a:solidFill>
            <a:srgbClr val="F2F2F2"/>
          </a:solidFill>
          <a:ln/>
        </p:spPr>
      </p:sp>
      <p:sp>
        <p:nvSpPr>
          <p:cNvPr id="5" name="Text 3"/>
          <p:cNvSpPr/>
          <p:nvPr/>
        </p:nvSpPr>
        <p:spPr>
          <a:xfrm>
            <a:off x="564431" y="985838"/>
            <a:ext cx="8015139" cy="2279452"/>
          </a:xfrm>
          <a:prstGeom prst="rect">
            <a:avLst/>
          </a:prstGeom>
          <a:noFill/>
          <a:ln/>
        </p:spPr>
        <p:txBody>
          <a:bodyPr wrap="square" lIns="0" tIns="0" rIns="0" bIns="0" rtlCol="0" anchor="t">
            <a:normAutofit/>
          </a:bodyPr>
          <a:lstStyle/>
          <a:p>
            <a:pPr algn="l" indent="0" marL="0">
              <a:lnSpc>
                <a:spcPct val="125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 Bien GLOBAL - khai bao ngoai cung</a:t>
            </a:r>
            <a:endParaRPr lang="en-US" sz="850" dirty="0"/>
          </a:p>
          <a:p>
            <a:pPr algn="l" indent="0" marL="0">
              <a:lnSpc>
                <a:spcPct val="125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thanh_pho = "Ha Noi"</a:t>
            </a:r>
            <a:endParaRPr lang="en-US" sz="850" dirty="0"/>
          </a:p>
          <a:p>
            <a:pPr algn="l" indent="0" marL="0">
              <a:lnSpc>
                <a:spcPct val="125000"/>
              </a:lnSpc>
              <a:buNone/>
            </a:pPr>
            <a:endParaRPr lang="en-US" sz="850" dirty="0"/>
          </a:p>
          <a:p>
            <a:pPr algn="l" indent="0" marL="0">
              <a:lnSpc>
                <a:spcPct val="125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def test_scope():</a:t>
            </a:r>
            <a:endParaRPr lang="en-US" sz="850" dirty="0"/>
          </a:p>
          <a:p>
            <a:pPr algn="l" indent="0" marL="0">
              <a:lnSpc>
                <a:spcPct val="125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    # Bien LOCAL - chi song trong ham nay</a:t>
            </a:r>
            <a:endParaRPr lang="en-US" sz="850" dirty="0"/>
          </a:p>
          <a:p>
            <a:pPr algn="l" indent="0" marL="0">
              <a:lnSpc>
                <a:spcPct val="125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    quan = "Cau Giay"</a:t>
            </a:r>
            <a:endParaRPr lang="en-US" sz="850" dirty="0"/>
          </a:p>
          <a:p>
            <a:pPr algn="l" indent="0" marL="0">
              <a:lnSpc>
                <a:spcPct val="125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    print(f"Trong ham: Toi o {quan}, {thanh_pho}")</a:t>
            </a:r>
            <a:endParaRPr lang="en-US" sz="850" dirty="0"/>
          </a:p>
          <a:p>
            <a:pPr algn="l" indent="0" marL="0">
              <a:lnSpc>
                <a:spcPct val="125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    # In ra: Trong ham: Toi o Cau Giay, Ha Noi</a:t>
            </a:r>
            <a:endParaRPr lang="en-US" sz="850" dirty="0"/>
          </a:p>
          <a:p>
            <a:pPr algn="l" indent="0" marL="0">
              <a:lnSpc>
                <a:spcPct val="125000"/>
              </a:lnSpc>
              <a:buNone/>
            </a:pPr>
            <a:endParaRPr lang="en-US" sz="850" dirty="0"/>
          </a:p>
          <a:p>
            <a:pPr algn="l" indent="0" marL="0">
              <a:lnSpc>
                <a:spcPct val="125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test_scope()</a:t>
            </a:r>
            <a:endParaRPr lang="en-US" sz="850" dirty="0"/>
          </a:p>
          <a:p>
            <a:pPr algn="l" indent="0" marL="0">
              <a:lnSpc>
                <a:spcPct val="125000"/>
              </a:lnSpc>
              <a:buNone/>
            </a:pPr>
            <a:endParaRPr lang="en-US" sz="850" dirty="0"/>
          </a:p>
          <a:p>
            <a:pPr algn="l" indent="0" marL="0">
              <a:lnSpc>
                <a:spcPct val="125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 Thu truy cap bien LOCAL tu ben ngoai ham</a:t>
            </a:r>
            <a:endParaRPr lang="en-US" sz="850" dirty="0"/>
          </a:p>
          <a:p>
            <a:pPr algn="l" indent="0" marL="0">
              <a:lnSpc>
                <a:spcPct val="125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print(thanh_pho)   # OK - bien Global</a:t>
            </a:r>
            <a:endParaRPr lang="en-US" sz="850" dirty="0"/>
          </a:p>
          <a:p>
            <a:pPr algn="l" indent="0" marL="0">
              <a:lnSpc>
                <a:spcPct val="125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print(quan)        # NameError: name 'quan' is not defined</a:t>
            </a:r>
            <a:endParaRPr lang="en-US" sz="850" dirty="0"/>
          </a:p>
        </p:txBody>
      </p:sp>
      <p:sp>
        <p:nvSpPr>
          <p:cNvPr id="6" name="Shape 4"/>
          <p:cNvSpPr/>
          <p:nvPr/>
        </p:nvSpPr>
        <p:spPr>
          <a:xfrm>
            <a:off x="434132" y="3480569"/>
            <a:ext cx="4090392" cy="783357"/>
          </a:xfrm>
          <a:prstGeom prst="roundRect">
            <a:avLst>
              <a:gd name="adj" fmla="val 5819"/>
            </a:avLst>
          </a:prstGeom>
          <a:solidFill>
            <a:srgbClr val="F6D5D5"/>
          </a:solidFill>
          <a:ln w="4763">
            <a:solidFill>
              <a:srgbClr val="DCBBBB"/>
            </a:solidFill>
            <a:prstDash val="solid"/>
          </a:ln>
        </p:spPr>
      </p:sp>
      <p:sp>
        <p:nvSpPr>
          <p:cNvPr id="7" name="Text 5"/>
          <p:cNvSpPr/>
          <p:nvPr/>
        </p:nvSpPr>
        <p:spPr>
          <a:xfrm>
            <a:off x="547390" y="3593827"/>
            <a:ext cx="1356717" cy="174278"/>
          </a:xfrm>
          <a:prstGeom prst="rect">
            <a:avLst/>
          </a:prstGeom>
          <a:noFill/>
          <a:ln/>
        </p:spPr>
        <p:txBody>
          <a:bodyPr wrap="none" lIns="0" tIns="0" rIns="0" bIns="0" rtlCol="0" anchor="t"/>
          <a:lstStyle/>
          <a:p>
            <a:pPr algn="l" indent="0" marL="0">
              <a:lnSpc>
                <a:spcPct val="104000"/>
              </a:lnSpc>
              <a:buNone/>
            </a:pPr>
            <a:r>
              <a:rPr lang="en-US" sz="105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050" dirty="0">
                <a:solidFill>
                  <a:srgbClr val="000000"/>
                </a:solidFill>
                <a:latin typeface="Montserrat ExtraBold" pitchFamily="34" charset="0"/>
                <a:ea typeface="Montserrat ExtraBold" pitchFamily="34" charset="-122"/>
                <a:cs typeface="Montserrat ExtraBold" pitchFamily="34" charset="-120"/>
              </a:rPr>
              <a:t> Global Variable</a:t>
            </a:r>
            <a:endParaRPr lang="en-US" sz="1050" dirty="0"/>
          </a:p>
        </p:txBody>
      </p:sp>
      <p:sp>
        <p:nvSpPr>
          <p:cNvPr id="8" name="Text 6"/>
          <p:cNvSpPr/>
          <p:nvPr/>
        </p:nvSpPr>
        <p:spPr>
          <a:xfrm>
            <a:off x="547390" y="3825032"/>
            <a:ext cx="3863876" cy="325636"/>
          </a:xfrm>
          <a:prstGeom prst="rect">
            <a:avLst/>
          </a:prstGeom>
          <a:noFill/>
          <a:ln/>
        </p:spPr>
        <p:txBody>
          <a:bodyPr wrap="square" lIns="0" tIns="0" rIns="0" bIns="0" rtlCol="0" anchor="t">
            <a:normAutofit/>
          </a:bodyPr>
          <a:lstStyle/>
          <a:p>
            <a:pPr algn="l" indent="0" marL="0">
              <a:lnSpc>
                <a:spcPct val="125000"/>
              </a:lnSpc>
              <a:buNone/>
            </a:pPr>
            <a:r>
              <a:rPr lang="en-US" sz="850" dirty="0">
                <a:solidFill>
                  <a:srgbClr val="000000"/>
                </a:solidFill>
                <a:latin typeface="Montserrat" pitchFamily="34" charset="0"/>
                <a:ea typeface="Montserrat" pitchFamily="34" charset="-122"/>
                <a:cs typeface="Montserrat" pitchFamily="34" charset="-120"/>
              </a:rPr>
              <a:t>Khai báo ngoài hàm. Tất cả hàm đều có thể ĐỌC được. Tồn tại suốt vòng đời chương trình.</a:t>
            </a:r>
            <a:endParaRPr lang="en-US" sz="850" dirty="0"/>
          </a:p>
        </p:txBody>
      </p:sp>
      <p:sp>
        <p:nvSpPr>
          <p:cNvPr id="9" name="Shape 7"/>
          <p:cNvSpPr/>
          <p:nvPr/>
        </p:nvSpPr>
        <p:spPr>
          <a:xfrm>
            <a:off x="4619476" y="3480569"/>
            <a:ext cx="4090392" cy="783357"/>
          </a:xfrm>
          <a:prstGeom prst="roundRect">
            <a:avLst>
              <a:gd name="adj" fmla="val 5819"/>
            </a:avLst>
          </a:prstGeom>
          <a:solidFill>
            <a:srgbClr val="F6D5D5"/>
          </a:solidFill>
          <a:ln w="4763">
            <a:solidFill>
              <a:srgbClr val="DCBBBB"/>
            </a:solidFill>
            <a:prstDash val="solid"/>
          </a:ln>
        </p:spPr>
      </p:sp>
      <p:sp>
        <p:nvSpPr>
          <p:cNvPr id="10" name="Text 8"/>
          <p:cNvSpPr/>
          <p:nvPr/>
        </p:nvSpPr>
        <p:spPr>
          <a:xfrm>
            <a:off x="4732734" y="3593827"/>
            <a:ext cx="1356717" cy="174278"/>
          </a:xfrm>
          <a:prstGeom prst="rect">
            <a:avLst/>
          </a:prstGeom>
          <a:noFill/>
          <a:ln/>
        </p:spPr>
        <p:txBody>
          <a:bodyPr wrap="none" lIns="0" tIns="0" rIns="0" bIns="0" rtlCol="0" anchor="t"/>
          <a:lstStyle/>
          <a:p>
            <a:pPr algn="l" indent="0" marL="0">
              <a:lnSpc>
                <a:spcPct val="104000"/>
              </a:lnSpc>
              <a:buNone/>
            </a:pPr>
            <a:r>
              <a:rPr lang="en-US" sz="105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050" dirty="0">
                <a:solidFill>
                  <a:srgbClr val="000000"/>
                </a:solidFill>
                <a:latin typeface="Montserrat ExtraBold" pitchFamily="34" charset="0"/>
                <a:ea typeface="Montserrat ExtraBold" pitchFamily="34" charset="-122"/>
                <a:cs typeface="Montserrat ExtraBold" pitchFamily="34" charset="-120"/>
              </a:rPr>
              <a:t> Local Variable</a:t>
            </a:r>
            <a:endParaRPr lang="en-US" sz="1050" dirty="0"/>
          </a:p>
        </p:txBody>
      </p:sp>
      <p:sp>
        <p:nvSpPr>
          <p:cNvPr id="11" name="Text 9"/>
          <p:cNvSpPr/>
          <p:nvPr/>
        </p:nvSpPr>
        <p:spPr>
          <a:xfrm>
            <a:off x="4732734" y="3825032"/>
            <a:ext cx="3863876" cy="325636"/>
          </a:xfrm>
          <a:prstGeom prst="rect">
            <a:avLst/>
          </a:prstGeom>
          <a:noFill/>
          <a:ln/>
        </p:spPr>
        <p:txBody>
          <a:bodyPr wrap="square" lIns="0" tIns="0" rIns="0" bIns="0" rtlCol="0" anchor="t">
            <a:normAutofit/>
          </a:bodyPr>
          <a:lstStyle/>
          <a:p>
            <a:pPr algn="l" indent="0" marL="0">
              <a:lnSpc>
                <a:spcPct val="125000"/>
              </a:lnSpc>
              <a:buNone/>
            </a:pPr>
            <a:r>
              <a:rPr lang="en-US" sz="850" dirty="0">
                <a:solidFill>
                  <a:srgbClr val="000000"/>
                </a:solidFill>
                <a:latin typeface="Montserrat" pitchFamily="34" charset="0"/>
                <a:ea typeface="Montserrat" pitchFamily="34" charset="-122"/>
                <a:cs typeface="Montserrat" pitchFamily="34" charset="-120"/>
              </a:rPr>
              <a:t>Khai báo bên trong hàm. Chỉ tồn tại khi hàm đang chạy. Biến mất khi hàm kết thúc.</a:t>
            </a:r>
            <a:endParaRPr lang="en-US" sz="850" dirty="0"/>
          </a:p>
        </p:txBody>
      </p:sp>
      <p:sp>
        <p:nvSpPr>
          <p:cNvPr id="12" name="Shape 10"/>
          <p:cNvSpPr/>
          <p:nvPr/>
        </p:nvSpPr>
        <p:spPr>
          <a:xfrm>
            <a:off x="434132" y="4370710"/>
            <a:ext cx="8275737" cy="424532"/>
          </a:xfrm>
          <a:prstGeom prst="roundRect">
            <a:avLst>
              <a:gd name="adj" fmla="val 10738"/>
            </a:avLst>
          </a:prstGeom>
          <a:solidFill>
            <a:srgbClr val="FCF2B5"/>
          </a:solidFill>
          <a:ln/>
        </p:spPr>
      </p:sp>
      <p:pic>
        <p:nvPicPr>
          <p:cNvPr id="13" name="Image 0" descr="preencoded.png">    </p:cNvPr>
          <p:cNvPicPr>
            <a:picLocks noChangeAspect="1"/>
          </p:cNvPicPr>
          <p:nvPr/>
        </p:nvPicPr>
        <p:blipFill>
          <a:blip r:embed="rId1"/>
          <a:stretch>
            <a:fillRect/>
          </a:stretch>
        </p:blipFill>
        <p:spPr>
          <a:xfrm>
            <a:off x="542627" y="4530403"/>
            <a:ext cx="135657" cy="108496"/>
          </a:xfrm>
          <a:prstGeom prst="rect">
            <a:avLst/>
          </a:prstGeom>
        </p:spPr>
      </p:pic>
      <p:sp>
        <p:nvSpPr>
          <p:cNvPr id="14" name="Text 11"/>
          <p:cNvSpPr/>
          <p:nvPr/>
        </p:nvSpPr>
        <p:spPr>
          <a:xfrm>
            <a:off x="786780" y="4492749"/>
            <a:ext cx="8271793" cy="162818"/>
          </a:xfrm>
          <a:prstGeom prst="rect">
            <a:avLst/>
          </a:prstGeom>
          <a:noFill/>
          <a:ln/>
        </p:spPr>
        <p:txBody>
          <a:bodyPr wrap="none" lIns="0" tIns="0" rIns="0" bIns="0" rtlCol="0" anchor="t"/>
          <a:lstStyle/>
          <a:p>
            <a:pPr algn="l" indent="0" marL="0">
              <a:lnSpc>
                <a:spcPct val="125000"/>
              </a:lnSpc>
              <a:buNone/>
            </a:pPr>
            <a:r>
              <a:rPr lang="en-US" sz="850" dirty="0">
                <a:solidFill>
                  <a:srgbClr val="000000"/>
                </a:solidFill>
                <a:latin typeface="Montserrat" pitchFamily="34" charset="0"/>
                <a:ea typeface="Montserrat" pitchFamily="34" charset="-122"/>
                <a:cs typeface="Montserrat" pitchFamily="34" charset="-120"/>
              </a:rPr>
              <a:t>Cố tình truy cập biến Local từ bên ngoài hàm sẽ gây ra NameError — một trong những lỗi phổ biến nhất của người mới học Python!</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49610" y="344909"/>
            <a:ext cx="7288634" cy="351309"/>
          </a:xfrm>
          <a:prstGeom prst="rect">
            <a:avLst/>
          </a:prstGeom>
          <a:noFill/>
          <a:ln/>
        </p:spPr>
        <p:txBody>
          <a:bodyPr wrap="none" lIns="0" tIns="0" rIns="0" bIns="0" rtlCol="0" anchor="t"/>
          <a:lstStyle/>
          <a:p>
            <a:pPr algn="l" indent="0" marL="0">
              <a:lnSpc>
                <a:spcPct val="104000"/>
              </a:lnSpc>
              <a:buNone/>
            </a:pPr>
            <a:r>
              <a:rPr lang="en-US" sz="2200" dirty="0">
                <a:solidFill>
                  <a:srgbClr val="BE2727"/>
                </a:solidFill>
                <a:latin typeface="Montserrat ExtraBold" pitchFamily="34" charset="0"/>
                <a:ea typeface="Montserrat ExtraBold" pitchFamily="34" charset="-122"/>
                <a:cs typeface="Montserrat ExtraBold" pitchFamily="34" charset="-120"/>
              </a:rPr>
              <a:t>Từ khóa global — Khi muốn sửa biến toàn cục</a:t>
            </a:r>
            <a:endParaRPr lang="en-US" sz="2200" dirty="0"/>
          </a:p>
        </p:txBody>
      </p:sp>
      <p:sp>
        <p:nvSpPr>
          <p:cNvPr id="3" name="Text 1"/>
          <p:cNvSpPr/>
          <p:nvPr/>
        </p:nvSpPr>
        <p:spPr>
          <a:xfrm>
            <a:off x="449610" y="899964"/>
            <a:ext cx="8244780" cy="347663"/>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Nếu đang ở trong hàm mà muốn </a:t>
            </a:r>
            <a:pPr algn="l" indent="0" marL="0">
              <a:lnSpc>
                <a:spcPct val="127000"/>
              </a:lnSpc>
              <a:buNone/>
            </a:pPr>
            <a:r>
              <a:rPr lang="en-US" sz="850" b="1" dirty="0">
                <a:solidFill>
                  <a:srgbClr val="000000"/>
                </a:solidFill>
                <a:latin typeface="Montserrat" pitchFamily="34" charset="0"/>
                <a:ea typeface="Montserrat" pitchFamily="34" charset="-122"/>
                <a:cs typeface="Montserrat" pitchFamily="34" charset="-120"/>
              </a:rPr>
              <a:t>thay đổi giá trị</a:t>
            </a:r>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 một biến Global, bắt buộc phải khai báo từ khóa </a:t>
            </a:r>
            <a:pPr algn="l" indent="0" marL="0">
              <a:lnSpc>
                <a:spcPct val="127000"/>
              </a:lnSpc>
              <a:buNone/>
            </a:pPr>
            <a:r>
              <a:rPr lang="en-US" sz="850" dirty="0">
                <a:solidFill>
                  <a:srgbClr val="000000"/>
                </a:solidFill>
                <a:highlight>
                  <a:srgbClr val="F2F2F2"/>
                </a:highlight>
                <a:latin typeface="Consolas" pitchFamily="34" charset="0"/>
                <a:ea typeface="Consolas" pitchFamily="34" charset="-122"/>
                <a:cs typeface="Consolas" pitchFamily="34" charset="-120"/>
              </a:rPr>
              <a:t>global</a:t>
            </a:r>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 trước khi dùng. Thiếu từ khóa này, Python sẽ tạo một biến </a:t>
            </a:r>
            <a:pPr algn="l" indent="0" marL="0">
              <a:lnSpc>
                <a:spcPct val="127000"/>
              </a:lnSpc>
              <a:buNone/>
            </a:pPr>
            <a:r>
              <a:rPr lang="en-US" sz="850" i="1" dirty="0">
                <a:solidFill>
                  <a:srgbClr val="000000"/>
                </a:solidFill>
                <a:latin typeface="Montserrat" pitchFamily="34" charset="0"/>
                <a:ea typeface="Montserrat" pitchFamily="34" charset="-122"/>
                <a:cs typeface="Montserrat" pitchFamily="34" charset="-120"/>
              </a:rPr>
              <a:t>local mới</a:t>
            </a:r>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 trùng tên thay vì sửa biến global!</a:t>
            </a:r>
            <a:endParaRPr lang="en-US" sz="850" dirty="0"/>
          </a:p>
        </p:txBody>
      </p:sp>
      <p:sp>
        <p:nvSpPr>
          <p:cNvPr id="4" name="Shape 2"/>
          <p:cNvSpPr/>
          <p:nvPr/>
        </p:nvSpPr>
        <p:spPr>
          <a:xfrm>
            <a:off x="449610" y="1362224"/>
            <a:ext cx="8244780" cy="1767780"/>
          </a:xfrm>
          <a:prstGeom prst="roundRect">
            <a:avLst>
              <a:gd name="adj" fmla="val 2671"/>
            </a:avLst>
          </a:prstGeom>
          <a:solidFill>
            <a:srgbClr val="F2F2F2"/>
          </a:solidFill>
          <a:ln/>
        </p:spPr>
      </p:sp>
      <p:sp>
        <p:nvSpPr>
          <p:cNvPr id="5" name="Shape 3"/>
          <p:cNvSpPr/>
          <p:nvPr/>
        </p:nvSpPr>
        <p:spPr>
          <a:xfrm>
            <a:off x="444029" y="1362224"/>
            <a:ext cx="8255943" cy="1767780"/>
          </a:xfrm>
          <a:prstGeom prst="roundRect">
            <a:avLst>
              <a:gd name="adj" fmla="val 954"/>
            </a:avLst>
          </a:prstGeom>
          <a:solidFill>
            <a:srgbClr val="F2F2F2"/>
          </a:solidFill>
          <a:ln/>
        </p:spPr>
      </p:sp>
      <p:sp>
        <p:nvSpPr>
          <p:cNvPr id="6" name="Text 4"/>
          <p:cNvSpPr/>
          <p:nvPr/>
        </p:nvSpPr>
        <p:spPr>
          <a:xfrm>
            <a:off x="584522" y="1474589"/>
            <a:ext cx="7974955" cy="154305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000000"/>
                </a:solidFill>
                <a:latin typeface="Consolas" pitchFamily="34" charset="0"/>
                <a:ea typeface="Consolas" pitchFamily="34" charset="-122"/>
                <a:cs typeface="Consolas" pitchFamily="34" charset="-120"/>
              </a:rPr>
              <a:t>diem = 0  # Bien Global</a:t>
            </a:r>
            <a:endParaRPr lang="en-US" sz="850" dirty="0"/>
          </a:p>
          <a:p>
            <a:pPr algn="l" indent="0" marL="0">
              <a:lnSpc>
                <a:spcPct val="127000"/>
              </a:lnSpc>
              <a:buNone/>
            </a:pPr>
            <a:endParaRPr lang="en-US" sz="850" dirty="0"/>
          </a:p>
          <a:p>
            <a:pPr algn="l" indent="0" marL="0">
              <a:lnSpc>
                <a:spcPct val="127000"/>
              </a:lnSpc>
              <a:buNone/>
            </a:pPr>
            <a:r>
              <a:rPr lang="en-US" sz="850" dirty="0">
                <a:solidFill>
                  <a:srgbClr val="000000"/>
                </a:solidFill>
                <a:latin typeface="Consolas" pitchFamily="34" charset="0"/>
                <a:ea typeface="Consolas" pitchFamily="34" charset="-122"/>
                <a:cs typeface="Consolas" pitchFamily="34" charset="-120"/>
              </a:rPr>
              <a:t>def tang_diem():</a:t>
            </a:r>
            <a:endParaRPr lang="en-US" sz="850" dirty="0"/>
          </a:p>
          <a:p>
            <a:pPr algn="l" indent="0" marL="0">
              <a:lnSpc>
                <a:spcPct val="127000"/>
              </a:lnSpc>
              <a:buNone/>
            </a:pPr>
            <a:r>
              <a:rPr lang="en-US" sz="850" dirty="0">
                <a:solidFill>
                  <a:srgbClr val="000000"/>
                </a:solidFill>
                <a:latin typeface="Consolas" pitchFamily="34" charset="0"/>
                <a:ea typeface="Consolas" pitchFamily="34" charset="-122"/>
                <a:cs typeface="Consolas" pitchFamily="34" charset="-120"/>
              </a:rPr>
              <a:t>    global diem  # "Toi muon dung va SUA bien global ten la diem"</a:t>
            </a:r>
            <a:endParaRPr lang="en-US" sz="850" dirty="0"/>
          </a:p>
          <a:p>
            <a:pPr algn="l" indent="0" marL="0">
              <a:lnSpc>
                <a:spcPct val="127000"/>
              </a:lnSpc>
              <a:buNone/>
            </a:pPr>
            <a:r>
              <a:rPr lang="en-US" sz="850" dirty="0">
                <a:solidFill>
                  <a:srgbClr val="000000"/>
                </a:solidFill>
                <a:latin typeface="Consolas" pitchFamily="34" charset="0"/>
                <a:ea typeface="Consolas" pitchFamily="34" charset="-122"/>
                <a:cs typeface="Consolas" pitchFamily="34" charset="-120"/>
              </a:rPr>
              <a:t>    diem = diem + 1</a:t>
            </a:r>
            <a:endParaRPr lang="en-US" sz="850" dirty="0"/>
          </a:p>
          <a:p>
            <a:pPr algn="l" indent="0" marL="0">
              <a:lnSpc>
                <a:spcPct val="127000"/>
              </a:lnSpc>
              <a:buNone/>
            </a:pPr>
            <a:endParaRPr lang="en-US" sz="850" dirty="0"/>
          </a:p>
          <a:p>
            <a:pPr algn="l" indent="0" marL="0">
              <a:lnSpc>
                <a:spcPct val="127000"/>
              </a:lnSpc>
              <a:buNone/>
            </a:pPr>
            <a:r>
              <a:rPr lang="en-US" sz="850" dirty="0">
                <a:solidFill>
                  <a:srgbClr val="000000"/>
                </a:solidFill>
                <a:latin typeface="Consolas" pitchFamily="34" charset="0"/>
                <a:ea typeface="Consolas" pitchFamily="34" charset="-122"/>
                <a:cs typeface="Consolas" pitchFamily="34" charset="-120"/>
              </a:rPr>
              <a:t>tang_diem()</a:t>
            </a:r>
            <a:endParaRPr lang="en-US" sz="850" dirty="0"/>
          </a:p>
          <a:p>
            <a:pPr algn="l" indent="0" marL="0">
              <a:lnSpc>
                <a:spcPct val="127000"/>
              </a:lnSpc>
              <a:buNone/>
            </a:pPr>
            <a:r>
              <a:rPr lang="en-US" sz="850" dirty="0">
                <a:solidFill>
                  <a:srgbClr val="000000"/>
                </a:solidFill>
                <a:latin typeface="Consolas" pitchFamily="34" charset="0"/>
                <a:ea typeface="Consolas" pitchFamily="34" charset="-122"/>
                <a:cs typeface="Consolas" pitchFamily="34" charset="-120"/>
              </a:rPr>
              <a:t>tang_diem()</a:t>
            </a:r>
            <a:endParaRPr lang="en-US" sz="850" dirty="0"/>
          </a:p>
          <a:p>
            <a:pPr algn="l" indent="0" marL="0">
              <a:lnSpc>
                <a:spcPct val="127000"/>
              </a:lnSpc>
              <a:buNone/>
            </a:pPr>
            <a:r>
              <a:rPr lang="en-US" sz="850" dirty="0">
                <a:solidFill>
                  <a:srgbClr val="000000"/>
                </a:solidFill>
                <a:latin typeface="Consolas" pitchFamily="34" charset="0"/>
                <a:ea typeface="Consolas" pitchFamily="34" charset="-122"/>
                <a:cs typeface="Consolas" pitchFamily="34" charset="-120"/>
              </a:rPr>
              <a:t>print(diem)  # Ket qua: 2</a:t>
            </a:r>
            <a:endParaRPr lang="en-US" sz="850" dirty="0"/>
          </a:p>
        </p:txBody>
      </p:sp>
      <p:sp>
        <p:nvSpPr>
          <p:cNvPr id="7" name="Shape 5"/>
          <p:cNvSpPr/>
          <p:nvPr/>
        </p:nvSpPr>
        <p:spPr>
          <a:xfrm>
            <a:off x="368647" y="3244602"/>
            <a:ext cx="4147170" cy="818704"/>
          </a:xfrm>
          <a:prstGeom prst="roundRect">
            <a:avLst>
              <a:gd name="adj" fmla="val 9886"/>
            </a:avLst>
          </a:prstGeom>
          <a:solidFill>
            <a:srgbClr val="BE2727"/>
          </a:solidFill>
          <a:ln/>
        </p:spPr>
      </p:sp>
      <p:sp>
        <p:nvSpPr>
          <p:cNvPr id="8" name="Text 6"/>
          <p:cNvSpPr/>
          <p:nvPr/>
        </p:nvSpPr>
        <p:spPr>
          <a:xfrm>
            <a:off x="481013" y="3346475"/>
            <a:ext cx="2108522" cy="180380"/>
          </a:xfrm>
          <a:prstGeom prst="rect">
            <a:avLst/>
          </a:prstGeom>
          <a:noFill/>
          <a:ln/>
        </p:spPr>
        <p:txBody>
          <a:bodyPr wrap="none" lIns="0" tIns="0" rIns="0" bIns="0" rtlCol="0" anchor="t"/>
          <a:lstStyle/>
          <a:p>
            <a:pPr algn="l" indent="0" marL="0">
              <a:lnSpc>
                <a:spcPct val="104000"/>
              </a:lnSpc>
              <a:buNone/>
            </a:pPr>
            <a:r>
              <a:rPr lang="en-US" sz="11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100" dirty="0">
                <a:solidFill>
                  <a:srgbClr val="FFFFFF"/>
                </a:solidFill>
                <a:latin typeface="Montserrat ExtraBold" pitchFamily="34" charset="0"/>
                <a:ea typeface="Montserrat ExtraBold" pitchFamily="34" charset="-122"/>
                <a:cs typeface="Montserrat ExtraBold" pitchFamily="34" charset="-120"/>
              </a:rPr>
              <a:t> Không dùng global</a:t>
            </a:r>
            <a:endParaRPr lang="en-US" sz="1100" dirty="0"/>
          </a:p>
        </p:txBody>
      </p:sp>
      <p:sp>
        <p:nvSpPr>
          <p:cNvPr id="9" name="Text 7"/>
          <p:cNvSpPr/>
          <p:nvPr/>
        </p:nvSpPr>
        <p:spPr>
          <a:xfrm>
            <a:off x="481013" y="3628727"/>
            <a:ext cx="3922440" cy="3429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FFFFFF"/>
                </a:solidFill>
                <a:latin typeface="Montserrat" pitchFamily="34" charset="0"/>
                <a:ea typeface="Montserrat" pitchFamily="34" charset="-122"/>
                <a:cs typeface="Montserrat" pitchFamily="34" charset="-120"/>
              </a:rPr>
              <a:t>Python tạo biến local mới trùng tên. Biến global KHÔNG bị thay đổi. Kết quả: 0 (không đổi)</a:t>
            </a:r>
            <a:endParaRPr lang="en-US" sz="850" dirty="0"/>
          </a:p>
        </p:txBody>
      </p:sp>
      <p:sp>
        <p:nvSpPr>
          <p:cNvPr id="10" name="Text 8"/>
          <p:cNvSpPr/>
          <p:nvPr/>
        </p:nvSpPr>
        <p:spPr>
          <a:xfrm>
            <a:off x="4713908" y="3346475"/>
            <a:ext cx="1862361" cy="180380"/>
          </a:xfrm>
          <a:prstGeom prst="rect">
            <a:avLst/>
          </a:prstGeom>
          <a:noFill/>
          <a:ln/>
        </p:spPr>
        <p:txBody>
          <a:bodyPr wrap="none" lIns="0" tIns="0" rIns="0" bIns="0" rtlCol="0" anchor="t"/>
          <a:lstStyle/>
          <a:p>
            <a:pPr algn="l" indent="0" marL="0">
              <a:lnSpc>
                <a:spcPct val="104000"/>
              </a:lnSpc>
              <a:buNone/>
            </a:pPr>
            <a:r>
              <a:rPr lang="en-US" sz="11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100" dirty="0">
                <a:solidFill>
                  <a:srgbClr val="BE2727"/>
                </a:solidFill>
                <a:latin typeface="Montserrat ExtraBold" pitchFamily="34" charset="0"/>
                <a:ea typeface="Montserrat ExtraBold" pitchFamily="34" charset="-122"/>
                <a:cs typeface="Montserrat ExtraBold" pitchFamily="34" charset="-120"/>
              </a:rPr>
              <a:t> Có dùng global</a:t>
            </a:r>
            <a:endParaRPr lang="en-US" sz="1100" dirty="0"/>
          </a:p>
        </p:txBody>
      </p:sp>
      <p:sp>
        <p:nvSpPr>
          <p:cNvPr id="11" name="Text 9"/>
          <p:cNvSpPr/>
          <p:nvPr/>
        </p:nvSpPr>
        <p:spPr>
          <a:xfrm>
            <a:off x="4713908" y="3628727"/>
            <a:ext cx="3985245" cy="3429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Python hiểu ta muốn sửa biến global. Biến global được cập nhật đúng. Kết quả: 2 (đúng như mong muốn)</a:t>
            </a:r>
            <a:endParaRPr lang="en-US" sz="850" dirty="0"/>
          </a:p>
        </p:txBody>
      </p:sp>
      <p:sp>
        <p:nvSpPr>
          <p:cNvPr id="12" name="Shape 10"/>
          <p:cNvSpPr/>
          <p:nvPr/>
        </p:nvSpPr>
        <p:spPr>
          <a:xfrm>
            <a:off x="449610" y="4177903"/>
            <a:ext cx="8244780" cy="620688"/>
          </a:xfrm>
          <a:prstGeom prst="roundRect">
            <a:avLst>
              <a:gd name="adj" fmla="val 7607"/>
            </a:avLst>
          </a:prstGeom>
          <a:solidFill>
            <a:srgbClr val="B6D6FC"/>
          </a:solidFill>
          <a:ln/>
        </p:spPr>
      </p:sp>
      <p:pic>
        <p:nvPicPr>
          <p:cNvPr id="13" name="Image 0" descr="preencoded.png">    </p:cNvPr>
          <p:cNvPicPr>
            <a:picLocks noChangeAspect="1"/>
          </p:cNvPicPr>
          <p:nvPr/>
        </p:nvPicPr>
        <p:blipFill>
          <a:blip r:embed="rId1"/>
          <a:stretch>
            <a:fillRect/>
          </a:stretch>
        </p:blipFill>
        <p:spPr>
          <a:xfrm>
            <a:off x="561975" y="4343772"/>
            <a:ext cx="140494" cy="112365"/>
          </a:xfrm>
          <a:prstGeom prst="rect">
            <a:avLst/>
          </a:prstGeom>
        </p:spPr>
      </p:pic>
      <p:sp>
        <p:nvSpPr>
          <p:cNvPr id="14" name="Text 11"/>
          <p:cNvSpPr/>
          <p:nvPr/>
        </p:nvSpPr>
        <p:spPr>
          <a:xfrm>
            <a:off x="814834" y="4307830"/>
            <a:ext cx="7767191" cy="3429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Lời khuyên: Hạn chế dùng global trong code thực tế. Thay vào đó, hãy dùng return để trả giá trị ra ngoài và gán lại — code sẽ sạch và dễ debug hơn nhiều!</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Shape 0"/>
          <p:cNvSpPr/>
          <p:nvPr/>
        </p:nvSpPr>
        <p:spPr>
          <a:xfrm>
            <a:off x="3925119" y="692051"/>
            <a:ext cx="705817" cy="233214"/>
          </a:xfrm>
          <a:prstGeom prst="roundRect">
            <a:avLst>
              <a:gd name="adj" fmla="val 17872"/>
            </a:avLst>
          </a:prstGeom>
          <a:solidFill>
            <a:srgbClr val="F6D5D5"/>
          </a:solidFill>
          <a:ln/>
        </p:spPr>
      </p:sp>
      <p:sp>
        <p:nvSpPr>
          <p:cNvPr id="4" name="Text 1"/>
          <p:cNvSpPr/>
          <p:nvPr/>
        </p:nvSpPr>
        <p:spPr>
          <a:xfrm>
            <a:off x="3999533" y="729258"/>
            <a:ext cx="1014189" cy="158800"/>
          </a:xfrm>
          <a:prstGeom prst="rect">
            <a:avLst/>
          </a:prstGeom>
          <a:noFill/>
          <a:ln/>
        </p:spPr>
        <p:txBody>
          <a:bodyPr wrap="none" lIns="0" tIns="0" rIns="0" bIns="0" rtlCol="0" anchor="t"/>
          <a:lstStyle/>
          <a:p>
            <a:pPr algn="l" indent="0" marL="0">
              <a:lnSpc>
                <a:spcPct val="133000"/>
              </a:lnSpc>
              <a:buNone/>
            </a:pPr>
            <a:r>
              <a:rPr lang="en-US" sz="750" dirty="0">
                <a:solidFill>
                  <a:srgbClr val="000000"/>
                </a:solidFill>
                <a:latin typeface="Montserrat" pitchFamily="34" charset="0"/>
                <a:ea typeface="Montserrat" pitchFamily="34" charset="-122"/>
                <a:cs typeface="Montserrat" pitchFamily="34" charset="-120"/>
              </a:rPr>
              <a:t>CHƯƠNG 6</a:t>
            </a:r>
            <a:endParaRPr lang="en-US" sz="750" dirty="0"/>
          </a:p>
        </p:txBody>
      </p:sp>
      <p:sp>
        <p:nvSpPr>
          <p:cNvPr id="5" name="Text 2"/>
          <p:cNvSpPr/>
          <p:nvPr/>
        </p:nvSpPr>
        <p:spPr>
          <a:xfrm>
            <a:off x="3925119" y="974824"/>
            <a:ext cx="4695155"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Docstring &amp; Best Practice</a:t>
            </a:r>
            <a:endParaRPr lang="en-US" sz="2400" dirty="0"/>
          </a:p>
        </p:txBody>
      </p:sp>
      <p:sp>
        <p:nvSpPr>
          <p:cNvPr id="6" name="Text 3"/>
          <p:cNvSpPr/>
          <p:nvPr/>
        </p:nvSpPr>
        <p:spPr>
          <a:xfrm>
            <a:off x="3925119" y="1411932"/>
            <a:ext cx="3065785" cy="193849"/>
          </a:xfrm>
          <a:prstGeom prst="rect">
            <a:avLst/>
          </a:prstGeom>
          <a:noFill/>
          <a:ln/>
        </p:spPr>
        <p:txBody>
          <a:bodyPr wrap="none" lIns="0" tIns="0" rIns="0" bIns="0" rtlCol="0" anchor="t"/>
          <a:lstStyle/>
          <a:p>
            <a:pPr algn="l" indent="0" marL="0">
              <a:lnSpc>
                <a:spcPct val="104000"/>
              </a:lnSpc>
              <a:buNone/>
            </a:pPr>
            <a:r>
              <a:rPr lang="en-US" sz="1200" dirty="0">
                <a:solidFill>
                  <a:srgbClr val="BE2727"/>
                </a:solidFill>
                <a:latin typeface="Montserrat ExtraBold" pitchFamily="34" charset="0"/>
                <a:ea typeface="Montserrat ExtraBold" pitchFamily="34" charset="-122"/>
                <a:cs typeface="Montserrat ExtraBold" pitchFamily="34" charset="-120"/>
              </a:rPr>
              <a:t>Viết hàm chuẩn Chuyên nghiệp</a:t>
            </a:r>
            <a:endParaRPr lang="en-US" sz="1200" dirty="0"/>
          </a:p>
        </p:txBody>
      </p:sp>
      <p:sp>
        <p:nvSpPr>
          <p:cNvPr id="7" name="Text 4"/>
          <p:cNvSpPr/>
          <p:nvPr/>
        </p:nvSpPr>
        <p:spPr>
          <a:xfrm>
            <a:off x="3925119" y="1791816"/>
            <a:ext cx="4722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Viết code </a:t>
            </a:r>
            <a:pPr algn="l" indent="0" marL="0">
              <a:lnSpc>
                <a:spcPct val="133000"/>
              </a:lnSpc>
              <a:buNone/>
            </a:pPr>
            <a:r>
              <a:rPr lang="en-US" sz="950" i="1" dirty="0">
                <a:solidFill>
                  <a:srgbClr val="000000"/>
                </a:solidFill>
                <a:latin typeface="Montserrat" pitchFamily="34" charset="0"/>
                <a:ea typeface="Montserrat" pitchFamily="34" charset="-122"/>
                <a:cs typeface="Montserrat" pitchFamily="34" charset="-120"/>
              </a:rPr>
              <a:t>chạy được</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là tốt, nhưng viết code </a:t>
            </a:r>
            <a:pPr algn="l" indent="0" marL="0">
              <a:lnSpc>
                <a:spcPct val="133000"/>
              </a:lnSpc>
              <a:buNone/>
            </a:pPr>
            <a:r>
              <a:rPr lang="en-US" sz="950" i="1" dirty="0">
                <a:solidFill>
                  <a:srgbClr val="000000"/>
                </a:solidFill>
                <a:latin typeface="Montserrat" pitchFamily="34" charset="0"/>
                <a:ea typeface="Montserrat" pitchFamily="34" charset="-122"/>
                <a:cs typeface="Montserrat" pitchFamily="34" charset="-120"/>
              </a:rPr>
              <a:t>cho người khác đọc hiểu được</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mới là lập trình viên giỏi.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Docstring</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chính là công cụ để làm điều đó.</a:t>
            </a:r>
            <a:endParaRPr lang="en-US" sz="950" dirty="0"/>
          </a:p>
        </p:txBody>
      </p:sp>
      <p:sp>
        <p:nvSpPr>
          <p:cNvPr id="8" name="Shape 5"/>
          <p:cNvSpPr/>
          <p:nvPr/>
        </p:nvSpPr>
        <p:spPr>
          <a:xfrm>
            <a:off x="3925119" y="2328267"/>
            <a:ext cx="1491555" cy="2123108"/>
          </a:xfrm>
          <a:prstGeom prst="roundRect">
            <a:avLst>
              <a:gd name="adj" fmla="val 3493"/>
            </a:avLst>
          </a:prstGeom>
          <a:solidFill>
            <a:srgbClr val="F6D5D5"/>
          </a:solidFill>
          <a:ln w="4763">
            <a:solidFill>
              <a:srgbClr val="DCBBBB"/>
            </a:solidFill>
            <a:prstDash val="solid"/>
          </a:ln>
        </p:spPr>
      </p:sp>
      <p:sp>
        <p:nvSpPr>
          <p:cNvPr id="9" name="Text 6"/>
          <p:cNvSpPr/>
          <p:nvPr/>
        </p:nvSpPr>
        <p:spPr>
          <a:xfrm>
            <a:off x="4053855" y="2457004"/>
            <a:ext cx="1234083" cy="392460"/>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 Docstring là gì?</a:t>
            </a:r>
            <a:endParaRPr lang="en-US" sz="1200" dirty="0"/>
          </a:p>
        </p:txBody>
      </p:sp>
      <p:sp>
        <p:nvSpPr>
          <p:cNvPr id="10" name="Text 7"/>
          <p:cNvSpPr/>
          <p:nvPr/>
        </p:nvSpPr>
        <p:spPr>
          <a:xfrm>
            <a:off x="4053855" y="2923877"/>
            <a:ext cx="1234083" cy="1195536"/>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Chuỗi văn bản đặt ngay sau dòng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def</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dùng dấu ba nháy kép. Mô tả mục đích, tham số và giá trị trả về của hàm.</a:t>
            </a:r>
            <a:endParaRPr lang="en-US" sz="950" dirty="0"/>
          </a:p>
        </p:txBody>
      </p:sp>
      <p:sp>
        <p:nvSpPr>
          <p:cNvPr id="11" name="Shape 8"/>
          <p:cNvSpPr/>
          <p:nvPr/>
        </p:nvSpPr>
        <p:spPr>
          <a:xfrm>
            <a:off x="5540648" y="2328267"/>
            <a:ext cx="1491630" cy="2123108"/>
          </a:xfrm>
          <a:prstGeom prst="roundRect">
            <a:avLst>
              <a:gd name="adj" fmla="val 3493"/>
            </a:avLst>
          </a:prstGeom>
          <a:solidFill>
            <a:srgbClr val="F6D5D5"/>
          </a:solidFill>
          <a:ln w="4763">
            <a:solidFill>
              <a:srgbClr val="DCBBBB"/>
            </a:solidFill>
            <a:prstDash val="solid"/>
          </a:ln>
        </p:spPr>
      </p:sp>
      <p:sp>
        <p:nvSpPr>
          <p:cNvPr id="12" name="Text 9"/>
          <p:cNvSpPr/>
          <p:nvPr/>
        </p:nvSpPr>
        <p:spPr>
          <a:xfrm>
            <a:off x="5669384" y="2457004"/>
            <a:ext cx="1234157" cy="392460"/>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 Tại sao cần Docstring?</a:t>
            </a:r>
            <a:endParaRPr lang="en-US" sz="1200" dirty="0"/>
          </a:p>
        </p:txBody>
      </p:sp>
      <p:sp>
        <p:nvSpPr>
          <p:cNvPr id="13" name="Text 10"/>
          <p:cNvSpPr/>
          <p:nvPr/>
        </p:nvSpPr>
        <p:spPr>
          <a:xfrm>
            <a:off x="5669384" y="2923877"/>
            <a:ext cx="1234157" cy="1190774"/>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Giúp đồng nghiệp (và chính bạn sau 6 tháng!) hiểu hàm làm gì mà không cần đọc từng dòng code.</a:t>
            </a:r>
            <a:endParaRPr lang="en-US" sz="950" dirty="0"/>
          </a:p>
        </p:txBody>
      </p:sp>
      <p:sp>
        <p:nvSpPr>
          <p:cNvPr id="14" name="Shape 11"/>
          <p:cNvSpPr/>
          <p:nvPr/>
        </p:nvSpPr>
        <p:spPr>
          <a:xfrm>
            <a:off x="7156252" y="2328267"/>
            <a:ext cx="1491630" cy="2123108"/>
          </a:xfrm>
          <a:prstGeom prst="roundRect">
            <a:avLst>
              <a:gd name="adj" fmla="val 3493"/>
            </a:avLst>
          </a:prstGeom>
          <a:solidFill>
            <a:srgbClr val="F6D5D5"/>
          </a:solidFill>
          <a:ln w="4763">
            <a:solidFill>
              <a:srgbClr val="DCBBBB"/>
            </a:solidFill>
            <a:prstDash val="solid"/>
          </a:ln>
        </p:spPr>
      </p:sp>
      <p:sp>
        <p:nvSpPr>
          <p:cNvPr id="15" name="Text 12"/>
          <p:cNvSpPr/>
          <p:nvPr/>
        </p:nvSpPr>
        <p:spPr>
          <a:xfrm>
            <a:off x="7284988" y="2457004"/>
            <a:ext cx="1234157" cy="392460"/>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 Best Practice</a:t>
            </a:r>
            <a:endParaRPr lang="en-US" sz="1200" dirty="0"/>
          </a:p>
        </p:txBody>
      </p:sp>
      <p:sp>
        <p:nvSpPr>
          <p:cNvPr id="16" name="Text 13"/>
          <p:cNvSpPr/>
          <p:nvPr/>
        </p:nvSpPr>
        <p:spPr>
          <a:xfrm>
            <a:off x="7284988" y="2923877"/>
            <a:ext cx="1234157" cy="1398761"/>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Đặt tên hàm bằng động từ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tinh_</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kiem_tra_</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lay_</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mỗi hàm chỉ làm 1 việc, độ dài lý tưởng dưới 20 dòng.</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03101" y="298847"/>
            <a:ext cx="4013671" cy="314920"/>
          </a:xfrm>
          <a:prstGeom prst="rect">
            <a:avLst/>
          </a:prstGeom>
          <a:noFill/>
          <a:ln/>
        </p:spPr>
        <p:txBody>
          <a:bodyPr wrap="none" lIns="0" tIns="0" rIns="0" bIns="0" rtlCol="0" anchor="t"/>
          <a:lstStyle/>
          <a:p>
            <a:pPr algn="l" indent="0" marL="0">
              <a:lnSpc>
                <a:spcPct val="104000"/>
              </a:lnSpc>
              <a:buNone/>
            </a:pPr>
            <a:r>
              <a:rPr lang="en-US" sz="1950" dirty="0">
                <a:solidFill>
                  <a:srgbClr val="BE2727"/>
                </a:solidFill>
                <a:latin typeface="Montserrat ExtraBold" pitchFamily="34" charset="0"/>
                <a:ea typeface="Montserrat ExtraBold" pitchFamily="34" charset="-122"/>
                <a:cs typeface="Montserrat ExtraBold" pitchFamily="34" charset="-120"/>
              </a:rPr>
              <a:t>Cách viết Docstring chuẩn</a:t>
            </a:r>
            <a:endParaRPr lang="en-US" sz="1950" dirty="0"/>
          </a:p>
        </p:txBody>
      </p:sp>
      <p:sp>
        <p:nvSpPr>
          <p:cNvPr id="3" name="Text 1"/>
          <p:cNvSpPr/>
          <p:nvPr/>
        </p:nvSpPr>
        <p:spPr>
          <a:xfrm>
            <a:off x="403101" y="777478"/>
            <a:ext cx="8740899" cy="146075"/>
          </a:xfrm>
          <a:prstGeom prst="rect">
            <a:avLst/>
          </a:prstGeom>
          <a:noFill/>
          <a:ln/>
        </p:spPr>
        <p:txBody>
          <a:bodyPr wrap="none" lIns="0" tIns="0" rIns="0" bIns="0" rtlCol="0" anchor="t"/>
          <a:lstStyle/>
          <a:p>
            <a:pPr algn="l" indent="0" marL="0">
              <a:lnSpc>
                <a:spcPct val="121000"/>
              </a:lnSpc>
              <a:buNone/>
            </a:pPr>
            <a:r>
              <a:rPr lang="en-US" sz="750" dirty="0">
                <a:solidFill>
                  <a:srgbClr val="000000"/>
                </a:solidFill>
                <a:latin typeface="Montserrat" pitchFamily="34" charset="0"/>
                <a:ea typeface="Montserrat" pitchFamily="34" charset="-122"/>
                <a:cs typeface="Montserrat" pitchFamily="34" charset="-120"/>
              </a:rPr>
              <a:t>Docstring được đặt ngay dòng đầu tiên bên trong hàm, dùng ba dấu nháy kép. Dưới đây là cấu trúc chuẩn được khuyến nghị:</a:t>
            </a:r>
            <a:endParaRPr lang="en-US" sz="750" dirty="0"/>
          </a:p>
        </p:txBody>
      </p:sp>
      <p:sp>
        <p:nvSpPr>
          <p:cNvPr id="4" name="Shape 2"/>
          <p:cNvSpPr/>
          <p:nvPr/>
        </p:nvSpPr>
        <p:spPr>
          <a:xfrm>
            <a:off x="403101" y="1015678"/>
            <a:ext cx="8337798" cy="2538710"/>
          </a:xfrm>
          <a:prstGeom prst="roundRect">
            <a:avLst>
              <a:gd name="adj" fmla="val 1667"/>
            </a:avLst>
          </a:prstGeom>
          <a:solidFill>
            <a:srgbClr val="F2F2F2"/>
          </a:solidFill>
          <a:ln/>
        </p:spPr>
      </p:sp>
      <p:sp>
        <p:nvSpPr>
          <p:cNvPr id="5" name="Shape 3"/>
          <p:cNvSpPr/>
          <p:nvPr/>
        </p:nvSpPr>
        <p:spPr>
          <a:xfrm>
            <a:off x="398115" y="1015678"/>
            <a:ext cx="8347770" cy="2538710"/>
          </a:xfrm>
          <a:prstGeom prst="roundRect">
            <a:avLst>
              <a:gd name="adj" fmla="val 596"/>
            </a:avLst>
          </a:prstGeom>
          <a:solidFill>
            <a:srgbClr val="F2F2F2"/>
          </a:solidFill>
          <a:ln/>
        </p:spPr>
      </p:sp>
      <p:sp>
        <p:nvSpPr>
          <p:cNvPr id="6" name="Text 4"/>
          <p:cNvSpPr/>
          <p:nvPr/>
        </p:nvSpPr>
        <p:spPr>
          <a:xfrm>
            <a:off x="524098" y="1116434"/>
            <a:ext cx="8095804" cy="2337197"/>
          </a:xfrm>
          <a:prstGeom prst="rect">
            <a:avLst/>
          </a:prstGeom>
          <a:noFill/>
          <a:ln/>
        </p:spPr>
        <p:txBody>
          <a:bodyPr wrap="square" lIns="0" tIns="0" rIns="0" bIns="0" rtlCol="0" anchor="t">
            <a:normAutofit/>
          </a:bodyPr>
          <a:lstStyle/>
          <a:p>
            <a:pPr algn="l" indent="0" marL="0">
              <a:lnSpc>
                <a:spcPct val="121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def tinh_diem_trung_binh(danh_sach_diem):</a:t>
            </a:r>
            <a:endParaRPr lang="en-US" sz="750" dirty="0"/>
          </a:p>
          <a:p>
            <a:pPr algn="l" indent="0" marL="0">
              <a:lnSpc>
                <a:spcPct val="121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a:t>
            </a:r>
            <a:endParaRPr lang="en-US" sz="750" dirty="0"/>
          </a:p>
          <a:p>
            <a:pPr algn="l" indent="0" marL="0">
              <a:lnSpc>
                <a:spcPct val="121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Tinh diem trung binh cua mot danh sach diem so.</a:t>
            </a:r>
            <a:endParaRPr lang="en-US" sz="750" dirty="0"/>
          </a:p>
          <a:p>
            <a:pPr algn="l" indent="0" marL="0">
              <a:lnSpc>
                <a:spcPct val="121000"/>
              </a:lnSpc>
              <a:buNone/>
            </a:pPr>
            <a:endParaRPr lang="en-US" sz="750" dirty="0"/>
          </a:p>
          <a:p>
            <a:pPr algn="l" indent="0" marL="0">
              <a:lnSpc>
                <a:spcPct val="121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Args:</a:t>
            </a:r>
            <a:endParaRPr lang="en-US" sz="750" dirty="0"/>
          </a:p>
          <a:p>
            <a:pPr algn="l" indent="0" marL="0">
              <a:lnSpc>
                <a:spcPct val="121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danh_sach_diem (list): Danh sach cac diem so (float hoac int).</a:t>
            </a:r>
            <a:endParaRPr lang="en-US" sz="750" dirty="0"/>
          </a:p>
          <a:p>
            <a:pPr algn="l" indent="0" marL="0">
              <a:lnSpc>
                <a:spcPct val="121000"/>
              </a:lnSpc>
              <a:buNone/>
            </a:pPr>
            <a:endParaRPr lang="en-US" sz="750" dirty="0"/>
          </a:p>
          <a:p>
            <a:pPr algn="l" indent="0" marL="0">
              <a:lnSpc>
                <a:spcPct val="121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Returns:</a:t>
            </a:r>
            <a:endParaRPr lang="en-US" sz="750" dirty="0"/>
          </a:p>
          <a:p>
            <a:pPr algn="l" indent="0" marL="0">
              <a:lnSpc>
                <a:spcPct val="121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float: Diem trung binh cua danh sach.</a:t>
            </a:r>
            <a:endParaRPr lang="en-US" sz="750" dirty="0"/>
          </a:p>
          <a:p>
            <a:pPr algn="l" indent="0" marL="0">
              <a:lnSpc>
                <a:spcPct val="121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a:t>
            </a:r>
            <a:endParaRPr lang="en-US" sz="750" dirty="0"/>
          </a:p>
          <a:p>
            <a:pPr algn="l" indent="0" marL="0">
              <a:lnSpc>
                <a:spcPct val="121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Example:</a:t>
            </a:r>
            <a:endParaRPr lang="en-US" sz="750" dirty="0"/>
          </a:p>
          <a:p>
            <a:pPr algn="l" indent="0" marL="0">
              <a:lnSpc>
                <a:spcPct val="121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&gt;&gt;&gt; tinh_diem_trung_binh([8, 9, 7, 10])</a:t>
            </a:r>
            <a:endParaRPr lang="en-US" sz="750" dirty="0"/>
          </a:p>
          <a:p>
            <a:pPr algn="l" indent="0" marL="0">
              <a:lnSpc>
                <a:spcPct val="121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8.5</a:t>
            </a:r>
            <a:endParaRPr lang="en-US" sz="750" dirty="0"/>
          </a:p>
          <a:p>
            <a:pPr algn="l" indent="0" marL="0">
              <a:lnSpc>
                <a:spcPct val="121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a:t>
            </a:r>
            <a:endParaRPr lang="en-US" sz="750" dirty="0"/>
          </a:p>
          <a:p>
            <a:pPr algn="l" indent="0" marL="0">
              <a:lnSpc>
                <a:spcPct val="121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tong = sum(danh_sach_diem)</a:t>
            </a:r>
            <a:endParaRPr lang="en-US" sz="750" dirty="0"/>
          </a:p>
          <a:p>
            <a:pPr algn="l" indent="0" marL="0">
              <a:lnSpc>
                <a:spcPct val="121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return tong / len(danh_sach_diem)</a:t>
            </a:r>
            <a:endParaRPr lang="en-US" sz="75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88813" y="3646512"/>
            <a:ext cx="2738958" cy="728811"/>
          </a:xfrm>
          <a:prstGeom prst="rect">
            <a:avLst/>
          </a:prstGeom>
        </p:spPr>
      </p:pic>
      <p:sp>
        <p:nvSpPr>
          <p:cNvPr id="8" name="Text 5"/>
          <p:cNvSpPr/>
          <p:nvPr/>
        </p:nvSpPr>
        <p:spPr>
          <a:xfrm>
            <a:off x="561008" y="3761556"/>
            <a:ext cx="1259830" cy="157460"/>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Montserrat ExtraBold" pitchFamily="34" charset="0"/>
                <a:ea typeface="Montserrat ExtraBold" pitchFamily="34" charset="-122"/>
                <a:cs typeface="Montserrat ExtraBold" pitchFamily="34" charset="-120"/>
              </a:rPr>
              <a:t>Args:</a:t>
            </a:r>
            <a:endParaRPr lang="en-US" sz="950" dirty="0"/>
          </a:p>
        </p:txBody>
      </p:sp>
      <p:sp>
        <p:nvSpPr>
          <p:cNvPr id="9" name="Text 6"/>
          <p:cNvSpPr/>
          <p:nvPr/>
        </p:nvSpPr>
        <p:spPr>
          <a:xfrm>
            <a:off x="561008" y="3968130"/>
            <a:ext cx="2451720" cy="292150"/>
          </a:xfrm>
          <a:prstGeom prst="rect">
            <a:avLst/>
          </a:prstGeom>
          <a:noFill/>
          <a:ln/>
        </p:spPr>
        <p:txBody>
          <a:bodyPr wrap="square" lIns="0" tIns="0" rIns="0" bIns="0" rtlCol="0" anchor="t">
            <a:normAutofit/>
          </a:bodyPr>
          <a:lstStyle/>
          <a:p>
            <a:pPr algn="l" indent="0" marL="0">
              <a:lnSpc>
                <a:spcPct val="121000"/>
              </a:lnSpc>
              <a:buNone/>
            </a:pPr>
            <a:r>
              <a:rPr lang="en-US" sz="750" dirty="0">
                <a:solidFill>
                  <a:srgbClr val="000000"/>
                </a:solidFill>
                <a:latin typeface="Montserrat" pitchFamily="34" charset="0"/>
                <a:ea typeface="Montserrat" pitchFamily="34" charset="-122"/>
                <a:cs typeface="Montserrat" pitchFamily="34" charset="-120"/>
              </a:rPr>
              <a:t>Mô tả từng tham số: tên, kiểu dữ liệu và ý nghĩa. Giúp người dùng biết cần truyền vào gì.</a:t>
            </a:r>
            <a:endParaRPr lang="en-US" sz="75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95340" y="3646512"/>
            <a:ext cx="2738958" cy="728811"/>
          </a:xfrm>
          <a:prstGeom prst="rect">
            <a:avLst/>
          </a:prstGeom>
        </p:spPr>
      </p:pic>
      <p:sp>
        <p:nvSpPr>
          <p:cNvPr id="11" name="Text 7"/>
          <p:cNvSpPr/>
          <p:nvPr/>
        </p:nvSpPr>
        <p:spPr>
          <a:xfrm>
            <a:off x="3367534" y="3761556"/>
            <a:ext cx="1259830" cy="157460"/>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Montserrat ExtraBold" pitchFamily="34" charset="0"/>
                <a:ea typeface="Montserrat ExtraBold" pitchFamily="34" charset="-122"/>
                <a:cs typeface="Montserrat ExtraBold" pitchFamily="34" charset="-120"/>
              </a:rPr>
              <a:t>Returns:</a:t>
            </a:r>
            <a:endParaRPr lang="en-US" sz="950" dirty="0"/>
          </a:p>
        </p:txBody>
      </p:sp>
      <p:sp>
        <p:nvSpPr>
          <p:cNvPr id="12" name="Text 8"/>
          <p:cNvSpPr/>
          <p:nvPr/>
        </p:nvSpPr>
        <p:spPr>
          <a:xfrm>
            <a:off x="3367534" y="3968130"/>
            <a:ext cx="2451720" cy="292150"/>
          </a:xfrm>
          <a:prstGeom prst="rect">
            <a:avLst/>
          </a:prstGeom>
          <a:noFill/>
          <a:ln/>
        </p:spPr>
        <p:txBody>
          <a:bodyPr wrap="square" lIns="0" tIns="0" rIns="0" bIns="0" rtlCol="0" anchor="t">
            <a:normAutofit/>
          </a:bodyPr>
          <a:lstStyle/>
          <a:p>
            <a:pPr algn="l" indent="0" marL="0">
              <a:lnSpc>
                <a:spcPct val="121000"/>
              </a:lnSpc>
              <a:buNone/>
            </a:pPr>
            <a:r>
              <a:rPr lang="en-US" sz="750" dirty="0">
                <a:solidFill>
                  <a:srgbClr val="000000"/>
                </a:solidFill>
                <a:latin typeface="Montserrat" pitchFamily="34" charset="0"/>
                <a:ea typeface="Montserrat" pitchFamily="34" charset="-122"/>
                <a:cs typeface="Montserrat" pitchFamily="34" charset="-120"/>
              </a:rPr>
              <a:t>Mô tả kiểu dữ liệu và ý nghĩa của giá trị trả về. Bỏ qua nếu hàm không có return.</a:t>
            </a:r>
            <a:endParaRPr lang="en-US" sz="75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01866" y="3646512"/>
            <a:ext cx="2738958" cy="728811"/>
          </a:xfrm>
          <a:prstGeom prst="rect">
            <a:avLst/>
          </a:prstGeom>
        </p:spPr>
      </p:pic>
      <p:sp>
        <p:nvSpPr>
          <p:cNvPr id="14" name="Text 9"/>
          <p:cNvSpPr/>
          <p:nvPr/>
        </p:nvSpPr>
        <p:spPr>
          <a:xfrm>
            <a:off x="6174060" y="3761556"/>
            <a:ext cx="1259830" cy="157460"/>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Montserrat ExtraBold" pitchFamily="34" charset="0"/>
                <a:ea typeface="Montserrat ExtraBold" pitchFamily="34" charset="-122"/>
                <a:cs typeface="Montserrat ExtraBold" pitchFamily="34" charset="-120"/>
              </a:rPr>
              <a:t>Example:</a:t>
            </a:r>
            <a:endParaRPr lang="en-US" sz="950" dirty="0"/>
          </a:p>
        </p:txBody>
      </p:sp>
      <p:sp>
        <p:nvSpPr>
          <p:cNvPr id="15" name="Text 10"/>
          <p:cNvSpPr/>
          <p:nvPr/>
        </p:nvSpPr>
        <p:spPr>
          <a:xfrm>
            <a:off x="6174060" y="3968130"/>
            <a:ext cx="2451720" cy="292150"/>
          </a:xfrm>
          <a:prstGeom prst="rect">
            <a:avLst/>
          </a:prstGeom>
          <a:noFill/>
          <a:ln/>
        </p:spPr>
        <p:txBody>
          <a:bodyPr wrap="square" lIns="0" tIns="0" rIns="0" bIns="0" rtlCol="0" anchor="t">
            <a:normAutofit/>
          </a:bodyPr>
          <a:lstStyle/>
          <a:p>
            <a:pPr algn="l" indent="0" marL="0">
              <a:lnSpc>
                <a:spcPct val="121000"/>
              </a:lnSpc>
              <a:buNone/>
            </a:pPr>
            <a:r>
              <a:rPr lang="en-US" sz="750" dirty="0">
                <a:solidFill>
                  <a:srgbClr val="000000"/>
                </a:solidFill>
                <a:latin typeface="Montserrat" pitchFamily="34" charset="0"/>
                <a:ea typeface="Montserrat" pitchFamily="34" charset="-122"/>
                <a:cs typeface="Montserrat" pitchFamily="34" charset="-120"/>
              </a:rPr>
              <a:t>Ví dụ cụ thể về cách gọi hàm và kết quả mong đợi. Cực kỳ hữu ích cho người đọc!</a:t>
            </a:r>
            <a:endParaRPr lang="en-US" sz="750" dirty="0"/>
          </a:p>
        </p:txBody>
      </p:sp>
      <p:sp>
        <p:nvSpPr>
          <p:cNvPr id="16" name="Shape 11"/>
          <p:cNvSpPr/>
          <p:nvPr/>
        </p:nvSpPr>
        <p:spPr>
          <a:xfrm>
            <a:off x="403101" y="4467448"/>
            <a:ext cx="8337798" cy="377130"/>
          </a:xfrm>
          <a:prstGeom prst="roundRect">
            <a:avLst>
              <a:gd name="adj" fmla="val 11224"/>
            </a:avLst>
          </a:prstGeom>
          <a:solidFill>
            <a:srgbClr val="B6FCB8"/>
          </a:solidFill>
          <a:ln/>
        </p:spPr>
      </p:sp>
      <p:pic>
        <p:nvPicPr>
          <p:cNvPr id="17" name="Image 3" descr="preencoded.png">    </p:cNvPr>
          <p:cNvPicPr>
            <a:picLocks noChangeAspect="1"/>
          </p:cNvPicPr>
          <p:nvPr/>
        </p:nvPicPr>
        <p:blipFill>
          <a:blip r:embed="rId7"/>
          <a:stretch>
            <a:fillRect/>
          </a:stretch>
        </p:blipFill>
        <p:spPr>
          <a:xfrm>
            <a:off x="503858" y="4609951"/>
            <a:ext cx="125983" cy="100757"/>
          </a:xfrm>
          <a:prstGeom prst="rect">
            <a:avLst/>
          </a:prstGeom>
        </p:spPr>
      </p:pic>
      <p:sp>
        <p:nvSpPr>
          <p:cNvPr id="18" name="Text 12"/>
          <p:cNvSpPr/>
          <p:nvPr/>
        </p:nvSpPr>
        <p:spPr>
          <a:xfrm>
            <a:off x="730597" y="4574456"/>
            <a:ext cx="8366745" cy="146075"/>
          </a:xfrm>
          <a:prstGeom prst="rect">
            <a:avLst/>
          </a:prstGeom>
          <a:noFill/>
          <a:ln/>
        </p:spPr>
        <p:txBody>
          <a:bodyPr wrap="none" lIns="0" tIns="0" rIns="0" bIns="0" rtlCol="0" anchor="t"/>
          <a:lstStyle/>
          <a:p>
            <a:pPr algn="l" indent="0" marL="0">
              <a:lnSpc>
                <a:spcPct val="121000"/>
              </a:lnSpc>
              <a:buNone/>
            </a:pPr>
            <a:r>
              <a:rPr lang="en-US" sz="750" dirty="0">
                <a:solidFill>
                  <a:srgbClr val="000000"/>
                </a:solidFill>
                <a:latin typeface="Montserrat" pitchFamily="34" charset="0"/>
                <a:ea typeface="Montserrat" pitchFamily="34" charset="-122"/>
                <a:cs typeface="Montserrat" pitchFamily="34" charset="-120"/>
              </a:rPr>
              <a:t>💡</a:t>
            </a:r>
            <a:pPr algn="l" indent="0" marL="0">
              <a:lnSpc>
                <a:spcPct val="121000"/>
              </a:lnSpc>
              <a:buNone/>
            </a:pPr>
            <a:r>
              <a:rPr lang="en-US" sz="750" dirty="0">
                <a:solidFill>
                  <a:srgbClr val="000000"/>
                </a:solidFill>
                <a:latin typeface="Montserrat" pitchFamily="34" charset="0"/>
                <a:ea typeface="Montserrat" pitchFamily="34" charset="-122"/>
                <a:cs typeface="Montserrat" pitchFamily="34" charset="-120"/>
              </a:rPr>
              <a:t> Dùng help(ten_ham) trong Python để xem Docstring của bất kỳ hàm nào — kể cả hàm built-in như help(print)!</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96119" y="497384"/>
            <a:ext cx="6656115" cy="348853"/>
          </a:xfrm>
          <a:prstGeom prst="rect">
            <a:avLst/>
          </a:prstGeom>
          <a:noFill/>
          <a:ln/>
        </p:spPr>
        <p:txBody>
          <a:bodyPr wrap="none" lIns="0" tIns="0" rIns="0" bIns="0" rtlCol="0" anchor="t"/>
          <a:lstStyle/>
          <a:p>
            <a:pPr algn="l" indent="0" marL="0">
              <a:lnSpc>
                <a:spcPct val="104000"/>
              </a:lnSpc>
              <a:buNone/>
            </a:pPr>
            <a:r>
              <a:rPr lang="en-US" sz="2150" dirty="0">
                <a:solidFill>
                  <a:srgbClr val="BE2727"/>
                </a:solidFill>
                <a:latin typeface="Montserrat ExtraBold" pitchFamily="34" charset="0"/>
                <a:ea typeface="Montserrat ExtraBold" pitchFamily="34" charset="-122"/>
                <a:cs typeface="Montserrat ExtraBold" pitchFamily="34" charset="-120"/>
              </a:rPr>
              <a:t>Best Practice — Checklist viết hàm chuẩn</a:t>
            </a:r>
            <a:endParaRPr lang="en-US" sz="2150" dirty="0"/>
          </a:p>
        </p:txBody>
      </p:sp>
      <p:sp>
        <p:nvSpPr>
          <p:cNvPr id="3" name="Text 1"/>
          <p:cNvSpPr/>
          <p:nvPr/>
        </p:nvSpPr>
        <p:spPr>
          <a:xfrm>
            <a:off x="496119" y="1047155"/>
            <a:ext cx="8608963" cy="169664"/>
          </a:xfrm>
          <a:prstGeom prst="rect">
            <a:avLst/>
          </a:prstGeom>
          <a:noFill/>
          <a:ln/>
        </p:spPr>
        <p:txBody>
          <a:bodyPr wrap="none" lIns="0" tIns="0" rIns="0" bIns="0" rtlCol="0" anchor="t"/>
          <a:lstStyle/>
          <a:p>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Trước khi nộp bài hoặc đưa code vào dự án thực tế, hãy kiểm tra hàm của mình theo checklist này:</a:t>
            </a:r>
            <a:endParaRPr lang="en-US" sz="850" dirty="0"/>
          </a:p>
        </p:txBody>
      </p:sp>
      <p:sp>
        <p:nvSpPr>
          <p:cNvPr id="4" name="Shape 2"/>
          <p:cNvSpPr/>
          <p:nvPr/>
        </p:nvSpPr>
        <p:spPr>
          <a:xfrm>
            <a:off x="496119" y="1329854"/>
            <a:ext cx="2650257" cy="1411709"/>
          </a:xfrm>
          <a:prstGeom prst="roundRect">
            <a:avLst>
              <a:gd name="adj" fmla="val 3321"/>
            </a:avLst>
          </a:prstGeom>
          <a:solidFill>
            <a:srgbClr val="F6D5D5"/>
          </a:solidFill>
          <a:ln w="4763">
            <a:solidFill>
              <a:srgbClr val="DCBBBB"/>
            </a:solidFill>
            <a:prstDash val="solid"/>
          </a:ln>
        </p:spPr>
      </p:sp>
      <p:sp>
        <p:nvSpPr>
          <p:cNvPr id="5" name="Shape 3"/>
          <p:cNvSpPr/>
          <p:nvPr/>
        </p:nvSpPr>
        <p:spPr>
          <a:xfrm>
            <a:off x="612502" y="1446237"/>
            <a:ext cx="334863" cy="334863"/>
          </a:xfrm>
          <a:prstGeom prst="roundRect">
            <a:avLst>
              <a:gd name="adj" fmla="val 17064974"/>
            </a:avLst>
          </a:prstGeom>
          <a:solidFill>
            <a:srgbClr val="BE2727"/>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552" y="1538288"/>
            <a:ext cx="150688" cy="150688"/>
          </a:xfrm>
          <a:prstGeom prst="rect">
            <a:avLst/>
          </a:prstGeom>
        </p:spPr>
      </p:pic>
      <p:sp>
        <p:nvSpPr>
          <p:cNvPr id="7" name="Text 4"/>
          <p:cNvSpPr/>
          <p:nvPr/>
        </p:nvSpPr>
        <p:spPr>
          <a:xfrm>
            <a:off x="612502" y="1881560"/>
            <a:ext cx="1395487" cy="174352"/>
          </a:xfrm>
          <a:prstGeom prst="rect">
            <a:avLst/>
          </a:prstGeom>
          <a:noFill/>
          <a:ln/>
        </p:spPr>
        <p:txBody>
          <a:bodyPr wrap="none" lIns="0" tIns="0" rIns="0" bIns="0" rtlCol="0" anchor="t"/>
          <a:lstStyle/>
          <a:p>
            <a:pPr algn="l" indent="0" marL="0">
              <a:lnSpc>
                <a:spcPct val="104000"/>
              </a:lnSpc>
              <a:buNone/>
            </a:pPr>
            <a:r>
              <a:rPr lang="en-US" sz="1050" dirty="0">
                <a:solidFill>
                  <a:srgbClr val="000000"/>
                </a:solidFill>
                <a:latin typeface="Montserrat ExtraBold" pitchFamily="34" charset="0"/>
                <a:ea typeface="Montserrat ExtraBold" pitchFamily="34" charset="-122"/>
                <a:cs typeface="Montserrat ExtraBold" pitchFamily="34" charset="-120"/>
              </a:rPr>
              <a:t>Tên hàm rõ nghĩa</a:t>
            </a:r>
            <a:endParaRPr lang="en-US" sz="1050" dirty="0"/>
          </a:p>
        </p:txBody>
      </p:sp>
      <p:sp>
        <p:nvSpPr>
          <p:cNvPr id="8" name="Text 5"/>
          <p:cNvSpPr/>
          <p:nvPr/>
        </p:nvSpPr>
        <p:spPr>
          <a:xfrm>
            <a:off x="612502" y="2116187"/>
            <a:ext cx="2417490" cy="508992"/>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Dùng động từ + danh từ: </a:t>
            </a:r>
            <a:pPr algn="l" indent="0" marL="0">
              <a:lnSpc>
                <a:spcPct val="127000"/>
              </a:lnSpc>
              <a:buNone/>
            </a:pPr>
            <a:r>
              <a:rPr lang="en-US" sz="850" dirty="0">
                <a:solidFill>
                  <a:srgbClr val="000000"/>
                </a:solidFill>
                <a:highlight>
                  <a:srgbClr val="F2F2F2"/>
                </a:highlight>
                <a:latin typeface="Consolas" pitchFamily="34" charset="0"/>
                <a:ea typeface="Consolas" pitchFamily="34" charset="-122"/>
                <a:cs typeface="Consolas" pitchFamily="34" charset="-120"/>
              </a:rPr>
              <a:t>tinh_tong()</a:t>
            </a:r>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 </a:t>
            </a:r>
            <a:pPr algn="l" indent="0" marL="0">
              <a:lnSpc>
                <a:spcPct val="127000"/>
              </a:lnSpc>
              <a:buNone/>
            </a:pPr>
            <a:r>
              <a:rPr lang="en-US" sz="850" dirty="0">
                <a:solidFill>
                  <a:srgbClr val="000000"/>
                </a:solidFill>
                <a:highlight>
                  <a:srgbClr val="F2F2F2"/>
                </a:highlight>
                <a:latin typeface="Consolas" pitchFamily="34" charset="0"/>
                <a:ea typeface="Consolas" pitchFamily="34" charset="-122"/>
                <a:cs typeface="Consolas" pitchFamily="34" charset="-120"/>
              </a:rPr>
              <a:t>kiem_tra_hop_le()</a:t>
            </a:r>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 </a:t>
            </a:r>
            <a:pPr algn="l" indent="0" marL="0">
              <a:lnSpc>
                <a:spcPct val="127000"/>
              </a:lnSpc>
              <a:buNone/>
            </a:pPr>
            <a:r>
              <a:rPr lang="en-US" sz="850" dirty="0">
                <a:solidFill>
                  <a:srgbClr val="000000"/>
                </a:solidFill>
                <a:highlight>
                  <a:srgbClr val="F2F2F2"/>
                </a:highlight>
                <a:latin typeface="Consolas" pitchFamily="34" charset="0"/>
                <a:ea typeface="Consolas" pitchFamily="34" charset="-122"/>
                <a:cs typeface="Consolas" pitchFamily="34" charset="-120"/>
              </a:rPr>
              <a:t>lay_diem_cao_nhat()</a:t>
            </a:r>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 Đọc tên là hiểu ngay hàm làm gì.</a:t>
            </a:r>
            <a:endParaRPr lang="en-US" sz="850" dirty="0"/>
          </a:p>
        </p:txBody>
      </p:sp>
      <p:sp>
        <p:nvSpPr>
          <p:cNvPr id="9" name="Shape 6"/>
          <p:cNvSpPr/>
          <p:nvPr/>
        </p:nvSpPr>
        <p:spPr>
          <a:xfrm>
            <a:off x="3246834" y="1329854"/>
            <a:ext cx="2650257" cy="1411709"/>
          </a:xfrm>
          <a:prstGeom prst="roundRect">
            <a:avLst>
              <a:gd name="adj" fmla="val 3321"/>
            </a:avLst>
          </a:prstGeom>
          <a:solidFill>
            <a:srgbClr val="F6D5D5"/>
          </a:solidFill>
          <a:ln w="4763">
            <a:solidFill>
              <a:srgbClr val="DCBBBB"/>
            </a:solidFill>
            <a:prstDash val="solid"/>
          </a:ln>
        </p:spPr>
      </p:sp>
      <p:sp>
        <p:nvSpPr>
          <p:cNvPr id="10" name="Shape 7"/>
          <p:cNvSpPr/>
          <p:nvPr/>
        </p:nvSpPr>
        <p:spPr>
          <a:xfrm>
            <a:off x="3363218" y="1446237"/>
            <a:ext cx="334863" cy="334863"/>
          </a:xfrm>
          <a:prstGeom prst="roundRect">
            <a:avLst>
              <a:gd name="adj" fmla="val 17064974"/>
            </a:avLst>
          </a:prstGeom>
          <a:solidFill>
            <a:srgbClr val="BE2727"/>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55268" y="1538288"/>
            <a:ext cx="150688" cy="150688"/>
          </a:xfrm>
          <a:prstGeom prst="rect">
            <a:avLst/>
          </a:prstGeom>
        </p:spPr>
      </p:pic>
      <p:sp>
        <p:nvSpPr>
          <p:cNvPr id="12" name="Text 8"/>
          <p:cNvSpPr/>
          <p:nvPr/>
        </p:nvSpPr>
        <p:spPr>
          <a:xfrm>
            <a:off x="3363218" y="1881560"/>
            <a:ext cx="1906265" cy="174352"/>
          </a:xfrm>
          <a:prstGeom prst="rect">
            <a:avLst/>
          </a:prstGeom>
          <a:noFill/>
          <a:ln/>
        </p:spPr>
        <p:txBody>
          <a:bodyPr wrap="none" lIns="0" tIns="0" rIns="0" bIns="0" rtlCol="0" anchor="t"/>
          <a:lstStyle/>
          <a:p>
            <a:pPr algn="l" indent="0" marL="0">
              <a:lnSpc>
                <a:spcPct val="104000"/>
              </a:lnSpc>
              <a:buNone/>
            </a:pPr>
            <a:r>
              <a:rPr lang="en-US" sz="1050" dirty="0">
                <a:solidFill>
                  <a:srgbClr val="000000"/>
                </a:solidFill>
                <a:latin typeface="Montserrat ExtraBold" pitchFamily="34" charset="0"/>
                <a:ea typeface="Montserrat ExtraBold" pitchFamily="34" charset="-122"/>
                <a:cs typeface="Montserrat ExtraBold" pitchFamily="34" charset="-120"/>
              </a:rPr>
              <a:t>Một hàm — Một nhiệm vụ</a:t>
            </a:r>
            <a:endParaRPr lang="en-US" sz="1050" dirty="0"/>
          </a:p>
        </p:txBody>
      </p:sp>
      <p:sp>
        <p:nvSpPr>
          <p:cNvPr id="13" name="Text 9"/>
          <p:cNvSpPr/>
          <p:nvPr/>
        </p:nvSpPr>
        <p:spPr>
          <a:xfrm>
            <a:off x="3363218" y="2116187"/>
            <a:ext cx="2417490" cy="508992"/>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Mỗi hàm chỉ nên làm đúng 1 việc. Nếu hàm làm 2-3 việc, hãy tách ra thành nhiều hàm nhỏ hơn.</a:t>
            </a:r>
            <a:endParaRPr lang="en-US" sz="850" dirty="0"/>
          </a:p>
        </p:txBody>
      </p:sp>
      <p:sp>
        <p:nvSpPr>
          <p:cNvPr id="14" name="Shape 10"/>
          <p:cNvSpPr/>
          <p:nvPr/>
        </p:nvSpPr>
        <p:spPr>
          <a:xfrm>
            <a:off x="5997550" y="1329854"/>
            <a:ext cx="2650257" cy="1411709"/>
          </a:xfrm>
          <a:prstGeom prst="roundRect">
            <a:avLst>
              <a:gd name="adj" fmla="val 3321"/>
            </a:avLst>
          </a:prstGeom>
          <a:solidFill>
            <a:srgbClr val="F6D5D5"/>
          </a:solidFill>
          <a:ln w="4763">
            <a:solidFill>
              <a:srgbClr val="DCBBBB"/>
            </a:solidFill>
            <a:prstDash val="solid"/>
          </a:ln>
        </p:spPr>
      </p:sp>
      <p:sp>
        <p:nvSpPr>
          <p:cNvPr id="15" name="Shape 11"/>
          <p:cNvSpPr/>
          <p:nvPr/>
        </p:nvSpPr>
        <p:spPr>
          <a:xfrm>
            <a:off x="6113934" y="1446237"/>
            <a:ext cx="334863" cy="334863"/>
          </a:xfrm>
          <a:prstGeom prst="roundRect">
            <a:avLst>
              <a:gd name="adj" fmla="val 17064974"/>
            </a:avLst>
          </a:prstGeom>
          <a:solidFill>
            <a:srgbClr val="BE2727"/>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05984" y="1538288"/>
            <a:ext cx="150688" cy="150688"/>
          </a:xfrm>
          <a:prstGeom prst="rect">
            <a:avLst/>
          </a:prstGeom>
        </p:spPr>
      </p:pic>
      <p:sp>
        <p:nvSpPr>
          <p:cNvPr id="17" name="Text 12"/>
          <p:cNvSpPr/>
          <p:nvPr/>
        </p:nvSpPr>
        <p:spPr>
          <a:xfrm>
            <a:off x="6113934" y="1881560"/>
            <a:ext cx="1395487" cy="174352"/>
          </a:xfrm>
          <a:prstGeom prst="rect">
            <a:avLst/>
          </a:prstGeom>
          <a:noFill/>
          <a:ln/>
        </p:spPr>
        <p:txBody>
          <a:bodyPr wrap="none" lIns="0" tIns="0" rIns="0" bIns="0" rtlCol="0" anchor="t"/>
          <a:lstStyle/>
          <a:p>
            <a:pPr algn="l" indent="0" marL="0">
              <a:lnSpc>
                <a:spcPct val="104000"/>
              </a:lnSpc>
              <a:buNone/>
            </a:pPr>
            <a:r>
              <a:rPr lang="en-US" sz="1050" dirty="0">
                <a:solidFill>
                  <a:srgbClr val="000000"/>
                </a:solidFill>
                <a:latin typeface="Montserrat ExtraBold" pitchFamily="34" charset="0"/>
                <a:ea typeface="Montserrat ExtraBold" pitchFamily="34" charset="-122"/>
                <a:cs typeface="Montserrat ExtraBold" pitchFamily="34" charset="-120"/>
              </a:rPr>
              <a:t>Có Docstring</a:t>
            </a:r>
            <a:endParaRPr lang="en-US" sz="1050" dirty="0"/>
          </a:p>
        </p:txBody>
      </p:sp>
      <p:sp>
        <p:nvSpPr>
          <p:cNvPr id="18" name="Text 13"/>
          <p:cNvSpPr/>
          <p:nvPr/>
        </p:nvSpPr>
        <p:spPr>
          <a:xfrm>
            <a:off x="6113934" y="2116187"/>
            <a:ext cx="2417490" cy="508992"/>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Luôn viết docstring mô tả mục đích, tham số và giá trị trả về. Đặc biệt quan trọng khi làm việc nhóm.</a:t>
            </a:r>
            <a:endParaRPr lang="en-US" sz="850" dirty="0"/>
          </a:p>
        </p:txBody>
      </p:sp>
      <p:sp>
        <p:nvSpPr>
          <p:cNvPr id="19" name="Shape 14"/>
          <p:cNvSpPr/>
          <p:nvPr/>
        </p:nvSpPr>
        <p:spPr>
          <a:xfrm>
            <a:off x="496119" y="2842022"/>
            <a:ext cx="4025578" cy="1242045"/>
          </a:xfrm>
          <a:prstGeom prst="roundRect">
            <a:avLst>
              <a:gd name="adj" fmla="val 3775"/>
            </a:avLst>
          </a:prstGeom>
          <a:solidFill>
            <a:srgbClr val="F6D5D5"/>
          </a:solidFill>
          <a:ln w="4763">
            <a:solidFill>
              <a:srgbClr val="DCBBBB"/>
            </a:solidFill>
            <a:prstDash val="solid"/>
          </a:ln>
        </p:spPr>
      </p:sp>
      <p:sp>
        <p:nvSpPr>
          <p:cNvPr id="20" name="Shape 15"/>
          <p:cNvSpPr/>
          <p:nvPr/>
        </p:nvSpPr>
        <p:spPr>
          <a:xfrm>
            <a:off x="612502" y="2958405"/>
            <a:ext cx="334863" cy="334863"/>
          </a:xfrm>
          <a:prstGeom prst="roundRect">
            <a:avLst>
              <a:gd name="adj" fmla="val 17064974"/>
            </a:avLst>
          </a:prstGeom>
          <a:solidFill>
            <a:srgbClr val="BE2727"/>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552" y="3050456"/>
            <a:ext cx="150688" cy="150688"/>
          </a:xfrm>
          <a:prstGeom prst="rect">
            <a:avLst/>
          </a:prstGeom>
        </p:spPr>
      </p:pic>
      <p:sp>
        <p:nvSpPr>
          <p:cNvPr id="22" name="Text 16"/>
          <p:cNvSpPr/>
          <p:nvPr/>
        </p:nvSpPr>
        <p:spPr>
          <a:xfrm>
            <a:off x="612502" y="3393728"/>
            <a:ext cx="1395487" cy="174352"/>
          </a:xfrm>
          <a:prstGeom prst="rect">
            <a:avLst/>
          </a:prstGeom>
          <a:noFill/>
          <a:ln/>
        </p:spPr>
        <p:txBody>
          <a:bodyPr wrap="none" lIns="0" tIns="0" rIns="0" bIns="0" rtlCol="0" anchor="t"/>
          <a:lstStyle/>
          <a:p>
            <a:pPr algn="l" indent="0" marL="0">
              <a:lnSpc>
                <a:spcPct val="104000"/>
              </a:lnSpc>
              <a:buNone/>
            </a:pPr>
            <a:r>
              <a:rPr lang="en-US" sz="1050" dirty="0">
                <a:solidFill>
                  <a:srgbClr val="000000"/>
                </a:solidFill>
                <a:latin typeface="Montserrat ExtraBold" pitchFamily="34" charset="0"/>
                <a:ea typeface="Montserrat ExtraBold" pitchFamily="34" charset="-122"/>
                <a:cs typeface="Montserrat ExtraBold" pitchFamily="34" charset="-120"/>
              </a:rPr>
              <a:t>Độ dài hợp lý</a:t>
            </a:r>
            <a:endParaRPr lang="en-US" sz="1050" dirty="0"/>
          </a:p>
        </p:txBody>
      </p:sp>
      <p:sp>
        <p:nvSpPr>
          <p:cNvPr id="23" name="Text 17"/>
          <p:cNvSpPr/>
          <p:nvPr/>
        </p:nvSpPr>
        <p:spPr>
          <a:xfrm>
            <a:off x="612502" y="3628355"/>
            <a:ext cx="3792810" cy="339328"/>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Hàm lý tưởng dưới 20 dòng. Nếu dài hơn, xem xét tách thành các hàm con.</a:t>
            </a:r>
            <a:endParaRPr lang="en-US" sz="850" dirty="0"/>
          </a:p>
        </p:txBody>
      </p:sp>
      <p:sp>
        <p:nvSpPr>
          <p:cNvPr id="24" name="Shape 18"/>
          <p:cNvSpPr/>
          <p:nvPr/>
        </p:nvSpPr>
        <p:spPr>
          <a:xfrm>
            <a:off x="4622155" y="2842022"/>
            <a:ext cx="4025652" cy="1242045"/>
          </a:xfrm>
          <a:prstGeom prst="roundRect">
            <a:avLst>
              <a:gd name="adj" fmla="val 3775"/>
            </a:avLst>
          </a:prstGeom>
          <a:solidFill>
            <a:srgbClr val="F6D5D5"/>
          </a:solidFill>
          <a:ln w="4763">
            <a:solidFill>
              <a:srgbClr val="DCBBBB"/>
            </a:solidFill>
            <a:prstDash val="solid"/>
          </a:ln>
        </p:spPr>
      </p:sp>
      <p:sp>
        <p:nvSpPr>
          <p:cNvPr id="25" name="Shape 19"/>
          <p:cNvSpPr/>
          <p:nvPr/>
        </p:nvSpPr>
        <p:spPr>
          <a:xfrm>
            <a:off x="4738539" y="2958405"/>
            <a:ext cx="334863" cy="334863"/>
          </a:xfrm>
          <a:prstGeom prst="roundRect">
            <a:avLst>
              <a:gd name="adj" fmla="val 17064974"/>
            </a:avLst>
          </a:prstGeom>
          <a:solidFill>
            <a:srgbClr val="BE2727"/>
          </a:solidFill>
          <a:ln/>
        </p:spPr>
      </p:sp>
      <p:pic>
        <p:nvPicPr>
          <p:cNvPr id="2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30589" y="3050456"/>
            <a:ext cx="150688" cy="150688"/>
          </a:xfrm>
          <a:prstGeom prst="rect">
            <a:avLst/>
          </a:prstGeom>
        </p:spPr>
      </p:pic>
      <p:sp>
        <p:nvSpPr>
          <p:cNvPr id="27" name="Text 20"/>
          <p:cNvSpPr/>
          <p:nvPr/>
        </p:nvSpPr>
        <p:spPr>
          <a:xfrm>
            <a:off x="4738539" y="3393728"/>
            <a:ext cx="1827833" cy="174352"/>
          </a:xfrm>
          <a:prstGeom prst="rect">
            <a:avLst/>
          </a:prstGeom>
          <a:noFill/>
          <a:ln/>
        </p:spPr>
        <p:txBody>
          <a:bodyPr wrap="none" lIns="0" tIns="0" rIns="0" bIns="0" rtlCol="0" anchor="t"/>
          <a:lstStyle/>
          <a:p>
            <a:pPr algn="l" indent="0" marL="0">
              <a:lnSpc>
                <a:spcPct val="104000"/>
              </a:lnSpc>
              <a:buNone/>
            </a:pPr>
            <a:r>
              <a:rPr lang="en-US" sz="1050" dirty="0">
                <a:solidFill>
                  <a:srgbClr val="000000"/>
                </a:solidFill>
                <a:latin typeface="Montserrat ExtraBold" pitchFamily="34" charset="0"/>
                <a:ea typeface="Montserrat ExtraBold" pitchFamily="34" charset="-122"/>
                <a:cs typeface="Montserrat ExtraBold" pitchFamily="34" charset="-120"/>
              </a:rPr>
              <a:t>Kiểm thử trước khi dùng</a:t>
            </a:r>
            <a:endParaRPr lang="en-US" sz="1050" dirty="0"/>
          </a:p>
        </p:txBody>
      </p:sp>
      <p:sp>
        <p:nvSpPr>
          <p:cNvPr id="28" name="Text 21"/>
          <p:cNvSpPr/>
          <p:nvPr/>
        </p:nvSpPr>
        <p:spPr>
          <a:xfrm>
            <a:off x="4738539" y="3628355"/>
            <a:ext cx="3792885" cy="339328"/>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Gọi hàm với nhiều bộ dữ liệu khác nhau, kể cả trường hợp đặc biệt (danh sách rỗng, số âm...).</a:t>
            </a:r>
            <a:endParaRPr lang="en-US" sz="850" dirty="0"/>
          </a:p>
        </p:txBody>
      </p:sp>
      <p:sp>
        <p:nvSpPr>
          <p:cNvPr id="29" name="Shape 22"/>
          <p:cNvSpPr/>
          <p:nvPr/>
        </p:nvSpPr>
        <p:spPr>
          <a:xfrm>
            <a:off x="496119" y="4197102"/>
            <a:ext cx="8151763" cy="449014"/>
          </a:xfrm>
          <a:prstGeom prst="roundRect">
            <a:avLst>
              <a:gd name="adj" fmla="val 10443"/>
            </a:avLst>
          </a:prstGeom>
          <a:solidFill>
            <a:srgbClr val="B6D6FC"/>
          </a:solidFill>
          <a:ln/>
        </p:spPr>
      </p:sp>
      <p:pic>
        <p:nvPicPr>
          <p:cNvPr id="30" name="Image 5" descr="preencoded.png">    </p:cNvPr>
          <p:cNvPicPr>
            <a:picLocks noChangeAspect="1"/>
          </p:cNvPicPr>
          <p:nvPr/>
        </p:nvPicPr>
        <p:blipFill>
          <a:blip r:embed="rId11"/>
          <a:stretch>
            <a:fillRect/>
          </a:stretch>
        </p:blipFill>
        <p:spPr>
          <a:xfrm>
            <a:off x="607740" y="4362748"/>
            <a:ext cx="139526" cy="111621"/>
          </a:xfrm>
          <a:prstGeom prst="rect">
            <a:avLst/>
          </a:prstGeom>
        </p:spPr>
      </p:pic>
      <p:sp>
        <p:nvSpPr>
          <p:cNvPr id="31" name="Text 23"/>
          <p:cNvSpPr/>
          <p:nvPr/>
        </p:nvSpPr>
        <p:spPr>
          <a:xfrm>
            <a:off x="858887" y="4325466"/>
            <a:ext cx="8134573" cy="174427"/>
          </a:xfrm>
          <a:prstGeom prst="rect">
            <a:avLst/>
          </a:prstGeom>
          <a:noFill/>
          <a:ln/>
        </p:spPr>
        <p:txBody>
          <a:bodyPr wrap="none" lIns="0" tIns="0" rIns="0" bIns="0" rtlCol="0" anchor="t"/>
          <a:lstStyle/>
          <a:p>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Nguyên tắc vàng: Viết code như thể người bảo trì nó sau này là một kẻ bạo lực biết địa chỉ nhà bạn — hãy viết thật rõ ràng! </a:t>
            </a:r>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96119" y="481013"/>
            <a:ext cx="1005185" cy="233214"/>
          </a:xfrm>
          <a:prstGeom prst="roundRect">
            <a:avLst>
              <a:gd name="adj" fmla="val 17872"/>
            </a:avLst>
          </a:prstGeom>
          <a:solidFill>
            <a:srgbClr val="F6D5D5"/>
          </a:solidFill>
          <a:ln/>
        </p:spPr>
      </p:sp>
      <p:sp>
        <p:nvSpPr>
          <p:cNvPr id="3" name="Text 1"/>
          <p:cNvSpPr/>
          <p:nvPr/>
        </p:nvSpPr>
        <p:spPr>
          <a:xfrm>
            <a:off x="570533" y="518220"/>
            <a:ext cx="1313557" cy="158800"/>
          </a:xfrm>
          <a:prstGeom prst="rect">
            <a:avLst/>
          </a:prstGeom>
          <a:noFill/>
          <a:ln/>
        </p:spPr>
        <p:txBody>
          <a:bodyPr wrap="none" lIns="0" tIns="0" rIns="0" bIns="0" rtlCol="0" anchor="t"/>
          <a:lstStyle/>
          <a:p>
            <a:pPr algn="l" indent="0" marL="0">
              <a:lnSpc>
                <a:spcPct val="133000"/>
              </a:lnSpc>
              <a:buNone/>
            </a:pPr>
            <a:r>
              <a:rPr lang="en-US" sz="750" dirty="0">
                <a:solidFill>
                  <a:srgbClr val="000000"/>
                </a:solidFill>
                <a:latin typeface="Montserrat" pitchFamily="34" charset="0"/>
                <a:ea typeface="Montserrat" pitchFamily="34" charset="-122"/>
                <a:cs typeface="Montserrat" pitchFamily="34" charset="-120"/>
              </a:rPr>
              <a:t>LAB THỰC HÀNH</a:t>
            </a:r>
            <a:endParaRPr lang="en-US" sz="750" dirty="0"/>
          </a:p>
        </p:txBody>
      </p:sp>
      <p:sp>
        <p:nvSpPr>
          <p:cNvPr id="4" name="Text 2"/>
          <p:cNvSpPr/>
          <p:nvPr/>
        </p:nvSpPr>
        <p:spPr>
          <a:xfrm>
            <a:off x="496119" y="763786"/>
            <a:ext cx="5347618" cy="397073"/>
          </a:xfrm>
          <a:prstGeom prst="rect">
            <a:avLst/>
          </a:prstGeom>
          <a:noFill/>
          <a:ln/>
        </p:spPr>
        <p:txBody>
          <a:bodyPr wrap="none" lIns="0" tIns="0" rIns="0" bIns="0" rtlCol="0" anchor="t"/>
          <a:lstStyle/>
          <a:p>
            <a:pPr algn="l" indent="0" marL="0">
              <a:lnSpc>
                <a:spcPct val="104000"/>
              </a:lnSpc>
              <a:buNone/>
            </a:pPr>
            <a:r>
              <a:rPr lang="en-US" sz="24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 Lab — Thực hành viết Hàm</a:t>
            </a:r>
            <a:endParaRPr lang="en-US" sz="2400" dirty="0"/>
          </a:p>
        </p:txBody>
      </p:sp>
      <p:sp>
        <p:nvSpPr>
          <p:cNvPr id="5" name="Text 3"/>
          <p:cNvSpPr/>
          <p:nvPr/>
        </p:nvSpPr>
        <p:spPr>
          <a:xfrm>
            <a:off x="496119" y="1210419"/>
            <a:ext cx="4697090" cy="193849"/>
          </a:xfrm>
          <a:prstGeom prst="rect">
            <a:avLst/>
          </a:prstGeom>
          <a:noFill/>
          <a:ln/>
        </p:spPr>
        <p:txBody>
          <a:bodyPr wrap="none" lIns="0" tIns="0" rIns="0" bIns="0" rtlCol="0" anchor="t"/>
          <a:lstStyle/>
          <a:p>
            <a:pPr algn="l" indent="0" marL="0">
              <a:lnSpc>
                <a:spcPct val="104000"/>
              </a:lnSpc>
              <a:buNone/>
            </a:pPr>
            <a:r>
              <a:rPr lang="en-US" sz="1200" dirty="0">
                <a:solidFill>
                  <a:srgbClr val="BE2727"/>
                </a:solidFill>
                <a:latin typeface="Montserrat ExtraBold" pitchFamily="34" charset="0"/>
                <a:ea typeface="Montserrat ExtraBold" pitchFamily="34" charset="-122"/>
                <a:cs typeface="Montserrat ExtraBold" pitchFamily="34" charset="-120"/>
              </a:rPr>
              <a:t>Áp dụng tất cả kiến thức đã học vào bài tập thực tế</a:t>
            </a:r>
            <a:endParaRPr lang="en-US" sz="1200" dirty="0"/>
          </a:p>
        </p:txBody>
      </p:sp>
      <p:sp>
        <p:nvSpPr>
          <p:cNvPr id="6" name="Text 4"/>
          <p:cNvSpPr/>
          <p:nvPr/>
        </p:nvSpPr>
        <p:spPr>
          <a:xfrm>
            <a:off x="496119" y="1590303"/>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Hãy hoàn thành 3 bài tập sau theo thứ tự từ dễ đến khó. Mỗi bài tập giúp các em củng cố một kỹ năng quan trọng về hàm.</a:t>
            </a:r>
            <a:endParaRPr lang="en-US" sz="950" dirty="0"/>
          </a:p>
        </p:txBody>
      </p:sp>
      <p:sp>
        <p:nvSpPr>
          <p:cNvPr id="7" name="Shape 5"/>
          <p:cNvSpPr/>
          <p:nvPr/>
        </p:nvSpPr>
        <p:spPr>
          <a:xfrm>
            <a:off x="496119" y="2300362"/>
            <a:ext cx="2634555" cy="1695599"/>
          </a:xfrm>
          <a:prstGeom prst="roundRect">
            <a:avLst>
              <a:gd name="adj" fmla="val 3073"/>
            </a:avLst>
          </a:prstGeom>
          <a:solidFill>
            <a:srgbClr val="FFFFFF"/>
          </a:solidFill>
          <a:ln w="14288">
            <a:solidFill>
              <a:srgbClr val="DCBBBB"/>
            </a:solidFill>
            <a:prstDash val="solid"/>
          </a:ln>
        </p:spPr>
      </p:sp>
      <p:sp>
        <p:nvSpPr>
          <p:cNvPr id="8" name="Shape 6"/>
          <p:cNvSpPr/>
          <p:nvPr/>
        </p:nvSpPr>
        <p:spPr>
          <a:xfrm>
            <a:off x="510406" y="2314649"/>
            <a:ext cx="2605980" cy="123974"/>
          </a:xfrm>
          <a:prstGeom prst="roundRect">
            <a:avLst>
              <a:gd name="adj" fmla="val 28195"/>
            </a:avLst>
          </a:prstGeom>
          <a:solidFill>
            <a:srgbClr val="F6D5D5"/>
          </a:solidFill>
          <a:ln/>
        </p:spPr>
      </p:sp>
      <p:sp>
        <p:nvSpPr>
          <p:cNvPr id="9" name="Text 7"/>
          <p:cNvSpPr/>
          <p:nvPr/>
        </p:nvSpPr>
        <p:spPr>
          <a:xfrm>
            <a:off x="634380" y="2562597"/>
            <a:ext cx="2358033"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Bài 1 — Hàm tính BMI (Cơ bản)</a:t>
            </a:r>
            <a:endParaRPr lang="en-US" sz="1200" dirty="0"/>
          </a:p>
        </p:txBody>
      </p:sp>
      <p:sp>
        <p:nvSpPr>
          <p:cNvPr id="10" name="Text 8"/>
          <p:cNvSpPr/>
          <p:nvPr/>
        </p:nvSpPr>
        <p:spPr>
          <a:xfrm>
            <a:off x="634380" y="3024708"/>
            <a:ext cx="2358033" cy="7986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Viết hàm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tinh_bmi(can_nang, chieu_cao)</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nhận cân nặng (kg) và chiều cao (m), trả về chỉ số BMI. Gọi hàm với ít nhất 3 bộ dữ liệu khác nhau và in kết quả.</a:t>
            </a:r>
            <a:endParaRPr lang="en-US" sz="950" dirty="0"/>
          </a:p>
        </p:txBody>
      </p:sp>
      <p:sp>
        <p:nvSpPr>
          <p:cNvPr id="11" name="Shape 9"/>
          <p:cNvSpPr/>
          <p:nvPr/>
        </p:nvSpPr>
        <p:spPr>
          <a:xfrm>
            <a:off x="3254648" y="2114327"/>
            <a:ext cx="2634630" cy="1881634"/>
          </a:xfrm>
          <a:prstGeom prst="roundRect">
            <a:avLst>
              <a:gd name="adj" fmla="val 2769"/>
            </a:avLst>
          </a:prstGeom>
          <a:solidFill>
            <a:srgbClr val="FFFFFF"/>
          </a:solidFill>
          <a:ln w="14288">
            <a:solidFill>
              <a:srgbClr val="DCBBBB"/>
            </a:solidFill>
            <a:prstDash val="solid"/>
          </a:ln>
        </p:spPr>
      </p:sp>
      <p:sp>
        <p:nvSpPr>
          <p:cNvPr id="12" name="Shape 10"/>
          <p:cNvSpPr/>
          <p:nvPr/>
        </p:nvSpPr>
        <p:spPr>
          <a:xfrm>
            <a:off x="3268935" y="2128614"/>
            <a:ext cx="2606055" cy="123974"/>
          </a:xfrm>
          <a:prstGeom prst="roundRect">
            <a:avLst>
              <a:gd name="adj" fmla="val 28195"/>
            </a:avLst>
          </a:prstGeom>
          <a:solidFill>
            <a:srgbClr val="F6D5D5"/>
          </a:solidFill>
          <a:ln/>
        </p:spPr>
      </p:sp>
      <p:sp>
        <p:nvSpPr>
          <p:cNvPr id="13" name="Text 11"/>
          <p:cNvSpPr/>
          <p:nvPr/>
        </p:nvSpPr>
        <p:spPr>
          <a:xfrm>
            <a:off x="3392909" y="2376562"/>
            <a:ext cx="2358107"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Bài 2 — Hàm phân loại học lực (Trung bình)</a:t>
            </a:r>
            <a:endParaRPr lang="en-US" sz="1200" dirty="0"/>
          </a:p>
        </p:txBody>
      </p:sp>
      <p:sp>
        <p:nvSpPr>
          <p:cNvPr id="14" name="Text 12"/>
          <p:cNvSpPr/>
          <p:nvPr/>
        </p:nvSpPr>
        <p:spPr>
          <a:xfrm>
            <a:off x="3392909" y="2838673"/>
            <a:ext cx="2358107" cy="997074"/>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Viết hàm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phan_loai_hoc_luc(*diem_so)</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nhận nhiều điểm số, tính điểm trung bình rồi trả về xếp loại: Xuất sắc (&gt;=9), Giỏi (&gt;=8), Khá (&gt;=6.5), Trung bình (&gt;=5), Yếu (&lt;5).</a:t>
            </a:r>
            <a:endParaRPr lang="en-US" sz="950" dirty="0"/>
          </a:p>
        </p:txBody>
      </p:sp>
      <p:sp>
        <p:nvSpPr>
          <p:cNvPr id="15" name="Shape 13"/>
          <p:cNvSpPr/>
          <p:nvPr/>
        </p:nvSpPr>
        <p:spPr>
          <a:xfrm>
            <a:off x="6013252" y="1928292"/>
            <a:ext cx="2634555" cy="2067669"/>
          </a:xfrm>
          <a:prstGeom prst="roundRect">
            <a:avLst>
              <a:gd name="adj" fmla="val 2520"/>
            </a:avLst>
          </a:prstGeom>
          <a:solidFill>
            <a:srgbClr val="FFFFFF"/>
          </a:solidFill>
          <a:ln w="14288">
            <a:solidFill>
              <a:srgbClr val="DCBBBB"/>
            </a:solidFill>
            <a:prstDash val="solid"/>
          </a:ln>
        </p:spPr>
      </p:sp>
      <p:sp>
        <p:nvSpPr>
          <p:cNvPr id="16" name="Shape 14"/>
          <p:cNvSpPr/>
          <p:nvPr/>
        </p:nvSpPr>
        <p:spPr>
          <a:xfrm>
            <a:off x="6027539" y="1942579"/>
            <a:ext cx="2605980" cy="123974"/>
          </a:xfrm>
          <a:prstGeom prst="roundRect">
            <a:avLst>
              <a:gd name="adj" fmla="val 28195"/>
            </a:avLst>
          </a:prstGeom>
          <a:solidFill>
            <a:srgbClr val="F6D5D5"/>
          </a:solidFill>
          <a:ln/>
        </p:spPr>
      </p:sp>
      <p:sp>
        <p:nvSpPr>
          <p:cNvPr id="17" name="Text 15"/>
          <p:cNvSpPr/>
          <p:nvPr/>
        </p:nvSpPr>
        <p:spPr>
          <a:xfrm>
            <a:off x="6151513" y="2190527"/>
            <a:ext cx="2358033"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Bài 3 — Hàm kiểm tra số nguyên tố (Nâng cao)</a:t>
            </a:r>
            <a:endParaRPr lang="en-US" sz="1200" dirty="0"/>
          </a:p>
        </p:txBody>
      </p:sp>
      <p:sp>
        <p:nvSpPr>
          <p:cNvPr id="18" name="Text 16"/>
          <p:cNvSpPr/>
          <p:nvPr/>
        </p:nvSpPr>
        <p:spPr>
          <a:xfrm>
            <a:off x="6151513" y="2652638"/>
            <a:ext cx="2358033" cy="1205061"/>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Viết hàm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la_so_nguyen_to(n)</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trả về True nếu n là số nguyên tố, False nếu không. Sau đó viết hàm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liet_ke_so_nguyen_to(gioi_han)</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dùng hàm trên để in tất cả số nguyên tố từ 2 đến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gioi_han</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a:t>
            </a:r>
            <a:endParaRPr lang="en-US" sz="950" dirty="0"/>
          </a:p>
        </p:txBody>
      </p:sp>
      <p:sp>
        <p:nvSpPr>
          <p:cNvPr id="19" name="Shape 17"/>
          <p:cNvSpPr/>
          <p:nvPr/>
        </p:nvSpPr>
        <p:spPr>
          <a:xfrm>
            <a:off x="496119" y="4135487"/>
            <a:ext cx="8151763" cy="527000"/>
          </a:xfrm>
          <a:prstGeom prst="roundRect">
            <a:avLst>
              <a:gd name="adj" fmla="val 9886"/>
            </a:avLst>
          </a:prstGeom>
          <a:solidFill>
            <a:srgbClr val="B6FCB8"/>
          </a:solidFill>
          <a:ln/>
        </p:spPr>
      </p:sp>
      <p:pic>
        <p:nvPicPr>
          <p:cNvPr id="20" name="Image 0" descr="preencoded.png">    </p:cNvPr>
          <p:cNvPicPr>
            <a:picLocks noChangeAspect="1"/>
          </p:cNvPicPr>
          <p:nvPr/>
        </p:nvPicPr>
        <p:blipFill>
          <a:blip r:embed="rId1"/>
          <a:stretch>
            <a:fillRect/>
          </a:stretch>
        </p:blipFill>
        <p:spPr>
          <a:xfrm>
            <a:off x="620092" y="4320034"/>
            <a:ext cx="155004" cy="123974"/>
          </a:xfrm>
          <a:prstGeom prst="rect">
            <a:avLst/>
          </a:prstGeom>
        </p:spPr>
      </p:pic>
      <p:sp>
        <p:nvSpPr>
          <p:cNvPr id="21" name="Text 18"/>
          <p:cNvSpPr/>
          <p:nvPr/>
        </p:nvSpPr>
        <p:spPr>
          <a:xfrm>
            <a:off x="899071" y="4290417"/>
            <a:ext cx="8082037"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Hoàn thành cả 3 bài? Thử thêm Docstring chuẩn cho mỗi hàm và kiểm tra với các trường hợp đặc biệt (số âm, số 0, số 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85000"/>
            </a:srgbClr>
          </a:solidFill>
          <a:ln/>
        </p:spPr>
      </p:sp>
      <p:sp>
        <p:nvSpPr>
          <p:cNvPr id="4" name="Shape 1"/>
          <p:cNvSpPr/>
          <p:nvPr/>
        </p:nvSpPr>
        <p:spPr>
          <a:xfrm>
            <a:off x="496119" y="415007"/>
            <a:ext cx="665187" cy="233214"/>
          </a:xfrm>
          <a:prstGeom prst="roundRect">
            <a:avLst>
              <a:gd name="adj" fmla="val 17872"/>
            </a:avLst>
          </a:prstGeom>
          <a:solidFill>
            <a:srgbClr val="F6D5D5"/>
          </a:solidFill>
          <a:ln/>
        </p:spPr>
      </p:sp>
      <p:sp>
        <p:nvSpPr>
          <p:cNvPr id="5" name="Text 2"/>
          <p:cNvSpPr/>
          <p:nvPr/>
        </p:nvSpPr>
        <p:spPr>
          <a:xfrm>
            <a:off x="570533" y="452214"/>
            <a:ext cx="973559" cy="158800"/>
          </a:xfrm>
          <a:prstGeom prst="rect">
            <a:avLst/>
          </a:prstGeom>
          <a:noFill/>
          <a:ln/>
        </p:spPr>
        <p:txBody>
          <a:bodyPr wrap="none" lIns="0" tIns="0" rIns="0" bIns="0" rtlCol="0" anchor="t"/>
          <a:lstStyle/>
          <a:p>
            <a:pPr algn="l" indent="0" marL="0">
              <a:lnSpc>
                <a:spcPct val="133000"/>
              </a:lnSpc>
              <a:buNone/>
            </a:pPr>
            <a:r>
              <a:rPr lang="en-US" sz="750" dirty="0">
                <a:solidFill>
                  <a:srgbClr val="000000"/>
                </a:solidFill>
                <a:latin typeface="Montserrat" pitchFamily="34" charset="0"/>
                <a:ea typeface="Montserrat" pitchFamily="34" charset="-122"/>
                <a:cs typeface="Montserrat" pitchFamily="34" charset="-120"/>
              </a:rPr>
              <a:t>TỔNG KẾT</a:t>
            </a:r>
            <a:endParaRPr lang="en-US" sz="750" dirty="0"/>
          </a:p>
        </p:txBody>
      </p:sp>
      <p:sp>
        <p:nvSpPr>
          <p:cNvPr id="6" name="Text 3"/>
          <p:cNvSpPr/>
          <p:nvPr/>
        </p:nvSpPr>
        <p:spPr>
          <a:xfrm>
            <a:off x="496119" y="697781"/>
            <a:ext cx="4977333"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Bài học hôm nay — Tóm tắt</a:t>
            </a:r>
            <a:endParaRPr lang="en-US" sz="2400" dirty="0"/>
          </a:p>
        </p:txBody>
      </p:sp>
      <p:sp>
        <p:nvSpPr>
          <p:cNvPr id="7" name="Text 4"/>
          <p:cNvSpPr/>
          <p:nvPr/>
        </p:nvSpPr>
        <p:spPr>
          <a:xfrm>
            <a:off x="496119" y="1134889"/>
            <a:ext cx="3010793" cy="193849"/>
          </a:xfrm>
          <a:prstGeom prst="rect">
            <a:avLst/>
          </a:prstGeom>
          <a:noFill/>
          <a:ln/>
        </p:spPr>
        <p:txBody>
          <a:bodyPr wrap="none" lIns="0" tIns="0" rIns="0" bIns="0" rtlCol="0" anchor="t"/>
          <a:lstStyle/>
          <a:p>
            <a:pPr algn="l" indent="0" marL="0">
              <a:lnSpc>
                <a:spcPct val="104000"/>
              </a:lnSpc>
              <a:buNone/>
            </a:pPr>
            <a:r>
              <a:rPr lang="en-US" sz="1200" dirty="0">
                <a:solidFill>
                  <a:srgbClr val="BE2727"/>
                </a:solidFill>
                <a:latin typeface="Montserrat ExtraBold" pitchFamily="34" charset="0"/>
                <a:ea typeface="Montserrat ExtraBold" pitchFamily="34" charset="-122"/>
                <a:cs typeface="Montserrat ExtraBold" pitchFamily="34" charset="-120"/>
              </a:rPr>
              <a:t>Các em đã học được những gì?</a:t>
            </a:r>
            <a:endParaRPr lang="en-US" sz="1200" dirty="0"/>
          </a:p>
        </p:txBody>
      </p:sp>
      <p:sp>
        <p:nvSpPr>
          <p:cNvPr id="8" name="Text 5"/>
          <p:cNvSpPr/>
          <p:nvPr/>
        </p:nvSpPr>
        <p:spPr>
          <a:xfrm>
            <a:off x="496119" y="1514773"/>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000000"/>
                </a:solidFill>
                <a:latin typeface="Montserrat Light" pitchFamily="34" charset="0"/>
                <a:ea typeface="Montserrat Light" pitchFamily="34" charset="-122"/>
                <a:cs typeface="Montserrat Light" pitchFamily="34" charset="-120"/>
              </a:rPr>
              <a:t>01</a:t>
            </a:r>
            <a:endParaRPr lang="en-US" sz="950" dirty="0"/>
          </a:p>
        </p:txBody>
      </p:sp>
      <p:sp>
        <p:nvSpPr>
          <p:cNvPr id="9" name="Shape 6"/>
          <p:cNvSpPr/>
          <p:nvPr/>
        </p:nvSpPr>
        <p:spPr>
          <a:xfrm>
            <a:off x="496119" y="1711226"/>
            <a:ext cx="2634555" cy="14288"/>
          </a:xfrm>
          <a:prstGeom prst="rect">
            <a:avLst/>
          </a:prstGeom>
          <a:solidFill>
            <a:srgbClr val="BE2727"/>
          </a:solidFill>
          <a:ln/>
        </p:spPr>
      </p:sp>
      <p:sp>
        <p:nvSpPr>
          <p:cNvPr id="10" name="Text 7"/>
          <p:cNvSpPr/>
          <p:nvPr/>
        </p:nvSpPr>
        <p:spPr>
          <a:xfrm>
            <a:off x="496119" y="1801788"/>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Hàm là gì</a:t>
            </a:r>
            <a:endParaRPr lang="en-US" sz="1200" dirty="0"/>
          </a:p>
        </p:txBody>
      </p:sp>
      <p:sp>
        <p:nvSpPr>
          <p:cNvPr id="11" name="Text 8"/>
          <p:cNvSpPr/>
          <p:nvPr/>
        </p:nvSpPr>
        <p:spPr>
          <a:xfrm>
            <a:off x="496119" y="2070050"/>
            <a:ext cx="2634555"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Chương trình con đóng gói logic, nhận Input và trả Output</a:t>
            </a:r>
            <a:endParaRPr lang="en-US" sz="950" dirty="0"/>
          </a:p>
        </p:txBody>
      </p:sp>
      <p:sp>
        <p:nvSpPr>
          <p:cNvPr id="12" name="Text 9"/>
          <p:cNvSpPr/>
          <p:nvPr/>
        </p:nvSpPr>
        <p:spPr>
          <a:xfrm>
            <a:off x="3254648" y="1514773"/>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000000"/>
                </a:solidFill>
                <a:latin typeface="Montserrat Light" pitchFamily="34" charset="0"/>
                <a:ea typeface="Montserrat Light" pitchFamily="34" charset="-122"/>
                <a:cs typeface="Montserrat Light" pitchFamily="34" charset="-120"/>
              </a:rPr>
              <a:t>02</a:t>
            </a:r>
            <a:endParaRPr lang="en-US" sz="950" dirty="0"/>
          </a:p>
        </p:txBody>
      </p:sp>
      <p:sp>
        <p:nvSpPr>
          <p:cNvPr id="13" name="Shape 10"/>
          <p:cNvSpPr/>
          <p:nvPr/>
        </p:nvSpPr>
        <p:spPr>
          <a:xfrm>
            <a:off x="3254648" y="1711226"/>
            <a:ext cx="2634630" cy="14288"/>
          </a:xfrm>
          <a:prstGeom prst="rect">
            <a:avLst/>
          </a:prstGeom>
          <a:solidFill>
            <a:srgbClr val="BE2727"/>
          </a:solidFill>
          <a:ln/>
        </p:spPr>
      </p:sp>
      <p:sp>
        <p:nvSpPr>
          <p:cNvPr id="14" name="Text 11"/>
          <p:cNvSpPr/>
          <p:nvPr/>
        </p:nvSpPr>
        <p:spPr>
          <a:xfrm>
            <a:off x="3254648" y="1801788"/>
            <a:ext cx="1613148"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Khai báo &amp; Gọi hàm</a:t>
            </a:r>
            <a:endParaRPr lang="en-US" sz="1200" dirty="0"/>
          </a:p>
        </p:txBody>
      </p:sp>
      <p:sp>
        <p:nvSpPr>
          <p:cNvPr id="15" name="Text 12"/>
          <p:cNvSpPr/>
          <p:nvPr/>
        </p:nvSpPr>
        <p:spPr>
          <a:xfrm>
            <a:off x="3254648" y="2070050"/>
            <a:ext cx="2634630"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Dùng def để định nghĩa, gọi tên hàm để thực thi</a:t>
            </a:r>
            <a:endParaRPr lang="en-US" sz="950" dirty="0"/>
          </a:p>
        </p:txBody>
      </p:sp>
      <p:sp>
        <p:nvSpPr>
          <p:cNvPr id="16" name="Text 13"/>
          <p:cNvSpPr/>
          <p:nvPr/>
        </p:nvSpPr>
        <p:spPr>
          <a:xfrm>
            <a:off x="6013252" y="1514773"/>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000000"/>
                </a:solidFill>
                <a:latin typeface="Montserrat Light" pitchFamily="34" charset="0"/>
                <a:ea typeface="Montserrat Light" pitchFamily="34" charset="-122"/>
                <a:cs typeface="Montserrat Light" pitchFamily="34" charset="-120"/>
              </a:rPr>
              <a:t>03</a:t>
            </a:r>
            <a:endParaRPr lang="en-US" sz="950" dirty="0"/>
          </a:p>
        </p:txBody>
      </p:sp>
      <p:sp>
        <p:nvSpPr>
          <p:cNvPr id="17" name="Shape 14"/>
          <p:cNvSpPr/>
          <p:nvPr/>
        </p:nvSpPr>
        <p:spPr>
          <a:xfrm>
            <a:off x="6013252" y="1711226"/>
            <a:ext cx="2634555" cy="14288"/>
          </a:xfrm>
          <a:prstGeom prst="rect">
            <a:avLst/>
          </a:prstGeom>
          <a:solidFill>
            <a:srgbClr val="BE2727"/>
          </a:solidFill>
          <a:ln/>
        </p:spPr>
      </p:sp>
      <p:sp>
        <p:nvSpPr>
          <p:cNvPr id="18" name="Text 15"/>
          <p:cNvSpPr/>
          <p:nvPr/>
        </p:nvSpPr>
        <p:spPr>
          <a:xfrm>
            <a:off x="6013252" y="1801788"/>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4 loại tham số</a:t>
            </a:r>
            <a:endParaRPr lang="en-US" sz="1200" dirty="0"/>
          </a:p>
        </p:txBody>
      </p:sp>
      <p:sp>
        <p:nvSpPr>
          <p:cNvPr id="19" name="Text 16"/>
          <p:cNvSpPr/>
          <p:nvPr/>
        </p:nvSpPr>
        <p:spPr>
          <a:xfrm>
            <a:off x="6013252" y="2070050"/>
            <a:ext cx="2634555"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Positional, Default, Keyword và *args</a:t>
            </a:r>
            <a:endParaRPr lang="en-US" sz="950" dirty="0"/>
          </a:p>
        </p:txBody>
      </p:sp>
      <p:sp>
        <p:nvSpPr>
          <p:cNvPr id="20" name="Text 17"/>
          <p:cNvSpPr/>
          <p:nvPr/>
        </p:nvSpPr>
        <p:spPr>
          <a:xfrm>
            <a:off x="496119" y="2683966"/>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000000"/>
                </a:solidFill>
                <a:latin typeface="Montserrat Light" pitchFamily="34" charset="0"/>
                <a:ea typeface="Montserrat Light" pitchFamily="34" charset="-122"/>
                <a:cs typeface="Montserrat Light" pitchFamily="34" charset="-120"/>
              </a:rPr>
              <a:t>04</a:t>
            </a:r>
            <a:endParaRPr lang="en-US" sz="950" dirty="0"/>
          </a:p>
        </p:txBody>
      </p:sp>
      <p:sp>
        <p:nvSpPr>
          <p:cNvPr id="21" name="Shape 18"/>
          <p:cNvSpPr/>
          <p:nvPr/>
        </p:nvSpPr>
        <p:spPr>
          <a:xfrm>
            <a:off x="496119" y="2880420"/>
            <a:ext cx="4013820" cy="14288"/>
          </a:xfrm>
          <a:prstGeom prst="rect">
            <a:avLst/>
          </a:prstGeom>
          <a:solidFill>
            <a:srgbClr val="BE2727"/>
          </a:solidFill>
          <a:ln/>
        </p:spPr>
      </p:sp>
      <p:sp>
        <p:nvSpPr>
          <p:cNvPr id="22" name="Text 19"/>
          <p:cNvSpPr/>
          <p:nvPr/>
        </p:nvSpPr>
        <p:spPr>
          <a:xfrm>
            <a:off x="496119" y="2970981"/>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Return &amp; Scope</a:t>
            </a:r>
            <a:endParaRPr lang="en-US" sz="1200" dirty="0"/>
          </a:p>
        </p:txBody>
      </p:sp>
      <p:sp>
        <p:nvSpPr>
          <p:cNvPr id="23" name="Text 20"/>
          <p:cNvSpPr/>
          <p:nvPr/>
        </p:nvSpPr>
        <p:spPr>
          <a:xfrm>
            <a:off x="496119" y="3239244"/>
            <a:ext cx="4013820"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Trả giá trị ra ngoài, phân biệt Global/Local variable</a:t>
            </a:r>
            <a:endParaRPr lang="en-US" sz="950" dirty="0"/>
          </a:p>
        </p:txBody>
      </p:sp>
      <p:sp>
        <p:nvSpPr>
          <p:cNvPr id="24" name="Text 21"/>
          <p:cNvSpPr/>
          <p:nvPr/>
        </p:nvSpPr>
        <p:spPr>
          <a:xfrm>
            <a:off x="4633913" y="2683966"/>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000000"/>
                </a:solidFill>
                <a:latin typeface="Montserrat Light" pitchFamily="34" charset="0"/>
                <a:ea typeface="Montserrat Light" pitchFamily="34" charset="-122"/>
                <a:cs typeface="Montserrat Light" pitchFamily="34" charset="-120"/>
              </a:rPr>
              <a:t>05</a:t>
            </a:r>
            <a:endParaRPr lang="en-US" sz="950" dirty="0"/>
          </a:p>
        </p:txBody>
      </p:sp>
      <p:sp>
        <p:nvSpPr>
          <p:cNvPr id="25" name="Shape 22"/>
          <p:cNvSpPr/>
          <p:nvPr/>
        </p:nvSpPr>
        <p:spPr>
          <a:xfrm>
            <a:off x="4633913" y="2880420"/>
            <a:ext cx="4013895" cy="14288"/>
          </a:xfrm>
          <a:prstGeom prst="rect">
            <a:avLst/>
          </a:prstGeom>
          <a:solidFill>
            <a:srgbClr val="BE2727"/>
          </a:solidFill>
          <a:ln/>
        </p:spPr>
      </p:sp>
      <p:sp>
        <p:nvSpPr>
          <p:cNvPr id="26" name="Text 23"/>
          <p:cNvSpPr/>
          <p:nvPr/>
        </p:nvSpPr>
        <p:spPr>
          <a:xfrm>
            <a:off x="4633913" y="2970981"/>
            <a:ext cx="2118494"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Docstring &amp; Best Practice</a:t>
            </a:r>
            <a:endParaRPr lang="en-US" sz="1200" dirty="0"/>
          </a:p>
        </p:txBody>
      </p:sp>
      <p:sp>
        <p:nvSpPr>
          <p:cNvPr id="27" name="Text 24"/>
          <p:cNvSpPr/>
          <p:nvPr/>
        </p:nvSpPr>
        <p:spPr>
          <a:xfrm>
            <a:off x="4633913" y="3239244"/>
            <a:ext cx="4013895"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Viết hàm chuẩn, rõ ràng và chuyên nghiệp</a:t>
            </a:r>
            <a:endParaRPr lang="en-US" sz="950" dirty="0"/>
          </a:p>
        </p:txBody>
      </p:sp>
      <p:sp>
        <p:nvSpPr>
          <p:cNvPr id="28" name="Text 25"/>
          <p:cNvSpPr/>
          <p:nvPr/>
        </p:nvSpPr>
        <p:spPr>
          <a:xfrm>
            <a:off x="682154" y="3809777"/>
            <a:ext cx="7965728"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Code không chỉ để máy tính hiểu — Code còn để con người đọc được. Hàm       chính là cách chúng ta nói chuyện với nhau qua code.     </a:t>
            </a:r>
            <a:endParaRPr lang="en-US" sz="950" dirty="0"/>
          </a:p>
        </p:txBody>
      </p:sp>
      <p:sp>
        <p:nvSpPr>
          <p:cNvPr id="29" name="Shape 26"/>
          <p:cNvSpPr/>
          <p:nvPr/>
        </p:nvSpPr>
        <p:spPr>
          <a:xfrm>
            <a:off x="496119" y="3670250"/>
            <a:ext cx="14288" cy="675977"/>
          </a:xfrm>
          <a:prstGeom prst="rect">
            <a:avLst/>
          </a:prstGeom>
          <a:solidFill>
            <a:srgbClr val="BE2727"/>
          </a:solidFill>
          <a:ln/>
        </p:spPr>
      </p:sp>
      <p:sp>
        <p:nvSpPr>
          <p:cNvPr id="30" name="Shape 27"/>
          <p:cNvSpPr/>
          <p:nvPr/>
        </p:nvSpPr>
        <p:spPr>
          <a:xfrm>
            <a:off x="496119" y="4490517"/>
            <a:ext cx="1011287" cy="233214"/>
          </a:xfrm>
          <a:prstGeom prst="roundRect">
            <a:avLst>
              <a:gd name="adj" fmla="val 17872"/>
            </a:avLst>
          </a:prstGeom>
          <a:solidFill>
            <a:srgbClr val="F6D5D5"/>
          </a:solidFill>
          <a:ln/>
        </p:spPr>
      </p:sp>
      <p:sp>
        <p:nvSpPr>
          <p:cNvPr id="31" name="Text 28"/>
          <p:cNvSpPr/>
          <p:nvPr/>
        </p:nvSpPr>
        <p:spPr>
          <a:xfrm>
            <a:off x="570533" y="4527724"/>
            <a:ext cx="1319659" cy="158800"/>
          </a:xfrm>
          <a:prstGeom prst="rect">
            <a:avLst/>
          </a:prstGeom>
          <a:noFill/>
          <a:ln/>
        </p:spPr>
        <p:txBody>
          <a:bodyPr wrap="none" lIns="0" tIns="0" rIns="0" bIns="0" rtlCol="0" anchor="t"/>
          <a:lstStyle/>
          <a:p>
            <a:pPr algn="l" indent="0" marL="0">
              <a:lnSpc>
                <a:spcPct val="133000"/>
              </a:lnSpc>
              <a:buNone/>
            </a:pPr>
            <a:r>
              <a:rPr lang="en-US" sz="750" dirty="0">
                <a:solidFill>
                  <a:srgbClr val="000000"/>
                </a:solidFill>
                <a:latin typeface="Montserrat" pitchFamily="34" charset="0"/>
                <a:ea typeface="Montserrat" pitchFamily="34" charset="-122"/>
                <a:cs typeface="Montserrat" pitchFamily="34" charset="-120"/>
              </a:rPr>
              <a:t>PYTHON CƠ BẢN</a:t>
            </a:r>
            <a:endParaRPr lang="en-US" sz="750" dirty="0"/>
          </a:p>
        </p:txBody>
      </p:sp>
      <p:sp>
        <p:nvSpPr>
          <p:cNvPr id="32" name="Shape 29"/>
          <p:cNvSpPr/>
          <p:nvPr/>
        </p:nvSpPr>
        <p:spPr>
          <a:xfrm>
            <a:off x="1569393" y="4485754"/>
            <a:ext cx="1451967" cy="242739"/>
          </a:xfrm>
          <a:prstGeom prst="roundRect">
            <a:avLst>
              <a:gd name="adj" fmla="val 17171"/>
            </a:avLst>
          </a:prstGeom>
          <a:noFill/>
          <a:ln w="4763">
            <a:solidFill>
              <a:srgbClr val="BE2727"/>
            </a:solidFill>
            <a:prstDash val="solid"/>
          </a:ln>
        </p:spPr>
      </p:sp>
      <p:sp>
        <p:nvSpPr>
          <p:cNvPr id="33" name="Text 30"/>
          <p:cNvSpPr/>
          <p:nvPr/>
        </p:nvSpPr>
        <p:spPr>
          <a:xfrm>
            <a:off x="1648569" y="4527724"/>
            <a:ext cx="1750814" cy="158800"/>
          </a:xfrm>
          <a:prstGeom prst="rect">
            <a:avLst/>
          </a:prstGeom>
          <a:noFill/>
          <a:ln/>
        </p:spPr>
        <p:txBody>
          <a:bodyPr wrap="none" lIns="0" tIns="0" rIns="0" bIns="0" rtlCol="0" anchor="t"/>
          <a:lstStyle/>
          <a:p>
            <a:pPr algn="l" indent="0" marL="0">
              <a:lnSpc>
                <a:spcPct val="133000"/>
              </a:lnSpc>
              <a:buNone/>
            </a:pPr>
            <a:r>
              <a:rPr lang="en-US" sz="750" dirty="0">
                <a:solidFill>
                  <a:srgbClr val="BE2727"/>
                </a:solidFill>
                <a:latin typeface="Montserrat" pitchFamily="34" charset="0"/>
                <a:ea typeface="Montserrat" pitchFamily="34" charset="-122"/>
                <a:cs typeface="Montserrat" pitchFamily="34" charset="-120"/>
              </a:rPr>
              <a:t>HOÀN THÀNH CHƯƠNG 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2026-06-02T14:05:29Z</dcterms:created>
  <dcterms:modified xsi:type="dcterms:W3CDTF">2026-06-02T14:05:29Z</dcterms:modified>
</cp:coreProperties>
</file>