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Montserrat Extra Bold" panose="020B0604020202020204" charset="0"/>
      <p:regular r:id="rId29"/>
    </p:embeddedFont>
    <p:embeddedFont>
      <p:font typeface="Roboto" panose="02000000000000000000" pitchFamily="2" charset="0"/>
      <p:regular r:id="rId30"/>
      <p:bold r:id="rId31"/>
    </p:embeddedFont>
  </p:embeddedFontLst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334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2358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Session 03: Vòng Lặp Trong Python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563490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Một trong những khái niệm cốt lõi nhất của lập trình —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vòng lặp (loop)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Từ tư duy tuyến tính, bạn sẽ bước sang tư duy lặp quy luật để viết code thông minh hơn, ngắn gọn hơn và mạnh mẽ hơn.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3303166"/>
            <a:ext cx="1011287" cy="233214"/>
          </a:xfrm>
          <a:prstGeom prst="roundRect">
            <a:avLst>
              <a:gd name="adj" fmla="val 17872"/>
            </a:avLst>
          </a:prstGeom>
          <a:solidFill>
            <a:srgbClr val="F6D5D5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3"/>
          <p:cNvSpPr/>
          <p:nvPr/>
        </p:nvSpPr>
        <p:spPr>
          <a:xfrm>
            <a:off x="3999533" y="3340373"/>
            <a:ext cx="1319659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CƠ BẢN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998393" y="3298403"/>
            <a:ext cx="571500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BE272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5077569" y="3340373"/>
            <a:ext cx="870347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BE2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BUỔI 03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18766"/>
            <a:ext cx="5605611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Mục Tiêu Buổi Học Hôm Nay </a:t>
            </a:r>
            <a:r>
              <a:rPr lang="en-US" sz="24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6386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Trước khi bắt đầu, hãy cùng xác định rõ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mục tiêu quan trọng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mà bạn cần đạt được sau buổi học này.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301850"/>
            <a:ext cx="2634555" cy="1522809"/>
          </a:xfrm>
          <a:prstGeom prst="roundRect">
            <a:avLst>
              <a:gd name="adj" fmla="val 3421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624855" y="2430587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💡 Tư Duy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2703612"/>
            <a:ext cx="237708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Chuyển từ tư duy dòng chảy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tuyến tính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(chạy từ trên xuống một lần) sang tư duy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lặp quy luật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nhận ra khi nào nên để máy tính lặp lại công việc thay bạn.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54648" y="2301850"/>
            <a:ext cx="2634630" cy="1522809"/>
          </a:xfrm>
          <a:prstGeom prst="roundRect">
            <a:avLst>
              <a:gd name="adj" fmla="val 3421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3383384" y="2430587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⚙️ Kỹ Năng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384" y="2703612"/>
            <a:ext cx="237715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Làm chủ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for-range()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khi biết trước số lần lặp và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khi phụ thuộc vào điều kiện. Biết cách lựa chọn đúng công cụ cho từng bài toán.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13252" y="2301850"/>
            <a:ext cx="2634555" cy="1522809"/>
          </a:xfrm>
          <a:prstGeom prst="roundRect">
            <a:avLst>
              <a:gd name="adj" fmla="val 3421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6141988" y="2430587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🐛 Kinh Nghiệm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1988" y="2703612"/>
            <a:ext cx="23770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Nhận diện và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"diệt"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7 lỗi kinh điển khiến chương trình bị treo hoặc chạy sai kết quả — những lỗi mà 90% sinh viên mới học đều mắc phải.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53195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Lesson 01: Tư Duy Lặp — Tại Sao Cần Vòng Lặp?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111154" y="2853854"/>
            <a:ext cx="453672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🤔 </a:t>
            </a:r>
            <a:r>
              <a:rPr lang="en-US" sz="95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"Nếu thầy bắt các em chép phạt chữ </a:t>
            </a:r>
            <a:r>
              <a:rPr lang="en-US" sz="950" b="1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'Em hứa sẽ làm bài tập đầy đủ'</a:t>
            </a:r>
            <a:r>
              <a:rPr lang="en-US" sz="95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100 lần, các em có tự tay viết 100 dòng lệnh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2714327"/>
            <a:ext cx="14288" cy="675977"/>
          </a:xfrm>
          <a:prstGeom prst="rect">
            <a:avLst/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02792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Vòng Lặp Là Gì?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2076376"/>
            <a:ext cx="4103191" cy="1564258"/>
          </a:xfrm>
          <a:prstGeom prst="roundRect">
            <a:avLst>
              <a:gd name="adj" fmla="val 5710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530796" y="220034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Định Nghĩa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2518172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Vòng lặp là </a:t>
            </a: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cấu trúc điều khiển</a:t>
            </a: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cho phép máy tính thực hiện đi thực hiện lại một nhóm lệnh (thân vòng lặp) cho đến khi thỏa mãn một điều kiện nào đó.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220034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Ví Dụ Thực Tế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2518172"/>
            <a:ext cx="3924598" cy="107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📱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Cuộn Facebook: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Lặp lại việc tải bài viết mới cho đến khi người dùng tắt app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🚗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Quẹt thẻ xe: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Kiểm tra thẻ liên tục cho đến khi hết xe trong bãi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🔢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Đếm từ 1 đến 10: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Mỗi lần đếm, giá trị tăng lên 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92337"/>
            <a:ext cx="8215610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3 Câu Hỏi "Vàng" Để Hình Thành Tư Duy Lặp </a:t>
            </a:r>
            <a:r>
              <a:rPr lang="en-US" sz="24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🏅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3743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Trước khi gõ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bất kỳ dòng code lặp nào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bạn phải trả lời được đủ 3 câu hỏi này. Đây là nền tảng để không bao giờ viết sai vòng lặp.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361456"/>
            <a:ext cx="2634555" cy="1589633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496119" y="2347168"/>
            <a:ext cx="2634555" cy="57150"/>
          </a:xfrm>
          <a:prstGeom prst="roundRect">
            <a:avLst>
              <a:gd name="adj" fmla="val 91163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Shape 4"/>
          <p:cNvSpPr/>
          <p:nvPr/>
        </p:nvSpPr>
        <p:spPr>
          <a:xfrm>
            <a:off x="1627361" y="2175421"/>
            <a:ext cx="372070" cy="372070"/>
          </a:xfrm>
          <a:prstGeom prst="roundRect">
            <a:avLst>
              <a:gd name="adj" fmla="val 153600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1510381" y="2268438"/>
            <a:ext cx="60595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4380" y="2671539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Hành Động Lặp 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380" y="2944564"/>
            <a:ext cx="2358033" cy="868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Tôi muốn máy tính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làm đi làm lại việc gì?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(Đây chính là Loop Body — thân vòng lặp)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4648" y="2361456"/>
            <a:ext cx="2634630" cy="1589633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3254648" y="2347168"/>
            <a:ext cx="2634630" cy="57150"/>
          </a:xfrm>
          <a:prstGeom prst="roundRect">
            <a:avLst>
              <a:gd name="adj" fmla="val 91163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Shape 10"/>
          <p:cNvSpPr/>
          <p:nvPr/>
        </p:nvSpPr>
        <p:spPr>
          <a:xfrm>
            <a:off x="4385890" y="2175421"/>
            <a:ext cx="372070" cy="372070"/>
          </a:xfrm>
          <a:prstGeom prst="roundRect">
            <a:avLst>
              <a:gd name="adj" fmla="val 153600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4268912" y="2268438"/>
            <a:ext cx="60595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92909" y="2671539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Điểm Dừng 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92909" y="2944564"/>
            <a:ext cx="2358107" cy="669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Vòng lặp này chạy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bao nhiêu lần?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Hoặc dừng lại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nào?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(Đây chính là Condition — điều kiện)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13252" y="2361456"/>
            <a:ext cx="2634555" cy="1589633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Shape 15"/>
          <p:cNvSpPr/>
          <p:nvPr/>
        </p:nvSpPr>
        <p:spPr>
          <a:xfrm>
            <a:off x="6013252" y="2347168"/>
            <a:ext cx="2634555" cy="57150"/>
          </a:xfrm>
          <a:prstGeom prst="roundRect">
            <a:avLst>
              <a:gd name="adj" fmla="val 91163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6"/>
          <p:cNvSpPr/>
          <p:nvPr/>
        </p:nvSpPr>
        <p:spPr>
          <a:xfrm>
            <a:off x="7144494" y="2175421"/>
            <a:ext cx="372070" cy="372070"/>
          </a:xfrm>
          <a:prstGeom prst="roundRect">
            <a:avLst>
              <a:gd name="adj" fmla="val 153600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7"/>
          <p:cNvSpPr/>
          <p:nvPr/>
        </p:nvSpPr>
        <p:spPr>
          <a:xfrm>
            <a:off x="7027515" y="2268438"/>
            <a:ext cx="67335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51513" y="2671539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Sự Thay Đổi 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51513" y="2944564"/>
            <a:ext cx="2358033" cy="868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Sau mỗi lượt lặp, có cái gì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thay đổi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đi đến điểm dừng?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(Đây chính là Update — cập nhật biến)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3866"/>
            <a:ext cx="7966918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Thuật Ngữ Chuyên Ngành Cần Thuộc Lòng </a:t>
            </a:r>
            <a:r>
              <a:rPr lang="en-US" sz="24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📚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28961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Nắm vững các thuật ngữ này giúp bạn đọc tài liệu tiếng Anh và giao tiếp chuyên nghiệp với cộng đồng lập trình viên quốc tế.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66950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1206" y="2266950"/>
            <a:ext cx="20455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Iteration (Lượt Lặp)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1206" y="2535213"/>
            <a:ext cx="353325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Một lần chạy duy nhất của thân vòng lặp. Ví dụ: vòng lặp chạy 5 lần = có 5 iterations.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2266950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14553" y="2266950"/>
            <a:ext cx="27306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Loop Body (Thân Vòng Lặp)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114553" y="2535213"/>
            <a:ext cx="353332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Khối lệnh nằm thụt lề sau dấu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đây là phần sẽ được lặp lại liên tục.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184922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1206" y="3184922"/>
            <a:ext cx="209297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Counter (Biến Đếm)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61206" y="3453185"/>
            <a:ext cx="3533254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Biến dùng để đếm số lần lặp. Thường đặt tên là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hoặc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9465" y="3184922"/>
            <a:ext cx="310083" cy="3100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14553" y="3184922"/>
            <a:ext cx="27958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Accumulator (Biến Tích Lũy)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114553" y="3453185"/>
            <a:ext cx="353332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Biến dùng để cộng dồn kết quả qua các vòng lặp. Ví dụ: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= 1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80084"/>
            <a:ext cx="5110832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Vòng Lặp </a:t>
            </a:r>
            <a:r>
              <a:rPr lang="en-US" sz="240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 Và Hàm </a:t>
            </a:r>
            <a:r>
              <a:rPr lang="en-US" sz="240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563192"/>
            <a:ext cx="4722763" cy="60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Nguyên tắc cốt lõi: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Dùng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khi </a:t>
            </a:r>
            <a:r>
              <a:rPr lang="en-US" sz="950" b="1" dirty="0">
                <a:solidFill>
                  <a:srgbClr val="BE2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biết trước số lần lặp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hoặc khi muốn </a:t>
            </a:r>
            <a:r>
              <a:rPr lang="en-US" sz="950" b="1" dirty="0">
                <a:solidFill>
                  <a:srgbClr val="BE2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duyệt qua một tập hợp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dữ liệu. Đây là vòng lặp phổ biến và an toàn nhất trong Python.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5436"/>
            <a:ext cx="5907732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Cú Pháp Chuẩn Của Vòng Lặp </a:t>
            </a:r>
            <a:r>
              <a:rPr lang="en-US" sz="240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7251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Cú Pháp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905893"/>
            <a:ext cx="3924598" cy="1041797"/>
          </a:xfrm>
          <a:prstGeom prst="roundRect">
            <a:avLst>
              <a:gd name="adj" fmla="val 500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489942" y="1905893"/>
            <a:ext cx="3936950" cy="1041797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644947" y="2029867"/>
            <a:ext cx="362694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bien_dem in tap_hop_lap: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# Thân vòng lặp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# (Bắt buộc thụt lề 4 dấu cách)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print(bien_dem)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3087216"/>
            <a:ext cx="3924598" cy="730225"/>
          </a:xfrm>
          <a:prstGeom prst="roundRect">
            <a:avLst>
              <a:gd name="adj" fmla="val 7135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271763"/>
            <a:ext cx="155004" cy="1239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9071" y="3242146"/>
            <a:ext cx="339767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Dấu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ở cuối dòng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là BẮT BUỘC. Quên dấu này là lỗi ngay lập tức!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28046" y="157251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Ví Dụ Thực Tế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28046" y="1905893"/>
            <a:ext cx="3924598" cy="2232571"/>
          </a:xfrm>
          <a:prstGeom prst="roundRect">
            <a:avLst>
              <a:gd name="adj" fmla="val 233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4721870" y="1905893"/>
            <a:ext cx="3936950" cy="2232571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4876874" y="2029867"/>
            <a:ext cx="3626941" cy="1984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In số từ 0 đến 4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print(i)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Kết quả: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0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1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2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3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4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9501"/>
            <a:ext cx="4374207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Bí Mật Của Hàm </a:t>
            </a:r>
            <a:r>
              <a:rPr lang="en-US" sz="240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range()</a:t>
            </a: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54597"/>
            <a:ext cx="8608963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Hàm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range()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sinh ra một dãy số nguyên. Đây là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trọng tâm dễ sai nhất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khi mới học — hãy ghi nhớ kỹ quy tắc cận trên mở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[start, stop)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997348"/>
            <a:ext cx="8151763" cy="1465362"/>
          </a:xfrm>
          <a:prstGeom prst="roundRect">
            <a:avLst>
              <a:gd name="adj" fmla="val 355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625004" y="2081287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Cú Pháp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662907" y="2081287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Ý Nghĩa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98429" y="2081287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Ví Dụ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733952" y="2081287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Dãy Số Sinh Ra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5004" y="2442865"/>
            <a:ext cx="2242393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range(stop)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62907" y="2442865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Chạy từ 0 đến stop - 1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98429" y="2442865"/>
            <a:ext cx="2240012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range(5)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33952" y="2442865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0, 1, 2, 3, 4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5004" y="2809205"/>
            <a:ext cx="2242393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range(start, stop)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62907" y="2809205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Chạy từ start đến stop - 1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98429" y="2809205"/>
            <a:ext cx="2240012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6)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33952" y="2809205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1, 2, 3, 4, 5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5004" y="3175546"/>
            <a:ext cx="2242393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range(start, stop, step)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62907" y="3175546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Nhảy step đơn vị mỗi lần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98429" y="3175546"/>
            <a:ext cx="2240012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range(2, 11, 2)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33952" y="3175546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2, 4, 6, 8, 10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6119" y="3602236"/>
            <a:ext cx="8151763" cy="531763"/>
          </a:xfrm>
          <a:prstGeom prst="roundRect">
            <a:avLst>
              <a:gd name="adj" fmla="val 9798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786783"/>
            <a:ext cx="155004" cy="12397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99071" y="3757166"/>
            <a:ext cx="8082037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Quy tắc vàng: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Hàm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range()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LUÔN LUÔN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lấy giá trị stop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Muốn lấy đến số 10, bạn phải viết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range(..., 11)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!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8273"/>
            <a:ext cx="658757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Ví Dụ Ứng Dụng: Bảng Cửu Chương 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0583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Code Mẫu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739205"/>
            <a:ext cx="4347270" cy="843335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489942" y="1739205"/>
            <a:ext cx="4359622" cy="843335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644947" y="1863179"/>
            <a:ext cx="404961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Sinh bảng cửu chương 5 từ 1 đến 10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11):  # Phải là 11!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print(f"5 x {i} = {5 * i}")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6119" y="2722066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Kết Quả In 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6119" y="3055441"/>
            <a:ext cx="4347270" cy="1240259"/>
          </a:xfrm>
          <a:prstGeom prst="roundRect">
            <a:avLst>
              <a:gd name="adj" fmla="val 420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489942" y="3055441"/>
            <a:ext cx="4359622" cy="1240259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644947" y="3179415"/>
            <a:ext cx="404961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x 1 = 5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x 2 = 10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x 3 = 15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x 10 = 50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61421" y="1281857"/>
            <a:ext cx="3680445" cy="3153370"/>
          </a:xfrm>
          <a:prstGeom prst="roundRect">
            <a:avLst>
              <a:gd name="adj" fmla="val 2832"/>
            </a:avLst>
          </a:prstGeom>
          <a:solidFill>
            <a:srgbClr val="5B81B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5185395" y="140583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Giải Thích Chi Tiết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85395" y="1723653"/>
            <a:ext cx="3432497" cy="1667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highlight>
                  <a:srgbClr val="688EB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range(1, 11)</a:t>
            </a:r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→ tạo dãy từ 1 đến 10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Mỗi lượt lặp, </a:t>
            </a:r>
            <a:r>
              <a:rPr lang="en-US" sz="1400" dirty="0">
                <a:solidFill>
                  <a:srgbClr val="000000"/>
                </a:solidFill>
                <a:highlight>
                  <a:srgbClr val="688EB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nhận giá trị tiếp theo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highlight>
                  <a:srgbClr val="688EB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f"..."</a:t>
            </a:r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là f-string — cách in biến vào chuỗi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Nếu viết </a:t>
            </a:r>
            <a:r>
              <a:rPr lang="en-US" sz="1400" dirty="0">
                <a:solidFill>
                  <a:srgbClr val="000000"/>
                </a:solidFill>
                <a:highlight>
                  <a:srgbClr val="688EB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range(1, 10)</a:t>
            </a:r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sẽ chỉ in đến </a:t>
            </a:r>
            <a:r>
              <a:rPr lang="en-US" sz="1400" dirty="0">
                <a:solidFill>
                  <a:srgbClr val="000000"/>
                </a:solidFill>
                <a:highlight>
                  <a:srgbClr val="688EB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 x 9 = 45</a:t>
            </a:r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!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86310"/>
            <a:ext cx="4722763" cy="78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Vòng Lặp </a:t>
            </a:r>
            <a:r>
              <a:rPr lang="en-US" sz="240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 — Khi Chưa Biết Trước Số Lần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756967"/>
            <a:ext cx="4722763" cy="60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Nguyên tắc cốt lõi: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Dùng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khi </a:t>
            </a:r>
            <a:r>
              <a:rPr lang="en-US" sz="950" b="1" dirty="0">
                <a:solidFill>
                  <a:srgbClr val="BE2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chưa biết trước số lần lặp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chỉ biết lặp đến khi điều kiện còn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đúng (True)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Đây là vòng lặp linh hoạt nhưng cũng nguy hiểm hơn nếu dùng sai.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7465"/>
            <a:ext cx="7532936" cy="406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Quy Tắc "3 Bước An Toàn" Khi Viết </a:t>
            </a:r>
            <a:r>
              <a:rPr lang="en-US" sz="240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🛡️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02085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Sinh viên rất hay làm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treo máy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vì lỗi vòng lặp vô hạn. Hãy luôn tuân thủ đủ 3 bước này trước khi chạy code.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2154" y="2636193"/>
            <a:ext cx="2448446" cy="123974"/>
          </a:xfrm>
          <a:prstGeom prst="roundRect">
            <a:avLst>
              <a:gd name="adj" fmla="val 42025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496119" y="2512144"/>
            <a:ext cx="372070" cy="372070"/>
          </a:xfrm>
          <a:prstGeom prst="roundRect">
            <a:avLst>
              <a:gd name="adj" fmla="val 76800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136" y="2605162"/>
            <a:ext cx="186035" cy="1860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0092" y="3008188"/>
            <a:ext cx="238660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Bước 1: Khởi Tạo Biến Điều Kiện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0092" y="3470300"/>
            <a:ext cx="238660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Khai báo và gán giá trị ban đầu cho biến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TRƯỚC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dòng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Ví dụ: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 = 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40683" y="2450157"/>
            <a:ext cx="2448520" cy="123974"/>
          </a:xfrm>
          <a:prstGeom prst="roundRect">
            <a:avLst>
              <a:gd name="adj" fmla="val 42025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3254648" y="2326109"/>
            <a:ext cx="372070" cy="372070"/>
          </a:xfrm>
          <a:prstGeom prst="roundRect">
            <a:avLst>
              <a:gd name="adj" fmla="val 76800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7665" y="2419127"/>
            <a:ext cx="186035" cy="1860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78622" y="2822153"/>
            <a:ext cx="27249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Bước 2: Thiết Lập Điều Kiện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78622" y="3090416"/>
            <a:ext cx="2386682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Viết điều kiện logic tại dòng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Ví dụ: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&lt;= 3: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99287" y="2264122"/>
            <a:ext cx="2448446" cy="123974"/>
          </a:xfrm>
          <a:prstGeom prst="roundRect">
            <a:avLst>
              <a:gd name="adj" fmla="val 42025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Shape 11"/>
          <p:cNvSpPr/>
          <p:nvPr/>
        </p:nvSpPr>
        <p:spPr>
          <a:xfrm>
            <a:off x="6013252" y="2140074"/>
            <a:ext cx="372070" cy="372070"/>
          </a:xfrm>
          <a:prstGeom prst="roundRect">
            <a:avLst>
              <a:gd name="adj" fmla="val 76800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06269" y="2233092"/>
            <a:ext cx="186035" cy="1860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37225" y="2636118"/>
            <a:ext cx="238660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Bước 3: Cập Nhật Biến Điều Kiện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37225" y="3098229"/>
            <a:ext cx="2386608" cy="60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Thay đổi biến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BÊN TRONG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thân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Ví dụ: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 += 1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Quên dòng này = treo máy ngay lập tức!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930"/>
            <a:ext cx="8151763" cy="78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Kỹ Thuật </a:t>
            </a:r>
            <a:r>
              <a:rPr lang="en-US" sz="240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 — Vòng Lặp Vô Hạn Có Kiểm Soát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65561"/>
            <a:ext cx="323939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Code Mẫu: Ép Nhập Đúng Dữ Liệu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198936"/>
            <a:ext cx="3924598" cy="2034108"/>
          </a:xfrm>
          <a:prstGeom prst="roundRect">
            <a:avLst>
              <a:gd name="adj" fmla="val 25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489942" y="2198936"/>
            <a:ext cx="3936950" cy="2034108"/>
          </a:xfrm>
          <a:prstGeom prst="roundRect">
            <a:avLst>
              <a:gd name="adj" fmla="val 91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644947" y="2322909"/>
            <a:ext cx="3626941" cy="1786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tuoi = int(input(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"Nhập tuổi (phải là số dương): 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))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tuoi &gt; 0: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print(f"Tuổi hợp lệ: {tuoi}")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  # Thoát khỏi vòng lặp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print("Sai! Vui lòng nhập lại.")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186556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Ứng Dụng Thực Tế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2183383"/>
            <a:ext cx="3924598" cy="107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🗂️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Menu chương trình: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Hiển thị menu cho đến khi người dùng chọn "Thoát"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🔐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Kiểm tra mật khẩu: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Yêu cầu nhập lại cho đến khi đúng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🎮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 loop: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Duy trì game chạy cho đến khi người chơi thua/thắng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28046" y="3401988"/>
            <a:ext cx="3924598" cy="730225"/>
          </a:xfrm>
          <a:prstGeom prst="roundRect">
            <a:avLst>
              <a:gd name="adj" fmla="val 7135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20" y="3586535"/>
            <a:ext cx="155004" cy="1239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30998" y="3556918"/>
            <a:ext cx="339767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Từ khóa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sẽ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bẻ gãy vòng lặp ngay lập tức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dù điều kiện vẫn còn đúng.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4334"/>
            <a:ext cx="4182368" cy="406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So Sánh </a:t>
            </a:r>
            <a:r>
              <a:rPr lang="en-US" sz="240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 vs </a:t>
            </a:r>
            <a:r>
              <a:rPr lang="en-US" sz="240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⚖️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78954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Chỉ cần ghi nhớ bảng này, bạn sẽ chọn đúng loại vòng lặp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trong vòng 3 giây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cho bất kỳ bài toán nào.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616943"/>
            <a:ext cx="8151763" cy="2902148"/>
          </a:xfrm>
          <a:prstGeom prst="roundRect">
            <a:avLst>
              <a:gd name="adj" fmla="val 179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625004" y="1700882"/>
            <a:ext cx="297522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Tiêu Chí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395737" y="1700882"/>
            <a:ext cx="289135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082605" y="1700882"/>
            <a:ext cx="28937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5004" y="2062460"/>
            <a:ext cx="297522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nào dùng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95737" y="2062460"/>
            <a:ext cx="289135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Biết trước số lần lặp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082605" y="2062460"/>
            <a:ext cx="28937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Chưa biết trước số lần lặp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5004" y="2424038"/>
            <a:ext cx="297522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Điều kiện dừng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95737" y="2424038"/>
            <a:ext cx="289135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Hết phần tử trong tập hợp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82605" y="2424038"/>
            <a:ext cx="28937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Điều kiện trở thành False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5004" y="2785616"/>
            <a:ext cx="297522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Nguy cơ vòng lặp vô hạn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95737" y="2785616"/>
            <a:ext cx="289135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(an toàn hơn)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82605" y="2785616"/>
            <a:ext cx="28937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(nếu quên cập nhật biến)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5004" y="3147194"/>
            <a:ext cx="297522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Ví dụ điển hình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95737" y="3147194"/>
            <a:ext cx="289135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Duyệt danh sách, bảng cửu chương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82605" y="3147194"/>
            <a:ext cx="28937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Nhập dữ liệu, menu chương trình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5004" y="3508772"/>
            <a:ext cx="297522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Cú pháp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95737" y="3508772"/>
            <a:ext cx="2891358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range(n):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82605" y="3508772"/>
            <a:ext cx="2893740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dieu_kien: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5004" y="3875112"/>
            <a:ext cx="297522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Biến đếm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95737" y="3875112"/>
            <a:ext cx="289135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Tự động tăng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82605" y="3875112"/>
            <a:ext cx="28937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Phải tự cập nhật thủ công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5004" y="4236690"/>
            <a:ext cx="297522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Độ phổ biến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95737" y="4236690"/>
            <a:ext cx="289135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Rất phổ biến (~70%)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82605" y="4236690"/>
            <a:ext cx="28937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Phổ biến (~30%)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70533" y="1181174"/>
            <a:ext cx="1015678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426741"/>
            <a:ext cx="7610326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🔍</a:t>
            </a: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 Diện Chẩn 7 Lỗi Kinh Điển Của Sinh Viên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200984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Dưới đây là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những lỗi phổ biến nhất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mà 90% sinh viên mới học Python đều từng mắc phải. Hãy nhìn vào từng đoạn code — bạn có tìm ra lỗi không?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546300"/>
            <a:ext cx="8151763" cy="1453158"/>
          </a:xfrm>
          <a:prstGeom prst="roundRect">
            <a:avLst>
              <a:gd name="adj" fmla="val 3585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500881" y="2551063"/>
            <a:ext cx="2714030" cy="724198"/>
          </a:xfrm>
          <a:prstGeom prst="roundRect">
            <a:avLst>
              <a:gd name="adj" fmla="val 7194"/>
            </a:avLst>
          </a:prstGeom>
          <a:solidFill>
            <a:srgbClr val="F6D5D5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624855" y="2675037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❌ Lỗi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4855" y="2948062"/>
            <a:ext cx="29232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Thụt lề sai (IndentationError)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4911" y="2551063"/>
            <a:ext cx="2714104" cy="724198"/>
          </a:xfrm>
          <a:prstGeom prst="rect">
            <a:avLst/>
          </a:prstGeom>
          <a:solidFill>
            <a:srgbClr val="F6D5D5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3214911" y="2551063"/>
            <a:ext cx="14288" cy="724198"/>
          </a:xfrm>
          <a:prstGeom prst="roundRect">
            <a:avLst>
              <a:gd name="adj" fmla="val 364638"/>
            </a:avLst>
          </a:prstGeom>
          <a:solidFill>
            <a:srgbClr val="DCBBB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3338885" y="2675037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❌ Lỗi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8885" y="2948062"/>
            <a:ext cx="2923356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Quên dấu hai chấm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29015" y="2551063"/>
            <a:ext cx="2714104" cy="724198"/>
          </a:xfrm>
          <a:prstGeom prst="rect">
            <a:avLst/>
          </a:prstGeom>
          <a:solidFill>
            <a:srgbClr val="F6D5D5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3"/>
          <p:cNvSpPr/>
          <p:nvPr/>
        </p:nvSpPr>
        <p:spPr>
          <a:xfrm>
            <a:off x="5929015" y="2551063"/>
            <a:ext cx="14288" cy="724198"/>
          </a:xfrm>
          <a:prstGeom prst="roundRect">
            <a:avLst>
              <a:gd name="adj" fmla="val 364638"/>
            </a:avLst>
          </a:prstGeom>
          <a:solidFill>
            <a:srgbClr val="DCBBB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6052989" y="2675037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❌ Lỗi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52989" y="2948062"/>
            <a:ext cx="29233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Sai lệch 1 đơn vị (Off-by-one)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0881" y="3275261"/>
            <a:ext cx="4071119" cy="719435"/>
          </a:xfrm>
          <a:prstGeom prst="rect">
            <a:avLst/>
          </a:prstGeom>
          <a:solidFill>
            <a:srgbClr val="F6D5D5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Shape 17"/>
          <p:cNvSpPr/>
          <p:nvPr/>
        </p:nvSpPr>
        <p:spPr>
          <a:xfrm>
            <a:off x="500881" y="3275261"/>
            <a:ext cx="4071119" cy="14288"/>
          </a:xfrm>
          <a:prstGeom prst="roundRect">
            <a:avLst>
              <a:gd name="adj" fmla="val 364638"/>
            </a:avLst>
          </a:prstGeom>
          <a:solidFill>
            <a:srgbClr val="DCBBB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Text 18"/>
          <p:cNvSpPr/>
          <p:nvPr/>
        </p:nvSpPr>
        <p:spPr>
          <a:xfrm>
            <a:off x="624855" y="3399234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❌ Lỗi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855" y="3672260"/>
            <a:ext cx="42803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Vòng lặp vô hạn (Treo máy)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3275261"/>
            <a:ext cx="4071119" cy="719435"/>
          </a:xfrm>
          <a:prstGeom prst="rect">
            <a:avLst/>
          </a:prstGeom>
          <a:solidFill>
            <a:srgbClr val="F6D5D5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1"/>
          <p:cNvSpPr/>
          <p:nvPr/>
        </p:nvSpPr>
        <p:spPr>
          <a:xfrm>
            <a:off x="4572000" y="3275261"/>
            <a:ext cx="14288" cy="719435"/>
          </a:xfrm>
          <a:prstGeom prst="roundRect">
            <a:avLst>
              <a:gd name="adj" fmla="val 364638"/>
            </a:avLst>
          </a:prstGeom>
          <a:solidFill>
            <a:srgbClr val="DCBBB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Shape 22"/>
          <p:cNvSpPr/>
          <p:nvPr/>
        </p:nvSpPr>
        <p:spPr>
          <a:xfrm>
            <a:off x="4572000" y="3275261"/>
            <a:ext cx="4071119" cy="14288"/>
          </a:xfrm>
          <a:prstGeom prst="roundRect">
            <a:avLst>
              <a:gd name="adj" fmla="val 364638"/>
            </a:avLst>
          </a:prstGeom>
          <a:solidFill>
            <a:srgbClr val="DCBBB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4695974" y="3399234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❌ Lỗi 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95974" y="3672260"/>
            <a:ext cx="42803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Quên khởi tạo biến tích lũy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1698"/>
            <a:ext cx="609577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Lỗi 1 &amp; 2: Thụt Lề và Dấu Hai Chấm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69256"/>
            <a:ext cx="2557909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❌</a:t>
            </a:r>
            <a:r>
              <a:rPr lang="en-US" sz="12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 Lỗi 1: Thụt Lề Vô Tội Vạ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407393"/>
            <a:ext cx="3924598" cy="2034108"/>
          </a:xfrm>
          <a:prstGeom prst="roundRect">
            <a:avLst>
              <a:gd name="adj" fmla="val 25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489942" y="1407393"/>
            <a:ext cx="3936950" cy="2034108"/>
          </a:xfrm>
          <a:prstGeom prst="roundRect">
            <a:avLst>
              <a:gd name="adj" fmla="val 91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644947" y="1531367"/>
            <a:ext cx="3626941" cy="1786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SAI: IndentationError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range(3):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print(i)  # Không thụt lề!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SAI LOGIC (code vẫn chạy nhưng sai):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range(3):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print("B")  # Ngoài loop!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"B" chỉ in 1 lần sau khi loop xong!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3581028"/>
            <a:ext cx="3924598" cy="725463"/>
          </a:xfrm>
          <a:prstGeom prst="roundRect">
            <a:avLst>
              <a:gd name="adj" fmla="val 7182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765575"/>
            <a:ext cx="155004" cy="1239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9071" y="3735958"/>
            <a:ext cx="33976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Thụt lề trong Python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phải trang trí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nó xác định cấu trúc chương trình!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28046" y="1069256"/>
            <a:ext cx="2833167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❌</a:t>
            </a:r>
            <a:r>
              <a:rPr lang="en-US" sz="12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 Lỗi 2: Quên Dấu Hai Chấm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28046" y="1407393"/>
            <a:ext cx="3924598" cy="3224882"/>
          </a:xfrm>
          <a:prstGeom prst="roundRect">
            <a:avLst>
              <a:gd name="adj" fmla="val 161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4721870" y="1407393"/>
            <a:ext cx="3936950" cy="3224882"/>
          </a:xfrm>
          <a:prstGeom prst="roundRect">
            <a:avLst>
              <a:gd name="adj" fmla="val 57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4876874" y="1531367"/>
            <a:ext cx="3626941" cy="2976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SAI: SyntaxError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x &lt; 10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x += 1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ĐÚNG: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x &lt; 10: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x += 1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Tương tự với for: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SAI: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print(i)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ĐÚNG: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print(i)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2131"/>
            <a:ext cx="7678862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Lỗi 3 &amp; 4: Off-by-one và Vòng Lặp Vô Hạn </a:t>
            </a:r>
            <a:r>
              <a:rPr lang="en-US" sz="24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88765"/>
            <a:ext cx="2561779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❌</a:t>
            </a:r>
            <a:r>
              <a:rPr lang="en-US" sz="12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 Lỗi 3: Sai Lệch 1 Đơn Vị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573411"/>
            <a:ext cx="8151763" cy="2827958"/>
          </a:xfrm>
          <a:prstGeom prst="roundRect">
            <a:avLst>
              <a:gd name="adj" fmla="val 184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489942" y="1573411"/>
            <a:ext cx="8164116" cy="2827958"/>
          </a:xfrm>
          <a:prstGeom prst="roundRect">
            <a:avLst>
              <a:gd name="adj" fmla="val 65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644947" y="1697385"/>
            <a:ext cx="7854107" cy="258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Yêu cầu: Tính tổng từ 1 đến 10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SAI: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tong = 0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10): # Chỉ đến 9!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tong += i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print(tong) # In ra 45 thay vì 55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ĐÚNG: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tong = 0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11): # Phải là 11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tong += i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print(tong) # In ra 55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4317"/>
            <a:ext cx="613767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Lỗi 5: Quên Khởi Tạo Biến Tích Lũy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01874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❌</a:t>
            </a:r>
            <a:r>
              <a:rPr lang="en-US" sz="12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 Code Sai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640012"/>
            <a:ext cx="3924598" cy="1041797"/>
          </a:xfrm>
          <a:prstGeom prst="roundRect">
            <a:avLst>
              <a:gd name="adj" fmla="val 500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489942" y="1640012"/>
            <a:ext cx="3936950" cy="1041797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644947" y="1763985"/>
            <a:ext cx="362694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SAI: NameError!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5):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tong += i  # Python không biết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# tong là gì!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2821335"/>
            <a:ext cx="3924598" cy="843335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489942" y="2821335"/>
            <a:ext cx="3936950" cy="843335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644947" y="2945309"/>
            <a:ext cx="3626941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Thông báo lỗi Python sẽ hiện: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NameError: name 'tong'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is not defined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38749" y="1177900"/>
            <a:ext cx="4103191" cy="3361209"/>
          </a:xfrm>
          <a:prstGeom prst="roundRect">
            <a:avLst>
              <a:gd name="adj" fmla="val 2657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4762723" y="1301874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✅</a:t>
            </a:r>
            <a:r>
              <a:rPr lang="en-US" sz="1200" b="1" dirty="0">
                <a:solidFill>
                  <a:srgbClr val="FFFFFF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 Code Đúng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62723" y="1640012"/>
            <a:ext cx="3855244" cy="1438721"/>
          </a:xfrm>
          <a:prstGeom prst="roundRect">
            <a:avLst>
              <a:gd name="adj" fmla="val 3621"/>
            </a:avLst>
          </a:prstGeom>
          <a:solidFill>
            <a:srgbClr val="CB343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1"/>
          <p:cNvSpPr/>
          <p:nvPr/>
        </p:nvSpPr>
        <p:spPr>
          <a:xfrm>
            <a:off x="4756547" y="1640012"/>
            <a:ext cx="3867596" cy="1438721"/>
          </a:xfrm>
          <a:prstGeom prst="roundRect">
            <a:avLst>
              <a:gd name="adj" fmla="val 1293"/>
            </a:avLst>
          </a:prstGeom>
          <a:solidFill>
            <a:srgbClr val="CB343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4911551" y="1763985"/>
            <a:ext cx="3557588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ĐÚNG: Khai báo TRƯỚC loop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tong = 0  # Khởi tạo ở đây!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5):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tong += i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print(tong)  # In ra: 10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62723" y="3218259"/>
            <a:ext cx="431244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Tương tự với biến tích lũy nhân: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62723" y="3556248"/>
            <a:ext cx="3855244" cy="843335"/>
          </a:xfrm>
          <a:prstGeom prst="roundRect">
            <a:avLst>
              <a:gd name="adj" fmla="val 6178"/>
            </a:avLst>
          </a:prstGeom>
          <a:solidFill>
            <a:srgbClr val="CB343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Shape 15"/>
          <p:cNvSpPr/>
          <p:nvPr/>
        </p:nvSpPr>
        <p:spPr>
          <a:xfrm>
            <a:off x="4756547" y="3556248"/>
            <a:ext cx="3867596" cy="843335"/>
          </a:xfrm>
          <a:prstGeom prst="roundRect">
            <a:avLst>
              <a:gd name="adj" fmla="val 2206"/>
            </a:avLst>
          </a:prstGeom>
          <a:solidFill>
            <a:srgbClr val="CB343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Text 16"/>
          <p:cNvSpPr/>
          <p:nvPr/>
        </p:nvSpPr>
        <p:spPr>
          <a:xfrm>
            <a:off x="4911551" y="3680222"/>
            <a:ext cx="355758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CB34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tich = 1 # Phải bắt đầu từ 1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CB34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5):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CB34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tich *= i # = 1*2*3*4 = 24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2033</Words>
  <Application>Microsoft Office PowerPoint</Application>
  <PresentationFormat>On-screen Show (16:9)</PresentationFormat>
  <Paragraphs>245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Roboto</vt:lpstr>
      <vt:lpstr>Arial</vt:lpstr>
      <vt:lpstr>Montserrat</vt:lpstr>
      <vt:lpstr>Consolas</vt:lpstr>
      <vt:lpstr>Montserrat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Quốc  Tuấn</cp:lastModifiedBy>
  <cp:revision>2</cp:revision>
  <dcterms:created xsi:type="dcterms:W3CDTF">2026-05-19T13:39:33Z</dcterms:created>
  <dcterms:modified xsi:type="dcterms:W3CDTF">2026-05-19T13:41:22Z</dcterms:modified>
</cp:coreProperties>
</file>