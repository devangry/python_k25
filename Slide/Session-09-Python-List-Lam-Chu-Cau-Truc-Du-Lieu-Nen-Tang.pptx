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embeddedFontLst>
    <p:embeddedFont>
      <p:font typeface="Montserrat ExtraBold"/>
      <p:regular r:id="rId21"/>
    </p:embeddedFont>
    <p:embeddedFont>
      <p:font typeface="Montserrat"/>
      <p:regular r:id="rId22"/>
    </p:embeddedFont>
    <p:embeddedFont>
      <p:font typeface="Montserrat Bold"/>
      <p:regular r:id="rId23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font" Target="fonts/font1.fntdata"/><Relationship Id="rId22" Type="http://schemas.openxmlformats.org/officeDocument/2006/relationships/font" Target="fonts/font2.fntdata"/><Relationship Id="rId23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slideLayout" Target="../slideLayouts/slideLayout8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5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991916"/>
            <a:ext cx="4722763" cy="775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BE272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Python List – Làm Chủ Cấu Trúc Dữ Liệu Nền Tảng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96119" y="2953048"/>
            <a:ext cx="5179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Từ bài toán quản lý 50 sinh viên đến kỹ thuật duyệt danh sách nâng cao 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54472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96119" y="1497881"/>
            <a:ext cx="35583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BE272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Mục Lục Bài Học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96119" y="2071464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96119" y="2267917"/>
            <a:ext cx="4013895" cy="14288"/>
          </a:xfrm>
          <a:prstGeom prst="rect">
            <a:avLst/>
          </a:prstGeom>
          <a:solidFill>
            <a:srgbClr val="BE2727"/>
          </a:solidFill>
          <a:ln/>
        </p:spPr>
      </p:sp>
      <p:sp>
        <p:nvSpPr>
          <p:cNvPr id="6" name="Text 4"/>
          <p:cNvSpPr/>
          <p:nvPr/>
        </p:nvSpPr>
        <p:spPr>
          <a:xfrm>
            <a:off x="496119" y="2358479"/>
            <a:ext cx="207302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Khái niệm &amp; Khởi tạo List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96119" y="2626742"/>
            <a:ext cx="401389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Tại sao cần List, định nghĩa, đặc điểm cốt lõi và 3 cách khởi tạo.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633987" y="2071464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33987" y="2267917"/>
            <a:ext cx="4013895" cy="14288"/>
          </a:xfrm>
          <a:prstGeom prst="rect">
            <a:avLst/>
          </a:prstGeom>
          <a:solidFill>
            <a:srgbClr val="BE2727"/>
          </a:solidFill>
          <a:ln/>
        </p:spPr>
      </p:sp>
      <p:sp>
        <p:nvSpPr>
          <p:cNvPr id="10" name="Text 8"/>
          <p:cNvSpPr/>
          <p:nvPr/>
        </p:nvSpPr>
        <p:spPr>
          <a:xfrm>
            <a:off x="4633987" y="2358479"/>
            <a:ext cx="233779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Truy xuất phần tử qua Index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33987" y="2626742"/>
            <a:ext cx="401389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Chỉ số dương, chỉ số âm và lỗi IndexError kinh điển.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96119" y="3042196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03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96119" y="3238649"/>
            <a:ext cx="4013895" cy="14288"/>
          </a:xfrm>
          <a:prstGeom prst="rect">
            <a:avLst/>
          </a:prstGeom>
          <a:solidFill>
            <a:srgbClr val="BE2727"/>
          </a:solidFill>
          <a:ln/>
        </p:spPr>
      </p:sp>
      <p:sp>
        <p:nvSpPr>
          <p:cNvPr id="14" name="Text 12"/>
          <p:cNvSpPr/>
          <p:nvPr/>
        </p:nvSpPr>
        <p:spPr>
          <a:xfrm>
            <a:off x="496119" y="3329211"/>
            <a:ext cx="155517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Các thao tác CRUD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6119" y="3597473"/>
            <a:ext cx="401389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Thêm, cập nhật, xóa dữ liệu với đầy đủ công cụ của Python.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633987" y="3042196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04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33987" y="3238649"/>
            <a:ext cx="4013895" cy="14288"/>
          </a:xfrm>
          <a:prstGeom prst="rect">
            <a:avLst/>
          </a:prstGeom>
          <a:solidFill>
            <a:srgbClr val="BE2727"/>
          </a:solidFill>
          <a:ln/>
        </p:spPr>
      </p:sp>
      <p:sp>
        <p:nvSpPr>
          <p:cNvPr id="18" name="Text 16"/>
          <p:cNvSpPr/>
          <p:nvPr/>
        </p:nvSpPr>
        <p:spPr>
          <a:xfrm>
            <a:off x="4633987" y="3329211"/>
            <a:ext cx="216887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Duyệt List với vòng lặp for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33987" y="3597473"/>
            <a:ext cx="401389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Duyệt theo phần tử, duyệt theo chỉ số và tối ưu với enumerate().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79896"/>
            <a:ext cx="4722763" cy="7364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dirty="0">
                <a:solidFill>
                  <a:srgbClr val="BE272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Đặt Vấn Đề: 50 Sinh Viên, 50 Biến?</a:t>
            </a:r>
            <a:endParaRPr lang="en-US" sz="2300" dirty="0"/>
          </a:p>
        </p:txBody>
      </p:sp>
      <p:sp>
        <p:nvSpPr>
          <p:cNvPr id="4" name="Shape 1"/>
          <p:cNvSpPr/>
          <p:nvPr/>
        </p:nvSpPr>
        <p:spPr>
          <a:xfrm>
            <a:off x="3840212" y="1384176"/>
            <a:ext cx="2387426" cy="3279428"/>
          </a:xfrm>
          <a:prstGeom prst="roundRect">
            <a:avLst>
              <a:gd name="adj" fmla="val 3554"/>
            </a:avLst>
          </a:prstGeom>
          <a:solidFill>
            <a:srgbClr val="BE2727"/>
          </a:solidFill>
          <a:ln/>
        </p:spPr>
      </p:sp>
      <p:sp>
        <p:nvSpPr>
          <p:cNvPr id="5" name="Text 2"/>
          <p:cNvSpPr/>
          <p:nvPr/>
        </p:nvSpPr>
        <p:spPr>
          <a:xfrm>
            <a:off x="3958010" y="1496095"/>
            <a:ext cx="1930226" cy="188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❌</a:t>
            </a:r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 Không có List 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3958010" y="1810941"/>
            <a:ext cx="2151831" cy="2074366"/>
          </a:xfrm>
          <a:prstGeom prst="roundRect">
            <a:avLst>
              <a:gd name="adj" fmla="val 2386"/>
            </a:avLst>
          </a:prstGeom>
          <a:solidFill>
            <a:srgbClr val="CB3434"/>
          </a:solidFill>
          <a:ln/>
        </p:spPr>
      </p:sp>
      <p:sp>
        <p:nvSpPr>
          <p:cNvPr id="7" name="Shape 4"/>
          <p:cNvSpPr/>
          <p:nvPr/>
        </p:nvSpPr>
        <p:spPr>
          <a:xfrm>
            <a:off x="3952131" y="1810941"/>
            <a:ext cx="2163589" cy="2074366"/>
          </a:xfrm>
          <a:prstGeom prst="roundRect">
            <a:avLst>
              <a:gd name="adj" fmla="val 852"/>
            </a:avLst>
          </a:prstGeom>
          <a:solidFill>
            <a:srgbClr val="CB3434"/>
          </a:solidFill>
          <a:ln/>
        </p:spPr>
      </p:sp>
      <p:sp>
        <p:nvSpPr>
          <p:cNvPr id="8" name="Text 5"/>
          <p:cNvSpPr/>
          <p:nvPr/>
        </p:nvSpPr>
        <p:spPr>
          <a:xfrm>
            <a:off x="4099396" y="1928738"/>
            <a:ext cx="1869058" cy="18387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student1 = "Nguyễn Văn A"</a:t>
            </a:r>
            <a:endParaRPr lang="en-US" sz="9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student2 = "Trần Thị B"</a:t>
            </a:r>
            <a:endParaRPr lang="en-US" sz="9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student3 = "Lê Văn C"</a:t>
            </a:r>
            <a:endParaRPr lang="en-US" sz="9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... viết tiếp 47 dòng</a:t>
            </a:r>
            <a:endParaRPr lang="en-US" sz="9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student50 = "Lê Văn Z"</a:t>
            </a:r>
            <a:endParaRPr lang="en-US" sz="900" dirty="0"/>
          </a:p>
          <a:p>
            <a:pPr algn="l" indent="0" marL="0">
              <a:lnSpc>
                <a:spcPct val="130000"/>
              </a:lnSpc>
              <a:buNone/>
            </a:pPr>
            <a:endParaRPr lang="en-US" sz="9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 ra? Thêm 50 câu lệnh nữa!</a:t>
            </a:r>
            <a:endParaRPr lang="en-US" sz="9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print(student1)</a:t>
            </a:r>
            <a:endParaRPr lang="en-US" sz="9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print(student2)</a:t>
            </a:r>
            <a:endParaRPr lang="en-US" sz="9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...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435030" y="1496095"/>
            <a:ext cx="1930226" cy="188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BE272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 Có List 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435030" y="1810941"/>
            <a:ext cx="2217613" cy="2074366"/>
          </a:xfrm>
          <a:prstGeom prst="roundRect">
            <a:avLst>
              <a:gd name="adj" fmla="val 2386"/>
            </a:avLst>
          </a:prstGeom>
          <a:solidFill>
            <a:srgbClr val="F2F2F2"/>
          </a:solidFill>
          <a:ln/>
        </p:spPr>
      </p:sp>
      <p:sp>
        <p:nvSpPr>
          <p:cNvPr id="11" name="Shape 8"/>
          <p:cNvSpPr/>
          <p:nvPr/>
        </p:nvSpPr>
        <p:spPr>
          <a:xfrm>
            <a:off x="6429152" y="1810941"/>
            <a:ext cx="2229371" cy="2074366"/>
          </a:xfrm>
          <a:prstGeom prst="roundRect">
            <a:avLst>
              <a:gd name="adj" fmla="val 852"/>
            </a:avLst>
          </a:prstGeom>
          <a:solidFill>
            <a:srgbClr val="F2F2F2"/>
          </a:solidFill>
          <a:ln/>
        </p:spPr>
      </p:sp>
      <p:sp>
        <p:nvSpPr>
          <p:cNvPr id="12" name="Text 9"/>
          <p:cNvSpPr/>
          <p:nvPr/>
        </p:nvSpPr>
        <p:spPr>
          <a:xfrm>
            <a:off x="6576417" y="1928738"/>
            <a:ext cx="1934840" cy="18387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students = [</a:t>
            </a:r>
            <a:endParaRPr lang="en-US" sz="9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"Nguyễn Văn A",</a:t>
            </a:r>
            <a:endParaRPr lang="en-US" sz="9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"Trần Thị B",</a:t>
            </a:r>
            <a:endParaRPr lang="en-US" sz="9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...</a:t>
            </a:r>
            <a:endParaRPr lang="en-US" sz="9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"Lê Văn Z"</a:t>
            </a:r>
            <a:endParaRPr lang="en-US" sz="9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900" dirty="0"/>
          </a:p>
          <a:p>
            <a:pPr algn="l" indent="0" marL="0">
              <a:lnSpc>
                <a:spcPct val="130000"/>
              </a:lnSpc>
              <a:buNone/>
            </a:pPr>
            <a:endParaRPr lang="en-US" sz="9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 tất cả? Chỉ 2 dòng!</a:t>
            </a:r>
            <a:endParaRPr lang="en-US" sz="9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s in students:</a:t>
            </a:r>
            <a:endParaRPr lang="en-US" sz="9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print(s)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435030" y="4011216"/>
            <a:ext cx="2217613" cy="5516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Thêm sinh viên mới? Chỉ cần </a:t>
            </a:r>
            <a:pPr algn="l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một dòng</a:t>
            </a:r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append()</a:t>
            </a:r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Code không cần viết lại.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84002"/>
            <a:ext cx="7355384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BE272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List Là Gì? Định Nghĩa &amp; Đặc Điểm Cốt Lõi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2154" y="1959099"/>
            <a:ext cx="7965728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List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là một cấu trúc dữ liệu dùng để lưu trữ một tập hợp các phần tử có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thứ tự (ordered)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và có thể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thay đổi (mutable)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tất cả gom vào một biến duy nhất.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96119" y="1819573"/>
            <a:ext cx="14288" cy="675977"/>
          </a:xfrm>
          <a:prstGeom prst="rect">
            <a:avLst/>
          </a:prstGeom>
          <a:solidFill>
            <a:srgbClr val="BE2727"/>
          </a:solidFill>
          <a:ln/>
        </p:spPr>
      </p:sp>
      <p:sp>
        <p:nvSpPr>
          <p:cNvPr id="5" name="Shape 3"/>
          <p:cNvSpPr/>
          <p:nvPr/>
        </p:nvSpPr>
        <p:spPr>
          <a:xfrm>
            <a:off x="496119" y="2635076"/>
            <a:ext cx="2634555" cy="1324347"/>
          </a:xfrm>
          <a:prstGeom prst="roundRect">
            <a:avLst>
              <a:gd name="adj" fmla="val 3934"/>
            </a:avLst>
          </a:prstGeom>
          <a:solidFill>
            <a:srgbClr val="F6D5D5"/>
          </a:solidFill>
          <a:ln w="4763">
            <a:solidFill>
              <a:srgbClr val="DCBBB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4855" y="2763813"/>
            <a:ext cx="1849562" cy="19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📌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 Có thứ tự (Ordered)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4855" y="3036838"/>
            <a:ext cx="2377083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Vị trí của các phần tử được giữ nguyên từ lúc khởi tạo. Phần tử thứ nhất luôn là phần tử thứ nhất, trừ khi ta chủ động thay đổi.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54648" y="2635076"/>
            <a:ext cx="2634630" cy="1324347"/>
          </a:xfrm>
          <a:prstGeom prst="roundRect">
            <a:avLst>
              <a:gd name="adj" fmla="val 3934"/>
            </a:avLst>
          </a:prstGeom>
          <a:solidFill>
            <a:srgbClr val="F6D5D5"/>
          </a:solidFill>
          <a:ln w="4763">
            <a:solidFill>
              <a:srgbClr val="DCBB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384" y="2763813"/>
            <a:ext cx="2329160" cy="19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✏️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 Có thể thay đổi (Mutable)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83384" y="3036838"/>
            <a:ext cx="2377157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Khác với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String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hay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Tuple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ta có thể thoải mái thêm, sửa, xóa phần tử ngay trên vùng nhớ cũ mà không cần tạo List mới.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013252" y="2635076"/>
            <a:ext cx="2634555" cy="1324347"/>
          </a:xfrm>
          <a:prstGeom prst="roundRect">
            <a:avLst>
              <a:gd name="adj" fmla="val 3934"/>
            </a:avLst>
          </a:prstGeom>
          <a:solidFill>
            <a:srgbClr val="F6D5D5"/>
          </a:solidFill>
          <a:ln w="4763">
            <a:solidFill>
              <a:srgbClr val="DCBBB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41988" y="2763813"/>
            <a:ext cx="1550566" cy="19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🔀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 Đa kiểu dữ liệu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141988" y="3036838"/>
            <a:ext cx="2377083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Python linh hoạt cho phép trộn lẫn nhiều kiểu: số nguyên, số thực, chuỗi, boolean... tất cả trong một List duy nhất.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03213"/>
            <a:ext cx="6126510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BE272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3 Cách Khởi Tạo List Trong Python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338783"/>
            <a:ext cx="8151763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Quy tắc đặt tên: Dùng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số nhiều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cho biến List (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students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prices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boxes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) để khi đọc code biết ngay đó là danh sách, không phải giá trị đơn lẻ.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96119" y="1879997"/>
            <a:ext cx="2634555" cy="2560216"/>
          </a:xfrm>
          <a:prstGeom prst="roundRect">
            <a:avLst>
              <a:gd name="adj" fmla="val 2035"/>
            </a:avLst>
          </a:prstGeom>
          <a:solidFill>
            <a:srgbClr val="FFFFFF"/>
          </a:solidFill>
          <a:ln w="14288">
            <a:solidFill>
              <a:srgbClr val="DCBBB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0406" y="1894284"/>
            <a:ext cx="2605980" cy="372070"/>
          </a:xfrm>
          <a:prstGeom prst="roundRect">
            <a:avLst>
              <a:gd name="adj" fmla="val 9395"/>
            </a:avLst>
          </a:prstGeom>
          <a:solidFill>
            <a:srgbClr val="F6D5D5"/>
          </a:solidFill>
          <a:ln/>
        </p:spPr>
      </p:sp>
      <p:sp>
        <p:nvSpPr>
          <p:cNvPr id="6" name="Text 4"/>
          <p:cNvSpPr/>
          <p:nvPr/>
        </p:nvSpPr>
        <p:spPr>
          <a:xfrm>
            <a:off x="1720379" y="1961629"/>
            <a:ext cx="1860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1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34380" y="2390329"/>
            <a:ext cx="200255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List rỗng (Khuyên dùng)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4380" y="2723704"/>
            <a:ext cx="2358033" cy="843335"/>
          </a:xfrm>
          <a:prstGeom prst="roundRect">
            <a:avLst>
              <a:gd name="adj" fmla="val 6178"/>
            </a:avLst>
          </a:prstGeom>
          <a:solidFill>
            <a:srgbClr val="F2F2F2"/>
          </a:solidFill>
          <a:ln/>
        </p:spPr>
      </p:sp>
      <p:sp>
        <p:nvSpPr>
          <p:cNvPr id="9" name="Shape 7"/>
          <p:cNvSpPr/>
          <p:nvPr/>
        </p:nvSpPr>
        <p:spPr>
          <a:xfrm>
            <a:off x="628204" y="2723704"/>
            <a:ext cx="2370386" cy="843335"/>
          </a:xfrm>
          <a:prstGeom prst="roundRect">
            <a:avLst>
              <a:gd name="adj" fmla="val 2206"/>
            </a:avLst>
          </a:prstGeom>
          <a:solidFill>
            <a:srgbClr val="F2F2F2"/>
          </a:solidFill>
          <a:ln/>
        </p:spPr>
      </p:sp>
      <p:sp>
        <p:nvSpPr>
          <p:cNvPr id="10" name="Text 8"/>
          <p:cNvSpPr/>
          <p:nvPr/>
        </p:nvSpPr>
        <p:spPr>
          <a:xfrm>
            <a:off x="783208" y="2847677"/>
            <a:ext cx="2060377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students = []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Hoặc dùng constructor: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empty_list = list()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34380" y="3706564"/>
            <a:ext cx="2358033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Giống như chuẩn bị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chiếc giỏ trống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để nhặt đồ sau. Dùng khi chưa biết trước dữ liệu.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54648" y="1879997"/>
            <a:ext cx="2634630" cy="2560216"/>
          </a:xfrm>
          <a:prstGeom prst="roundRect">
            <a:avLst>
              <a:gd name="adj" fmla="val 2035"/>
            </a:avLst>
          </a:prstGeom>
          <a:solidFill>
            <a:srgbClr val="FFFFFF"/>
          </a:solidFill>
          <a:ln w="14288">
            <a:solidFill>
              <a:srgbClr val="DCBBB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68935" y="1894284"/>
            <a:ext cx="2606055" cy="372070"/>
          </a:xfrm>
          <a:prstGeom prst="roundRect">
            <a:avLst>
              <a:gd name="adj" fmla="val 9395"/>
            </a:avLst>
          </a:prstGeom>
          <a:solidFill>
            <a:srgbClr val="F6D5D5"/>
          </a:solidFill>
          <a:ln/>
        </p:spPr>
      </p:sp>
      <p:sp>
        <p:nvSpPr>
          <p:cNvPr id="14" name="Text 12"/>
          <p:cNvSpPr/>
          <p:nvPr/>
        </p:nvSpPr>
        <p:spPr>
          <a:xfrm>
            <a:off x="4478908" y="1961629"/>
            <a:ext cx="1860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2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392909" y="2390329"/>
            <a:ext cx="2358107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List cùng kiểu (Homogeneous)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392909" y="2917552"/>
            <a:ext cx="2358107" cy="644872"/>
          </a:xfrm>
          <a:prstGeom prst="roundRect">
            <a:avLst>
              <a:gd name="adj" fmla="val 8079"/>
            </a:avLst>
          </a:prstGeom>
          <a:solidFill>
            <a:srgbClr val="F2F2F2"/>
          </a:solidFill>
          <a:ln/>
        </p:spPr>
      </p:sp>
      <p:sp>
        <p:nvSpPr>
          <p:cNvPr id="17" name="Shape 15"/>
          <p:cNvSpPr/>
          <p:nvPr/>
        </p:nvSpPr>
        <p:spPr>
          <a:xfrm>
            <a:off x="3386733" y="2917552"/>
            <a:ext cx="2370460" cy="644872"/>
          </a:xfrm>
          <a:prstGeom prst="roundRect">
            <a:avLst>
              <a:gd name="adj" fmla="val 2885"/>
            </a:avLst>
          </a:prstGeom>
          <a:solidFill>
            <a:srgbClr val="F2F2F2"/>
          </a:solidFill>
          <a:ln/>
        </p:spPr>
      </p:sp>
      <p:sp>
        <p:nvSpPr>
          <p:cNvPr id="18" name="Text 16"/>
          <p:cNvSpPr/>
          <p:nvPr/>
        </p:nvSpPr>
        <p:spPr>
          <a:xfrm>
            <a:off x="3541737" y="3041526"/>
            <a:ext cx="2060451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numbers = [1, 2, 5, 6]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names = ["An", "Bình","Cường"]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392909" y="3701951"/>
            <a:ext cx="2358107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Tất cả phần tử cùng một kiểu dữ liệu. Phổ biến nhất trong thực tế lập trình.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013252" y="1879997"/>
            <a:ext cx="2634555" cy="2560216"/>
          </a:xfrm>
          <a:prstGeom prst="roundRect">
            <a:avLst>
              <a:gd name="adj" fmla="val 2035"/>
            </a:avLst>
          </a:prstGeom>
          <a:solidFill>
            <a:srgbClr val="FFFFFF"/>
          </a:solidFill>
          <a:ln w="14288">
            <a:solidFill>
              <a:srgbClr val="DCBBB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27539" y="1894284"/>
            <a:ext cx="2605980" cy="372070"/>
          </a:xfrm>
          <a:prstGeom prst="roundRect">
            <a:avLst>
              <a:gd name="adj" fmla="val 9395"/>
            </a:avLst>
          </a:prstGeom>
          <a:solidFill>
            <a:srgbClr val="F6D5D5"/>
          </a:solidFill>
          <a:ln/>
        </p:spPr>
      </p:sp>
      <p:sp>
        <p:nvSpPr>
          <p:cNvPr id="22" name="Text 20"/>
          <p:cNvSpPr/>
          <p:nvPr/>
        </p:nvSpPr>
        <p:spPr>
          <a:xfrm>
            <a:off x="7237512" y="1961629"/>
            <a:ext cx="1860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3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151513" y="2390329"/>
            <a:ext cx="2358033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List đa kiểu (Heterogeneous)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51513" y="2917552"/>
            <a:ext cx="2358033" cy="644872"/>
          </a:xfrm>
          <a:prstGeom prst="roundRect">
            <a:avLst>
              <a:gd name="adj" fmla="val 8079"/>
            </a:avLst>
          </a:prstGeom>
          <a:solidFill>
            <a:srgbClr val="F2F2F2"/>
          </a:solidFill>
          <a:ln/>
        </p:spPr>
      </p:sp>
      <p:sp>
        <p:nvSpPr>
          <p:cNvPr id="25" name="Shape 23"/>
          <p:cNvSpPr/>
          <p:nvPr/>
        </p:nvSpPr>
        <p:spPr>
          <a:xfrm>
            <a:off x="6145337" y="2917552"/>
            <a:ext cx="2370386" cy="644872"/>
          </a:xfrm>
          <a:prstGeom prst="roundRect">
            <a:avLst>
              <a:gd name="adj" fmla="val 2885"/>
            </a:avLst>
          </a:prstGeom>
          <a:solidFill>
            <a:srgbClr val="F2F2F2"/>
          </a:solidFill>
          <a:ln/>
        </p:spPr>
      </p:sp>
      <p:sp>
        <p:nvSpPr>
          <p:cNvPr id="26" name="Text 24"/>
          <p:cNvSpPr/>
          <p:nvPr/>
        </p:nvSpPr>
        <p:spPr>
          <a:xfrm>
            <a:off x="6300341" y="3041526"/>
            <a:ext cx="2060377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my_list = [1, 2, "Nguyễn Văn A",True, 4.5]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151513" y="3701951"/>
            <a:ext cx="2358033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Python cực kỳ linh hoạt — trộn lẫn nhiều kiểu dữ liệu trong một List hoàn toàn hợp lệ.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65522"/>
            <a:ext cx="5038651" cy="3682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dirty="0">
                <a:solidFill>
                  <a:srgbClr val="BE272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Truy Xuất Phần Tử Qua Index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96119" y="1013520"/>
            <a:ext cx="1930226" cy="184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BE272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Cơ chế đánh Index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96119" y="1309613"/>
            <a:ext cx="3932113" cy="3677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Python đánh chỉ số từ trái qua phải, bắt đầu bằng </a:t>
            </a:r>
            <a:pPr algn="l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BE27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</a:t>
            </a:r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Phần tử thứ nhất là index 0, thứ hai là index 1...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96119" y="1803276"/>
            <a:ext cx="3932113" cy="971104"/>
          </a:xfrm>
          <a:prstGeom prst="roundRect">
            <a:avLst>
              <a:gd name="adj" fmla="val 5097"/>
            </a:avLst>
          </a:prstGeom>
          <a:solidFill>
            <a:srgbClr val="F2F2F2"/>
          </a:solidFill>
          <a:ln/>
        </p:spPr>
      </p:sp>
      <p:sp>
        <p:nvSpPr>
          <p:cNvPr id="6" name="Shape 4"/>
          <p:cNvSpPr/>
          <p:nvPr/>
        </p:nvSpPr>
        <p:spPr>
          <a:xfrm>
            <a:off x="490240" y="1803276"/>
            <a:ext cx="3943871" cy="971104"/>
          </a:xfrm>
          <a:prstGeom prst="roundRect">
            <a:avLst>
              <a:gd name="adj" fmla="val 1820"/>
            </a:avLst>
          </a:prstGeom>
          <a:solidFill>
            <a:srgbClr val="F2F2F2"/>
          </a:solidFill>
          <a:ln/>
        </p:spPr>
      </p:sp>
      <p:sp>
        <p:nvSpPr>
          <p:cNvPr id="7" name="Text 5"/>
          <p:cNvSpPr/>
          <p:nvPr/>
        </p:nvSpPr>
        <p:spPr>
          <a:xfrm>
            <a:off x="637505" y="1921073"/>
            <a:ext cx="3649340" cy="735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my_list = ["Apple","Banana","Cherry","Date"]</a:t>
            </a:r>
            <a:endParaRPr lang="en-US" sz="900" dirty="0"/>
          </a:p>
          <a:p>
            <a:pPr algn="l" indent="0" marL="0">
              <a:lnSpc>
                <a:spcPct val="130000"/>
              </a:lnSpc>
              <a:buNone/>
            </a:pPr>
            <a:endParaRPr lang="en-US" sz="9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print(my_list[0])  # "Apple"</a:t>
            </a:r>
            <a:endParaRPr lang="en-US" sz="9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print(my_list[2])  # "Cherry"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96119" y="2900288"/>
            <a:ext cx="3463156" cy="188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⭐</a:t>
            </a:r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BE272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 Chỉ số âm — Đặc quyền của Python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96119" y="3201144"/>
            <a:ext cx="3932113" cy="3677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Đếm ngược từ cuối bằng chỉ số âm. Trong C hay Java, để lấy phần tử cuối phải tính </a:t>
            </a:r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length - 1</a:t>
            </a:r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Python đơn giản hơn nhiều: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96119" y="3694807"/>
            <a:ext cx="3932113" cy="603349"/>
          </a:xfrm>
          <a:prstGeom prst="roundRect">
            <a:avLst>
              <a:gd name="adj" fmla="val 8203"/>
            </a:avLst>
          </a:prstGeom>
          <a:solidFill>
            <a:srgbClr val="F2F2F2"/>
          </a:solidFill>
          <a:ln/>
        </p:spPr>
      </p:sp>
      <p:sp>
        <p:nvSpPr>
          <p:cNvPr id="11" name="Shape 9"/>
          <p:cNvSpPr/>
          <p:nvPr/>
        </p:nvSpPr>
        <p:spPr>
          <a:xfrm>
            <a:off x="490240" y="3694807"/>
            <a:ext cx="3943871" cy="603349"/>
          </a:xfrm>
          <a:prstGeom prst="roundRect">
            <a:avLst>
              <a:gd name="adj" fmla="val 2930"/>
            </a:avLst>
          </a:prstGeom>
          <a:solidFill>
            <a:srgbClr val="F2F2F2"/>
          </a:solidFill>
          <a:ln/>
        </p:spPr>
      </p:sp>
      <p:sp>
        <p:nvSpPr>
          <p:cNvPr id="12" name="Text 10"/>
          <p:cNvSpPr/>
          <p:nvPr/>
        </p:nvSpPr>
        <p:spPr>
          <a:xfrm>
            <a:off x="637505" y="3812604"/>
            <a:ext cx="3649340" cy="3677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3620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print(my_list[-1])  # "Date" (cuối)</a:t>
            </a:r>
            <a:endParaRPr lang="en-US" sz="9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3620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print(my_list[-2])  # "Cherry"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20530" y="1027509"/>
            <a:ext cx="3932113" cy="1413718"/>
          </a:xfrm>
          <a:prstGeom prst="roundRect">
            <a:avLst>
              <a:gd name="adj" fmla="val 3501"/>
            </a:avLst>
          </a:prstGeom>
          <a:solidFill>
            <a:srgbClr val="FFB3B4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38328" y="1204913"/>
            <a:ext cx="147265" cy="117797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103391" y="1168822"/>
            <a:ext cx="3431456" cy="11127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⚠️</a:t>
            </a:r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Lỗi kinh điển: IndexError  Khi truy cập index không tồn tại, Python lập tức báo lỗi:  IndexError: list index out of range  List chỉ có 4 phần tử (index 0→3), gọi my_list[4] sẽ BÙM ngay!  </a:t>
            </a:r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💡</a:t>
            </a:r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Lời khuyên: Kiểm tra độ dài trước bằng len(my_list) nếu không chắc chắn về kích thước danh sách.</a:t>
            </a:r>
            <a:endParaRPr lang="en-US" sz="9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0530" y="2567136"/>
            <a:ext cx="3735437" cy="2084859"/>
          </a:xfrm>
          <a:prstGeom prst="rect">
            <a:avLst/>
          </a:prstGeom>
        </p:spPr>
      </p:pic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0530" y="2567136"/>
            <a:ext cx="3735437" cy="208485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92671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BE272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Thao tác CRUD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96119" y="1136079"/>
            <a:ext cx="4150370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BE272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Thêm Dữ Liệu Vào List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96119" y="1709663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Python cung cấp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hàm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để thêm dữ liệu, mỗi hàm có mục đích riêng biệt. Chọn đúng công cụ sẽ giúp code hiệu quả hơn.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96119" y="2047652"/>
            <a:ext cx="2634555" cy="2203103"/>
          </a:xfrm>
          <a:prstGeom prst="roundRect">
            <a:avLst>
              <a:gd name="adj" fmla="val 2365"/>
            </a:avLst>
          </a:prstGeom>
          <a:solidFill>
            <a:srgbClr val="F6D5D5"/>
          </a:solidFill>
          <a:ln w="4763">
            <a:solidFill>
              <a:srgbClr val="DCBBB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4855" y="2176388"/>
            <a:ext cx="372070" cy="372070"/>
          </a:xfrm>
          <a:prstGeom prst="roundRect">
            <a:avLst>
              <a:gd name="adj" fmla="val 15358477"/>
            </a:avLst>
          </a:prstGeom>
          <a:solidFill>
            <a:srgbClr val="BE2727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7174" y="2278633"/>
            <a:ext cx="167432" cy="1674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24855" y="2672432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append(value)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24855" y="2940695"/>
            <a:ext cx="237708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Đẩy phần tử vào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cuối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danh sách. Dùng nhiều nhất trong thực tế.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24855" y="3477146"/>
            <a:ext cx="2377083" cy="644872"/>
          </a:xfrm>
          <a:prstGeom prst="roundRect">
            <a:avLst>
              <a:gd name="adj" fmla="val 8079"/>
            </a:avLst>
          </a:prstGeom>
          <a:solidFill>
            <a:srgbClr val="F2F2F2"/>
          </a:solidFill>
          <a:ln/>
        </p:spPr>
      </p:sp>
      <p:sp>
        <p:nvSpPr>
          <p:cNvPr id="11" name="Shape 8"/>
          <p:cNvSpPr/>
          <p:nvPr/>
        </p:nvSpPr>
        <p:spPr>
          <a:xfrm>
            <a:off x="618679" y="3477146"/>
            <a:ext cx="2389436" cy="644872"/>
          </a:xfrm>
          <a:prstGeom prst="roundRect">
            <a:avLst>
              <a:gd name="adj" fmla="val 2885"/>
            </a:avLst>
          </a:prstGeom>
          <a:solidFill>
            <a:srgbClr val="F2F2F2"/>
          </a:solidFill>
          <a:ln/>
        </p:spPr>
      </p:sp>
      <p:sp>
        <p:nvSpPr>
          <p:cNvPr id="12" name="Text 9"/>
          <p:cNvSpPr/>
          <p:nvPr/>
        </p:nvSpPr>
        <p:spPr>
          <a:xfrm>
            <a:off x="773683" y="3601120"/>
            <a:ext cx="2079427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fruits.append("Cam")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["Táo","Chuối","Cam"]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254648" y="2047652"/>
            <a:ext cx="2634630" cy="2203103"/>
          </a:xfrm>
          <a:prstGeom prst="roundRect">
            <a:avLst>
              <a:gd name="adj" fmla="val 2365"/>
            </a:avLst>
          </a:prstGeom>
          <a:solidFill>
            <a:srgbClr val="F6D5D5"/>
          </a:solidFill>
          <a:ln w="4763">
            <a:solidFill>
              <a:srgbClr val="DCBBB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383384" y="2176388"/>
            <a:ext cx="372070" cy="372070"/>
          </a:xfrm>
          <a:prstGeom prst="roundRect">
            <a:avLst>
              <a:gd name="adj" fmla="val 15358477"/>
            </a:avLst>
          </a:prstGeom>
          <a:solidFill>
            <a:srgbClr val="BE2727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85704" y="2278633"/>
            <a:ext cx="167432" cy="1674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383384" y="2672432"/>
            <a:ext cx="15886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insert(index, value)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3383384" y="2940695"/>
            <a:ext cx="2377157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Chèn vào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vị trí cụ thể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Các phần tử sau tự động lùi một bước.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3383384" y="3477146"/>
            <a:ext cx="2377157" cy="644872"/>
          </a:xfrm>
          <a:prstGeom prst="roundRect">
            <a:avLst>
              <a:gd name="adj" fmla="val 8079"/>
            </a:avLst>
          </a:prstGeom>
          <a:solidFill>
            <a:srgbClr val="F2F2F2"/>
          </a:solidFill>
          <a:ln/>
        </p:spPr>
      </p:sp>
      <p:sp>
        <p:nvSpPr>
          <p:cNvPr id="19" name="Shape 15"/>
          <p:cNvSpPr/>
          <p:nvPr/>
        </p:nvSpPr>
        <p:spPr>
          <a:xfrm>
            <a:off x="3377208" y="3477146"/>
            <a:ext cx="2389510" cy="644872"/>
          </a:xfrm>
          <a:prstGeom prst="roundRect">
            <a:avLst>
              <a:gd name="adj" fmla="val 2885"/>
            </a:avLst>
          </a:prstGeom>
          <a:solidFill>
            <a:srgbClr val="F2F2F2"/>
          </a:solidFill>
          <a:ln/>
        </p:spPr>
      </p:sp>
      <p:sp>
        <p:nvSpPr>
          <p:cNvPr id="20" name="Text 16"/>
          <p:cNvSpPr/>
          <p:nvPr/>
        </p:nvSpPr>
        <p:spPr>
          <a:xfrm>
            <a:off x="3532212" y="3601120"/>
            <a:ext cx="2079501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fruits.insert(1, "Xoài")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["Táo","Xoài","Chuối","Cam"]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6013252" y="2047652"/>
            <a:ext cx="2634555" cy="2203103"/>
          </a:xfrm>
          <a:prstGeom prst="roundRect">
            <a:avLst>
              <a:gd name="adj" fmla="val 2365"/>
            </a:avLst>
          </a:prstGeom>
          <a:solidFill>
            <a:srgbClr val="F6D5D5"/>
          </a:solidFill>
          <a:ln w="4763">
            <a:solidFill>
              <a:srgbClr val="DCBBBB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141988" y="2176388"/>
            <a:ext cx="372070" cy="372070"/>
          </a:xfrm>
          <a:prstGeom prst="roundRect">
            <a:avLst>
              <a:gd name="adj" fmla="val 15358477"/>
            </a:avLst>
          </a:prstGeom>
          <a:solidFill>
            <a:srgbClr val="BE2727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44307" y="2278633"/>
            <a:ext cx="167432" cy="16743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141988" y="2672432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extend([list])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6141988" y="2940695"/>
            <a:ext cx="237708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"Nuốt trọn" một danh sách khác,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mở rộng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danh sách hiện tại.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6141988" y="3477146"/>
            <a:ext cx="2377083" cy="644872"/>
          </a:xfrm>
          <a:prstGeom prst="roundRect">
            <a:avLst>
              <a:gd name="adj" fmla="val 8079"/>
            </a:avLst>
          </a:prstGeom>
          <a:solidFill>
            <a:srgbClr val="F2F2F2"/>
          </a:solidFill>
          <a:ln/>
        </p:spPr>
      </p:sp>
      <p:sp>
        <p:nvSpPr>
          <p:cNvPr id="27" name="Shape 22"/>
          <p:cNvSpPr/>
          <p:nvPr/>
        </p:nvSpPr>
        <p:spPr>
          <a:xfrm>
            <a:off x="6135812" y="3477146"/>
            <a:ext cx="2389436" cy="644872"/>
          </a:xfrm>
          <a:prstGeom prst="roundRect">
            <a:avLst>
              <a:gd name="adj" fmla="val 2885"/>
            </a:avLst>
          </a:prstGeom>
          <a:solidFill>
            <a:srgbClr val="F2F2F2"/>
          </a:solidFill>
          <a:ln/>
        </p:spPr>
      </p:sp>
      <p:sp>
        <p:nvSpPr>
          <p:cNvPr id="28" name="Text 23"/>
          <p:cNvSpPr/>
          <p:nvPr/>
        </p:nvSpPr>
        <p:spPr>
          <a:xfrm>
            <a:off x="6290816" y="3601120"/>
            <a:ext cx="2079427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fruits.extend(["Nho","Mận"])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[...,"Cam","Nho","Mận"]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06685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BE272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Thao tác CRUD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96119" y="750094"/>
            <a:ext cx="436922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BE272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Cập Nhật &amp; Xóa Dữ Liệu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96119" y="1447651"/>
            <a:ext cx="3796680" cy="19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✏️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BE272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 Cập nhật (Update) — Không cần hàm!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96119" y="1770236"/>
            <a:ext cx="3924598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Chỉ định index cần sửa và gán giá trị mới, giống như gán biến thông thường.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96119" y="2306687"/>
            <a:ext cx="3924598" cy="1041797"/>
          </a:xfrm>
          <a:prstGeom prst="roundRect">
            <a:avLst>
              <a:gd name="adj" fmla="val 5001"/>
            </a:avLst>
          </a:prstGeom>
          <a:solidFill>
            <a:srgbClr val="F2F2F2"/>
          </a:solidFill>
          <a:ln/>
        </p:spPr>
      </p:sp>
      <p:sp>
        <p:nvSpPr>
          <p:cNvPr id="7" name="Shape 5"/>
          <p:cNvSpPr/>
          <p:nvPr/>
        </p:nvSpPr>
        <p:spPr>
          <a:xfrm>
            <a:off x="489942" y="2306687"/>
            <a:ext cx="3936950" cy="1041797"/>
          </a:xfrm>
          <a:prstGeom prst="roundRect">
            <a:avLst>
              <a:gd name="adj" fmla="val 1786"/>
            </a:avLst>
          </a:prstGeom>
          <a:solidFill>
            <a:srgbClr val="F2F2F2"/>
          </a:solidFill>
          <a:ln/>
        </p:spPr>
      </p:sp>
      <p:sp>
        <p:nvSpPr>
          <p:cNvPr id="8" name="Text 6"/>
          <p:cNvSpPr/>
          <p:nvPr/>
        </p:nvSpPr>
        <p:spPr>
          <a:xfrm>
            <a:off x="644947" y="2430661"/>
            <a:ext cx="3626941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scores = [8, 9, 5, 10]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Phát hiện chấm nhầm index 2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scores[2] = 7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print(scores) # [8, 9, 7, 10]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96119" y="3488010"/>
            <a:ext cx="3924598" cy="725463"/>
          </a:xfrm>
          <a:prstGeom prst="roundRect">
            <a:avLst>
              <a:gd name="adj" fmla="val 7182"/>
            </a:avLst>
          </a:prstGeom>
          <a:solidFill>
            <a:srgbClr val="B6D6FC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0092" y="3672557"/>
            <a:ext cx="155004" cy="12397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99071" y="3642940"/>
            <a:ext cx="339767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Thao tác cập nhật trực tiếp qua index là minh chứng rõ nhất cho tính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mutable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của List.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728046" y="1447651"/>
            <a:ext cx="3679031" cy="19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🗑️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BE272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 Xóa (Delete) — 4 công cụ khác nhau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728046" y="1785789"/>
            <a:ext cx="1900312" cy="1392957"/>
          </a:xfrm>
          <a:prstGeom prst="roundRect">
            <a:avLst>
              <a:gd name="adj" fmla="val 4923"/>
            </a:avLst>
          </a:prstGeom>
          <a:solidFill>
            <a:srgbClr val="FFFFFF"/>
          </a:solidFill>
          <a:ln w="14288">
            <a:solidFill>
              <a:srgbClr val="DCBBB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713759" y="1785789"/>
            <a:ext cx="57150" cy="1392957"/>
          </a:xfrm>
          <a:prstGeom prst="roundRect">
            <a:avLst>
              <a:gd name="adj" fmla="val 91163"/>
            </a:avLst>
          </a:prstGeom>
          <a:solidFill>
            <a:srgbClr val="BE2727"/>
          </a:solidFill>
          <a:ln/>
        </p:spPr>
      </p:sp>
      <p:sp>
        <p:nvSpPr>
          <p:cNvPr id="15" name="Text 12"/>
          <p:cNvSpPr/>
          <p:nvPr/>
        </p:nvSpPr>
        <p:spPr>
          <a:xfrm>
            <a:off x="4909170" y="1924050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remove(value)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909170" y="2241872"/>
            <a:ext cx="1580927" cy="7986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Xóa theo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giá trị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Chỉ xóa lần xuất hiện đầu tiên. Báo 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ValueError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nếu không tồn tại.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752332" y="1785789"/>
            <a:ext cx="1900312" cy="1392957"/>
          </a:xfrm>
          <a:prstGeom prst="roundRect">
            <a:avLst>
              <a:gd name="adj" fmla="val 4923"/>
            </a:avLst>
          </a:prstGeom>
          <a:solidFill>
            <a:srgbClr val="FFFFFF"/>
          </a:solidFill>
          <a:ln w="14288">
            <a:solidFill>
              <a:srgbClr val="DCBBB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738045" y="1785789"/>
            <a:ext cx="57150" cy="1392957"/>
          </a:xfrm>
          <a:prstGeom prst="roundRect">
            <a:avLst>
              <a:gd name="adj" fmla="val 91163"/>
            </a:avLst>
          </a:prstGeom>
          <a:solidFill>
            <a:srgbClr val="BE2727"/>
          </a:solidFill>
          <a:ln/>
        </p:spPr>
      </p:sp>
      <p:sp>
        <p:nvSpPr>
          <p:cNvPr id="19" name="Text 16"/>
          <p:cNvSpPr/>
          <p:nvPr/>
        </p:nvSpPr>
        <p:spPr>
          <a:xfrm>
            <a:off x="6933456" y="1924050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pop(index)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933456" y="2241872"/>
            <a:ext cx="1580927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Xóa theo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vị trí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và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trả về giá trị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đó. Mặc định xóa phần tử cuối.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4728046" y="3302719"/>
            <a:ext cx="1900312" cy="1194495"/>
          </a:xfrm>
          <a:prstGeom prst="roundRect">
            <a:avLst>
              <a:gd name="adj" fmla="val 5741"/>
            </a:avLst>
          </a:prstGeom>
          <a:solidFill>
            <a:srgbClr val="FFFFFF"/>
          </a:solidFill>
          <a:ln w="14288">
            <a:solidFill>
              <a:srgbClr val="DCBBB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713759" y="3302719"/>
            <a:ext cx="57150" cy="1194495"/>
          </a:xfrm>
          <a:prstGeom prst="roundRect">
            <a:avLst>
              <a:gd name="adj" fmla="val 91163"/>
            </a:avLst>
          </a:prstGeom>
          <a:solidFill>
            <a:srgbClr val="BE2727"/>
          </a:solidFill>
          <a:ln/>
        </p:spPr>
      </p:sp>
      <p:sp>
        <p:nvSpPr>
          <p:cNvPr id="23" name="Text 20"/>
          <p:cNvSpPr/>
          <p:nvPr/>
        </p:nvSpPr>
        <p:spPr>
          <a:xfrm>
            <a:off x="4909170" y="3440981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del list[index]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909170" y="3758803"/>
            <a:ext cx="1580927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Từ khóa hệ thống, xóa thẳng tay theo index,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không trả về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giá trị.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6752332" y="3302719"/>
            <a:ext cx="1900312" cy="1194495"/>
          </a:xfrm>
          <a:prstGeom prst="roundRect">
            <a:avLst>
              <a:gd name="adj" fmla="val 5741"/>
            </a:avLst>
          </a:prstGeom>
          <a:solidFill>
            <a:srgbClr val="FFFFFF"/>
          </a:solidFill>
          <a:ln w="14288">
            <a:solidFill>
              <a:srgbClr val="DCBBBB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738045" y="3302719"/>
            <a:ext cx="57150" cy="1194495"/>
          </a:xfrm>
          <a:prstGeom prst="roundRect">
            <a:avLst>
              <a:gd name="adj" fmla="val 91163"/>
            </a:avLst>
          </a:prstGeom>
          <a:solidFill>
            <a:srgbClr val="BE2727"/>
          </a:solidFill>
          <a:ln/>
        </p:spPr>
      </p:sp>
      <p:sp>
        <p:nvSpPr>
          <p:cNvPr id="27" name="Text 24"/>
          <p:cNvSpPr/>
          <p:nvPr/>
        </p:nvSpPr>
        <p:spPr>
          <a:xfrm>
            <a:off x="6933456" y="3440981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clear()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6933456" y="3758803"/>
            <a:ext cx="1580927" cy="6001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Dọn sạch bách — biến List thành 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[]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rỗng hoàn toàn.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71860"/>
            <a:ext cx="5251326" cy="329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50" dirty="0">
                <a:solidFill>
                  <a:srgbClr val="BE272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Ví Dụ Thực Tế: 4 Cách Xóa Dữ Liệu</a:t>
            </a:r>
            <a:endParaRPr lang="en-US" sz="2050" dirty="0"/>
          </a:p>
        </p:txBody>
      </p:sp>
      <p:sp>
        <p:nvSpPr>
          <p:cNvPr id="3" name="Shape 1"/>
          <p:cNvSpPr/>
          <p:nvPr/>
        </p:nvSpPr>
        <p:spPr>
          <a:xfrm>
            <a:off x="496119" y="980480"/>
            <a:ext cx="8151763" cy="3175620"/>
          </a:xfrm>
          <a:prstGeom prst="roundRect">
            <a:avLst>
              <a:gd name="adj" fmla="val 1395"/>
            </a:avLst>
          </a:prstGeom>
          <a:solidFill>
            <a:srgbClr val="F2F2F2"/>
          </a:solidFill>
          <a:ln/>
        </p:spPr>
      </p:sp>
      <p:sp>
        <p:nvSpPr>
          <p:cNvPr id="4" name="Shape 2"/>
          <p:cNvSpPr/>
          <p:nvPr/>
        </p:nvSpPr>
        <p:spPr>
          <a:xfrm>
            <a:off x="490910" y="980480"/>
            <a:ext cx="8162181" cy="3175620"/>
          </a:xfrm>
          <a:prstGeom prst="roundRect">
            <a:avLst>
              <a:gd name="adj" fmla="val 498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622697" y="1085850"/>
            <a:ext cx="7898606" cy="29648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00" dirty="0">
                <a:solidFill>
                  <a:srgbClr val="22863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languages = ["Python", "Java", "C++", "Java", "PHP"]</a:t>
            </a:r>
            <a:endParaRPr lang="en-US" sz="800" dirty="0"/>
          </a:p>
          <a:p>
            <a:pPr algn="l" indent="0" marL="0">
              <a:lnSpc>
                <a:spcPct val="123000"/>
              </a:lnSpc>
              <a:buNone/>
            </a:pPr>
            <a:endParaRPr lang="en-US" sz="800" dirty="0"/>
          </a:p>
          <a:p>
            <a:pPr algn="l" indent="0" marL="0">
              <a:lnSpc>
                <a:spcPct val="123000"/>
              </a:lnSpc>
              <a:buNone/>
            </a:pPr>
            <a:r>
              <a:rPr lang="en-US" sz="800" dirty="0">
                <a:solidFill>
                  <a:srgbClr val="22863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1. remove() - Chỉ xóa "Java" đầu tiên nhìn thấy</a:t>
            </a:r>
            <a:endParaRPr lang="en-US" sz="800" dirty="0"/>
          </a:p>
          <a:p>
            <a:pPr algn="l" indent="0" marL="0">
              <a:lnSpc>
                <a:spcPct val="123000"/>
              </a:lnSpc>
              <a:buNone/>
            </a:pPr>
            <a:r>
              <a:rPr lang="en-US" sz="800" dirty="0">
                <a:solidFill>
                  <a:srgbClr val="22863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 "Java" in languages:          # Mẹo: Kiểm tra trước khi xóa!</a:t>
            </a:r>
            <a:endParaRPr lang="en-US" sz="800" dirty="0"/>
          </a:p>
          <a:p>
            <a:pPr algn="l" indent="0" marL="0">
              <a:lnSpc>
                <a:spcPct val="123000"/>
              </a:lnSpc>
              <a:buNone/>
            </a:pPr>
            <a:r>
              <a:rPr lang="en-US" sz="800" dirty="0">
                <a:solidFill>
                  <a:srgbClr val="22863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languages.remove("Java")</a:t>
            </a:r>
            <a:endParaRPr lang="en-US" sz="800" dirty="0"/>
          </a:p>
          <a:p>
            <a:pPr algn="l" indent="0" marL="0">
              <a:lnSpc>
                <a:spcPct val="123000"/>
              </a:lnSpc>
              <a:buNone/>
            </a:pPr>
            <a:r>
              <a:rPr lang="en-US" sz="800" dirty="0">
                <a:solidFill>
                  <a:srgbClr val="22863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print(languages)  # ["Python", "C++", "Java", "PHP"]</a:t>
            </a:r>
            <a:endParaRPr lang="en-US" sz="800" dirty="0"/>
          </a:p>
          <a:p>
            <a:pPr algn="l" indent="0" marL="0">
              <a:lnSpc>
                <a:spcPct val="123000"/>
              </a:lnSpc>
              <a:buNone/>
            </a:pPr>
            <a:endParaRPr lang="en-US" sz="800" dirty="0"/>
          </a:p>
          <a:p>
            <a:pPr algn="l" indent="0" marL="0">
              <a:lnSpc>
                <a:spcPct val="123000"/>
              </a:lnSpc>
              <a:buNone/>
            </a:pPr>
            <a:r>
              <a:rPr lang="en-US" sz="800" dirty="0">
                <a:solidFill>
                  <a:srgbClr val="22863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2. pop() - Xóa "C++" ở index 1 và gán vào biến</a:t>
            </a:r>
            <a:endParaRPr lang="en-US" sz="800" dirty="0"/>
          </a:p>
          <a:p>
            <a:pPr algn="l" indent="0" marL="0">
              <a:lnSpc>
                <a:spcPct val="123000"/>
              </a:lnSpc>
              <a:buNone/>
            </a:pPr>
            <a:r>
              <a:rPr lang="en-US" sz="800" dirty="0">
                <a:solidFill>
                  <a:srgbClr val="22863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opened_lang = languages.pop(1)</a:t>
            </a:r>
            <a:endParaRPr lang="en-US" sz="800" dirty="0"/>
          </a:p>
          <a:p>
            <a:pPr algn="l" indent="0" marL="0">
              <a:lnSpc>
                <a:spcPct val="123000"/>
              </a:lnSpc>
              <a:buNone/>
            </a:pPr>
            <a:r>
              <a:rPr lang="en-US" sz="800" dirty="0">
                <a:solidFill>
                  <a:srgbClr val="22863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print(opened_lang)  # "C++"</a:t>
            </a:r>
            <a:endParaRPr lang="en-US" sz="800" dirty="0"/>
          </a:p>
          <a:p>
            <a:pPr algn="l" indent="0" marL="0">
              <a:lnSpc>
                <a:spcPct val="123000"/>
              </a:lnSpc>
              <a:buNone/>
            </a:pPr>
            <a:r>
              <a:rPr lang="en-US" sz="800" dirty="0">
                <a:solidFill>
                  <a:srgbClr val="22863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print(languages)    # ["Python", "Java", "PHP"]</a:t>
            </a:r>
            <a:endParaRPr lang="en-US" sz="800" dirty="0"/>
          </a:p>
          <a:p>
            <a:pPr algn="l" indent="0" marL="0">
              <a:lnSpc>
                <a:spcPct val="123000"/>
              </a:lnSpc>
              <a:buNone/>
            </a:pPr>
            <a:endParaRPr lang="en-US" sz="800" dirty="0"/>
          </a:p>
          <a:p>
            <a:pPr algn="l" indent="0" marL="0">
              <a:lnSpc>
                <a:spcPct val="123000"/>
              </a:lnSpc>
              <a:buNone/>
            </a:pPr>
            <a:r>
              <a:rPr lang="en-US" sz="800" dirty="0">
                <a:solidFill>
                  <a:srgbClr val="22863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3. del - Xóa thẳng, không trả về gì</a:t>
            </a:r>
            <a:endParaRPr lang="en-US" sz="800" dirty="0"/>
          </a:p>
          <a:p>
            <a:pPr algn="l" indent="0" marL="0">
              <a:lnSpc>
                <a:spcPct val="123000"/>
              </a:lnSpc>
              <a:buNone/>
            </a:pPr>
            <a:r>
              <a:rPr lang="en-US" sz="800" dirty="0">
                <a:solidFill>
                  <a:srgbClr val="22863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del languages[0]</a:t>
            </a:r>
            <a:endParaRPr lang="en-US" sz="800" dirty="0"/>
          </a:p>
          <a:p>
            <a:pPr algn="l" indent="0" marL="0">
              <a:lnSpc>
                <a:spcPct val="123000"/>
              </a:lnSpc>
              <a:buNone/>
            </a:pPr>
            <a:r>
              <a:rPr lang="en-US" sz="800" dirty="0">
                <a:solidFill>
                  <a:srgbClr val="22863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print(languages)    # ["Java", "PHP"]</a:t>
            </a:r>
            <a:endParaRPr lang="en-US" sz="800" dirty="0"/>
          </a:p>
          <a:p>
            <a:pPr algn="l" indent="0" marL="0">
              <a:lnSpc>
                <a:spcPct val="123000"/>
              </a:lnSpc>
              <a:buNone/>
            </a:pPr>
            <a:endParaRPr lang="en-US" sz="800" dirty="0"/>
          </a:p>
          <a:p>
            <a:pPr algn="l" indent="0" marL="0">
              <a:lnSpc>
                <a:spcPct val="123000"/>
              </a:lnSpc>
              <a:buNone/>
            </a:pPr>
            <a:r>
              <a:rPr lang="en-US" sz="800" dirty="0">
                <a:solidFill>
                  <a:srgbClr val="22863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4. clear() - Dọn sạch tất cả</a:t>
            </a:r>
            <a:endParaRPr lang="en-US" sz="800" dirty="0"/>
          </a:p>
          <a:p>
            <a:pPr algn="l" indent="0" marL="0">
              <a:lnSpc>
                <a:spcPct val="123000"/>
              </a:lnSpc>
              <a:buNone/>
            </a:pPr>
            <a:r>
              <a:rPr lang="en-US" sz="800" dirty="0">
                <a:solidFill>
                  <a:srgbClr val="22863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languages.clear()</a:t>
            </a:r>
            <a:endParaRPr lang="en-US" sz="800" dirty="0"/>
          </a:p>
          <a:p>
            <a:pPr algn="l" indent="0" marL="0">
              <a:lnSpc>
                <a:spcPct val="123000"/>
              </a:lnSpc>
              <a:buNone/>
            </a:pPr>
            <a:r>
              <a:rPr lang="en-US" sz="800" dirty="0">
                <a:solidFill>
                  <a:srgbClr val="22863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print(languages)    # []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96119" y="4256856"/>
            <a:ext cx="8151763" cy="414784"/>
          </a:xfrm>
          <a:prstGeom prst="roundRect">
            <a:avLst>
              <a:gd name="adj" fmla="val 10677"/>
            </a:avLst>
          </a:prstGeom>
          <a:solidFill>
            <a:srgbClr val="FCF2B5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1489" y="4405908"/>
            <a:ext cx="131787" cy="10537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38646" y="4372794"/>
            <a:ext cx="8161065" cy="165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💡</a:t>
            </a:r>
            <a:pPr algn="l" indent="0" marL="0">
              <a:lnSpc>
                <a:spcPct val="123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pPr algn="l" indent="0" marL="0">
              <a:lnSpc>
                <a:spcPct val="123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Mẹo của thầy:</a:t>
            </a:r>
            <a:pPr algn="l" indent="0" marL="0">
              <a:lnSpc>
                <a:spcPct val="123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Với </a:t>
            </a:r>
            <a:pPr algn="l" indent="0" marL="0">
              <a:lnSpc>
                <a:spcPct val="123000"/>
              </a:lnSpc>
              <a:buNone/>
            </a:pPr>
            <a:r>
              <a:rPr lang="en-US" sz="8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remove()</a:t>
            </a:r>
            <a:pPr algn="l" indent="0" marL="0">
              <a:lnSpc>
                <a:spcPct val="123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luôn dùng từ khóa </a:t>
            </a:r>
            <a:pPr algn="l" indent="0" marL="0">
              <a:lnSpc>
                <a:spcPct val="123000"/>
              </a:lnSpc>
              <a:buNone/>
            </a:pPr>
            <a:r>
              <a:rPr lang="en-US" sz="8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algn="l" indent="0" marL="0">
              <a:lnSpc>
                <a:spcPct val="123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để kiểm tra sự tồn tại trước khi xóa. Tránh lỗi </a:t>
            </a:r>
            <a:pPr algn="l" indent="0" marL="0">
              <a:lnSpc>
                <a:spcPct val="123000"/>
              </a:lnSpc>
              <a:buNone/>
            </a:pPr>
            <a:r>
              <a:rPr lang="en-US" sz="8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ValueError</a:t>
            </a:r>
            <a:pPr algn="l" indent="0" marL="0">
              <a:lnSpc>
                <a:spcPct val="123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gây crash chương trình.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653355"/>
            <a:ext cx="4940871" cy="397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BE272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Duyệt List Với Vòng Lặp </a:t>
            </a:r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925119" y="1236464"/>
            <a:ext cx="4722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Mục tiêu: Giúp máy tính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tự động hóa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việc xử lý hàng triệu phần tử bằng đoạn code ngắn gọn — tuân thủ nguyên tắc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DRY (Don't Repeat Yourself)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9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3384" y="1772915"/>
            <a:ext cx="3666232" cy="217594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005143" y="3268575"/>
            <a:ext cx="911351" cy="5266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Bước 3: Lặp tới cuối rồi dừng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5856593" y="3180795"/>
            <a:ext cx="911350" cy="7022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Bước 2: Thực hiện rồi tăng index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4689314" y="3356355"/>
            <a:ext cx="911351" cy="35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Bước 1: Chỉ vào index 0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3925119" y="4088383"/>
            <a:ext cx="4722763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Vòng lặp 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an toàn hơn 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vì nó tự biết khi nào dừng — không lo bị vòng lặp vô hạn.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15255"/>
            <a:ext cx="5400601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BE272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Hai Cách Duyệt List Kinh Điển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06822" y="1188839"/>
            <a:ext cx="4103191" cy="3339405"/>
          </a:xfrm>
          <a:prstGeom prst="roundRect">
            <a:avLst>
              <a:gd name="adj" fmla="val 2675"/>
            </a:avLst>
          </a:prstGeom>
          <a:solidFill>
            <a:srgbClr val="5B81B2"/>
          </a:solidFill>
          <a:ln/>
        </p:spPr>
      </p:sp>
      <p:sp>
        <p:nvSpPr>
          <p:cNvPr id="4" name="Text 2"/>
          <p:cNvSpPr/>
          <p:nvPr/>
        </p:nvSpPr>
        <p:spPr>
          <a:xfrm>
            <a:off x="530796" y="1312813"/>
            <a:ext cx="268061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Cách 1: Duyệt theo phần tử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0796" y="1630635"/>
            <a:ext cx="3855244" cy="513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Cú pháp: </a:t>
            </a:r>
            <a:pPr algn="l" indent="0" marL="0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950" dirty="0">
                <a:solidFill>
                  <a:srgbClr val="000000"/>
                </a:solidFill>
                <a:highlight>
                  <a:srgbClr val="688EB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 item in list: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Dùng khi chỉ cần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đọc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hoặc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tính toán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mà không cần biết vị trí.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30796" y="2283470"/>
            <a:ext cx="3855244" cy="843335"/>
          </a:xfrm>
          <a:prstGeom prst="roundRect">
            <a:avLst>
              <a:gd name="adj" fmla="val 6178"/>
            </a:avLst>
          </a:prstGeom>
          <a:solidFill>
            <a:srgbClr val="688EBF"/>
          </a:solidFill>
          <a:ln/>
        </p:spPr>
      </p:sp>
      <p:sp>
        <p:nvSpPr>
          <p:cNvPr id="7" name="Shape 5"/>
          <p:cNvSpPr/>
          <p:nvPr/>
        </p:nvSpPr>
        <p:spPr>
          <a:xfrm>
            <a:off x="524619" y="2283470"/>
            <a:ext cx="3867596" cy="843335"/>
          </a:xfrm>
          <a:prstGeom prst="roundRect">
            <a:avLst>
              <a:gd name="adj" fmla="val 2206"/>
            </a:avLst>
          </a:prstGeom>
          <a:solidFill>
            <a:srgbClr val="688EBF"/>
          </a:solidFill>
          <a:ln/>
        </p:spPr>
      </p:sp>
      <p:sp>
        <p:nvSpPr>
          <p:cNvPr id="8" name="Text 6"/>
          <p:cNvSpPr/>
          <p:nvPr/>
        </p:nvSpPr>
        <p:spPr>
          <a:xfrm>
            <a:off x="679624" y="2407444"/>
            <a:ext cx="3557588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cars = ["Toyota","Honda","VinFast"]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car in cars: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print(f"Hãng xe: {car}")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30796" y="3266331"/>
            <a:ext cx="4312444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✅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Code ngắn gọn, dễ đọc, pythonic.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728046" y="1312813"/>
            <a:ext cx="317056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BE272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Cách 2: Duyệt theo chỉ số (Index)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28046" y="1630635"/>
            <a:ext cx="3924598" cy="711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Cú pháp: </a:t>
            </a:r>
            <a:pPr algn="l" indent="0" marL="0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9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range(len(list)):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Dùng khi cần biết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vị trí chính xác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hoặc muốn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sửa đổi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phần tử trong khi lặp.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28046" y="2481932"/>
            <a:ext cx="3924598" cy="1240259"/>
          </a:xfrm>
          <a:prstGeom prst="roundRect">
            <a:avLst>
              <a:gd name="adj" fmla="val 4201"/>
            </a:avLst>
          </a:prstGeom>
          <a:solidFill>
            <a:srgbClr val="F2F2F2"/>
          </a:solidFill>
          <a:ln/>
        </p:spPr>
      </p:sp>
      <p:sp>
        <p:nvSpPr>
          <p:cNvPr id="13" name="Shape 11"/>
          <p:cNvSpPr/>
          <p:nvPr/>
        </p:nvSpPr>
        <p:spPr>
          <a:xfrm>
            <a:off x="4721870" y="2481932"/>
            <a:ext cx="3936950" cy="1240259"/>
          </a:xfrm>
          <a:prstGeom prst="roundRect">
            <a:avLst>
              <a:gd name="adj" fmla="val 1500"/>
            </a:avLst>
          </a:prstGeom>
          <a:solidFill>
            <a:srgbClr val="F2F2F2"/>
          </a:solidFill>
          <a:ln/>
        </p:spPr>
      </p:sp>
      <p:sp>
        <p:nvSpPr>
          <p:cNvPr id="14" name="Text 12"/>
          <p:cNvSpPr/>
          <p:nvPr/>
        </p:nvSpPr>
        <p:spPr>
          <a:xfrm>
            <a:off x="4876874" y="2605906"/>
            <a:ext cx="3626941" cy="992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2863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prices = [100, 200, 300]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2863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Tăng tất cả giá lên 10%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2863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range(len(prices)):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2863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prices[i] = prices[i] * 1.1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2863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print(prices) # [110.0, 220.0, 330.0]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28046" y="3861718"/>
            <a:ext cx="3924598" cy="527000"/>
          </a:xfrm>
          <a:prstGeom prst="roundRect">
            <a:avLst>
              <a:gd name="adj" fmla="val 9886"/>
            </a:avLst>
          </a:prstGeom>
          <a:solidFill>
            <a:srgbClr val="F2C0C0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52020" y="4046265"/>
            <a:ext cx="155004" cy="123974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5130998" y="4016648"/>
            <a:ext cx="385487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Dùng khi cần sửa trực tiếp giá trị trong List.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51408"/>
            <a:ext cx="6123012" cy="397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BE272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Giải Pháp Tối Ưu: Hàm </a:t>
            </a:r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enumerate()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196504"/>
            <a:ext cx="8151763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Vấn đề với Cách 2: Phải viết 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range(len(list))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rồi lại gọi 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list[i]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cồng kềnh và mang nặng tư duy ngôn ngữ cũ. Python có cách thanh lịch hơn!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82154" y="1877244"/>
            <a:ext cx="7965728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Hãy tưởng tượng 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enumerate()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như một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máy đóng gói tự động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: nhận vào danh sách sản phẩm, dán nhãn số thứ tự lên mỗi sản phẩm, rồi thảy ra cho bạn một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bộ đôi hoàn hảo: (chỉ số, giá trị)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cùng lúc, không cần tra cứu thêm.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96119" y="1737717"/>
            <a:ext cx="14288" cy="680740"/>
          </a:xfrm>
          <a:prstGeom prst="rect">
            <a:avLst/>
          </a:prstGeom>
          <a:solidFill>
            <a:srgbClr val="BE2727"/>
          </a:solidFill>
          <a:ln/>
        </p:spPr>
      </p:sp>
      <p:sp>
        <p:nvSpPr>
          <p:cNvPr id="6" name="Shape 4"/>
          <p:cNvSpPr/>
          <p:nvPr/>
        </p:nvSpPr>
        <p:spPr>
          <a:xfrm>
            <a:off x="496119" y="2557983"/>
            <a:ext cx="8151763" cy="2034108"/>
          </a:xfrm>
          <a:prstGeom prst="roundRect">
            <a:avLst>
              <a:gd name="adj" fmla="val 2561"/>
            </a:avLst>
          </a:prstGeom>
          <a:solidFill>
            <a:srgbClr val="F2F2F2"/>
          </a:solidFill>
          <a:ln/>
        </p:spPr>
      </p:sp>
      <p:sp>
        <p:nvSpPr>
          <p:cNvPr id="7" name="Shape 5"/>
          <p:cNvSpPr/>
          <p:nvPr/>
        </p:nvSpPr>
        <p:spPr>
          <a:xfrm>
            <a:off x="489942" y="2557983"/>
            <a:ext cx="8164116" cy="2034108"/>
          </a:xfrm>
          <a:prstGeom prst="roundRect">
            <a:avLst>
              <a:gd name="adj" fmla="val 915"/>
            </a:avLst>
          </a:prstGeom>
          <a:solidFill>
            <a:srgbClr val="F2F2F2"/>
          </a:solidFill>
          <a:ln/>
        </p:spPr>
      </p:sp>
      <p:sp>
        <p:nvSpPr>
          <p:cNvPr id="8" name="Text 6"/>
          <p:cNvSpPr/>
          <p:nvPr/>
        </p:nvSpPr>
        <p:spPr>
          <a:xfrm>
            <a:off x="644947" y="2681957"/>
            <a:ext cx="7854107" cy="1786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tech_companies = ["Google", "Apple", "Microsoft"]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Không dùng enumerate (cồng kềnh):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range(len(tech_companies)):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print(f"Vị trí {i}: {tech_companies[i]}")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Dùng enumerate (pythonic, thanh lịch):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index, company in enumerate(tech_companies):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print(f"Vị trí {index} thuộc về tập đoàn {company}")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69032"/>
            <a:ext cx="6888659" cy="3777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dirty="0">
                <a:solidFill>
                  <a:srgbClr val="BE272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Tối Ưu Hóa </a:t>
            </a:r>
            <a:pPr algn="l" indent="0" marL="0">
              <a:lnSpc>
                <a:spcPct val="104000"/>
              </a:lnSpc>
              <a:buNone/>
            </a:pPr>
            <a:r>
              <a:rPr lang="en-US" sz="2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enumerate()</a:t>
            </a:r>
            <a:pPr algn="l" indent="0" marL="0">
              <a:lnSpc>
                <a:spcPct val="104000"/>
              </a:lnSpc>
              <a:buNone/>
            </a:pPr>
            <a:r>
              <a:rPr lang="en-US" sz="2300" dirty="0">
                <a:solidFill>
                  <a:srgbClr val="BE272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 Với Tham Số </a:t>
            </a:r>
            <a:pPr algn="l" indent="0" marL="0">
              <a:lnSpc>
                <a:spcPct val="104000"/>
              </a:lnSpc>
              <a:buNone/>
            </a:pPr>
            <a:r>
              <a:rPr lang="en-US" sz="2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start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96119" y="1126554"/>
            <a:ext cx="3337173" cy="184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BE272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Vấn đề: Đánh số từ 0 không tự nhiên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96119" y="1422648"/>
            <a:ext cx="3932113" cy="5516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Mặc định </a:t>
            </a:r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enumerate()</a:t>
            </a:r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bắt đầu từ </a:t>
            </a:r>
            <a:pPr algn="l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</a:t>
            </a:r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Nhưng trong thực tế — hóa đơn, danh sách trúng tuyển, bảng xếp hạng — chúng ta cần bắt đầu từ </a:t>
            </a:r>
            <a:pPr algn="l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96119" y="2100188"/>
            <a:ext cx="3932113" cy="668685"/>
          </a:xfrm>
          <a:prstGeom prst="roundRect">
            <a:avLst>
              <a:gd name="adj" fmla="val 7402"/>
            </a:avLst>
          </a:prstGeom>
          <a:solidFill>
            <a:srgbClr val="FCF2B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3916" y="2277591"/>
            <a:ext cx="147265" cy="11779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78979" y="2241500"/>
            <a:ext cx="3431456" cy="3677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Cách thủ công: viết </a:t>
            </a:r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index + 1</a:t>
            </a:r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dễ quên, dễ sai, không pythonic.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96119" y="2894781"/>
            <a:ext cx="2395686" cy="188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BE272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Giải pháp: Truyền </a:t>
            </a:r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start=1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96119" y="3209627"/>
            <a:ext cx="3932113" cy="1338858"/>
          </a:xfrm>
          <a:prstGeom prst="roundRect">
            <a:avLst>
              <a:gd name="adj" fmla="val 3697"/>
            </a:avLst>
          </a:prstGeom>
          <a:solidFill>
            <a:srgbClr val="F2F2F2"/>
          </a:solidFill>
          <a:ln/>
        </p:spPr>
      </p:sp>
      <p:sp>
        <p:nvSpPr>
          <p:cNvPr id="10" name="Shape 7"/>
          <p:cNvSpPr/>
          <p:nvPr/>
        </p:nvSpPr>
        <p:spPr>
          <a:xfrm>
            <a:off x="490240" y="3209627"/>
            <a:ext cx="3943871" cy="1338858"/>
          </a:xfrm>
          <a:prstGeom prst="roundRect">
            <a:avLst>
              <a:gd name="adj" fmla="val 1320"/>
            </a:avLst>
          </a:prstGeom>
          <a:solidFill>
            <a:srgbClr val="F2F2F2"/>
          </a:solidFill>
          <a:ln/>
        </p:spPr>
      </p:sp>
      <p:sp>
        <p:nvSpPr>
          <p:cNvPr id="11" name="Text 8"/>
          <p:cNvSpPr/>
          <p:nvPr/>
        </p:nvSpPr>
        <p:spPr>
          <a:xfrm>
            <a:off x="637505" y="3327425"/>
            <a:ext cx="3649340" cy="11032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top_students = ["Nam", "Lan", "Hương"]</a:t>
            </a:r>
            <a:endParaRPr lang="en-US" sz="900" dirty="0"/>
          </a:p>
          <a:p>
            <a:pPr algn="l" indent="0" marL="0">
              <a:lnSpc>
                <a:spcPct val="130000"/>
              </a:lnSpc>
              <a:buNone/>
            </a:pPr>
            <a:endParaRPr lang="en-US" sz="9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print("--- BẢNG VÀNG THỦ KHOA ---")</a:t>
            </a:r>
            <a:endParaRPr lang="en-US" sz="9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thứ_tự, tên in enumerate(</a:t>
            </a:r>
            <a:endParaRPr lang="en-US" sz="9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top_students, start=1):</a:t>
            </a:r>
            <a:endParaRPr lang="en-US" sz="9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print(f"Hạng {thứ_tự}: SV {tên}")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720530" y="1126554"/>
            <a:ext cx="2859584" cy="184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BE272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Kết quả đầu ra chuyên nghiệp: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720530" y="1436638"/>
            <a:ext cx="3932113" cy="971104"/>
          </a:xfrm>
          <a:prstGeom prst="roundRect">
            <a:avLst>
              <a:gd name="adj" fmla="val 5097"/>
            </a:avLst>
          </a:prstGeom>
          <a:solidFill>
            <a:srgbClr val="F2F2F2"/>
          </a:solidFill>
          <a:ln/>
        </p:spPr>
      </p:sp>
      <p:sp>
        <p:nvSpPr>
          <p:cNvPr id="14" name="Shape 11"/>
          <p:cNvSpPr/>
          <p:nvPr/>
        </p:nvSpPr>
        <p:spPr>
          <a:xfrm>
            <a:off x="4714652" y="1436638"/>
            <a:ext cx="3943871" cy="971104"/>
          </a:xfrm>
          <a:prstGeom prst="roundRect">
            <a:avLst>
              <a:gd name="adj" fmla="val 1820"/>
            </a:avLst>
          </a:prstGeom>
          <a:solidFill>
            <a:srgbClr val="F2F2F2"/>
          </a:solidFill>
          <a:ln/>
        </p:spPr>
      </p:sp>
      <p:sp>
        <p:nvSpPr>
          <p:cNvPr id="15" name="Text 12"/>
          <p:cNvSpPr/>
          <p:nvPr/>
        </p:nvSpPr>
        <p:spPr>
          <a:xfrm>
            <a:off x="4861917" y="1554435"/>
            <a:ext cx="3649340" cy="735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32F62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--- BẢNG VÀNG THỦ KHOA ---</a:t>
            </a:r>
            <a:endParaRPr lang="en-US" sz="9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32F62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Hạng 1: Sinh viên Nam</a:t>
            </a:r>
            <a:endParaRPr lang="en-US" sz="9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32F62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Hạng 2: Sinh viên Lan</a:t>
            </a:r>
            <a:endParaRPr lang="en-US" sz="9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32F62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Hạng 3: Sinh viên Hương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720530" y="2533650"/>
            <a:ext cx="1910060" cy="1092845"/>
          </a:xfrm>
          <a:prstGeom prst="roundRect">
            <a:avLst>
              <a:gd name="adj" fmla="val 4529"/>
            </a:avLst>
          </a:prstGeom>
          <a:solidFill>
            <a:srgbClr val="F6D5D5"/>
          </a:solidFill>
          <a:ln w="4763">
            <a:solidFill>
              <a:srgbClr val="DCBBB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43090" y="2656210"/>
            <a:ext cx="1473026" cy="184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start=0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4843090" y="2952304"/>
            <a:ext cx="1664940" cy="5516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Mặc định. Dùng cho lập trình nội bộ, khi làm việc với index.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742509" y="2533650"/>
            <a:ext cx="1910135" cy="1092845"/>
          </a:xfrm>
          <a:prstGeom prst="roundRect">
            <a:avLst>
              <a:gd name="adj" fmla="val 4529"/>
            </a:avLst>
          </a:prstGeom>
          <a:solidFill>
            <a:srgbClr val="F6D5D5"/>
          </a:solidFill>
          <a:ln w="4763">
            <a:solidFill>
              <a:srgbClr val="DCBBB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865069" y="2656210"/>
            <a:ext cx="1473026" cy="184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start=1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6865069" y="2952304"/>
            <a:ext cx="1665015" cy="5516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Dùng khi hiển thị cho người dùng: danh sách, bảng xếp hạng, hóa đơn.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22945"/>
            <a:ext cx="5924624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BE272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So Sánh 3 Phong Cách Duyệt List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458516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Tùy tình huống, hãy chọn phong cách phù hợp nhất để code vừa đúng vừa đẹp.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96119" y="1796504"/>
            <a:ext cx="8151763" cy="1852761"/>
          </a:xfrm>
          <a:prstGeom prst="roundRect">
            <a:avLst>
              <a:gd name="adj" fmla="val 2812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5004" y="1880443"/>
            <a:ext cx="224239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Phong cách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2662907" y="1880443"/>
            <a:ext cx="224001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Cú pháp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698429" y="1880443"/>
            <a:ext cx="224001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Khi nào dùng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733952" y="1880443"/>
            <a:ext cx="224239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Pythonic?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25004" y="2242021"/>
            <a:ext cx="224239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Duyệt theo phần tử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662907" y="2242021"/>
            <a:ext cx="2240012" cy="203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 item in list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698429" y="2242021"/>
            <a:ext cx="224001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Chỉ đọc, tính toán, in dữ liệu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733952" y="2242021"/>
            <a:ext cx="224239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✅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Rất tốt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25004" y="2608362"/>
            <a:ext cx="224239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Duyệt theo index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662907" y="2608362"/>
            <a:ext cx="2240012" cy="203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range(len(list))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698429" y="2608362"/>
            <a:ext cx="178281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Cần sửa phần tử trực tiếp qua index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733952" y="2608362"/>
            <a:ext cx="224239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⚠️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Chấp nhận được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25004" y="3168402"/>
            <a:ext cx="224239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enumerate()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662907" y="3168402"/>
            <a:ext cx="2240012" cy="203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 i, v in enumerate(list)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698429" y="3168402"/>
            <a:ext cx="178281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Cần cả index lẫn giá trị cùng lúc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733952" y="3168402"/>
            <a:ext cx="224239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✅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Tốt nhất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96119" y="3788792"/>
            <a:ext cx="8151763" cy="531763"/>
          </a:xfrm>
          <a:prstGeom prst="roundRect">
            <a:avLst>
              <a:gd name="adj" fmla="val 9798"/>
            </a:avLst>
          </a:prstGeom>
          <a:solidFill>
            <a:srgbClr val="B6FCB8"/>
          </a:solidFill>
          <a:ln/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0092" y="3973339"/>
            <a:ext cx="155004" cy="123974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899071" y="3943722"/>
            <a:ext cx="8082037" cy="203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🏆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Quy tắc vàng: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Ưu tiên dùng 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enumerate()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khi cần index. Tránh viết 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range(len(list))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khi không thực sự cần sửa đổi phần tử.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2026-05-26T03:20:44Z</dcterms:created>
  <dcterms:modified xsi:type="dcterms:W3CDTF">2026-05-26T03:20:44Z</dcterms:modified>
</cp:coreProperties>
</file>