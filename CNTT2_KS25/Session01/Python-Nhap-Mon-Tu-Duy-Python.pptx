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9" r:id="rId4"/>
    <p:sldId id="260" r:id="rId5"/>
    <p:sldId id="258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embeddedFontLst>
    <p:embeddedFont>
      <p:font typeface="Consolas" panose="020B0609020204030204" pitchFamily="49" charset="0"/>
      <p:regular r:id="rId15"/>
      <p:bold r:id="rId16"/>
      <p:italic r:id="rId17"/>
      <p:boldItalic r:id="rId18"/>
    </p:embeddedFont>
    <p:embeddedFont>
      <p:font typeface="Montserrat" panose="00000500000000000000" pitchFamily="2" charset="0"/>
      <p:regular r:id="rId19"/>
      <p:bold r:id="rId20"/>
    </p:embeddedFont>
    <p:embeddedFont>
      <p:font typeface="Montserrat Extra Bold" panose="020B0604020202020204" charset="0"/>
      <p:regular r:id="rId21"/>
    </p:embeddedFont>
  </p:embeddedFontLst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91031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6E6E6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vi-V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994595"/>
            <a:ext cx="616245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BE2727"/>
                </a:solidFill>
                <a:latin typeface="Montserrat Extra Bold" pitchFamily="34" charset="0"/>
                <a:ea typeface="Montserrat Extra Bold" pitchFamily="34" charset="-122"/>
                <a:cs typeface="Montserrat Extra Bold" pitchFamily="34" charset="-120"/>
              </a:rPr>
              <a:t>Python : Nhập Môn Tư Duy Python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2568178"/>
            <a:ext cx="86089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96119" y="2910929"/>
            <a:ext cx="719510" cy="233214"/>
          </a:xfrm>
          <a:prstGeom prst="roundRect">
            <a:avLst>
              <a:gd name="adj" fmla="val 17872"/>
            </a:avLst>
          </a:prstGeom>
          <a:solidFill>
            <a:srgbClr val="F6D5D5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" name="Text 3"/>
          <p:cNvSpPr/>
          <p:nvPr/>
        </p:nvSpPr>
        <p:spPr>
          <a:xfrm>
            <a:off x="570533" y="2948136"/>
            <a:ext cx="1027881" cy="1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SESSION 01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1277615" y="2906167"/>
            <a:ext cx="1370558" cy="242739"/>
          </a:xfrm>
          <a:prstGeom prst="roundRect">
            <a:avLst>
              <a:gd name="adj" fmla="val 17171"/>
            </a:avLst>
          </a:prstGeom>
          <a:noFill/>
          <a:ln w="4763">
            <a:solidFill>
              <a:srgbClr val="BE272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7" name="Text 5"/>
          <p:cNvSpPr/>
          <p:nvPr/>
        </p:nvSpPr>
        <p:spPr>
          <a:xfrm>
            <a:off x="1356792" y="2948136"/>
            <a:ext cx="1669405" cy="1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750" dirty="0">
                <a:solidFill>
                  <a:srgbClr val="BE27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GIỚI THIỆU &amp; NỀN TẢNG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78706"/>
            <a:ext cx="355833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BE2727"/>
                </a:solidFill>
                <a:latin typeface="Montserrat Extra Bold" pitchFamily="34" charset="0"/>
                <a:ea typeface="Montserrat Extra Bold" pitchFamily="34" charset="-122"/>
                <a:cs typeface="Montserrat Extra Bold" pitchFamily="34" charset="-120"/>
              </a:rPr>
              <a:t>Python Là Gì? 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163910"/>
            <a:ext cx="4347270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Python là ngôn ngữ lập trình </a:t>
            </a:r>
            <a:r>
              <a:rPr lang="en-US" sz="9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Interpreted, High-level, General-purpose</a:t>
            </a: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được tạo ra bởi Guido van Rossum năm 1991. Phiên bản hiện tại khuyến nghị: </a:t>
            </a:r>
            <a:r>
              <a:rPr lang="en-US" sz="9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Python 3.12 / 3.13</a:t>
            </a: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96119" y="1898824"/>
            <a:ext cx="4347270" cy="792807"/>
          </a:xfrm>
          <a:prstGeom prst="roundRect">
            <a:avLst>
              <a:gd name="adj" fmla="val 8650"/>
            </a:avLst>
          </a:prstGeom>
          <a:solidFill>
            <a:srgbClr val="FFFFFF"/>
          </a:solidFill>
          <a:ln w="14288">
            <a:solidFill>
              <a:srgbClr val="DCBBBB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" name="Shape 3"/>
          <p:cNvSpPr/>
          <p:nvPr/>
        </p:nvSpPr>
        <p:spPr>
          <a:xfrm>
            <a:off x="481831" y="1898824"/>
            <a:ext cx="57150" cy="792807"/>
          </a:xfrm>
          <a:prstGeom prst="roundRect">
            <a:avLst>
              <a:gd name="adj" fmla="val 91163"/>
            </a:avLst>
          </a:prstGeom>
          <a:solidFill>
            <a:srgbClr val="BE272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" name="Text 4"/>
          <p:cNvSpPr/>
          <p:nvPr/>
        </p:nvSpPr>
        <p:spPr>
          <a:xfrm>
            <a:off x="677242" y="2037085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ontserrat Extra Bold" pitchFamily="34" charset="0"/>
                <a:ea typeface="Montserrat Extra Bold" pitchFamily="34" charset="-122"/>
                <a:cs typeface="Montserrat Extra Bold" pitchFamily="34" charset="-120"/>
              </a:rPr>
              <a:t>Interpreted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77242" y="2354907"/>
            <a:ext cx="4485084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Chạy từng dòng, không cần compile như C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96119" y="2815605"/>
            <a:ext cx="4347270" cy="792807"/>
          </a:xfrm>
          <a:prstGeom prst="roundRect">
            <a:avLst>
              <a:gd name="adj" fmla="val 8650"/>
            </a:avLst>
          </a:prstGeom>
          <a:solidFill>
            <a:srgbClr val="FFFFFF"/>
          </a:solidFill>
          <a:ln w="14288">
            <a:solidFill>
              <a:srgbClr val="DCBBBB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9" name="Shape 7"/>
          <p:cNvSpPr/>
          <p:nvPr/>
        </p:nvSpPr>
        <p:spPr>
          <a:xfrm>
            <a:off x="481831" y="2815605"/>
            <a:ext cx="57150" cy="792807"/>
          </a:xfrm>
          <a:prstGeom prst="roundRect">
            <a:avLst>
              <a:gd name="adj" fmla="val 91163"/>
            </a:avLst>
          </a:prstGeom>
          <a:solidFill>
            <a:srgbClr val="BE272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0" name="Text 8"/>
          <p:cNvSpPr/>
          <p:nvPr/>
        </p:nvSpPr>
        <p:spPr>
          <a:xfrm>
            <a:off x="677242" y="2953866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ontserrat Extra Bold" pitchFamily="34" charset="0"/>
                <a:ea typeface="Montserrat Extra Bold" pitchFamily="34" charset="-122"/>
                <a:cs typeface="Montserrat Extra Bold" pitchFamily="34" charset="-120"/>
              </a:rPr>
              <a:t>High-level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77242" y="3271689"/>
            <a:ext cx="4485084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Gần với ngôn ngữ tự nhiên, dễ đọc dễ hiểu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96119" y="3732386"/>
            <a:ext cx="4347270" cy="792807"/>
          </a:xfrm>
          <a:prstGeom prst="roundRect">
            <a:avLst>
              <a:gd name="adj" fmla="val 8650"/>
            </a:avLst>
          </a:prstGeom>
          <a:solidFill>
            <a:srgbClr val="FFFFFF"/>
          </a:solidFill>
          <a:ln w="14288">
            <a:solidFill>
              <a:srgbClr val="DCBBBB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3" name="Shape 11"/>
          <p:cNvSpPr/>
          <p:nvPr/>
        </p:nvSpPr>
        <p:spPr>
          <a:xfrm>
            <a:off x="481831" y="3732386"/>
            <a:ext cx="57150" cy="792807"/>
          </a:xfrm>
          <a:prstGeom prst="roundRect">
            <a:avLst>
              <a:gd name="adj" fmla="val 91163"/>
            </a:avLst>
          </a:prstGeom>
          <a:solidFill>
            <a:srgbClr val="BE272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4" name="Text 12"/>
          <p:cNvSpPr/>
          <p:nvPr/>
        </p:nvSpPr>
        <p:spPr>
          <a:xfrm>
            <a:off x="677242" y="3870647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ontserrat Extra Bold" pitchFamily="34" charset="0"/>
                <a:ea typeface="Montserrat Extra Bold" pitchFamily="34" charset="-122"/>
                <a:cs typeface="Montserrat Extra Bold" pitchFamily="34" charset="-120"/>
              </a:rPr>
              <a:t>General-purpose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77242" y="4188470"/>
            <a:ext cx="4485084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AI, Data, Web, Automation, Scripting… tất cả!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150718" y="1176263"/>
            <a:ext cx="226025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BE2727"/>
                </a:solidFill>
                <a:latin typeface="Montserrat Extra Bold" pitchFamily="34" charset="0"/>
                <a:ea typeface="Montserrat Extra Bold" pitchFamily="34" charset="-122"/>
                <a:cs typeface="Montserrat Extra Bold" pitchFamily="34" charset="-120"/>
              </a:rPr>
              <a:t>So sánh số dòng code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150718" y="1494086"/>
            <a:ext cx="3959051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Làm cùng một task: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922118" y="1894061"/>
            <a:ext cx="3730451" cy="409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200" b="1" dirty="0">
                <a:solidFill>
                  <a:srgbClr val="000000"/>
                </a:solidFill>
                <a:latin typeface="Montserrat Extra Bold" pitchFamily="34" charset="0"/>
                <a:ea typeface="Montserrat Extra Bold" pitchFamily="34" charset="-122"/>
                <a:cs typeface="Montserrat Extra Bold" pitchFamily="34" charset="-120"/>
              </a:rPr>
              <a:t>30-70%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5897761" y="2458417"/>
            <a:ext cx="17791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ontserrat Extra Bold" pitchFamily="34" charset="0"/>
                <a:ea typeface="Montserrat Extra Bold" pitchFamily="34" charset="-122"/>
                <a:cs typeface="Montserrat Extra Bold" pitchFamily="34" charset="-120"/>
              </a:rPr>
              <a:t>Code ít hơn C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150718" y="2791792"/>
            <a:ext cx="3501851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Không có dấu </a:t>
            </a:r>
            <a:r>
              <a:rPr lang="en-US" sz="9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không có </a:t>
            </a:r>
            <a:r>
              <a:rPr lang="en-US" sz="9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{}</a:t>
            </a: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không có </a:t>
            </a:r>
            <a:r>
              <a:rPr lang="en-US" sz="9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main()</a:t>
            </a: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 Syntax cực sạch, cực đẹp.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8379" y="345058"/>
            <a:ext cx="4045818" cy="3910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BE2727"/>
                </a:solidFill>
                <a:latin typeface="Montserrat Extra Bold" pitchFamily="34" charset="0"/>
                <a:ea typeface="Montserrat Extra Bold" pitchFamily="34" charset="-122"/>
                <a:cs typeface="Montserrat Extra Bold" pitchFamily="34" charset="-120"/>
              </a:rPr>
              <a:t>Cài Đặt Môi Trường </a:t>
            </a:r>
            <a:r>
              <a:rPr lang="en-US" sz="2400" b="1" dirty="0">
                <a:solidFill>
                  <a:srgbClr val="000000"/>
                </a:solidFill>
                <a:latin typeface="Montserrat Extra Bold" pitchFamily="34" charset="0"/>
                <a:ea typeface="Montserrat Extra Bold" pitchFamily="34" charset="-122"/>
                <a:cs typeface="Montserrat Extra Bold" pitchFamily="34" charset="-120"/>
              </a:rPr>
              <a:t>🛠️</a:t>
            </a:r>
            <a:endParaRPr lang="en-US" sz="2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015" y="976461"/>
            <a:ext cx="8099896" cy="34928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67068" y="3806934"/>
            <a:ext cx="2294786" cy="229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ontserrat Extra Bold" pitchFamily="34" charset="0"/>
                <a:ea typeface="Montserrat Extra Bold" pitchFamily="34" charset="-122"/>
                <a:cs typeface="Montserrat Extra Bold" pitchFamily="34" charset="-120"/>
              </a:rPr>
              <a:t>Tạo Project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067068" y="2998396"/>
            <a:ext cx="2294786" cy="229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ontserrat Extra Bold" pitchFamily="34" charset="0"/>
                <a:ea typeface="Montserrat Extra Bold" pitchFamily="34" charset="-122"/>
                <a:cs typeface="Montserrat Extra Bold" pitchFamily="34" charset="-120"/>
              </a:rPr>
              <a:t>Cài Extension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067068" y="2198026"/>
            <a:ext cx="2294786" cy="229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ontserrat Extra Bold" pitchFamily="34" charset="0"/>
                <a:ea typeface="Montserrat Extra Bold" pitchFamily="34" charset="-122"/>
                <a:cs typeface="Montserrat Extra Bold" pitchFamily="34" charset="-120"/>
              </a:rPr>
              <a:t>Cài VS Code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67068" y="1389488"/>
            <a:ext cx="2294786" cy="229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ontserrat Extra Bold" pitchFamily="34" charset="0"/>
                <a:ea typeface="Montserrat Extra Bold" pitchFamily="34" charset="-122"/>
                <a:cs typeface="Montserrat Extra Bold" pitchFamily="34" charset="-120"/>
              </a:rPr>
              <a:t>Cài Python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88379" y="4604519"/>
            <a:ext cx="8624441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Đây là nền tảng bắt buộc. Thiếu một bước thôi là sẽ gặp lỗi ngay buổi đầu — thầy đảm bảo điều đó!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563067"/>
            <a:ext cx="5770141" cy="3148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BE2727"/>
                </a:solidFill>
                <a:latin typeface="Montserrat Extra Bold" pitchFamily="34" charset="0"/>
                <a:ea typeface="Montserrat Extra Bold" pitchFamily="34" charset="-122"/>
                <a:cs typeface="Montserrat Extra Bold" pitchFamily="34" charset="-120"/>
              </a:rPr>
              <a:t>Extensions VS Code Không </a:t>
            </a:r>
            <a:r>
              <a:rPr lang="en-US" sz="1950" b="1" dirty="0" err="1">
                <a:solidFill>
                  <a:srgbClr val="BE2727"/>
                </a:solidFill>
                <a:latin typeface="Montserrat Extra Bold" pitchFamily="34" charset="0"/>
                <a:ea typeface="Montserrat Extra Bold" pitchFamily="34" charset="-122"/>
                <a:cs typeface="Montserrat Extra Bold" pitchFamily="34" charset="-120"/>
              </a:rPr>
              <a:t>Thể</a:t>
            </a:r>
            <a:r>
              <a:rPr lang="en-US" sz="1950" b="1" dirty="0">
                <a:solidFill>
                  <a:srgbClr val="BE2727"/>
                </a:solidFill>
                <a:latin typeface="Montserrat Extra Bold" pitchFamily="34" charset="0"/>
                <a:ea typeface="Montserrat Extra Bold" pitchFamily="34" charset="-122"/>
                <a:cs typeface="Montserrat Extra Bold" pitchFamily="34" charset="-120"/>
              </a:rPr>
              <a:t> </a:t>
            </a:r>
            <a:r>
              <a:rPr lang="en-US" sz="1950" b="1" dirty="0" err="1">
                <a:solidFill>
                  <a:srgbClr val="BE2727"/>
                </a:solidFill>
                <a:latin typeface="Montserrat Extra Bold" pitchFamily="34" charset="0"/>
                <a:ea typeface="Montserrat Extra Bold" pitchFamily="34" charset="-122"/>
                <a:cs typeface="Montserrat Extra Bold" pitchFamily="34" charset="-120"/>
              </a:rPr>
              <a:t>Thiếu</a:t>
            </a:r>
            <a:endParaRPr lang="en-US" sz="19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2125935"/>
            <a:ext cx="422746" cy="42274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73869" y="2125935"/>
            <a:ext cx="1343918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ontserrat Extra Bold" pitchFamily="34" charset="0"/>
                <a:ea typeface="Montserrat Extra Bold" pitchFamily="34" charset="-122"/>
                <a:cs typeface="Montserrat Extra Bold" pitchFamily="34" charset="-120"/>
              </a:rPr>
              <a:t>Python (Microsoft)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073869" y="2588047"/>
            <a:ext cx="1343918" cy="992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Extension chính thức. Cung cấp syntax highlighting, debugging, linting. </a:t>
            </a:r>
            <a:r>
              <a:rPr lang="en-US" sz="9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Bắt buộc cài.</a:t>
            </a:r>
            <a:endParaRPr lang="en-US" sz="9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2792" y="2125935"/>
            <a:ext cx="422746" cy="42274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150543" y="2125935"/>
            <a:ext cx="180111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ontserrat Extra Bold" pitchFamily="34" charset="0"/>
                <a:ea typeface="Montserrat Extra Bold" pitchFamily="34" charset="-122"/>
                <a:cs typeface="Montserrat Extra Bold" pitchFamily="34" charset="-120"/>
              </a:rPr>
              <a:t>Pylance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3150543" y="2394198"/>
            <a:ext cx="1343918" cy="992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Autocomplete thần tốc, type checking thông minh. Code nhanh hơn 2x, ít bug hơn 3x.</a:t>
            </a:r>
            <a:endParaRPr lang="en-US" sz="9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9465" y="2125935"/>
            <a:ext cx="422746" cy="42274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227216" y="2125935"/>
            <a:ext cx="180111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ontserrat Extra Bold" pitchFamily="34" charset="0"/>
                <a:ea typeface="Montserrat Extra Bold" pitchFamily="34" charset="-122"/>
                <a:cs typeface="Montserrat Extra Bold" pitchFamily="34" charset="-120"/>
              </a:rPr>
              <a:t>Jupyter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5227216" y="2394198"/>
            <a:ext cx="1343918" cy="992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Chạy code theo từng cell. Cực kỳ hữu ích khi học và thử nghiệm các đoạn code nhỏ.</a:t>
            </a:r>
            <a:endParaRPr lang="en-US" sz="9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6138" y="2125935"/>
            <a:ext cx="422746" cy="42274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303889" y="2125935"/>
            <a:ext cx="180119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ontserrat Extra Bold" pitchFamily="34" charset="0"/>
                <a:ea typeface="Montserrat Extra Bold" pitchFamily="34" charset="-122"/>
                <a:cs typeface="Montserrat Extra Bold" pitchFamily="34" charset="-120"/>
              </a:rPr>
              <a:t>Thunder Client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7303889" y="2394198"/>
            <a:ext cx="1343992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Thay thế Postman ngay trong VS Code. Sẽ cần khi học phần Web API sau này.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189583"/>
            <a:ext cx="5438998" cy="3148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BE2727"/>
                </a:solidFill>
                <a:latin typeface="Montserrat Extra Bold" pitchFamily="34" charset="0"/>
                <a:ea typeface="Montserrat Extra Bold" pitchFamily="34" charset="-122"/>
                <a:cs typeface="Montserrat Extra Bold" pitchFamily="34" charset="-120"/>
              </a:rPr>
              <a:t>Triết Lý Python: The Zen of Python </a:t>
            </a:r>
            <a:r>
              <a:rPr lang="en-US" sz="1950" b="1" dirty="0">
                <a:solidFill>
                  <a:srgbClr val="000000"/>
                </a:solidFill>
                <a:latin typeface="Montserrat Extra Bold" pitchFamily="34" charset="0"/>
                <a:ea typeface="Montserrat Extra Bold" pitchFamily="34" charset="-122"/>
                <a:cs typeface="Montserrat Extra Bold" pitchFamily="34" charset="-120"/>
              </a:rPr>
              <a:t>☯️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496119" y="1752451"/>
            <a:ext cx="8608963" cy="203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Gõ </a:t>
            </a:r>
            <a:r>
              <a:rPr lang="en-US" sz="9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this</a:t>
            </a: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trong Python shell — bạn sẽ thấy 19 nguyên tắc thiết kế của Python. Đây là những nguyên tắc quan trọng nhất: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96119" y="2095202"/>
            <a:ext cx="4013895" cy="867370"/>
          </a:xfrm>
          <a:prstGeom prst="roundRect">
            <a:avLst>
              <a:gd name="adj" fmla="val 6007"/>
            </a:avLst>
          </a:prstGeom>
          <a:solidFill>
            <a:srgbClr val="FFFFFF"/>
          </a:solidFill>
          <a:ln w="14288">
            <a:solidFill>
              <a:srgbClr val="DCBBBB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992" y="2035076"/>
            <a:ext cx="148828" cy="148828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1312" y="2873871"/>
            <a:ext cx="148828" cy="14882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96441" y="2295525"/>
            <a:ext cx="295557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ontserrat Extra Bold" pitchFamily="34" charset="0"/>
                <a:ea typeface="Montserrat Extra Bold" pitchFamily="34" charset="-122"/>
                <a:cs typeface="Montserrat Extra Bold" pitchFamily="34" charset="-120"/>
              </a:rPr>
              <a:t>"Beautiful is better than ugly."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696441" y="2563788"/>
            <a:ext cx="4070449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Code đẹp &gt; code chạy được nhưng xấu xí</a:t>
            </a:r>
            <a:endParaRPr lang="en-US" sz="950" dirty="0"/>
          </a:p>
        </p:txBody>
      </p:sp>
      <p:sp>
        <p:nvSpPr>
          <p:cNvPr id="9" name="Shape 5"/>
          <p:cNvSpPr/>
          <p:nvPr/>
        </p:nvSpPr>
        <p:spPr>
          <a:xfrm>
            <a:off x="4633987" y="2095202"/>
            <a:ext cx="4013895" cy="867370"/>
          </a:xfrm>
          <a:prstGeom prst="roundRect">
            <a:avLst>
              <a:gd name="adj" fmla="val 6007"/>
            </a:avLst>
          </a:prstGeom>
          <a:solidFill>
            <a:srgbClr val="FFFFFF"/>
          </a:solidFill>
          <a:ln w="14288">
            <a:solidFill>
              <a:srgbClr val="DCBBBB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3860" y="2035076"/>
            <a:ext cx="148828" cy="148828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9180" y="2873871"/>
            <a:ext cx="148828" cy="14882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834310" y="2295525"/>
            <a:ext cx="308483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ontserrat Extra Bold" pitchFamily="34" charset="0"/>
                <a:ea typeface="Montserrat Extra Bold" pitchFamily="34" charset="-122"/>
                <a:cs typeface="Montserrat Extra Bold" pitchFamily="34" charset="-120"/>
              </a:rPr>
              <a:t>"Explicit is better than implicit."</a:t>
            </a:r>
            <a:endParaRPr lang="en-US" sz="1200" dirty="0"/>
          </a:p>
        </p:txBody>
      </p:sp>
      <p:sp>
        <p:nvSpPr>
          <p:cNvPr id="13" name="Text 7"/>
          <p:cNvSpPr/>
          <p:nvPr/>
        </p:nvSpPr>
        <p:spPr>
          <a:xfrm>
            <a:off x="4834310" y="2563788"/>
            <a:ext cx="4070449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Rõ ràng &gt; ma thuật ẩn giấu bên trong</a:t>
            </a:r>
            <a:endParaRPr lang="en-US" sz="950" dirty="0"/>
          </a:p>
        </p:txBody>
      </p:sp>
      <p:sp>
        <p:nvSpPr>
          <p:cNvPr id="14" name="Shape 8"/>
          <p:cNvSpPr/>
          <p:nvPr/>
        </p:nvSpPr>
        <p:spPr>
          <a:xfrm>
            <a:off x="496119" y="3086546"/>
            <a:ext cx="4013895" cy="867370"/>
          </a:xfrm>
          <a:prstGeom prst="roundRect">
            <a:avLst>
              <a:gd name="adj" fmla="val 6007"/>
            </a:avLst>
          </a:prstGeom>
          <a:solidFill>
            <a:srgbClr val="FFFFFF"/>
          </a:solidFill>
          <a:ln w="14288">
            <a:solidFill>
              <a:srgbClr val="DCBBBB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992" y="3026420"/>
            <a:ext cx="148828" cy="148828"/>
          </a:xfrm>
          <a:prstGeom prst="rect">
            <a:avLst/>
          </a:prstGeom>
        </p:spPr>
      </p:pic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1312" y="3865215"/>
            <a:ext cx="148828" cy="148828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696441" y="3286869"/>
            <a:ext cx="3115419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ontserrat Extra Bold" pitchFamily="34" charset="0"/>
                <a:ea typeface="Montserrat Extra Bold" pitchFamily="34" charset="-122"/>
                <a:cs typeface="Montserrat Extra Bold" pitchFamily="34" charset="-120"/>
              </a:rPr>
              <a:t>"Simple is better than complex."</a:t>
            </a:r>
            <a:endParaRPr lang="en-US" sz="1200" dirty="0"/>
          </a:p>
        </p:txBody>
      </p:sp>
      <p:sp>
        <p:nvSpPr>
          <p:cNvPr id="18" name="Text 10"/>
          <p:cNvSpPr/>
          <p:nvPr/>
        </p:nvSpPr>
        <p:spPr>
          <a:xfrm>
            <a:off x="696441" y="3555132"/>
            <a:ext cx="4070449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Giải pháp đơn giản luôn được ưu tiên</a:t>
            </a:r>
            <a:endParaRPr lang="en-US" sz="950" dirty="0"/>
          </a:p>
        </p:txBody>
      </p:sp>
      <p:sp>
        <p:nvSpPr>
          <p:cNvPr id="19" name="Shape 11"/>
          <p:cNvSpPr/>
          <p:nvPr/>
        </p:nvSpPr>
        <p:spPr>
          <a:xfrm>
            <a:off x="4633987" y="3086546"/>
            <a:ext cx="4013895" cy="867370"/>
          </a:xfrm>
          <a:prstGeom prst="roundRect">
            <a:avLst>
              <a:gd name="adj" fmla="val 6007"/>
            </a:avLst>
          </a:prstGeom>
          <a:solidFill>
            <a:srgbClr val="FFFFFF"/>
          </a:solidFill>
          <a:ln w="14288">
            <a:solidFill>
              <a:srgbClr val="DCBBBB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3860" y="3026420"/>
            <a:ext cx="148828" cy="148828"/>
          </a:xfrm>
          <a:prstGeom prst="rect">
            <a:avLst/>
          </a:prstGeom>
        </p:spPr>
      </p:pic>
      <p:pic>
        <p:nvPicPr>
          <p:cNvPr id="21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9180" y="3865215"/>
            <a:ext cx="148828" cy="148828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4834310" y="3286869"/>
            <a:ext cx="217854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ontserrat Extra Bold" pitchFamily="34" charset="0"/>
                <a:ea typeface="Montserrat Extra Bold" pitchFamily="34" charset="-122"/>
                <a:cs typeface="Montserrat Extra Bold" pitchFamily="34" charset="-120"/>
              </a:rPr>
              <a:t>"Readability counts."</a:t>
            </a:r>
            <a:endParaRPr lang="en-US" sz="1200" dirty="0"/>
          </a:p>
        </p:txBody>
      </p:sp>
      <p:sp>
        <p:nvSpPr>
          <p:cNvPr id="23" name="Text 13"/>
          <p:cNvSpPr/>
          <p:nvPr/>
        </p:nvSpPr>
        <p:spPr>
          <a:xfrm>
            <a:off x="4834310" y="3555132"/>
            <a:ext cx="4070449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Code được đọc nhiều hơn được viết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74018"/>
            <a:ext cx="5602263" cy="3970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BE2727"/>
                </a:solidFill>
                <a:latin typeface="Montserrat Extra Bold" pitchFamily="34" charset="0"/>
                <a:ea typeface="Montserrat Extra Bold" pitchFamily="34" charset="-122"/>
                <a:cs typeface="Montserrat Extra Bold" pitchFamily="34" charset="-120"/>
              </a:rPr>
              <a:t>Khai Báo Biến Trong Python </a:t>
            </a:r>
            <a:r>
              <a:rPr lang="en-US" sz="2400" b="1" dirty="0">
                <a:solidFill>
                  <a:srgbClr val="000000"/>
                </a:solidFill>
                <a:latin typeface="Montserrat Extra Bold" pitchFamily="34" charset="0"/>
                <a:ea typeface="Montserrat Extra Bold" pitchFamily="34" charset="-122"/>
                <a:cs typeface="Montserrat Extra Bold" pitchFamily="34" charset="-120"/>
              </a:rPr>
              <a:t>📦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06822" y="1057126"/>
            <a:ext cx="4103191" cy="2742605"/>
          </a:xfrm>
          <a:prstGeom prst="roundRect">
            <a:avLst>
              <a:gd name="adj" fmla="val 3257"/>
            </a:avLst>
          </a:prstGeom>
          <a:solidFill>
            <a:srgbClr val="5B81B2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" name="Text 2"/>
          <p:cNvSpPr/>
          <p:nvPr/>
        </p:nvSpPr>
        <p:spPr>
          <a:xfrm>
            <a:off x="530796" y="1181100"/>
            <a:ext cx="2007766" cy="198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ontserrat Extra Bold" pitchFamily="34" charset="0"/>
                <a:ea typeface="Montserrat Extra Bold" pitchFamily="34" charset="-122"/>
                <a:cs typeface="Montserrat Extra Bold" pitchFamily="34" charset="-120"/>
              </a:rPr>
              <a:t>✅ Python 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30796" y="1519238"/>
            <a:ext cx="3855244" cy="1438721"/>
          </a:xfrm>
          <a:prstGeom prst="roundRect">
            <a:avLst>
              <a:gd name="adj" fmla="val 3621"/>
            </a:avLst>
          </a:prstGeom>
          <a:solidFill>
            <a:srgbClr val="688EB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" name="Shape 4"/>
          <p:cNvSpPr/>
          <p:nvPr/>
        </p:nvSpPr>
        <p:spPr>
          <a:xfrm>
            <a:off x="524619" y="1519238"/>
            <a:ext cx="3867596" cy="1438721"/>
          </a:xfrm>
          <a:prstGeom prst="roundRect">
            <a:avLst>
              <a:gd name="adj" fmla="val 1293"/>
            </a:avLst>
          </a:prstGeom>
          <a:solidFill>
            <a:srgbClr val="688EB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" name="Text 5"/>
          <p:cNvSpPr/>
          <p:nvPr/>
        </p:nvSpPr>
        <p:spPr>
          <a:xfrm>
            <a:off x="679624" y="1643211"/>
            <a:ext cx="3557588" cy="11907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 = 21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 = 3.14   # convention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ten = "Luong Quoc Tuan"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tuoi = 20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dang_hoc = True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diem_toan = 9.75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30796" y="3097485"/>
            <a:ext cx="3855244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Không cần khai báo kiểu. Không </a:t>
            </a:r>
            <a:r>
              <a:rPr lang="en-US" sz="950" dirty="0">
                <a:solidFill>
                  <a:srgbClr val="000000"/>
                </a:solidFill>
                <a:highlight>
                  <a:srgbClr val="688EB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không </a:t>
            </a:r>
            <a:r>
              <a:rPr lang="en-US" sz="950" dirty="0">
                <a:solidFill>
                  <a:srgbClr val="000000"/>
                </a:solidFill>
                <a:highlight>
                  <a:srgbClr val="688EB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let</a:t>
            </a: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không </a:t>
            </a:r>
            <a:r>
              <a:rPr lang="en-US" sz="950" dirty="0">
                <a:solidFill>
                  <a:srgbClr val="000000"/>
                </a:solidFill>
                <a:highlight>
                  <a:srgbClr val="688EB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var</a:t>
            </a: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 Python tự hiểu!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728046" y="1181100"/>
            <a:ext cx="201967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BE2727"/>
                </a:solidFill>
                <a:latin typeface="Montserrat Extra Bold" pitchFamily="34" charset="0"/>
                <a:ea typeface="Montserrat Extra Bold" pitchFamily="34" charset="-122"/>
                <a:cs typeface="Montserrat Extra Bold" pitchFamily="34" charset="-120"/>
              </a:rPr>
              <a:t>So sánh với C và JS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28046" y="1514475"/>
            <a:ext cx="3924598" cy="1637184"/>
          </a:xfrm>
          <a:prstGeom prst="roundRect">
            <a:avLst>
              <a:gd name="adj" fmla="val 3182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1" name="Shape 9"/>
          <p:cNvSpPr/>
          <p:nvPr/>
        </p:nvSpPr>
        <p:spPr>
          <a:xfrm>
            <a:off x="4721870" y="1514475"/>
            <a:ext cx="3936950" cy="1637184"/>
          </a:xfrm>
          <a:prstGeom prst="roundRect">
            <a:avLst>
              <a:gd name="adj" fmla="val 1137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2" name="Text 10"/>
          <p:cNvSpPr/>
          <p:nvPr/>
        </p:nvSpPr>
        <p:spPr>
          <a:xfrm>
            <a:off x="4876874" y="1638449"/>
            <a:ext cx="3626941" cy="1389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// C — khai báo kiểu bắt buộc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int age = 21;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const float PI = 3.14;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// JS — linh hoạt nhưng có let/const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let age = 21;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const PI = 3.14;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728046" y="3291185"/>
            <a:ext cx="3924598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Dynamic Typing</a:t>
            </a: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là điểm khác biệt lớn nhất. Python tự suy luận kiểu dữ liệu — giống JS nhưng </a:t>
            </a:r>
            <a:r>
              <a:rPr lang="en-US" sz="9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sạch hơn nhiều</a:t>
            </a: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96119" y="3939257"/>
            <a:ext cx="8151763" cy="730225"/>
          </a:xfrm>
          <a:prstGeom prst="roundRect">
            <a:avLst>
              <a:gd name="adj" fmla="val 7135"/>
            </a:avLst>
          </a:prstGeom>
          <a:solidFill>
            <a:srgbClr val="F2C0C0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092" y="4123804"/>
            <a:ext cx="155004" cy="123974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899071" y="4094187"/>
            <a:ext cx="7624837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Quy ước đặt tên:</a:t>
            </a: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Python dùng </a:t>
            </a:r>
            <a:r>
              <a:rPr lang="en-US" sz="9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snake_case</a:t>
            </a: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(ví dụ: </a:t>
            </a:r>
            <a:r>
              <a:rPr lang="en-US" sz="9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ten_sinh_vien</a:t>
            </a: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). Hằng số viết HOA theo convention: </a:t>
            </a:r>
            <a:r>
              <a:rPr lang="en-US" sz="9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MAX_VALUE = 100</a:t>
            </a: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 Đây là chuẩn PEP 8 — "bộ luật" code Python đẹp.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6180"/>
            <a:ext cx="5142681" cy="372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BE2727"/>
                </a:solidFill>
                <a:latin typeface="Montserrat Extra Bold" pitchFamily="34" charset="0"/>
                <a:ea typeface="Montserrat Extra Bold" pitchFamily="34" charset="-122"/>
                <a:cs typeface="Montserrat Extra Bold" pitchFamily="34" charset="-120"/>
              </a:rPr>
              <a:t>Kiểu Dữ Liệu Trong Python </a:t>
            </a:r>
            <a:r>
              <a:rPr lang="en-US" sz="2300" b="1" dirty="0">
                <a:solidFill>
                  <a:srgbClr val="000000"/>
                </a:solidFill>
                <a:latin typeface="Montserrat Extra Bold" pitchFamily="34" charset="0"/>
                <a:ea typeface="Montserrat Extra Bold" pitchFamily="34" charset="-122"/>
                <a:cs typeface="Montserrat Extra Bold" pitchFamily="34" charset="-120"/>
              </a:rPr>
              <a:t>🎯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496119" y="992981"/>
            <a:ext cx="4019922" cy="1513433"/>
          </a:xfrm>
          <a:prstGeom prst="roundRect">
            <a:avLst>
              <a:gd name="adj" fmla="val 3270"/>
            </a:avLst>
          </a:prstGeom>
          <a:solidFill>
            <a:srgbClr val="F6D5D5"/>
          </a:solidFill>
          <a:ln w="4763">
            <a:solidFill>
              <a:srgbClr val="DCBBBB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4" name="Shape 2"/>
          <p:cNvSpPr/>
          <p:nvPr/>
        </p:nvSpPr>
        <p:spPr>
          <a:xfrm>
            <a:off x="618679" y="1115541"/>
            <a:ext cx="353467" cy="353467"/>
          </a:xfrm>
          <a:prstGeom prst="roundRect">
            <a:avLst>
              <a:gd name="adj" fmla="val 16166795"/>
            </a:avLst>
          </a:prstGeom>
          <a:solidFill>
            <a:srgbClr val="BE2727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5863" y="1212726"/>
            <a:ext cx="159023" cy="15902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18679" y="1580927"/>
            <a:ext cx="1930226" cy="184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Montserrat Extra Bold" pitchFamily="34" charset="0"/>
                <a:ea typeface="Montserrat Extra Bold" pitchFamily="34" charset="-122"/>
                <a:cs typeface="Montserrat Extra Bold" pitchFamily="34" charset="-120"/>
              </a:rPr>
              <a:t>int &amp; float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618679" y="1832223"/>
            <a:ext cx="3774802" cy="5516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 = 5</a:t>
            </a:r>
            <a:r>
              <a:rPr lang="en-US" sz="9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→ int</a:t>
            </a:r>
            <a:endParaRPr lang="en-US" sz="9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9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 = 5.0</a:t>
            </a:r>
            <a:r>
              <a:rPr lang="en-US" sz="9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→ float</a:t>
            </a:r>
            <a:endParaRPr lang="en-US" sz="9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9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x = 1_000_000</a:t>
            </a:r>
            <a:r>
              <a:rPr lang="en-US" sz="9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→ dễ đọc!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627959" y="992981"/>
            <a:ext cx="4019922" cy="1513433"/>
          </a:xfrm>
          <a:prstGeom prst="roundRect">
            <a:avLst>
              <a:gd name="adj" fmla="val 3270"/>
            </a:avLst>
          </a:prstGeom>
          <a:solidFill>
            <a:srgbClr val="F6D5D5"/>
          </a:solidFill>
          <a:ln w="4763">
            <a:solidFill>
              <a:srgbClr val="DCBBBB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9" name="Shape 6"/>
          <p:cNvSpPr/>
          <p:nvPr/>
        </p:nvSpPr>
        <p:spPr>
          <a:xfrm>
            <a:off x="4750519" y="1115541"/>
            <a:ext cx="353467" cy="353467"/>
          </a:xfrm>
          <a:prstGeom prst="roundRect">
            <a:avLst>
              <a:gd name="adj" fmla="val 16166795"/>
            </a:avLst>
          </a:prstGeom>
          <a:solidFill>
            <a:srgbClr val="BE2727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47704" y="1212726"/>
            <a:ext cx="159023" cy="15902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750519" y="1580927"/>
            <a:ext cx="1930226" cy="184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Montserrat Extra Bold" pitchFamily="34" charset="0"/>
                <a:ea typeface="Montserrat Extra Bold" pitchFamily="34" charset="-122"/>
                <a:cs typeface="Montserrat Extra Bold" pitchFamily="34" charset="-120"/>
              </a:rPr>
              <a:t>str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4750519" y="1832223"/>
            <a:ext cx="3774802" cy="5516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 = "Hello"</a:t>
            </a:r>
            <a:endParaRPr lang="en-US" sz="9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Có thể dùng </a:t>
            </a:r>
            <a:r>
              <a:rPr lang="en-US" sz="9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'</a:t>
            </a:r>
            <a:r>
              <a:rPr lang="en-US" sz="9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hoặc </a:t>
            </a:r>
            <a:r>
              <a:rPr lang="en-US" sz="9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endParaRPr lang="en-US" sz="9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Multi-line: </a:t>
            </a:r>
            <a:r>
              <a:rPr lang="en-US" sz="9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"""..."""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496119" y="2618333"/>
            <a:ext cx="4019922" cy="1513433"/>
          </a:xfrm>
          <a:prstGeom prst="roundRect">
            <a:avLst>
              <a:gd name="adj" fmla="val 3270"/>
            </a:avLst>
          </a:prstGeom>
          <a:solidFill>
            <a:srgbClr val="F6D5D5"/>
          </a:solidFill>
          <a:ln w="4763">
            <a:solidFill>
              <a:srgbClr val="DCBBBB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4" name="Shape 10"/>
          <p:cNvSpPr/>
          <p:nvPr/>
        </p:nvSpPr>
        <p:spPr>
          <a:xfrm>
            <a:off x="618679" y="2740893"/>
            <a:ext cx="353467" cy="353467"/>
          </a:xfrm>
          <a:prstGeom prst="roundRect">
            <a:avLst>
              <a:gd name="adj" fmla="val 16166795"/>
            </a:avLst>
          </a:prstGeom>
          <a:solidFill>
            <a:srgbClr val="BE2727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5863" y="2838078"/>
            <a:ext cx="159023" cy="159023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18679" y="3206279"/>
            <a:ext cx="1930226" cy="184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Montserrat Extra Bold" pitchFamily="34" charset="0"/>
                <a:ea typeface="Montserrat Extra Bold" pitchFamily="34" charset="-122"/>
                <a:cs typeface="Montserrat Extra Bold" pitchFamily="34" charset="-120"/>
              </a:rPr>
              <a:t>bool</a:t>
            </a:r>
            <a:endParaRPr lang="en-US" sz="1150" dirty="0"/>
          </a:p>
        </p:txBody>
      </p:sp>
      <p:sp>
        <p:nvSpPr>
          <p:cNvPr id="17" name="Text 12"/>
          <p:cNvSpPr/>
          <p:nvPr/>
        </p:nvSpPr>
        <p:spPr>
          <a:xfrm>
            <a:off x="618679" y="3457575"/>
            <a:ext cx="3774802" cy="5516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 = True</a:t>
            </a:r>
            <a:endParaRPr lang="en-US" sz="9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9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 = False</a:t>
            </a:r>
            <a:endParaRPr lang="en-US" sz="9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Viết hoa chữ đầu — khác JS!</a:t>
            </a:r>
            <a:endParaRPr lang="en-US" sz="900" dirty="0"/>
          </a:p>
        </p:txBody>
      </p:sp>
      <p:sp>
        <p:nvSpPr>
          <p:cNvPr id="18" name="Shape 13"/>
          <p:cNvSpPr/>
          <p:nvPr/>
        </p:nvSpPr>
        <p:spPr>
          <a:xfrm>
            <a:off x="4627959" y="2618333"/>
            <a:ext cx="4019922" cy="1513433"/>
          </a:xfrm>
          <a:prstGeom prst="roundRect">
            <a:avLst>
              <a:gd name="adj" fmla="val 3270"/>
            </a:avLst>
          </a:prstGeom>
          <a:solidFill>
            <a:srgbClr val="F6D5D5"/>
          </a:solidFill>
          <a:ln w="4763">
            <a:solidFill>
              <a:srgbClr val="DCBBBB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9" name="Shape 14"/>
          <p:cNvSpPr/>
          <p:nvPr/>
        </p:nvSpPr>
        <p:spPr>
          <a:xfrm>
            <a:off x="4750519" y="2740893"/>
            <a:ext cx="353467" cy="353467"/>
          </a:xfrm>
          <a:prstGeom prst="roundRect">
            <a:avLst>
              <a:gd name="adj" fmla="val 16166795"/>
            </a:avLst>
          </a:prstGeom>
          <a:solidFill>
            <a:srgbClr val="BE2727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47704" y="2838078"/>
            <a:ext cx="159023" cy="159023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750519" y="3206279"/>
            <a:ext cx="1930226" cy="184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Montserrat Extra Bold" pitchFamily="34" charset="0"/>
                <a:ea typeface="Montserrat Extra Bold" pitchFamily="34" charset="-122"/>
                <a:cs typeface="Montserrat Extra Bold" pitchFamily="34" charset="-120"/>
              </a:rPr>
              <a:t>list, tuple, dict, set</a:t>
            </a:r>
            <a:endParaRPr lang="en-US" sz="1150" dirty="0"/>
          </a:p>
        </p:txBody>
      </p:sp>
      <p:sp>
        <p:nvSpPr>
          <p:cNvPr id="22" name="Text 16"/>
          <p:cNvSpPr/>
          <p:nvPr/>
        </p:nvSpPr>
        <p:spPr>
          <a:xfrm>
            <a:off x="4750519" y="3457575"/>
            <a:ext cx="3774802" cy="5516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Cấu trúc dữ liệu mạnh mẽ.</a:t>
            </a:r>
            <a:endParaRPr lang="en-US" sz="9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Sẽ học sâu ở các buổi sau.</a:t>
            </a:r>
            <a:endParaRPr lang="en-US" sz="9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Đây là </a:t>
            </a:r>
            <a:r>
              <a:rPr lang="en-US" sz="9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sức mạnh thật sự!</a:t>
            </a:r>
            <a:endParaRPr lang="en-US" sz="900" dirty="0"/>
          </a:p>
        </p:txBody>
      </p:sp>
      <p:sp>
        <p:nvSpPr>
          <p:cNvPr id="23" name="Shape 17"/>
          <p:cNvSpPr/>
          <p:nvPr/>
        </p:nvSpPr>
        <p:spPr>
          <a:xfrm>
            <a:off x="496119" y="4257675"/>
            <a:ext cx="8151763" cy="489570"/>
          </a:xfrm>
          <a:prstGeom prst="roundRect">
            <a:avLst>
              <a:gd name="adj" fmla="val 10110"/>
            </a:avLst>
          </a:prstGeom>
          <a:solidFill>
            <a:srgbClr val="B6D6FC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3916" y="4435078"/>
            <a:ext cx="147265" cy="117797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878979" y="4398987"/>
            <a:ext cx="8108305" cy="188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🔍 Kiểm tra kiểu dữ liệu bằng: </a:t>
            </a:r>
            <a:r>
              <a:rPr lang="en-US" sz="9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type(a)</a:t>
            </a:r>
            <a:r>
              <a:rPr lang="en-US" sz="9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→ </a:t>
            </a:r>
            <a:r>
              <a:rPr lang="en-US" sz="9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&lt;class 'int'&gt;</a:t>
            </a:r>
            <a:r>
              <a:rPr lang="en-US" sz="9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| </a:t>
            </a:r>
            <a:r>
              <a:rPr lang="en-US" sz="9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isinstance(a, int)</a:t>
            </a:r>
            <a:r>
              <a:rPr lang="en-US" sz="9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→ </a:t>
            </a:r>
            <a:r>
              <a:rPr lang="en-US" sz="9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95685"/>
            <a:ext cx="5533802" cy="3148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BE2727"/>
                </a:solidFill>
                <a:latin typeface="Montserrat Extra Bold" pitchFamily="34" charset="0"/>
                <a:ea typeface="Montserrat Extra Bold" pitchFamily="34" charset="-122"/>
                <a:cs typeface="Montserrat Extra Bold" pitchFamily="34" charset="-120"/>
              </a:rPr>
              <a:t>Thủ Thuật Hay Với Số Trong Python </a:t>
            </a:r>
            <a:r>
              <a:rPr lang="en-US" sz="1950" b="1" dirty="0">
                <a:solidFill>
                  <a:srgbClr val="000000"/>
                </a:solidFill>
                <a:latin typeface="Montserrat Extra Bold" pitchFamily="34" charset="0"/>
                <a:ea typeface="Montserrat Extra Bold" pitchFamily="34" charset="-122"/>
                <a:cs typeface="Montserrat Extra Bold" pitchFamily="34" charset="-120"/>
              </a:rPr>
              <a:t>💡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496119" y="1220539"/>
            <a:ext cx="3218334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BE2727"/>
                </a:solidFill>
                <a:latin typeface="Montserrat Extra Bold" pitchFamily="34" charset="0"/>
                <a:ea typeface="Montserrat Extra Bold" pitchFamily="34" charset="-122"/>
                <a:cs typeface="Montserrat Extra Bold" pitchFamily="34" charset="-120"/>
              </a:rPr>
              <a:t>Đọc số triệu tỉ dễ hơn bao giờ hết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96119" y="1553914"/>
            <a:ext cx="3501851" cy="1041797"/>
          </a:xfrm>
          <a:prstGeom prst="roundRect">
            <a:avLst>
              <a:gd name="adj" fmla="val 5001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" name="Shape 3"/>
          <p:cNvSpPr/>
          <p:nvPr/>
        </p:nvSpPr>
        <p:spPr>
          <a:xfrm>
            <a:off x="489942" y="1553914"/>
            <a:ext cx="3514204" cy="1041797"/>
          </a:xfrm>
          <a:prstGeom prst="roundRect">
            <a:avLst>
              <a:gd name="adj" fmla="val 1786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" name="Text 4"/>
          <p:cNvSpPr/>
          <p:nvPr/>
        </p:nvSpPr>
        <p:spPr>
          <a:xfrm>
            <a:off x="644947" y="1677888"/>
            <a:ext cx="3204195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x = 1_000_000_000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y = 3.14_15_92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print(x)  # 1000000000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print(y)  # 3.141592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96119" y="2735238"/>
            <a:ext cx="3501851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Python cho phép dùng dấu gạch dưới </a:t>
            </a:r>
            <a:r>
              <a:rPr lang="en-US" sz="9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_</a:t>
            </a: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trong số để dễ đọc hơn. C và JS không có tính năng này!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305300" y="1220539"/>
            <a:ext cx="2198117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BE2727"/>
                </a:solidFill>
                <a:latin typeface="Montserrat Extra Bold" pitchFamily="34" charset="0"/>
                <a:ea typeface="Montserrat Extra Bold" pitchFamily="34" charset="-122"/>
                <a:cs typeface="Montserrat Extra Bold" pitchFamily="34" charset="-120"/>
              </a:rPr>
              <a:t>Kiểm tra kiểu thực tế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05300" y="1553914"/>
            <a:ext cx="4347270" cy="2232571"/>
          </a:xfrm>
          <a:prstGeom prst="roundRect">
            <a:avLst>
              <a:gd name="adj" fmla="val 2334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0" name="Shape 8"/>
          <p:cNvSpPr/>
          <p:nvPr/>
        </p:nvSpPr>
        <p:spPr>
          <a:xfrm>
            <a:off x="4299124" y="1553914"/>
            <a:ext cx="4359622" cy="2232571"/>
          </a:xfrm>
          <a:prstGeom prst="roundRect">
            <a:avLst>
              <a:gd name="adj" fmla="val 833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1" name="Text 9"/>
          <p:cNvSpPr/>
          <p:nvPr/>
        </p:nvSpPr>
        <p:spPr>
          <a:xfrm>
            <a:off x="4454128" y="1677888"/>
            <a:ext cx="4049613" cy="1984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5        # int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5.0      # float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= "5"      # str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 = True     # bool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print(type(a))  # &lt;class 'int'&gt;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print(type(b))  # &lt;class 'float'&gt;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print(type(c))  # &lt;class 'str'&gt;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 == d)   # True (!!!)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 + b)    # 10.0 (auto)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82154" y="4205064"/>
            <a:ext cx="8422928" cy="203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47011" y="1678577"/>
            <a:ext cx="4800871" cy="13128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BE2727"/>
                </a:solidFill>
                <a:latin typeface="Montserrat Extra Bold" pitchFamily="34" charset="0"/>
                <a:ea typeface="Montserrat Extra Bold" pitchFamily="34" charset="-122"/>
                <a:cs typeface="Montserrat Extra Bold" pitchFamily="34" charset="-120"/>
              </a:rPr>
              <a:t>Input / Output — Giao Tiếp Với Người Dùng </a:t>
            </a:r>
            <a:r>
              <a:rPr lang="en-US" sz="2400" b="1" dirty="0">
                <a:solidFill>
                  <a:srgbClr val="000000"/>
                </a:solidFill>
                <a:latin typeface="Montserrat Extra Bold" pitchFamily="34" charset="0"/>
                <a:ea typeface="Montserrat Extra Bold" pitchFamily="34" charset="-122"/>
                <a:cs typeface="Montserrat Extra Bold" pitchFamily="34" charset="-120"/>
              </a:rPr>
              <a:t>💬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3925119" y="2575694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073947" y="3079552"/>
            <a:ext cx="488230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35322"/>
            <a:ext cx="355833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BE2727"/>
                </a:solidFill>
                <a:latin typeface="Montserrat Extra Bold" pitchFamily="34" charset="0"/>
                <a:ea typeface="Montserrat Extra Bold" pitchFamily="34" charset="-122"/>
                <a:cs typeface="Montserrat Extra Bold" pitchFamily="34" charset="-120"/>
              </a:rPr>
              <a:t>Ép Kiểu &amp; F-String 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06822" y="1008906"/>
            <a:ext cx="3257699" cy="2829446"/>
          </a:xfrm>
          <a:prstGeom prst="roundRect">
            <a:avLst>
              <a:gd name="adj" fmla="val 3157"/>
            </a:avLst>
          </a:prstGeom>
          <a:solidFill>
            <a:srgbClr val="BE272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" name="Text 2"/>
          <p:cNvSpPr/>
          <p:nvPr/>
        </p:nvSpPr>
        <p:spPr>
          <a:xfrm>
            <a:off x="530796" y="1132880"/>
            <a:ext cx="2409230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ontserrat Extra Bold" pitchFamily="34" charset="0"/>
                <a:ea typeface="Montserrat Extra Bold" pitchFamily="34" charset="-122"/>
                <a:cs typeface="Montserrat Extra Bold" pitchFamily="34" charset="-120"/>
              </a:rPr>
              <a:t>Type Casting — Ép Kiểu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30796" y="1466255"/>
            <a:ext cx="3009751" cy="1438721"/>
          </a:xfrm>
          <a:prstGeom prst="roundRect">
            <a:avLst>
              <a:gd name="adj" fmla="val 3621"/>
            </a:avLst>
          </a:prstGeom>
          <a:solidFill>
            <a:srgbClr val="CB3434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" name="Shape 4"/>
          <p:cNvSpPr/>
          <p:nvPr/>
        </p:nvSpPr>
        <p:spPr>
          <a:xfrm>
            <a:off x="524619" y="1466255"/>
            <a:ext cx="3022104" cy="1438721"/>
          </a:xfrm>
          <a:prstGeom prst="roundRect">
            <a:avLst>
              <a:gd name="adj" fmla="val 1293"/>
            </a:avLst>
          </a:prstGeom>
          <a:solidFill>
            <a:srgbClr val="CB3434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" name="Text 5"/>
          <p:cNvSpPr/>
          <p:nvPr/>
        </p:nvSpPr>
        <p:spPr>
          <a:xfrm>
            <a:off x="679624" y="1590229"/>
            <a:ext cx="2712095" cy="11907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"100"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int(a)     # "100" → 100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= float(a)   # "100" → 100.0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 = str(99.99) # 99.99 → "99.99"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 = bool(0)    # 0 → False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 = bool(1)    # 1 → True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30796" y="3044503"/>
            <a:ext cx="3009751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Cần thiết mỗi khi nhận dữ liệu từ </a:t>
            </a:r>
            <a:r>
              <a:rPr lang="en-US" sz="950" dirty="0">
                <a:solidFill>
                  <a:srgbClr val="FFFFFF"/>
                </a:solidFill>
                <a:highlight>
                  <a:srgbClr val="CB343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input()</a:t>
            </a:r>
            <a:r>
              <a:rPr lang="en-US" sz="9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hoặc xử lý file!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882554" y="1132880"/>
            <a:ext cx="3410099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BE2727"/>
                </a:solidFill>
                <a:latin typeface="Montserrat Extra Bold" pitchFamily="34" charset="0"/>
                <a:ea typeface="Montserrat Extra Bold" pitchFamily="34" charset="-122"/>
                <a:cs typeface="Montserrat Extra Bold" pitchFamily="34" charset="-120"/>
              </a:rPr>
              <a:t>F-String (Python 3.6+) — Siêu Mạnh!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882554" y="1466255"/>
            <a:ext cx="4770016" cy="2232571"/>
          </a:xfrm>
          <a:prstGeom prst="roundRect">
            <a:avLst>
              <a:gd name="adj" fmla="val 2334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1" name="Shape 9"/>
          <p:cNvSpPr/>
          <p:nvPr/>
        </p:nvSpPr>
        <p:spPr>
          <a:xfrm>
            <a:off x="3876377" y="1466255"/>
            <a:ext cx="4782369" cy="2232571"/>
          </a:xfrm>
          <a:prstGeom prst="roundRect">
            <a:avLst>
              <a:gd name="adj" fmla="val 833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2" name="Text 10"/>
          <p:cNvSpPr/>
          <p:nvPr/>
        </p:nvSpPr>
        <p:spPr>
          <a:xfrm>
            <a:off x="4031382" y="1590229"/>
            <a:ext cx="4472360" cy="1984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ten = "Tuan"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diem = 9.23456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 = "Python"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Format số thập phân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print(f"{ten} đạt {diem:.2f}/10")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→ Tuan đạt 9.23/10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Method trong f-string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print(f"{mon.upper()} rocks!")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96119" y="3977878"/>
            <a:ext cx="8151763" cy="730225"/>
          </a:xfrm>
          <a:prstGeom prst="roundRect">
            <a:avLst>
              <a:gd name="adj" fmla="val 7135"/>
            </a:avLst>
          </a:prstGeom>
          <a:solidFill>
            <a:srgbClr val="B6FCB8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092" y="4162425"/>
            <a:ext cx="155004" cy="123974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899071" y="4132808"/>
            <a:ext cx="7624837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💡 </a:t>
            </a:r>
            <a:r>
              <a:rPr lang="en-US" sz="9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 với JS:</a:t>
            </a: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Template literal </a:t>
            </a:r>
            <a:r>
              <a:rPr lang="en-US" sz="9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`${name}`</a:t>
            </a: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cũng hay, nhưng f-string Python mạnh hơn — có thể format số, căn lề, gọi method ngay bên trong!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2901" y="325115"/>
            <a:ext cx="5951562" cy="300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BE2727"/>
                </a:solidFill>
                <a:latin typeface="Montserrat Extra Bold" pitchFamily="34" charset="0"/>
                <a:ea typeface="Montserrat Extra Bold" pitchFamily="34" charset="-122"/>
                <a:cs typeface="Montserrat Extra Bold" pitchFamily="34" charset="-120"/>
              </a:rPr>
              <a:t>Tóm Tắt Buổi Học — Mindmap Session 01 </a:t>
            </a:r>
            <a:r>
              <a:rPr lang="en-US" sz="1850" b="1" dirty="0">
                <a:solidFill>
                  <a:srgbClr val="000000"/>
                </a:solidFill>
                <a:latin typeface="Montserrat Extra Bold" pitchFamily="34" charset="0"/>
                <a:ea typeface="Montserrat Extra Bold" pitchFamily="34" charset="-122"/>
                <a:cs typeface="Montserrat Extra Bold" pitchFamily="34" charset="-120"/>
              </a:rPr>
              <a:t>🗺️</a:t>
            </a:r>
            <a:endParaRPr lang="en-US" sz="18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901" y="850776"/>
            <a:ext cx="6553200" cy="36576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901" y="850776"/>
            <a:ext cx="6553200" cy="3657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72901" y="4635103"/>
            <a:ext cx="8655397" cy="184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Sáu lesson, một buổi học — bạn đã nắm nền tảng vững chắc để bắt đầu hành trình Python!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670992"/>
            <a:ext cx="3558332" cy="3970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BE2727"/>
                </a:solidFill>
                <a:latin typeface="Montserrat Extra Bold" pitchFamily="34" charset="0"/>
                <a:ea typeface="Montserrat Extra Bold" pitchFamily="34" charset="-122"/>
                <a:cs typeface="Montserrat Extra Bold" pitchFamily="34" charset="-120"/>
              </a:rPr>
              <a:t>Bài Tập Về Nhà </a:t>
            </a:r>
            <a:r>
              <a:rPr lang="en-US" sz="2400" b="1" dirty="0">
                <a:solidFill>
                  <a:srgbClr val="000000"/>
                </a:solidFill>
                <a:latin typeface="Montserrat Extra Bold" pitchFamily="34" charset="0"/>
                <a:ea typeface="Montserrat Extra Bold" pitchFamily="34" charset="-122"/>
                <a:cs typeface="Montserrat Extra Bold" pitchFamily="34" charset="-120"/>
              </a:rPr>
              <a:t>🏠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496119" y="1254100"/>
            <a:ext cx="5179963" cy="203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Nộp file: </a:t>
            </a:r>
            <a:r>
              <a:rPr lang="en-US" sz="9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Homework_Session01_[TenSV].py</a:t>
            </a:r>
            <a:endParaRPr lang="en-US" sz="950" dirty="0"/>
          </a:p>
        </p:txBody>
      </p:sp>
      <p:sp>
        <p:nvSpPr>
          <p:cNvPr id="5" name="Shape 2"/>
          <p:cNvSpPr/>
          <p:nvPr/>
        </p:nvSpPr>
        <p:spPr>
          <a:xfrm>
            <a:off x="496119" y="1596851"/>
            <a:ext cx="4722763" cy="744215"/>
          </a:xfrm>
          <a:prstGeom prst="roundRect">
            <a:avLst>
              <a:gd name="adj" fmla="val 7001"/>
            </a:avLst>
          </a:prstGeom>
          <a:solidFill>
            <a:srgbClr val="FFFFFF"/>
          </a:solidFill>
          <a:ln w="14288">
            <a:solidFill>
              <a:srgbClr val="DCBBBB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6" name="Shape 3"/>
          <p:cNvSpPr/>
          <p:nvPr/>
        </p:nvSpPr>
        <p:spPr>
          <a:xfrm>
            <a:off x="510406" y="1611139"/>
            <a:ext cx="496119" cy="715640"/>
          </a:xfrm>
          <a:prstGeom prst="roundRect">
            <a:avLst>
              <a:gd name="adj" fmla="val 7046"/>
            </a:avLst>
          </a:prstGeom>
          <a:solidFill>
            <a:srgbClr val="F6D5D5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" name="Text 4"/>
          <p:cNvSpPr/>
          <p:nvPr/>
        </p:nvSpPr>
        <p:spPr>
          <a:xfrm>
            <a:off x="434429" y="1852687"/>
            <a:ext cx="414635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Montserrat Extra Bold" pitchFamily="34" charset="0"/>
                <a:ea typeface="Montserrat Extra Bold" pitchFamily="34" charset="-122"/>
                <a:cs typeface="Montserrat Extra Bold" pitchFamily="34" charset="-120"/>
              </a:rPr>
              <a:t>1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130498" y="1735113"/>
            <a:ext cx="3362027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ontserrat Extra Bold" pitchFamily="34" charset="0"/>
                <a:ea typeface="Montserrat Extra Bold" pitchFamily="34" charset="-122"/>
                <a:cs typeface="Montserrat Extra Bold" pitchFamily="34" charset="-120"/>
              </a:rPr>
              <a:t>Chương trình chào hỏi cá nhân hóa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130498" y="2003375"/>
            <a:ext cx="4407322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Nhập tên, tuổi, trường học. In ra lời chào với đầy đủ format.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96119" y="2465040"/>
            <a:ext cx="4722763" cy="941710"/>
          </a:xfrm>
          <a:prstGeom prst="roundRect">
            <a:avLst>
              <a:gd name="adj" fmla="val 5532"/>
            </a:avLst>
          </a:prstGeom>
          <a:solidFill>
            <a:srgbClr val="FFFFFF"/>
          </a:solidFill>
          <a:ln w="14288">
            <a:solidFill>
              <a:srgbClr val="DCBBBB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1" name="Shape 8"/>
          <p:cNvSpPr/>
          <p:nvPr/>
        </p:nvSpPr>
        <p:spPr>
          <a:xfrm>
            <a:off x="510406" y="2479328"/>
            <a:ext cx="496119" cy="913135"/>
          </a:xfrm>
          <a:prstGeom prst="roundRect">
            <a:avLst>
              <a:gd name="adj" fmla="val 7046"/>
            </a:avLst>
          </a:prstGeom>
          <a:solidFill>
            <a:srgbClr val="F6D5D5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2" name="Text 9"/>
          <p:cNvSpPr/>
          <p:nvPr/>
        </p:nvSpPr>
        <p:spPr>
          <a:xfrm>
            <a:off x="434429" y="2819623"/>
            <a:ext cx="414635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Montserrat Extra Bold" pitchFamily="34" charset="0"/>
                <a:ea typeface="Montserrat Extra Bold" pitchFamily="34" charset="-122"/>
                <a:cs typeface="Montserrat Extra Bold" pitchFamily="34" charset="-120"/>
              </a:rPr>
              <a:t>2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1130498" y="2603302"/>
            <a:ext cx="251229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ontserrat Extra Bold" pitchFamily="34" charset="0"/>
                <a:ea typeface="Montserrat Extra Bold" pitchFamily="34" charset="-122"/>
                <a:cs typeface="Montserrat Extra Bold" pitchFamily="34" charset="-120"/>
              </a:rPr>
              <a:t>Máy tính BMI hoàn chỉnh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130498" y="2871564"/>
            <a:ext cx="3950122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Input cân nặng + chiều cao → Tính BMI → In phân loại + lời khuyên sức khỏe cá nhân hóa.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96119" y="3530724"/>
            <a:ext cx="4722763" cy="941710"/>
          </a:xfrm>
          <a:prstGeom prst="roundRect">
            <a:avLst>
              <a:gd name="adj" fmla="val 5532"/>
            </a:avLst>
          </a:prstGeom>
          <a:solidFill>
            <a:srgbClr val="FFFFFF"/>
          </a:solidFill>
          <a:ln w="14288">
            <a:solidFill>
              <a:srgbClr val="DCBBBB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6" name="Shape 13"/>
          <p:cNvSpPr/>
          <p:nvPr/>
        </p:nvSpPr>
        <p:spPr>
          <a:xfrm>
            <a:off x="510406" y="3545012"/>
            <a:ext cx="496119" cy="913135"/>
          </a:xfrm>
          <a:prstGeom prst="roundRect">
            <a:avLst>
              <a:gd name="adj" fmla="val 7046"/>
            </a:avLst>
          </a:prstGeom>
          <a:solidFill>
            <a:srgbClr val="F6D5D5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7" name="Text 14"/>
          <p:cNvSpPr/>
          <p:nvPr/>
        </p:nvSpPr>
        <p:spPr>
          <a:xfrm>
            <a:off x="434429" y="3885307"/>
            <a:ext cx="414635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Montserrat Extra Bold" pitchFamily="34" charset="0"/>
                <a:ea typeface="Montserrat Extra Bold" pitchFamily="34" charset="-122"/>
                <a:cs typeface="Montserrat Extra Bold" pitchFamily="34" charset="-120"/>
              </a:rPr>
              <a:t>3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1130498" y="3668985"/>
            <a:ext cx="238303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ontserrat Extra Bold" pitchFamily="34" charset="0"/>
                <a:ea typeface="Montserrat Extra Bold" pitchFamily="34" charset="-122"/>
                <a:cs typeface="Montserrat Extra Bold" pitchFamily="34" charset="-120"/>
              </a:rPr>
              <a:t>Dự đoán tuổi năm 2030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130498" y="3937248"/>
            <a:ext cx="3950122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Nhập năm sinh → Tính tuổi hiện tại và tuổi năm 2030 → In kết quả có format đẹp, có emoji.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1092</Words>
  <Application>Microsoft Office PowerPoint</Application>
  <PresentationFormat>On-screen Show (16:9)</PresentationFormat>
  <Paragraphs>143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Montserrat</vt:lpstr>
      <vt:lpstr>Consolas</vt:lpstr>
      <vt:lpstr>Montserrat Extra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Quốc  Tuấn</cp:lastModifiedBy>
  <cp:revision>2</cp:revision>
  <dcterms:created xsi:type="dcterms:W3CDTF">2026-05-18T01:05:20Z</dcterms:created>
  <dcterms:modified xsi:type="dcterms:W3CDTF">2026-05-18T01:09:37Z</dcterms:modified>
</cp:coreProperties>
</file>